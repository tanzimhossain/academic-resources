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44"/>
  </p:notesMasterIdLst>
  <p:sldIdLst>
    <p:sldId id="256" r:id="rId5"/>
    <p:sldId id="375" r:id="rId6"/>
    <p:sldId id="376" r:id="rId7"/>
    <p:sldId id="377" r:id="rId8"/>
    <p:sldId id="378" r:id="rId9"/>
    <p:sldId id="379" r:id="rId10"/>
    <p:sldId id="283" r:id="rId11"/>
    <p:sldId id="261" r:id="rId12"/>
    <p:sldId id="262" r:id="rId13"/>
    <p:sldId id="286" r:id="rId14"/>
    <p:sldId id="290" r:id="rId15"/>
    <p:sldId id="291" r:id="rId16"/>
    <p:sldId id="292" r:id="rId17"/>
    <p:sldId id="294" r:id="rId18"/>
    <p:sldId id="389" r:id="rId19"/>
    <p:sldId id="387" r:id="rId20"/>
    <p:sldId id="390" r:id="rId21"/>
    <p:sldId id="386" r:id="rId22"/>
    <p:sldId id="388" r:id="rId23"/>
    <p:sldId id="383" r:id="rId24"/>
    <p:sldId id="384" r:id="rId25"/>
    <p:sldId id="402" r:id="rId26"/>
    <p:sldId id="396" r:id="rId27"/>
    <p:sldId id="397" r:id="rId28"/>
    <p:sldId id="398" r:id="rId29"/>
    <p:sldId id="399" r:id="rId30"/>
    <p:sldId id="400" r:id="rId31"/>
    <p:sldId id="401" r:id="rId32"/>
    <p:sldId id="406" r:id="rId33"/>
    <p:sldId id="403" r:id="rId34"/>
    <p:sldId id="412" r:id="rId35"/>
    <p:sldId id="404" r:id="rId36"/>
    <p:sldId id="405" r:id="rId37"/>
    <p:sldId id="395" r:id="rId38"/>
    <p:sldId id="394" r:id="rId39"/>
    <p:sldId id="407" r:id="rId40"/>
    <p:sldId id="408" r:id="rId41"/>
    <p:sldId id="409" r:id="rId42"/>
    <p:sldId id="411" r:id="rId4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LAPrl4d+V1IstkCCj/PL+6qtY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C07E9-ABD6-BB90-5EFD-189413CEB452}" v="39" dt="2025-12-09T18:59:30.929"/>
  </p1510:revLst>
</p1510:revInfo>
</file>

<file path=ppt/tableStyles.xml><?xml version="1.0" encoding="utf-8"?>
<a:tblStyleLst xmlns:a="http://schemas.openxmlformats.org/drawingml/2006/main" def="{E1EA1CD8-9A49-4420-9597-29AC4BAAC592}">
  <a:tblStyle styleId="{E1EA1CD8-9A49-4420-9597-29AC4BAAC59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1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63" Type="http://customschemas.google.com/relationships/presentationmetadata" Target="metadata"/><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Khan" userId="S::mohammad.khan02@northsouth.edu::66e9fb8e-4ed6-4e1e-bddc-ac99ec076f45" providerId="AD" clId="Web-{237C07E9-ABD6-BB90-5EFD-189413CEB452}"/>
    <pc:docChg chg="modSld">
      <pc:chgData name="Mohammad Khan" userId="S::mohammad.khan02@northsouth.edu::66e9fb8e-4ed6-4e1e-bddc-ac99ec076f45" providerId="AD" clId="Web-{237C07E9-ABD6-BB90-5EFD-189413CEB452}" dt="2025-12-09T18:59:30.929" v="38" actId="20577"/>
      <pc:docMkLst>
        <pc:docMk/>
      </pc:docMkLst>
      <pc:sldChg chg="modSp">
        <pc:chgData name="Mohammad Khan" userId="S::mohammad.khan02@northsouth.edu::66e9fb8e-4ed6-4e1e-bddc-ac99ec076f45" providerId="AD" clId="Web-{237C07E9-ABD6-BB90-5EFD-189413CEB452}" dt="2025-12-09T18:59:30.929" v="38" actId="20577"/>
        <pc:sldMkLst>
          <pc:docMk/>
          <pc:sldMk cId="2805191204" sldId="383"/>
        </pc:sldMkLst>
        <pc:spChg chg="mod">
          <ac:chgData name="Mohammad Khan" userId="S::mohammad.khan02@northsouth.edu::66e9fb8e-4ed6-4e1e-bddc-ac99ec076f45" providerId="AD" clId="Web-{237C07E9-ABD6-BB90-5EFD-189413CEB452}" dt="2025-12-09T18:59:30.929" v="38" actId="20577"/>
          <ac:spMkLst>
            <pc:docMk/>
            <pc:sldMk cId="2805191204" sldId="383"/>
            <ac:spMk id="3" creationId="{EF3668C1-D82C-E684-C4FC-817E283E56F8}"/>
          </ac:spMkLst>
        </pc:spChg>
      </pc:sldChg>
    </pc:docChg>
  </pc:docChgLst>
  <pc:docChgLst>
    <pc:chgData name="Mohammad Khan" userId="S::mohammad.khan02@northsouth.edu::66e9fb8e-4ed6-4e1e-bddc-ac99ec076f45" providerId="AD" clId="Web-{8C48C8D0-0853-326D-132E-5B1E1E614ED1}"/>
    <pc:docChg chg="modSld">
      <pc:chgData name="Mohammad Khan" userId="S::mohammad.khan02@northsouth.edu::66e9fb8e-4ed6-4e1e-bddc-ac99ec076f45" providerId="AD" clId="Web-{8C48C8D0-0853-326D-132E-5B1E1E614ED1}" dt="2025-12-02T17:40:54.771" v="71" actId="20577"/>
      <pc:docMkLst>
        <pc:docMk/>
      </pc:docMkLst>
      <pc:sldChg chg="modSp">
        <pc:chgData name="Mohammad Khan" userId="S::mohammad.khan02@northsouth.edu::66e9fb8e-4ed6-4e1e-bddc-ac99ec076f45" providerId="AD" clId="Web-{8C48C8D0-0853-326D-132E-5B1E1E614ED1}" dt="2025-12-02T17:40:04.957" v="52" actId="20577"/>
        <pc:sldMkLst>
          <pc:docMk/>
          <pc:sldMk cId="0" sldId="262"/>
        </pc:sldMkLst>
        <pc:spChg chg="mod">
          <ac:chgData name="Mohammad Khan" userId="S::mohammad.khan02@northsouth.edu::66e9fb8e-4ed6-4e1e-bddc-ac99ec076f45" providerId="AD" clId="Web-{8C48C8D0-0853-326D-132E-5B1E1E614ED1}" dt="2025-12-02T17:40:04.957" v="52" actId="20577"/>
          <ac:spMkLst>
            <pc:docMk/>
            <pc:sldMk cId="0" sldId="262"/>
            <ac:spMk id="29699" creationId="{3902FA34-5EC6-1642-4462-1A9F988F6AE5}"/>
          </ac:spMkLst>
        </pc:spChg>
      </pc:sldChg>
      <pc:sldChg chg="modSp">
        <pc:chgData name="Mohammad Khan" userId="S::mohammad.khan02@northsouth.edu::66e9fb8e-4ed6-4e1e-bddc-ac99ec076f45" providerId="AD" clId="Web-{8C48C8D0-0853-326D-132E-5B1E1E614ED1}" dt="2025-12-02T17:25:41.547" v="22" actId="20577"/>
        <pc:sldMkLst>
          <pc:docMk/>
          <pc:sldMk cId="0" sldId="283"/>
        </pc:sldMkLst>
        <pc:spChg chg="mod">
          <ac:chgData name="Mohammad Khan" userId="S::mohammad.khan02@northsouth.edu::66e9fb8e-4ed6-4e1e-bddc-ac99ec076f45" providerId="AD" clId="Web-{8C48C8D0-0853-326D-132E-5B1E1E614ED1}" dt="2025-12-02T17:25:41.547" v="22" actId="20577"/>
          <ac:spMkLst>
            <pc:docMk/>
            <pc:sldMk cId="0" sldId="283"/>
            <ac:spMk id="79875" creationId="{1A855A38-FE36-26E7-3367-B4A486218B3D}"/>
          </ac:spMkLst>
        </pc:spChg>
      </pc:sldChg>
      <pc:sldChg chg="modSp">
        <pc:chgData name="Mohammad Khan" userId="S::mohammad.khan02@northsouth.edu::66e9fb8e-4ed6-4e1e-bddc-ac99ec076f45" providerId="AD" clId="Web-{8C48C8D0-0853-326D-132E-5B1E1E614ED1}" dt="2025-12-02T17:40:27.723" v="59" actId="20577"/>
        <pc:sldMkLst>
          <pc:docMk/>
          <pc:sldMk cId="0" sldId="290"/>
        </pc:sldMkLst>
        <pc:spChg chg="mod">
          <ac:chgData name="Mohammad Khan" userId="S::mohammad.khan02@northsouth.edu::66e9fb8e-4ed6-4e1e-bddc-ac99ec076f45" providerId="AD" clId="Web-{8C48C8D0-0853-326D-132E-5B1E1E614ED1}" dt="2025-12-02T17:40:27.723" v="59" actId="20577"/>
          <ac:spMkLst>
            <pc:docMk/>
            <pc:sldMk cId="0" sldId="290"/>
            <ac:spMk id="100355" creationId="{743D9D68-04C5-BFCB-1941-218F9352106A}"/>
          </ac:spMkLst>
        </pc:spChg>
      </pc:sldChg>
      <pc:sldChg chg="modSp">
        <pc:chgData name="Mohammad Khan" userId="S::mohammad.khan02@northsouth.edu::66e9fb8e-4ed6-4e1e-bddc-ac99ec076f45" providerId="AD" clId="Web-{8C48C8D0-0853-326D-132E-5B1E1E614ED1}" dt="2025-12-02T17:40:38.255" v="66" actId="20577"/>
        <pc:sldMkLst>
          <pc:docMk/>
          <pc:sldMk cId="0" sldId="291"/>
        </pc:sldMkLst>
        <pc:spChg chg="mod">
          <ac:chgData name="Mohammad Khan" userId="S::mohammad.khan02@northsouth.edu::66e9fb8e-4ed6-4e1e-bddc-ac99ec076f45" providerId="AD" clId="Web-{8C48C8D0-0853-326D-132E-5B1E1E614ED1}" dt="2025-12-02T17:40:38.255" v="66" actId="20577"/>
          <ac:spMkLst>
            <pc:docMk/>
            <pc:sldMk cId="0" sldId="291"/>
            <ac:spMk id="102403" creationId="{C1FFB006-A53A-1122-36D6-585D47D19EB7}"/>
          </ac:spMkLst>
        </pc:spChg>
      </pc:sldChg>
      <pc:sldChg chg="modSp">
        <pc:chgData name="Mohammad Khan" userId="S::mohammad.khan02@northsouth.edu::66e9fb8e-4ed6-4e1e-bddc-ac99ec076f45" providerId="AD" clId="Web-{8C48C8D0-0853-326D-132E-5B1E1E614ED1}" dt="2025-12-02T17:40:54.771" v="71" actId="20577"/>
        <pc:sldMkLst>
          <pc:docMk/>
          <pc:sldMk cId="0" sldId="292"/>
        </pc:sldMkLst>
        <pc:spChg chg="mod">
          <ac:chgData name="Mohammad Khan" userId="S::mohammad.khan02@northsouth.edu::66e9fb8e-4ed6-4e1e-bddc-ac99ec076f45" providerId="AD" clId="Web-{8C48C8D0-0853-326D-132E-5B1E1E614ED1}" dt="2025-12-02T17:40:54.771" v="71" actId="20577"/>
          <ac:spMkLst>
            <pc:docMk/>
            <pc:sldMk cId="0" sldId="292"/>
            <ac:spMk id="104451" creationId="{1A2491C0-127D-67CE-C3EE-28F4FDDF83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4FFC010-42C4-3A87-61D6-9449565DC8EC}"/>
              </a:ext>
            </a:extLst>
          </p:cNvPr>
          <p:cNvSpPr>
            <a:spLocks noGrp="1" noChangeArrowheads="1"/>
          </p:cNvSpPr>
          <p:nvPr>
            <p:ph type="sldNum" sz="quarter" idx="5"/>
          </p:nvPr>
        </p:nvSpPr>
        <p:spPr>
          <a:ln/>
        </p:spPr>
        <p:txBody>
          <a:bodyPr/>
          <a:lstStyle/>
          <a:p>
            <a:fld id="{C649E230-42CE-4FA3-8D63-9672D053A819}" type="slidenum">
              <a:rPr lang="en-US" altLang="en-US"/>
              <a:pPr/>
              <a:t>7</a:t>
            </a:fld>
            <a:endParaRPr lang="en-US" altLang="en-US"/>
          </a:p>
        </p:txBody>
      </p:sp>
      <p:sp>
        <p:nvSpPr>
          <p:cNvPr id="84994" name="Rectangle 2">
            <a:extLst>
              <a:ext uri="{FF2B5EF4-FFF2-40B4-BE49-F238E27FC236}">
                <a16:creationId xmlns:a16="http://schemas.microsoft.com/office/drawing/2014/main" id="{54675E34-99A8-C4D9-D29F-80EBB6025C2C}"/>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1EB58B36-35BB-1D12-3CCB-A3D4D54699F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E633E62-E1C2-33D1-74F2-5B27166F48F2}"/>
              </a:ext>
            </a:extLst>
          </p:cNvPr>
          <p:cNvSpPr>
            <a:spLocks noGrp="1" noChangeArrowheads="1"/>
          </p:cNvSpPr>
          <p:nvPr>
            <p:ph type="sldNum" sz="quarter" idx="5"/>
          </p:nvPr>
        </p:nvSpPr>
        <p:spPr>
          <a:ln/>
        </p:spPr>
        <p:txBody>
          <a:bodyPr/>
          <a:lstStyle/>
          <a:p>
            <a:fld id="{62B4BD24-F72F-4C1C-9A47-EC4BA985F6B7}" type="slidenum">
              <a:rPr lang="en-US" altLang="en-US"/>
              <a:pPr/>
              <a:t>8</a:t>
            </a:fld>
            <a:endParaRPr lang="en-US" altLang="en-US"/>
          </a:p>
        </p:txBody>
      </p:sp>
      <p:sp>
        <p:nvSpPr>
          <p:cNvPr id="28674" name="Rectangle 2">
            <a:extLst>
              <a:ext uri="{FF2B5EF4-FFF2-40B4-BE49-F238E27FC236}">
                <a16:creationId xmlns:a16="http://schemas.microsoft.com/office/drawing/2014/main" id="{90FF0BE1-2CAB-37B8-02C8-B7D98F4E1F52}"/>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B95EC85B-2C3A-4E98-69A7-C28503C61C6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3BDED5-8B97-B33B-BA3C-C54A970892E6}"/>
              </a:ext>
            </a:extLst>
          </p:cNvPr>
          <p:cNvSpPr>
            <a:spLocks noGrp="1" noChangeArrowheads="1"/>
          </p:cNvSpPr>
          <p:nvPr>
            <p:ph type="sldNum" sz="quarter" idx="5"/>
          </p:nvPr>
        </p:nvSpPr>
        <p:spPr>
          <a:ln/>
        </p:spPr>
        <p:txBody>
          <a:bodyPr/>
          <a:lstStyle/>
          <a:p>
            <a:fld id="{6C635DC9-8BAD-436F-ABD0-23FEEDB7AB38}" type="slidenum">
              <a:rPr lang="en-US" altLang="en-US"/>
              <a:pPr/>
              <a:t>9</a:t>
            </a:fld>
            <a:endParaRPr lang="en-US" altLang="en-US"/>
          </a:p>
        </p:txBody>
      </p:sp>
      <p:sp>
        <p:nvSpPr>
          <p:cNvPr id="30722" name="Rectangle 2">
            <a:extLst>
              <a:ext uri="{FF2B5EF4-FFF2-40B4-BE49-F238E27FC236}">
                <a16:creationId xmlns:a16="http://schemas.microsoft.com/office/drawing/2014/main" id="{66D984E4-A79F-9394-ADD1-7CF159AC9B5D}"/>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8F64B193-BBCD-20CC-B21E-A5E97787F3F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267FCC-DEC9-27B6-7591-8B81035287BC}"/>
              </a:ext>
            </a:extLst>
          </p:cNvPr>
          <p:cNvSpPr>
            <a:spLocks noGrp="1" noChangeArrowheads="1"/>
          </p:cNvSpPr>
          <p:nvPr>
            <p:ph type="sldNum" sz="quarter" idx="5"/>
          </p:nvPr>
        </p:nvSpPr>
        <p:spPr>
          <a:ln/>
        </p:spPr>
        <p:txBody>
          <a:bodyPr/>
          <a:lstStyle/>
          <a:p>
            <a:fld id="{AB5A8623-B5D7-4A82-A65C-A4463181364E}" type="slidenum">
              <a:rPr lang="en-US" altLang="en-US"/>
              <a:pPr/>
              <a:t>10</a:t>
            </a:fld>
            <a:endParaRPr lang="en-US" altLang="en-US"/>
          </a:p>
        </p:txBody>
      </p:sp>
      <p:sp>
        <p:nvSpPr>
          <p:cNvPr id="95234" name="Rectangle 2">
            <a:extLst>
              <a:ext uri="{FF2B5EF4-FFF2-40B4-BE49-F238E27FC236}">
                <a16:creationId xmlns:a16="http://schemas.microsoft.com/office/drawing/2014/main" id="{E3E17D61-1221-BAC6-6C5B-EFFE83D0F76F}"/>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2BCFA786-17FF-557D-1FDB-C875566AA7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2AE4383-020A-87CD-BEB4-ECBD961B8B50}"/>
              </a:ext>
            </a:extLst>
          </p:cNvPr>
          <p:cNvSpPr>
            <a:spLocks noGrp="1" noChangeArrowheads="1"/>
          </p:cNvSpPr>
          <p:nvPr>
            <p:ph type="sldNum" sz="quarter" idx="5"/>
          </p:nvPr>
        </p:nvSpPr>
        <p:spPr>
          <a:ln/>
        </p:spPr>
        <p:txBody>
          <a:bodyPr/>
          <a:lstStyle/>
          <a:p>
            <a:fld id="{CF96BB4D-1B24-4907-936B-276E1CDA398D}" type="slidenum">
              <a:rPr lang="en-US" altLang="en-US"/>
              <a:pPr/>
              <a:t>11</a:t>
            </a:fld>
            <a:endParaRPr lang="en-US" altLang="en-US"/>
          </a:p>
        </p:txBody>
      </p:sp>
      <p:sp>
        <p:nvSpPr>
          <p:cNvPr id="101378" name="Rectangle 2">
            <a:extLst>
              <a:ext uri="{FF2B5EF4-FFF2-40B4-BE49-F238E27FC236}">
                <a16:creationId xmlns:a16="http://schemas.microsoft.com/office/drawing/2014/main" id="{2C6BEAF8-2F17-0324-696F-48748EF7304D}"/>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FC485307-74A6-578C-3EA9-686CEA18893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5D978A-99BF-B0E4-61F2-9501185BD20E}"/>
              </a:ext>
            </a:extLst>
          </p:cNvPr>
          <p:cNvSpPr>
            <a:spLocks noGrp="1" noChangeArrowheads="1"/>
          </p:cNvSpPr>
          <p:nvPr>
            <p:ph type="sldNum" sz="quarter" idx="5"/>
          </p:nvPr>
        </p:nvSpPr>
        <p:spPr>
          <a:ln/>
        </p:spPr>
        <p:txBody>
          <a:bodyPr/>
          <a:lstStyle/>
          <a:p>
            <a:fld id="{1ABD3641-49BE-4322-88FA-CA0A6AC42F1B}" type="slidenum">
              <a:rPr lang="en-US" altLang="en-US"/>
              <a:pPr/>
              <a:t>12</a:t>
            </a:fld>
            <a:endParaRPr lang="en-US" altLang="en-US"/>
          </a:p>
        </p:txBody>
      </p:sp>
      <p:sp>
        <p:nvSpPr>
          <p:cNvPr id="103426" name="Rectangle 2">
            <a:extLst>
              <a:ext uri="{FF2B5EF4-FFF2-40B4-BE49-F238E27FC236}">
                <a16:creationId xmlns:a16="http://schemas.microsoft.com/office/drawing/2014/main" id="{B53467B6-06A6-FF02-8C6D-C8B9CF0DCD71}"/>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62281EC3-6425-7674-ACF8-DAAFB230429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C370FB-E664-9DB0-5B8C-37A04357DEB3}"/>
              </a:ext>
            </a:extLst>
          </p:cNvPr>
          <p:cNvSpPr>
            <a:spLocks noGrp="1" noChangeArrowheads="1"/>
          </p:cNvSpPr>
          <p:nvPr>
            <p:ph type="sldNum" sz="quarter" idx="5"/>
          </p:nvPr>
        </p:nvSpPr>
        <p:spPr>
          <a:ln/>
        </p:spPr>
        <p:txBody>
          <a:bodyPr/>
          <a:lstStyle/>
          <a:p>
            <a:fld id="{7E43A7DA-9B9E-4B3D-9007-E13C10E28E2E}" type="slidenum">
              <a:rPr lang="en-US" altLang="en-US"/>
              <a:pPr/>
              <a:t>13</a:t>
            </a:fld>
            <a:endParaRPr lang="en-US" altLang="en-US"/>
          </a:p>
        </p:txBody>
      </p:sp>
      <p:sp>
        <p:nvSpPr>
          <p:cNvPr id="105474" name="Rectangle 2">
            <a:extLst>
              <a:ext uri="{FF2B5EF4-FFF2-40B4-BE49-F238E27FC236}">
                <a16:creationId xmlns:a16="http://schemas.microsoft.com/office/drawing/2014/main" id="{D897AAB5-BB45-E8F1-B262-56EAB68FB9FF}"/>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2E12A458-2BA0-970A-808B-4CBAE66744A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5C8DC4-0044-8007-1915-0132D0F08273}"/>
              </a:ext>
            </a:extLst>
          </p:cNvPr>
          <p:cNvSpPr>
            <a:spLocks noGrp="1" noChangeArrowheads="1"/>
          </p:cNvSpPr>
          <p:nvPr>
            <p:ph type="sldNum" sz="quarter" idx="5"/>
          </p:nvPr>
        </p:nvSpPr>
        <p:spPr>
          <a:ln/>
        </p:spPr>
        <p:txBody>
          <a:bodyPr/>
          <a:lstStyle/>
          <a:p>
            <a:fld id="{1B28B4C5-3196-4A0E-BACD-02CABDB21EFD}" type="slidenum">
              <a:rPr lang="en-US" altLang="en-US"/>
              <a:pPr/>
              <a:t>14</a:t>
            </a:fld>
            <a:endParaRPr lang="en-US" altLang="en-US"/>
          </a:p>
        </p:txBody>
      </p:sp>
      <p:sp>
        <p:nvSpPr>
          <p:cNvPr id="111618" name="Rectangle 2">
            <a:extLst>
              <a:ext uri="{FF2B5EF4-FFF2-40B4-BE49-F238E27FC236}">
                <a16:creationId xmlns:a16="http://schemas.microsoft.com/office/drawing/2014/main" id="{B1BB5D12-AA15-BD59-3BE8-1B52737B6EA4}"/>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00F7995D-CCAE-AD0A-E0E5-A4BC25F6B566}"/>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2400"/>
              <a:buNone/>
              <a:defRPr sz="2400"/>
            </a:lvl1pPr>
            <a:lvl2pPr lvl="1" algn="ctr">
              <a:lnSpc>
                <a:spcPct val="90000"/>
              </a:lnSpc>
              <a:spcBef>
                <a:spcPts val="500"/>
              </a:spcBef>
              <a:spcAft>
                <a:spcPts val="0"/>
              </a:spcAft>
              <a:buClr>
                <a:srgbClr val="548135"/>
              </a:buClr>
              <a:buSzPts val="2000"/>
              <a:buNone/>
              <a:defRPr sz="2000"/>
            </a:lvl2pPr>
            <a:lvl3pPr lvl="2" algn="ctr">
              <a:lnSpc>
                <a:spcPct val="90000"/>
              </a:lnSpc>
              <a:spcBef>
                <a:spcPts val="500"/>
              </a:spcBef>
              <a:spcAft>
                <a:spcPts val="0"/>
              </a:spcAft>
              <a:buClr>
                <a:srgbClr val="FFC000"/>
              </a:buClr>
              <a:buSzPts val="1800"/>
              <a:buNone/>
              <a:defRPr sz="1800"/>
            </a:lvl3pPr>
            <a:lvl4pPr lvl="3" algn="ctr">
              <a:lnSpc>
                <a:spcPct val="90000"/>
              </a:lnSpc>
              <a:spcBef>
                <a:spcPts val="500"/>
              </a:spcBef>
              <a:spcAft>
                <a:spcPts val="0"/>
              </a:spcAft>
              <a:buClr>
                <a:srgbClr val="C00000"/>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0"/>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0"/>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2"/>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70C0"/>
              </a:buClr>
              <a:buSzPts val="3200"/>
              <a:buChar char="•"/>
              <a:defRPr sz="3200"/>
            </a:lvl1pPr>
            <a:lvl2pPr marL="914400" lvl="1" indent="-406400" algn="l">
              <a:lnSpc>
                <a:spcPct val="90000"/>
              </a:lnSpc>
              <a:spcBef>
                <a:spcPts val="500"/>
              </a:spcBef>
              <a:spcAft>
                <a:spcPts val="0"/>
              </a:spcAft>
              <a:buClr>
                <a:srgbClr val="548135"/>
              </a:buClr>
              <a:buSzPts val="2800"/>
              <a:buChar char="•"/>
              <a:defRPr sz="2800"/>
            </a:lvl2pPr>
            <a:lvl3pPr marL="1371600" lvl="2" indent="-381000" algn="l">
              <a:lnSpc>
                <a:spcPct val="90000"/>
              </a:lnSpc>
              <a:spcBef>
                <a:spcPts val="500"/>
              </a:spcBef>
              <a:spcAft>
                <a:spcPts val="0"/>
              </a:spcAft>
              <a:buClr>
                <a:srgbClr val="FFC000"/>
              </a:buClr>
              <a:buSzPts val="2400"/>
              <a:buChar char="•"/>
              <a:defRPr sz="2400"/>
            </a:lvl3pPr>
            <a:lvl4pPr marL="1828800" lvl="3" indent="-355600" algn="l">
              <a:lnSpc>
                <a:spcPct val="90000"/>
              </a:lnSpc>
              <a:spcBef>
                <a:spcPts val="500"/>
              </a:spcBef>
              <a:spcAft>
                <a:spcPts val="0"/>
              </a:spcAft>
              <a:buClr>
                <a:srgbClr val="C00000"/>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67"/>
          <p:cNvSpPr>
            <a:spLocks noGrp="1"/>
          </p:cNvSpPr>
          <p:nvPr>
            <p:ph type="pic" idx="2"/>
          </p:nvPr>
        </p:nvSpPr>
        <p:spPr>
          <a:xfrm>
            <a:off x="5183188" y="987425"/>
            <a:ext cx="6172200" cy="4873625"/>
          </a:xfrm>
          <a:prstGeom prst="rect">
            <a:avLst/>
          </a:prstGeom>
          <a:noFill/>
          <a:ln>
            <a:noFill/>
          </a:ln>
        </p:spPr>
      </p:sp>
      <p:sp>
        <p:nvSpPr>
          <p:cNvPr id="70" name="Google Shape;70;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6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8"/>
          <p:cNvSpPr txBox="1">
            <a:spLocks noGrp="1"/>
          </p:cNvSpPr>
          <p:nvPr>
            <p:ph type="body" idx="1"/>
          </p:nvPr>
        </p:nvSpPr>
        <p:spPr>
          <a:xfrm rot="5400000">
            <a:off x="3727452" y="-1922463"/>
            <a:ext cx="5237162" cy="1132046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002060"/>
              </a:buClr>
              <a:buSzPts val="4400"/>
              <a:buFont typeface="Calibri"/>
              <a:buNone/>
              <a:defRPr sz="44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0C0"/>
              </a:buClr>
              <a:buSzPts val="2800"/>
              <a:buFont typeface="Arial"/>
              <a:buChar char="•"/>
              <a:defRPr sz="28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548135"/>
              </a:buClr>
              <a:buSzPts val="2400"/>
              <a:buFont typeface="Arial"/>
              <a:buChar char="•"/>
              <a:defRPr sz="2400" b="0" i="0" u="none" strike="noStrike" cap="none">
                <a:solidFill>
                  <a:srgbClr val="548135"/>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C000"/>
              </a:buClr>
              <a:buSzPts val="2000"/>
              <a:buFont typeface="Arial"/>
              <a:buChar char="•"/>
              <a:defRPr sz="2000" b="0" i="0" u="none" strike="noStrike" cap="none">
                <a:solidFill>
                  <a:srgbClr val="FFC0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C00000"/>
              </a:buClr>
              <a:buSzPts val="1800"/>
              <a:buFont typeface="Arial"/>
              <a:buChar char="•"/>
              <a:defRPr sz="1800" b="0" i="0" u="none" strike="noStrike" cap="none">
                <a:solidFill>
                  <a:srgbClr val="C00000"/>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8" descr="http://www.northsouth.edu/newassets/images/nsu-photo/logo-4.png"/>
          <p:cNvPicPr preferRelativeResize="0"/>
          <p:nvPr/>
        </p:nvPicPr>
        <p:blipFill rotWithShape="1">
          <a:blip r:embed="rId13">
            <a:alphaModFix/>
          </a:blip>
          <a:srcRect/>
          <a:stretch/>
        </p:blipFill>
        <p:spPr>
          <a:xfrm>
            <a:off x="1" y="0"/>
            <a:ext cx="495300" cy="396240"/>
          </a:xfrm>
          <a:prstGeom prst="rect">
            <a:avLst/>
          </a:prstGeom>
          <a:noFill/>
          <a:ln>
            <a:noFill/>
          </a:ln>
        </p:spPr>
      </p:pic>
      <p:cxnSp>
        <p:nvCxnSpPr>
          <p:cNvPr id="16" name="Google Shape;16;p58"/>
          <p:cNvCxnSpPr/>
          <p:nvPr/>
        </p:nvCxnSpPr>
        <p:spPr>
          <a:xfrm rot="10800000" flipH="1">
            <a:off x="792958" y="54768"/>
            <a:ext cx="11001375" cy="46037"/>
          </a:xfrm>
          <a:prstGeom prst="straightConnector1">
            <a:avLst/>
          </a:prstGeom>
          <a:noFill/>
          <a:ln w="19050"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245809"/>
            <a:ext cx="9144000" cy="156471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002060"/>
              </a:buClr>
              <a:buSzPct val="100000"/>
              <a:buFont typeface="Calibri"/>
              <a:buNone/>
            </a:pPr>
            <a:r>
              <a:rPr lang="en-US" sz="4800" dirty="0"/>
              <a:t>CSE 495 (Natural Language Processing)</a:t>
            </a:r>
            <a:br>
              <a:rPr lang="en-US" sz="4800" dirty="0"/>
            </a:br>
            <a:r>
              <a:rPr lang="en-US" sz="4800" dirty="0"/>
              <a:t>Lecture 11</a:t>
            </a:r>
            <a:endParaRPr dirty="0"/>
          </a:p>
        </p:txBody>
      </p:sp>
      <p:sp>
        <p:nvSpPr>
          <p:cNvPr id="91" name="Google Shape;91;p1"/>
          <p:cNvSpPr txBox="1">
            <a:spLocks noGrp="1"/>
          </p:cNvSpPr>
          <p:nvPr>
            <p:ph type="subTitle" idx="1"/>
          </p:nvPr>
        </p:nvSpPr>
        <p:spPr>
          <a:xfrm>
            <a:off x="1524000" y="3947050"/>
            <a:ext cx="9144000" cy="57258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2000"/>
              <a:buNone/>
            </a:pPr>
            <a:r>
              <a:rPr lang="en-US" sz="2000"/>
              <a:t>NLP Metrics</a:t>
            </a:r>
            <a:endParaRPr/>
          </a:p>
        </p:txBody>
      </p:sp>
      <p:sp>
        <p:nvSpPr>
          <p:cNvPr id="92" name="Google Shape;92;p1"/>
          <p:cNvSpPr/>
          <p:nvPr/>
        </p:nvSpPr>
        <p:spPr>
          <a:xfrm>
            <a:off x="0" y="1"/>
            <a:ext cx="5920619" cy="2130951"/>
          </a:xfrm>
          <a:custGeom>
            <a:avLst/>
            <a:gdLst/>
            <a:ahLst/>
            <a:cxnLst/>
            <a:rect l="l" t="t" r="r" b="b"/>
            <a:pathLst>
              <a:path w="5920619" h="2130951" extrusionOk="0">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097839" y="0"/>
            <a:ext cx="7094160" cy="2130952"/>
          </a:xfrm>
          <a:custGeom>
            <a:avLst/>
            <a:gdLst/>
            <a:ahLst/>
            <a:cxnLst/>
            <a:rect l="l" t="t" r="r" b="b"/>
            <a:pathLst>
              <a:path w="7094160" h="2130952" extrusionOk="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flipH="1">
            <a:off x="6149721" y="4682920"/>
            <a:ext cx="4522796" cy="2175080"/>
          </a:xfrm>
          <a:custGeom>
            <a:avLst/>
            <a:gdLst/>
            <a:ahLst/>
            <a:cxnLst/>
            <a:rect l="l" t="t" r="r" b="b"/>
            <a:pathLst>
              <a:path w="4522796" h="2175080" extrusionOk="0">
                <a:moveTo>
                  <a:pt x="3515449" y="0"/>
                </a:moveTo>
                <a:lnTo>
                  <a:pt x="0" y="0"/>
                </a:lnTo>
                <a:lnTo>
                  <a:pt x="0" y="2175080"/>
                </a:lnTo>
                <a:lnTo>
                  <a:pt x="4522796" y="217508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Calibri"/>
              <a:ea typeface="Calibri"/>
              <a:cs typeface="Calibri"/>
              <a:sym typeface="Calibri"/>
            </a:endParaRPr>
          </a:p>
        </p:txBody>
      </p:sp>
      <p:sp>
        <p:nvSpPr>
          <p:cNvPr id="95" name="Google Shape;95;p1"/>
          <p:cNvSpPr/>
          <p:nvPr/>
        </p:nvSpPr>
        <p:spPr>
          <a:xfrm>
            <a:off x="6266810" y="4682920"/>
            <a:ext cx="5925190" cy="2175080"/>
          </a:xfrm>
          <a:custGeom>
            <a:avLst/>
            <a:gdLst/>
            <a:ahLst/>
            <a:cxnLst/>
            <a:rect l="l" t="t" r="r" b="b"/>
            <a:pathLst>
              <a:path w="5925190" h="2175080" extrusionOk="0">
                <a:moveTo>
                  <a:pt x="1007347" y="0"/>
                </a:moveTo>
                <a:lnTo>
                  <a:pt x="5925190" y="0"/>
                </a:lnTo>
                <a:lnTo>
                  <a:pt x="5925190" y="2175080"/>
                </a:lnTo>
                <a:lnTo>
                  <a:pt x="0" y="217508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0" y="4682920"/>
            <a:ext cx="7114535" cy="2175080"/>
          </a:xfrm>
          <a:custGeom>
            <a:avLst/>
            <a:gdLst/>
            <a:ahLst/>
            <a:cxnLst/>
            <a:rect l="l" t="t" r="r" b="b"/>
            <a:pathLst>
              <a:path w="7114535" h="2175080" extrusionOk="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FC40-2B97-0359-FF3F-6E8AE0EAA63A}"/>
              </a:ext>
            </a:extLst>
          </p:cNvPr>
          <p:cNvSpPr>
            <a:spLocks noGrp="1"/>
          </p:cNvSpPr>
          <p:nvPr>
            <p:ph type="title"/>
          </p:nvPr>
        </p:nvSpPr>
        <p:spPr/>
        <p:txBody>
          <a:bodyPr>
            <a:normAutofit fontScale="90000"/>
          </a:bodyPr>
          <a:lstStyle/>
          <a:p>
            <a:r>
              <a:rPr lang="en-US"/>
              <a:t>Why Study NLP Evaluation Metrics</a:t>
            </a:r>
          </a:p>
        </p:txBody>
      </p:sp>
      <p:sp>
        <p:nvSpPr>
          <p:cNvPr id="3" name="Text Placeholder 2">
            <a:extLst>
              <a:ext uri="{FF2B5EF4-FFF2-40B4-BE49-F238E27FC236}">
                <a16:creationId xmlns:a16="http://schemas.microsoft.com/office/drawing/2014/main" id="{3F1A6C0D-334D-7581-946F-36BC9D2846CC}"/>
              </a:ext>
            </a:extLst>
          </p:cNvPr>
          <p:cNvSpPr>
            <a:spLocks noGrp="1"/>
          </p:cNvSpPr>
          <p:nvPr>
            <p:ph type="body" idx="1"/>
          </p:nvPr>
        </p:nvSpPr>
        <p:spPr/>
        <p:txBody>
          <a:bodyPr>
            <a:normAutofit/>
          </a:bodyPr>
          <a:lstStyle/>
          <a:p>
            <a:r>
              <a:rPr lang="en-US" dirty="0"/>
              <a:t>Whenever we build Machine Learning models, we need some metric to measure the model’s goodness. </a:t>
            </a:r>
          </a:p>
          <a:p>
            <a:r>
              <a:rPr lang="en-US" dirty="0"/>
              <a:t>“Goodness” of the model have multiple interpretations</a:t>
            </a:r>
          </a:p>
          <a:p>
            <a:pPr lvl="1"/>
            <a:r>
              <a:rPr lang="en-US" dirty="0"/>
              <a:t>Generally, we use it as the measure of a model's performance on new instances that weren’t a part of the training data</a:t>
            </a:r>
          </a:p>
          <a:p>
            <a:r>
              <a:rPr lang="en-US" dirty="0"/>
              <a:t>Determining whether the model being used for a specific task is successful depends on 2 key factors</a:t>
            </a:r>
          </a:p>
          <a:p>
            <a:pPr lvl="1"/>
            <a:r>
              <a:rPr lang="en-US" dirty="0"/>
              <a:t>Whether the evaluation metric we have selected is the correct one for our problem</a:t>
            </a:r>
          </a:p>
          <a:p>
            <a:pPr lvl="1"/>
            <a:r>
              <a:rPr lang="en-US" dirty="0"/>
              <a:t>Whether we are following the correct evaluation process</a:t>
            </a:r>
          </a:p>
          <a:p>
            <a:endParaRPr lang="en-US" dirty="0"/>
          </a:p>
          <a:p>
            <a:endParaRPr lang="en-US" dirty="0"/>
          </a:p>
        </p:txBody>
      </p:sp>
    </p:spTree>
    <p:extLst>
      <p:ext uri="{BB962C8B-B14F-4D97-AF65-F5344CB8AC3E}">
        <p14:creationId xmlns:p14="http://schemas.microsoft.com/office/powerpoint/2010/main" val="1371904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8D2F-E8D7-A6D4-8066-262A197D1658}"/>
              </a:ext>
            </a:extLst>
          </p:cNvPr>
          <p:cNvSpPr>
            <a:spLocks noGrp="1"/>
          </p:cNvSpPr>
          <p:nvPr>
            <p:ph type="title"/>
          </p:nvPr>
        </p:nvSpPr>
        <p:spPr/>
        <p:txBody>
          <a:bodyPr>
            <a:normAutofit fontScale="90000"/>
          </a:bodyPr>
          <a:lstStyle/>
          <a:p>
            <a:r>
              <a:rPr lang="en-US"/>
              <a:t>Evaluation Metrics to Use</a:t>
            </a:r>
          </a:p>
        </p:txBody>
      </p:sp>
      <p:sp>
        <p:nvSpPr>
          <p:cNvPr id="3" name="Text Placeholder 2">
            <a:extLst>
              <a:ext uri="{FF2B5EF4-FFF2-40B4-BE49-F238E27FC236}">
                <a16:creationId xmlns:a16="http://schemas.microsoft.com/office/drawing/2014/main" id="{C199344C-2B08-D43F-6903-BD599B83F45D}"/>
              </a:ext>
            </a:extLst>
          </p:cNvPr>
          <p:cNvSpPr>
            <a:spLocks noGrp="1"/>
          </p:cNvSpPr>
          <p:nvPr>
            <p:ph type="body" idx="1"/>
          </p:nvPr>
        </p:nvSpPr>
        <p:spPr/>
        <p:txBody>
          <a:bodyPr/>
          <a:lstStyle/>
          <a:p>
            <a:r>
              <a:rPr lang="en-US" dirty="0"/>
              <a:t>The evaluation metric depends on the type of NLP task and the stage of the project </a:t>
            </a:r>
          </a:p>
          <a:p>
            <a:r>
              <a:rPr lang="en-US" dirty="0"/>
              <a:t>For example, during the model building and deployment phase, we use a different evaluation metric than the model in production</a:t>
            </a:r>
          </a:p>
          <a:p>
            <a:r>
              <a:rPr lang="en-US" dirty="0"/>
              <a:t>During development, ML metrics would suffice, but in production, we care about business impact; therefore, we rather use business metrics to measure the goodness of our model</a:t>
            </a:r>
          </a:p>
        </p:txBody>
      </p:sp>
    </p:spTree>
    <p:extLst>
      <p:ext uri="{BB962C8B-B14F-4D97-AF65-F5344CB8AC3E}">
        <p14:creationId xmlns:p14="http://schemas.microsoft.com/office/powerpoint/2010/main" val="1132901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382CA-D3DF-E801-52C7-F904552356B3}"/>
              </a:ext>
            </a:extLst>
          </p:cNvPr>
          <p:cNvSpPr>
            <a:spLocks noGrp="1"/>
          </p:cNvSpPr>
          <p:nvPr>
            <p:ph type="title"/>
          </p:nvPr>
        </p:nvSpPr>
        <p:spPr/>
        <p:txBody>
          <a:bodyPr>
            <a:normAutofit fontScale="90000"/>
          </a:bodyPr>
          <a:lstStyle/>
          <a:p>
            <a:r>
              <a:rPr lang="en-US"/>
              <a:t>Categories of Evaluation</a:t>
            </a:r>
          </a:p>
        </p:txBody>
      </p:sp>
      <p:sp>
        <p:nvSpPr>
          <p:cNvPr id="3" name="Text Placeholder 2">
            <a:extLst>
              <a:ext uri="{FF2B5EF4-FFF2-40B4-BE49-F238E27FC236}">
                <a16:creationId xmlns:a16="http://schemas.microsoft.com/office/drawing/2014/main" id="{716DF9C5-AC01-A9D9-1A6F-AD4824E21AED}"/>
              </a:ext>
            </a:extLst>
          </p:cNvPr>
          <p:cNvSpPr>
            <a:spLocks noGrp="1"/>
          </p:cNvSpPr>
          <p:nvPr>
            <p:ph type="body" idx="1"/>
          </p:nvPr>
        </p:nvSpPr>
        <p:spPr/>
        <p:txBody>
          <a:bodyPr/>
          <a:lstStyle/>
          <a:p>
            <a:r>
              <a:rPr lang="en-US" dirty="0"/>
              <a:t>We can categorize evaluation metrics into two</a:t>
            </a:r>
          </a:p>
          <a:p>
            <a:pPr lvl="1"/>
            <a:r>
              <a:rPr lang="en-US" dirty="0"/>
              <a:t>Intrinsic Evaluation — Focuses on intermediary objectives (i.e., the performance of an NLP component on a defined subtask)</a:t>
            </a:r>
          </a:p>
          <a:p>
            <a:pPr lvl="1"/>
            <a:r>
              <a:rPr lang="en-US" dirty="0"/>
              <a:t>Extrinsic Evaluation — Focuses on the performance of the final objective (i.e., the performance of the component on the complete application)</a:t>
            </a:r>
          </a:p>
          <a:p>
            <a:r>
              <a:rPr lang="en-US" dirty="0"/>
              <a:t>Stakeholders typically care about extrinsic evaluation since they’d want to know how good the model is at solving the business problem at hand</a:t>
            </a:r>
          </a:p>
          <a:p>
            <a:r>
              <a:rPr lang="en-US" dirty="0"/>
              <a:t>However, it’s still important to have intrinsic evaluation metrics for the AI team to measure how they are doing</a:t>
            </a:r>
          </a:p>
        </p:txBody>
      </p:sp>
    </p:spTree>
    <p:extLst>
      <p:ext uri="{BB962C8B-B14F-4D97-AF65-F5344CB8AC3E}">
        <p14:creationId xmlns:p14="http://schemas.microsoft.com/office/powerpoint/2010/main" val="2239902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A95DC-918D-3133-675B-6C5D64E8AEC3}"/>
              </a:ext>
            </a:extLst>
          </p:cNvPr>
          <p:cNvSpPr>
            <a:spLocks noGrp="1"/>
          </p:cNvSpPr>
          <p:nvPr>
            <p:ph type="title"/>
          </p:nvPr>
        </p:nvSpPr>
        <p:spPr/>
        <p:txBody>
          <a:bodyPr>
            <a:normAutofit fontScale="90000"/>
          </a:bodyPr>
          <a:lstStyle/>
          <a:p>
            <a:r>
              <a:rPr lang="en-US"/>
              <a:t>Conventional Metrics</a:t>
            </a:r>
          </a:p>
        </p:txBody>
      </p:sp>
      <p:sp>
        <p:nvSpPr>
          <p:cNvPr id="3" name="Text Placeholder 2">
            <a:extLst>
              <a:ext uri="{FF2B5EF4-FFF2-40B4-BE49-F238E27FC236}">
                <a16:creationId xmlns:a16="http://schemas.microsoft.com/office/drawing/2014/main" id="{3ABCD01B-E071-65C6-141A-34594086A6CA}"/>
              </a:ext>
            </a:extLst>
          </p:cNvPr>
          <p:cNvSpPr>
            <a:spLocks noGrp="1"/>
          </p:cNvSpPr>
          <p:nvPr>
            <p:ph type="body" idx="1"/>
          </p:nvPr>
        </p:nvSpPr>
        <p:spPr/>
        <p:txBody>
          <a:bodyPr>
            <a:normAutofit fontScale="92500" lnSpcReduction="10000"/>
          </a:bodyPr>
          <a:lstStyle/>
          <a:p>
            <a:r>
              <a:rPr lang="en-US" dirty="0">
                <a:solidFill>
                  <a:srgbClr val="C00000"/>
                </a:solidFill>
              </a:rPr>
              <a:t>Accuracy</a:t>
            </a:r>
          </a:p>
          <a:p>
            <a:pPr lvl="1"/>
            <a:r>
              <a:rPr lang="en-US" dirty="0"/>
              <a:t>Denotes the fraction of times the model makes a correct prediction compared to its total predictions</a:t>
            </a:r>
          </a:p>
          <a:p>
            <a:pPr lvl="2"/>
            <a:r>
              <a:rPr lang="en-US" dirty="0"/>
              <a:t>Best used when the output variable is categorical or discrete</a:t>
            </a:r>
          </a:p>
          <a:p>
            <a:pPr lvl="2"/>
            <a:r>
              <a:rPr lang="en-US" dirty="0"/>
              <a:t>For example, how often a sentiment classification algorithm is correct</a:t>
            </a:r>
          </a:p>
          <a:p>
            <a:r>
              <a:rPr lang="en-US" dirty="0">
                <a:solidFill>
                  <a:srgbClr val="C00000"/>
                </a:solidFill>
              </a:rPr>
              <a:t>Precision</a:t>
            </a:r>
          </a:p>
          <a:p>
            <a:pPr lvl="1"/>
            <a:r>
              <a:rPr lang="en-US" dirty="0"/>
              <a:t>Evaluates the percent of true positives identified given all positive cases </a:t>
            </a:r>
          </a:p>
          <a:p>
            <a:pPr lvl="1"/>
            <a:r>
              <a:rPr lang="en-US" dirty="0"/>
              <a:t>Particularly helpful when identifying positives are more important than overall accuracy </a:t>
            </a:r>
          </a:p>
          <a:p>
            <a:pPr lvl="2"/>
            <a:r>
              <a:rPr lang="en-US" dirty="0"/>
              <a:t>For example, if identifying a cancer that is prevalent 1% of the time, a model that always outputs “negative” will be 99% accurate, but 0% precise</a:t>
            </a:r>
          </a:p>
          <a:p>
            <a:r>
              <a:rPr lang="en-US" dirty="0">
                <a:solidFill>
                  <a:srgbClr val="C00000"/>
                </a:solidFill>
              </a:rPr>
              <a:t>Recall</a:t>
            </a:r>
          </a:p>
          <a:p>
            <a:pPr lvl="1"/>
            <a:r>
              <a:rPr lang="en-US" dirty="0"/>
              <a:t>The percent of true positives versus combined true positives and false negatives</a:t>
            </a:r>
          </a:p>
          <a:p>
            <a:pPr lvl="2"/>
            <a:r>
              <a:rPr lang="en-US" dirty="0"/>
              <a:t>In the example with a rare cancer that is prevalent 1% of the time, if a model creates totally random predictions (50/50), it will have 50% accuracy (50/100), 50% precision (0.5/1), and 1% recall (0.5/50)</a:t>
            </a:r>
          </a:p>
          <a:p>
            <a:endParaRPr lang="en-US" dirty="0"/>
          </a:p>
          <a:p>
            <a:endParaRPr lang="en-US" dirty="0"/>
          </a:p>
        </p:txBody>
      </p:sp>
    </p:spTree>
    <p:extLst>
      <p:ext uri="{BB962C8B-B14F-4D97-AF65-F5344CB8AC3E}">
        <p14:creationId xmlns:p14="http://schemas.microsoft.com/office/powerpoint/2010/main" val="255594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83DF1-E0FD-F9A3-992D-217627949A4B}"/>
              </a:ext>
            </a:extLst>
          </p:cNvPr>
          <p:cNvSpPr>
            <a:spLocks noGrp="1"/>
          </p:cNvSpPr>
          <p:nvPr>
            <p:ph type="title"/>
          </p:nvPr>
        </p:nvSpPr>
        <p:spPr/>
        <p:txBody>
          <a:bodyPr>
            <a:normAutofit fontScale="90000"/>
          </a:bodyPr>
          <a:lstStyle/>
          <a:p>
            <a:r>
              <a:rPr lang="en-US" dirty="0"/>
              <a:t>Conventional Metrics</a:t>
            </a:r>
          </a:p>
        </p:txBody>
      </p:sp>
      <p:sp>
        <p:nvSpPr>
          <p:cNvPr id="3" name="Text Placeholder 2">
            <a:extLst>
              <a:ext uri="{FF2B5EF4-FFF2-40B4-BE49-F238E27FC236}">
                <a16:creationId xmlns:a16="http://schemas.microsoft.com/office/drawing/2014/main" id="{04A900E0-8CA5-69EE-33D0-C437F56BEF49}"/>
              </a:ext>
            </a:extLst>
          </p:cNvPr>
          <p:cNvSpPr>
            <a:spLocks noGrp="1"/>
          </p:cNvSpPr>
          <p:nvPr>
            <p:ph type="body" idx="1"/>
          </p:nvPr>
        </p:nvSpPr>
        <p:spPr/>
        <p:txBody>
          <a:bodyPr>
            <a:normAutofit fontScale="70000" lnSpcReduction="20000"/>
          </a:bodyPr>
          <a:lstStyle/>
          <a:p>
            <a:r>
              <a:rPr lang="en-US" dirty="0">
                <a:solidFill>
                  <a:srgbClr val="C00000"/>
                </a:solidFill>
              </a:rPr>
              <a:t>F1 Score</a:t>
            </a:r>
          </a:p>
          <a:p>
            <a:r>
              <a:rPr lang="en-US" dirty="0"/>
              <a:t>Combines precision and recall to give a single metric — both completeness and exactness. </a:t>
            </a:r>
          </a:p>
          <a:p>
            <a:pPr lvl="1"/>
            <a:r>
              <a:rPr lang="en-US" dirty="0"/>
              <a:t>(2 * Precision * Recall) / (Precision + Recall). </a:t>
            </a:r>
          </a:p>
          <a:p>
            <a:pPr lvl="1"/>
            <a:r>
              <a:rPr lang="en-US" dirty="0"/>
              <a:t>Used together with accuracy, and useful in sequence-labeling tasks, such as entity extraction, and retrieval-based question answering</a:t>
            </a:r>
          </a:p>
          <a:p>
            <a:r>
              <a:rPr lang="en-US" dirty="0">
                <a:solidFill>
                  <a:srgbClr val="C00000"/>
                </a:solidFill>
              </a:rPr>
              <a:t>AUC</a:t>
            </a:r>
          </a:p>
          <a:p>
            <a:r>
              <a:rPr lang="en-US" dirty="0"/>
              <a:t>Area Under Curve; Combines true positives vs false positives as threshold for prediction is varied</a:t>
            </a:r>
          </a:p>
          <a:p>
            <a:pPr lvl="1"/>
            <a:r>
              <a:rPr lang="en-US" dirty="0"/>
              <a:t>Used to measure the quality of a model independent of the prediction threshold and to find the optimal prediction threshold for a classification task.</a:t>
            </a:r>
          </a:p>
          <a:p>
            <a:r>
              <a:rPr lang="en-US" dirty="0">
                <a:solidFill>
                  <a:srgbClr val="C00000"/>
                </a:solidFill>
              </a:rPr>
              <a:t>MRR</a:t>
            </a:r>
          </a:p>
          <a:p>
            <a:r>
              <a:rPr lang="en-US" dirty="0"/>
              <a:t>Mean Reciprocal Rank; Evaluate the responses retrieved given their probability of being correct</a:t>
            </a:r>
          </a:p>
          <a:p>
            <a:pPr lvl="1"/>
            <a:r>
              <a:rPr lang="en-US" dirty="0"/>
              <a:t>The mean of the reciprocal of the ranks of the retrieved results</a:t>
            </a:r>
          </a:p>
          <a:p>
            <a:pPr lvl="1"/>
            <a:r>
              <a:rPr lang="en-US" dirty="0"/>
              <a:t>Used heavily in all information-retrieval tasks, including article search and e-commerce search.</a:t>
            </a:r>
          </a:p>
          <a:p>
            <a:r>
              <a:rPr lang="en-US" dirty="0">
                <a:solidFill>
                  <a:srgbClr val="C00000"/>
                </a:solidFill>
              </a:rPr>
              <a:t>MAP</a:t>
            </a:r>
          </a:p>
          <a:p>
            <a:r>
              <a:rPr lang="en-US" dirty="0"/>
              <a:t>Mean average precision, calculated across each retrieved result. Used in information-retrieval tasks.</a:t>
            </a:r>
          </a:p>
          <a:p>
            <a:endParaRPr lang="en-US" dirty="0"/>
          </a:p>
          <a:p>
            <a:endParaRPr lang="en-US" dirty="0"/>
          </a:p>
          <a:p>
            <a:pPr lvl="1"/>
            <a:endParaRPr lang="en-US" dirty="0"/>
          </a:p>
        </p:txBody>
      </p:sp>
    </p:spTree>
    <p:extLst>
      <p:ext uri="{BB962C8B-B14F-4D97-AF65-F5344CB8AC3E}">
        <p14:creationId xmlns:p14="http://schemas.microsoft.com/office/powerpoint/2010/main" val="160896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577F242-9DF2-2BBF-209D-25A45CD45F04}"/>
              </a:ext>
            </a:extLst>
          </p:cNvPr>
          <p:cNvSpPr>
            <a:spLocks noGrp="1" noChangeArrowheads="1"/>
          </p:cNvSpPr>
          <p:nvPr>
            <p:ph type="title"/>
          </p:nvPr>
        </p:nvSpPr>
        <p:spPr/>
        <p:txBody>
          <a:bodyPr>
            <a:normAutofit fontScale="90000"/>
          </a:bodyPr>
          <a:lstStyle/>
          <a:p>
            <a:r>
              <a:rPr lang="en-US" altLang="en-US"/>
              <a:t>BLEU – Metric for MT</a:t>
            </a:r>
          </a:p>
        </p:txBody>
      </p:sp>
      <p:sp>
        <p:nvSpPr>
          <p:cNvPr id="79875" name="Rectangle 3">
            <a:extLst>
              <a:ext uri="{FF2B5EF4-FFF2-40B4-BE49-F238E27FC236}">
                <a16:creationId xmlns:a16="http://schemas.microsoft.com/office/drawing/2014/main" id="{1A855A38-FE36-26E7-3367-B4A486218B3D}"/>
              </a:ext>
            </a:extLst>
          </p:cNvPr>
          <p:cNvSpPr>
            <a:spLocks noGrp="1" noChangeArrowheads="1"/>
          </p:cNvSpPr>
          <p:nvPr>
            <p:ph type="body" idx="1"/>
          </p:nvPr>
        </p:nvSpPr>
        <p:spPr/>
        <p:txBody>
          <a:bodyPr>
            <a:normAutofit fontScale="92500"/>
          </a:bodyPr>
          <a:lstStyle/>
          <a:p>
            <a:pPr>
              <a:lnSpc>
                <a:spcPct val="90000"/>
              </a:lnSpc>
            </a:pPr>
            <a:r>
              <a:rPr lang="en-US" altLang="en-US" sz="2500" dirty="0"/>
              <a:t>Bilingual Evaluation Understudy or BLEU is a precision-based metric used for evaluating the quality of machine-translated text </a:t>
            </a:r>
          </a:p>
          <a:p>
            <a:r>
              <a:rPr lang="en-US" altLang="en-US" sz="2500" dirty="0"/>
              <a:t>It uses 𝑛-gram overlaps between the reference (human annotation) and the hypothesis (machine generated text)</a:t>
            </a:r>
          </a:p>
          <a:p>
            <a:pPr>
              <a:lnSpc>
                <a:spcPct val="90000"/>
              </a:lnSpc>
            </a:pPr>
            <a:r>
              <a:rPr lang="en-US" altLang="en-US" sz="2500" dirty="0"/>
              <a:t>The BLEU score is a number between zero and one that measures the similarity of the machine-translated text to a set of high-quality reference translations. </a:t>
            </a:r>
          </a:p>
          <a:p>
            <a:pPr lvl="1"/>
            <a:r>
              <a:rPr lang="en-US" altLang="en-US" sz="2100" dirty="0"/>
              <a:t>A value of 0 means that the machine-translated output has no overlap with the reference translation (low quality) </a:t>
            </a:r>
          </a:p>
          <a:p>
            <a:pPr lvl="1"/>
            <a:r>
              <a:rPr lang="en-US" altLang="en-US" sz="2100" dirty="0"/>
              <a:t>While a value of 1 means there is perfect overlap with the reference translations (high quality).</a:t>
            </a:r>
            <a:endParaRPr lang="en-US" altLang="en-US" sz="2500" dirty="0"/>
          </a:p>
          <a:p>
            <a:pPr>
              <a:lnSpc>
                <a:spcPct val="90000"/>
              </a:lnSpc>
            </a:pPr>
            <a:r>
              <a:rPr lang="en-US" altLang="en-US" sz="2500" dirty="0"/>
              <a:t>It has been shown that BLEU scores correlate well with the human judgment of translation quality  </a:t>
            </a:r>
          </a:p>
          <a:p>
            <a:pPr lvl="1"/>
            <a:r>
              <a:rPr lang="en-US" altLang="en-US" sz="2100" dirty="0"/>
              <a:t>Note that even human translators do not achieve a perfect score of 1.0.</a:t>
            </a:r>
          </a:p>
          <a:p>
            <a:pPr>
              <a:lnSpc>
                <a:spcPct val="90000"/>
              </a:lnSpc>
            </a:pPr>
            <a:r>
              <a:rPr lang="en-US" altLang="en-US" sz="2500" dirty="0"/>
              <a:t>Central Idea:</a:t>
            </a:r>
          </a:p>
          <a:p>
            <a:pPr lvl="1">
              <a:lnSpc>
                <a:spcPct val="90000"/>
              </a:lnSpc>
            </a:pPr>
            <a:r>
              <a:rPr lang="en-US" altLang="en-US" sz="2100" dirty="0"/>
              <a:t>“The closer a machine translation is to a professional human translation, the better it 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7539D5A-4930-5CF0-5119-C5B0B7D1A7FF}"/>
              </a:ext>
            </a:extLst>
          </p:cNvPr>
          <p:cNvSpPr>
            <a:spLocks noGrp="1" noChangeArrowheads="1"/>
          </p:cNvSpPr>
          <p:nvPr>
            <p:ph type="title"/>
          </p:nvPr>
        </p:nvSpPr>
        <p:spPr/>
        <p:txBody>
          <a:bodyPr>
            <a:normAutofit fontScale="90000"/>
          </a:bodyPr>
          <a:lstStyle/>
          <a:p>
            <a:r>
              <a:rPr lang="en-US" altLang="en-US"/>
              <a:t>What is BLEU? A Big Picture </a:t>
            </a:r>
          </a:p>
        </p:txBody>
      </p:sp>
      <p:sp>
        <p:nvSpPr>
          <p:cNvPr id="27651" name="Rectangle 3">
            <a:extLst>
              <a:ext uri="{FF2B5EF4-FFF2-40B4-BE49-F238E27FC236}">
                <a16:creationId xmlns:a16="http://schemas.microsoft.com/office/drawing/2014/main" id="{6BDF68E8-AF5E-5E0D-9363-5AA039A92F39}"/>
              </a:ext>
            </a:extLst>
          </p:cNvPr>
          <p:cNvSpPr>
            <a:spLocks noGrp="1" noChangeArrowheads="1"/>
          </p:cNvSpPr>
          <p:nvPr>
            <p:ph type="body" idx="1"/>
          </p:nvPr>
        </p:nvSpPr>
        <p:spPr/>
        <p:txBody>
          <a:bodyPr/>
          <a:lstStyle/>
          <a:p>
            <a:pPr>
              <a:lnSpc>
                <a:spcPct val="90000"/>
              </a:lnSpc>
            </a:pPr>
            <a:r>
              <a:rPr lang="en-US" altLang="en-US" sz="2500" dirty="0"/>
              <a:t>Requires multiple good reference translations</a:t>
            </a:r>
          </a:p>
          <a:p>
            <a:pPr>
              <a:lnSpc>
                <a:spcPct val="90000"/>
              </a:lnSpc>
            </a:pPr>
            <a:r>
              <a:rPr lang="en-US" altLang="en-US" sz="2500" dirty="0"/>
              <a:t>Depends on modified n-gram precision (or co-occurrence)</a:t>
            </a:r>
          </a:p>
          <a:p>
            <a:pPr lvl="1">
              <a:lnSpc>
                <a:spcPct val="90000"/>
              </a:lnSpc>
            </a:pPr>
            <a:r>
              <a:rPr lang="en-US" altLang="en-US" sz="2100" dirty="0"/>
              <a:t>Co-occurrence: if translated sentence hit n-gram in any reference sentences</a:t>
            </a:r>
          </a:p>
          <a:p>
            <a:pPr>
              <a:lnSpc>
                <a:spcPct val="90000"/>
              </a:lnSpc>
            </a:pPr>
            <a:r>
              <a:rPr lang="en-US" altLang="en-US" sz="2500" dirty="0"/>
              <a:t>Computes Per-corpus n-gram co-occurrence</a:t>
            </a:r>
          </a:p>
          <a:p>
            <a:pPr lvl="1">
              <a:lnSpc>
                <a:spcPct val="90000"/>
              </a:lnSpc>
            </a:pPr>
            <a:r>
              <a:rPr lang="en-US" altLang="en-US" sz="2100" dirty="0"/>
              <a:t>n can have several values and a weighted sum is computed</a:t>
            </a:r>
          </a:p>
          <a:p>
            <a:pPr>
              <a:lnSpc>
                <a:spcPct val="90000"/>
              </a:lnSpc>
            </a:pPr>
            <a:r>
              <a:rPr lang="en-US" altLang="en-US" sz="2500" dirty="0"/>
              <a:t>Penalizes very brief translation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2DC48E7-AC47-3843-40C1-978B107D6C45}"/>
              </a:ext>
            </a:extLst>
          </p:cNvPr>
          <p:cNvSpPr>
            <a:spLocks noGrp="1" noChangeArrowheads="1"/>
          </p:cNvSpPr>
          <p:nvPr>
            <p:ph type="title"/>
          </p:nvPr>
        </p:nvSpPr>
        <p:spPr/>
        <p:txBody>
          <a:bodyPr>
            <a:normAutofit fontScale="90000"/>
          </a:bodyPr>
          <a:lstStyle/>
          <a:p>
            <a:r>
              <a:rPr lang="en-US" altLang="en-US"/>
              <a:t>N-gram Precision: an Example</a:t>
            </a:r>
          </a:p>
        </p:txBody>
      </p:sp>
      <p:sp>
        <p:nvSpPr>
          <p:cNvPr id="29699" name="Rectangle 3">
            <a:extLst>
              <a:ext uri="{FF2B5EF4-FFF2-40B4-BE49-F238E27FC236}">
                <a16:creationId xmlns:a16="http://schemas.microsoft.com/office/drawing/2014/main" id="{3902FA34-5EC6-1642-4462-1A9F988F6AE5}"/>
              </a:ext>
            </a:extLst>
          </p:cNvPr>
          <p:cNvSpPr>
            <a:spLocks noGrp="1" noChangeArrowheads="1"/>
          </p:cNvSpPr>
          <p:nvPr>
            <p:ph type="body" idx="1"/>
          </p:nvPr>
        </p:nvSpPr>
        <p:spPr/>
        <p:txBody>
          <a:bodyPr/>
          <a:lstStyle/>
          <a:p>
            <a:pPr>
              <a:lnSpc>
                <a:spcPct val="80000"/>
              </a:lnSpc>
              <a:buNone/>
            </a:pPr>
            <a:r>
              <a:rPr lang="en-US" altLang="en-US" sz="2100" dirty="0"/>
              <a:t>(Machine generated) Candidate 1: </a:t>
            </a:r>
            <a:r>
              <a:rPr lang="en-US" altLang="en-US" sz="2100" i="1" dirty="0"/>
              <a:t>It is a guide to action which ensures that the military always obey the commands of the party.</a:t>
            </a:r>
            <a:endParaRPr lang="en-US" altLang="en-US" sz="2100" b="1" i="1" dirty="0"/>
          </a:p>
          <a:p>
            <a:pPr>
              <a:lnSpc>
                <a:spcPct val="80000"/>
              </a:lnSpc>
              <a:buNone/>
            </a:pPr>
            <a:r>
              <a:rPr lang="en-US" sz="2100" dirty="0"/>
              <a:t>(Machine generated) </a:t>
            </a:r>
            <a:r>
              <a:rPr lang="en-US" altLang="en-US" sz="2100" dirty="0"/>
              <a:t>Candidate 2: </a:t>
            </a:r>
            <a:r>
              <a:rPr lang="en-US" altLang="en-US" sz="2100" i="1" dirty="0"/>
              <a:t>It is to insure the troops forever hearing the activity guidebook that party direct.</a:t>
            </a:r>
            <a:endParaRPr lang="en-US"/>
          </a:p>
          <a:p>
            <a:pPr>
              <a:lnSpc>
                <a:spcPct val="80000"/>
              </a:lnSpc>
              <a:buFont typeface="Wingdings" panose="05000000000000000000" pitchFamily="2" charset="2"/>
              <a:buNone/>
            </a:pPr>
            <a:endParaRPr lang="en-US" altLang="en-US" sz="2100" i="1" dirty="0"/>
          </a:p>
          <a:p>
            <a:pPr algn="ctr">
              <a:lnSpc>
                <a:spcPct val="80000"/>
              </a:lnSpc>
              <a:buFont typeface="Wingdings" panose="05000000000000000000" pitchFamily="2" charset="2"/>
              <a:buNone/>
            </a:pPr>
            <a:r>
              <a:rPr lang="en-US" altLang="en-US" sz="2100" b="1" u="sng" dirty="0"/>
              <a:t>Clearly Candidate 1 is better</a:t>
            </a:r>
          </a:p>
          <a:p>
            <a:pPr>
              <a:lnSpc>
                <a:spcPct val="80000"/>
              </a:lnSpc>
              <a:buFont typeface="Wingdings" panose="05000000000000000000" pitchFamily="2" charset="2"/>
              <a:buNone/>
            </a:pPr>
            <a:endParaRPr lang="en-US" altLang="en-US" sz="2100" i="1" dirty="0"/>
          </a:p>
          <a:p>
            <a:pPr>
              <a:lnSpc>
                <a:spcPct val="80000"/>
              </a:lnSpc>
              <a:buNone/>
            </a:pPr>
            <a:r>
              <a:rPr lang="en-US" altLang="en-US" sz="1800" dirty="0"/>
              <a:t>(Human annotation) Reference 1: </a:t>
            </a:r>
            <a:r>
              <a:rPr lang="en-US" altLang="en-US" sz="1800" i="1" dirty="0"/>
              <a:t>It is a guide to action that ensures that the military will forever heed Party commands. </a:t>
            </a:r>
            <a:endParaRPr lang="en-US" altLang="en-US" sz="1800" dirty="0"/>
          </a:p>
          <a:p>
            <a:pPr>
              <a:lnSpc>
                <a:spcPct val="80000"/>
              </a:lnSpc>
              <a:buNone/>
            </a:pPr>
            <a:r>
              <a:rPr lang="en-US" sz="1800" dirty="0"/>
              <a:t>(Human annotation) </a:t>
            </a:r>
            <a:r>
              <a:rPr lang="en-US" altLang="en-US" sz="1800" dirty="0"/>
              <a:t>Reference 2: </a:t>
            </a:r>
            <a:r>
              <a:rPr lang="en-US" altLang="en-US" sz="1800" i="1" dirty="0"/>
              <a:t>It is the guiding principle which guarantees the military forces always being under the command of the Party.</a:t>
            </a:r>
            <a:endParaRPr lang="en-US"/>
          </a:p>
          <a:p>
            <a:pPr>
              <a:lnSpc>
                <a:spcPct val="80000"/>
              </a:lnSpc>
              <a:buNone/>
            </a:pPr>
            <a:r>
              <a:rPr lang="en-US" sz="1800" dirty="0"/>
              <a:t>(Human annotation) </a:t>
            </a:r>
            <a:r>
              <a:rPr lang="en-US" altLang="en-US" sz="1800" dirty="0"/>
              <a:t>Reference 3: </a:t>
            </a:r>
            <a:r>
              <a:rPr lang="en-US" altLang="en-US" sz="1800" i="1" dirty="0"/>
              <a:t>It is the practical guide for the army always to heed directions of the party</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DB9E261-3B83-0DCA-3B1B-D54A6E2501AB}"/>
              </a:ext>
            </a:extLst>
          </p:cNvPr>
          <p:cNvSpPr>
            <a:spLocks noGrp="1" noChangeArrowheads="1"/>
          </p:cNvSpPr>
          <p:nvPr>
            <p:ph type="title"/>
          </p:nvPr>
        </p:nvSpPr>
        <p:spPr/>
        <p:txBody>
          <a:bodyPr>
            <a:normAutofit fontScale="90000"/>
          </a:bodyPr>
          <a:lstStyle/>
          <a:p>
            <a:r>
              <a:rPr lang="en-US" altLang="en-US"/>
              <a:t>N-gram Precision</a:t>
            </a:r>
          </a:p>
        </p:txBody>
      </p:sp>
      <p:sp>
        <p:nvSpPr>
          <p:cNvPr id="94211" name="Rectangle 3">
            <a:extLst>
              <a:ext uri="{FF2B5EF4-FFF2-40B4-BE49-F238E27FC236}">
                <a16:creationId xmlns:a16="http://schemas.microsoft.com/office/drawing/2014/main" id="{FCCD52ED-2594-79BD-7088-E19EB3BA6ED6}"/>
              </a:ext>
            </a:extLst>
          </p:cNvPr>
          <p:cNvSpPr>
            <a:spLocks noGrp="1" noChangeArrowheads="1"/>
          </p:cNvSpPr>
          <p:nvPr>
            <p:ph type="body" idx="1"/>
          </p:nvPr>
        </p:nvSpPr>
        <p:spPr/>
        <p:txBody>
          <a:bodyPr/>
          <a:lstStyle/>
          <a:p>
            <a:r>
              <a:rPr lang="en-US" altLang="en-US"/>
              <a:t>To rank Candidate 1 higher than 2</a:t>
            </a:r>
          </a:p>
          <a:p>
            <a:pPr lvl="1"/>
            <a:r>
              <a:rPr lang="en-US" altLang="en-US"/>
              <a:t>Just count the number of N-gram matches</a:t>
            </a:r>
          </a:p>
          <a:p>
            <a:pPr lvl="1"/>
            <a:r>
              <a:rPr lang="en-US" altLang="en-US"/>
              <a:t>The match could be position-independent</a:t>
            </a:r>
          </a:p>
          <a:p>
            <a:pPr lvl="1"/>
            <a:r>
              <a:rPr lang="en-US" altLang="en-US"/>
              <a:t>Reference could be matched multiple times</a:t>
            </a:r>
          </a:p>
          <a:p>
            <a:pPr lvl="1"/>
            <a:r>
              <a:rPr lang="en-US" altLang="en-US"/>
              <a:t>No need to be linguistically-motivated </a:t>
            </a:r>
          </a:p>
          <a:p>
            <a:endParaRPr lang="en-US" altLang="en-US"/>
          </a:p>
          <a:p>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E3CE867A-88F0-50D2-CD6A-AACE5A01703A}"/>
              </a:ext>
            </a:extLst>
          </p:cNvPr>
          <p:cNvSpPr>
            <a:spLocks noGrp="1" noChangeArrowheads="1"/>
          </p:cNvSpPr>
          <p:nvPr>
            <p:ph type="title"/>
          </p:nvPr>
        </p:nvSpPr>
        <p:spPr/>
        <p:txBody>
          <a:bodyPr>
            <a:normAutofit fontScale="90000"/>
          </a:bodyPr>
          <a:lstStyle/>
          <a:p>
            <a:r>
              <a:rPr lang="en-US" altLang="en-US" sz="3200">
                <a:solidFill>
                  <a:schemeClr val="tx1"/>
                </a:solidFill>
              </a:rPr>
              <a:t>BLEU – Example : Unigram Precision</a:t>
            </a:r>
          </a:p>
        </p:txBody>
      </p:sp>
      <p:sp>
        <p:nvSpPr>
          <p:cNvPr id="100355" name="Rectangle 3">
            <a:extLst>
              <a:ext uri="{FF2B5EF4-FFF2-40B4-BE49-F238E27FC236}">
                <a16:creationId xmlns:a16="http://schemas.microsoft.com/office/drawing/2014/main" id="{743D9D68-04C5-BFCB-1941-218F9352106A}"/>
              </a:ext>
            </a:extLst>
          </p:cNvPr>
          <p:cNvSpPr>
            <a:spLocks noGrp="1" noChangeArrowheads="1"/>
          </p:cNvSpPr>
          <p:nvPr>
            <p:ph type="body" idx="1"/>
          </p:nvPr>
        </p:nvSpPr>
        <p:spPr/>
        <p:txBody>
          <a:bodyPr/>
          <a:lstStyle/>
          <a:p>
            <a:pPr>
              <a:lnSpc>
                <a:spcPct val="80000"/>
              </a:lnSpc>
              <a:buNone/>
              <a:tabLst>
                <a:tab pos="3259138" algn="l"/>
              </a:tabLst>
            </a:pPr>
            <a:r>
              <a:rPr lang="en-US" altLang="en-US" sz="2100" dirty="0"/>
              <a:t>Candidate 1: </a:t>
            </a:r>
            <a:r>
              <a:rPr lang="en-US" altLang="en-US" sz="2100" i="1" dirty="0">
                <a:solidFill>
                  <a:srgbClr val="FF0000"/>
                </a:solidFill>
              </a:rPr>
              <a:t>It is a guide to action which ensures that the military always</a:t>
            </a:r>
            <a:r>
              <a:rPr lang="en-US" altLang="en-US" sz="2100" i="1" dirty="0"/>
              <a:t> obey </a:t>
            </a:r>
            <a:r>
              <a:rPr lang="en-US" altLang="en-US" sz="2100" i="1" dirty="0">
                <a:solidFill>
                  <a:srgbClr val="FF0000"/>
                </a:solidFill>
              </a:rPr>
              <a:t>the commands of the party.</a:t>
            </a:r>
          </a:p>
          <a:p>
            <a:pPr>
              <a:lnSpc>
                <a:spcPct val="80000"/>
              </a:lnSpc>
              <a:buNone/>
              <a:tabLst>
                <a:tab pos="3259138" algn="l"/>
              </a:tabLst>
            </a:pPr>
            <a:endParaRPr lang="en-US" altLang="en-US" sz="2100" i="1"/>
          </a:p>
          <a:p>
            <a:pPr>
              <a:lnSpc>
                <a:spcPct val="80000"/>
              </a:lnSpc>
              <a:buNone/>
              <a:tabLst>
                <a:tab pos="3259138" algn="l"/>
              </a:tabLst>
            </a:pPr>
            <a:r>
              <a:rPr lang="en-US" sz="1800" dirty="0"/>
              <a:t>(Human annotation) </a:t>
            </a:r>
            <a:r>
              <a:rPr lang="en-US" altLang="en-US" sz="2100" dirty="0"/>
              <a:t>Reference 1: </a:t>
            </a:r>
            <a:r>
              <a:rPr lang="en-US" altLang="en-US" sz="2100" i="1" dirty="0">
                <a:solidFill>
                  <a:srgbClr val="FF0000"/>
                </a:solidFill>
              </a:rPr>
              <a:t>It is a guide to action</a:t>
            </a:r>
            <a:r>
              <a:rPr lang="en-US" altLang="en-US" sz="2100" i="1" dirty="0">
                <a:solidFill>
                  <a:schemeClr val="accent1"/>
                </a:solidFill>
              </a:rPr>
              <a:t> </a:t>
            </a:r>
            <a:r>
              <a:rPr lang="en-US" altLang="en-US" sz="2100" i="1" dirty="0"/>
              <a:t>that</a:t>
            </a:r>
            <a:r>
              <a:rPr lang="en-US" altLang="en-US" sz="2100" i="1" dirty="0">
                <a:solidFill>
                  <a:schemeClr val="accent1"/>
                </a:solidFill>
              </a:rPr>
              <a:t> </a:t>
            </a:r>
            <a:r>
              <a:rPr lang="en-US" altLang="en-US" sz="2100" i="1" dirty="0">
                <a:solidFill>
                  <a:srgbClr val="FF0000"/>
                </a:solidFill>
              </a:rPr>
              <a:t>ensures that the military</a:t>
            </a:r>
            <a:r>
              <a:rPr lang="en-US" altLang="en-US" sz="2100" i="1" dirty="0">
                <a:solidFill>
                  <a:schemeClr val="accent1"/>
                </a:solidFill>
              </a:rPr>
              <a:t> </a:t>
            </a:r>
            <a:r>
              <a:rPr lang="en-US" altLang="en-US" sz="2100" i="1" dirty="0"/>
              <a:t>will forever heed </a:t>
            </a:r>
            <a:r>
              <a:rPr lang="en-US" altLang="en-US" sz="2100" i="1" dirty="0">
                <a:solidFill>
                  <a:srgbClr val="FF0000"/>
                </a:solidFill>
              </a:rPr>
              <a:t>Party commands</a:t>
            </a:r>
            <a:r>
              <a:rPr lang="en-US" altLang="en-US" sz="2100" i="1" dirty="0"/>
              <a:t>. </a:t>
            </a:r>
            <a:endParaRPr lang="en-US" altLang="en-US" sz="2100" dirty="0"/>
          </a:p>
          <a:p>
            <a:pPr>
              <a:lnSpc>
                <a:spcPct val="80000"/>
              </a:lnSpc>
              <a:buNone/>
              <a:tabLst>
                <a:tab pos="3259138" algn="l"/>
              </a:tabLst>
            </a:pPr>
            <a:r>
              <a:rPr lang="en-US" sz="1800" dirty="0"/>
              <a:t>(Human annotation)</a:t>
            </a:r>
            <a:r>
              <a:rPr lang="en-US" altLang="en-US" sz="2100" dirty="0"/>
              <a:t> Reference 2: </a:t>
            </a:r>
            <a:r>
              <a:rPr lang="en-US" altLang="en-US" sz="2100" i="1" dirty="0"/>
              <a:t>It is the guiding principle </a:t>
            </a:r>
            <a:r>
              <a:rPr lang="en-US" altLang="en-US" sz="2100" i="1" dirty="0">
                <a:solidFill>
                  <a:srgbClr val="FF0000"/>
                </a:solidFill>
              </a:rPr>
              <a:t>which</a:t>
            </a:r>
            <a:r>
              <a:rPr lang="en-US" altLang="en-US" sz="2100" i="1" dirty="0"/>
              <a:t> guarantees </a:t>
            </a:r>
            <a:r>
              <a:rPr lang="en-US" altLang="en-US" sz="2100" i="1" dirty="0">
                <a:solidFill>
                  <a:srgbClr val="FF0000"/>
                </a:solidFill>
              </a:rPr>
              <a:t>the</a:t>
            </a:r>
            <a:r>
              <a:rPr lang="en-US" altLang="en-US" sz="2100" i="1" dirty="0"/>
              <a:t> military forces </a:t>
            </a:r>
            <a:r>
              <a:rPr lang="en-US" altLang="en-US" sz="2100" i="1" dirty="0">
                <a:solidFill>
                  <a:srgbClr val="FF0000"/>
                </a:solidFill>
              </a:rPr>
              <a:t>always</a:t>
            </a:r>
            <a:r>
              <a:rPr lang="en-US" altLang="en-US" sz="2100" i="1" dirty="0"/>
              <a:t> being under </a:t>
            </a:r>
            <a:r>
              <a:rPr lang="en-US" altLang="en-US" sz="2100" i="1" dirty="0">
                <a:solidFill>
                  <a:srgbClr val="FF0000"/>
                </a:solidFill>
              </a:rPr>
              <a:t>the</a:t>
            </a:r>
            <a:r>
              <a:rPr lang="en-US" altLang="en-US" sz="2100" i="1" dirty="0"/>
              <a:t> command </a:t>
            </a:r>
            <a:r>
              <a:rPr lang="en-US" altLang="en-US" sz="2100" i="1" dirty="0">
                <a:solidFill>
                  <a:srgbClr val="FF0000"/>
                </a:solidFill>
              </a:rPr>
              <a:t>of</a:t>
            </a:r>
            <a:r>
              <a:rPr lang="en-US" altLang="en-US" sz="2100" i="1" dirty="0"/>
              <a:t> the Party.</a:t>
            </a:r>
            <a:endParaRPr lang="en-US"/>
          </a:p>
          <a:p>
            <a:pPr>
              <a:lnSpc>
                <a:spcPct val="80000"/>
              </a:lnSpc>
              <a:buNone/>
              <a:tabLst>
                <a:tab pos="3259138" algn="l"/>
              </a:tabLst>
            </a:pPr>
            <a:r>
              <a:rPr lang="en-US" sz="1800" dirty="0"/>
              <a:t>(Human annotation) </a:t>
            </a:r>
            <a:r>
              <a:rPr lang="en-US" altLang="en-US" sz="2100" dirty="0"/>
              <a:t>Reference 3: </a:t>
            </a:r>
            <a:r>
              <a:rPr lang="en-US" altLang="en-US" sz="2100" i="1" dirty="0"/>
              <a:t>It is the practical guide for the army always to heed directions of the party.</a:t>
            </a:r>
            <a:endParaRPr lang="en-US" dirty="0"/>
          </a:p>
          <a:p>
            <a:pPr>
              <a:lnSpc>
                <a:spcPct val="80000"/>
              </a:lnSpc>
              <a:buNone/>
              <a:tabLst>
                <a:tab pos="3259138" algn="l"/>
              </a:tabLst>
            </a:pPr>
            <a:endParaRPr lang="en-US" altLang="en-US" sz="2100" i="1"/>
          </a:p>
          <a:p>
            <a:pPr>
              <a:lnSpc>
                <a:spcPct val="80000"/>
              </a:lnSpc>
              <a:buNone/>
              <a:tabLst>
                <a:tab pos="3259138" algn="l"/>
              </a:tabLst>
            </a:pPr>
            <a:r>
              <a:rPr lang="en-US" altLang="en-US" sz="2400" dirty="0">
                <a:latin typeface="Arial"/>
              </a:rPr>
              <a:t>1-gram match : 17</a:t>
            </a:r>
          </a:p>
          <a:p>
            <a:pPr>
              <a:lnSpc>
                <a:spcPct val="80000"/>
              </a:lnSpc>
              <a:buNone/>
              <a:tabLst>
                <a:tab pos="3259138" algn="l"/>
              </a:tabLst>
            </a:pPr>
            <a:r>
              <a:rPr lang="en-US" altLang="en-US" sz="2400" dirty="0">
                <a:latin typeface="Arial"/>
              </a:rPr>
              <a:t>1-gram precision: 17/18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AAFA5B8A-4C3A-8FA7-8BFE-104948CE8986}"/>
              </a:ext>
            </a:extLst>
          </p:cNvPr>
          <p:cNvSpPr>
            <a:spLocks noGrp="1" noChangeArrowheads="1"/>
          </p:cNvSpPr>
          <p:nvPr>
            <p:ph type="title"/>
          </p:nvPr>
        </p:nvSpPr>
        <p:spPr/>
        <p:txBody>
          <a:bodyPr>
            <a:normAutofit fontScale="90000"/>
          </a:bodyPr>
          <a:lstStyle/>
          <a:p>
            <a:r>
              <a:rPr lang="en-US" altLang="en-US" sz="3200">
                <a:solidFill>
                  <a:schemeClr val="tx1"/>
                </a:solidFill>
              </a:rPr>
              <a:t>Example : Unigram Precision (cont.)</a:t>
            </a:r>
          </a:p>
        </p:txBody>
      </p:sp>
      <p:sp>
        <p:nvSpPr>
          <p:cNvPr id="102403" name="Rectangle 3">
            <a:extLst>
              <a:ext uri="{FF2B5EF4-FFF2-40B4-BE49-F238E27FC236}">
                <a16:creationId xmlns:a16="http://schemas.microsoft.com/office/drawing/2014/main" id="{C1FFB006-A53A-1122-36D6-585D47D19EB7}"/>
              </a:ext>
            </a:extLst>
          </p:cNvPr>
          <p:cNvSpPr>
            <a:spLocks noGrp="1" noChangeArrowheads="1"/>
          </p:cNvSpPr>
          <p:nvPr>
            <p:ph type="body" idx="1"/>
          </p:nvPr>
        </p:nvSpPr>
        <p:spPr/>
        <p:txBody>
          <a:bodyPr/>
          <a:lstStyle/>
          <a:p>
            <a:pPr>
              <a:lnSpc>
                <a:spcPct val="90000"/>
              </a:lnSpc>
              <a:buFont typeface="Wingdings" panose="05000000000000000000" pitchFamily="2" charset="2"/>
              <a:buNone/>
            </a:pPr>
            <a:r>
              <a:rPr lang="en-US" altLang="en-US" sz="2100" dirty="0"/>
              <a:t>Candidate 2: </a:t>
            </a:r>
            <a:r>
              <a:rPr lang="en-US" altLang="en-US" sz="2100" i="1" dirty="0">
                <a:solidFill>
                  <a:srgbClr val="FF0000"/>
                </a:solidFill>
              </a:rPr>
              <a:t>It is</a:t>
            </a:r>
            <a:r>
              <a:rPr lang="en-US" altLang="en-US" sz="2100" i="1" dirty="0"/>
              <a:t> </a:t>
            </a:r>
            <a:r>
              <a:rPr lang="en-US" altLang="en-US" sz="2100" i="1" dirty="0">
                <a:solidFill>
                  <a:srgbClr val="FF0000"/>
                </a:solidFill>
              </a:rPr>
              <a:t>to</a:t>
            </a:r>
            <a:r>
              <a:rPr lang="en-US" altLang="en-US" sz="2100" i="1" dirty="0"/>
              <a:t> insure </a:t>
            </a:r>
            <a:r>
              <a:rPr lang="en-US" altLang="en-US" sz="2100" i="1" dirty="0">
                <a:solidFill>
                  <a:srgbClr val="FF0000"/>
                </a:solidFill>
              </a:rPr>
              <a:t>the</a:t>
            </a:r>
            <a:r>
              <a:rPr lang="en-US" altLang="en-US" sz="2100" i="1" dirty="0"/>
              <a:t> troops </a:t>
            </a:r>
            <a:r>
              <a:rPr lang="en-US" altLang="en-US" sz="2100" i="1" dirty="0">
                <a:solidFill>
                  <a:srgbClr val="FF0000"/>
                </a:solidFill>
              </a:rPr>
              <a:t>forever</a:t>
            </a:r>
            <a:r>
              <a:rPr lang="en-US" altLang="en-US" sz="2100" i="1" dirty="0"/>
              <a:t> hearing </a:t>
            </a:r>
            <a:r>
              <a:rPr lang="en-US" altLang="en-US" sz="2100" i="1" dirty="0">
                <a:solidFill>
                  <a:srgbClr val="FF0000"/>
                </a:solidFill>
              </a:rPr>
              <a:t>the</a:t>
            </a:r>
            <a:r>
              <a:rPr lang="en-US" altLang="en-US" sz="2100" i="1" dirty="0"/>
              <a:t> activity guidebook </a:t>
            </a:r>
            <a:r>
              <a:rPr lang="en-US" altLang="en-US" sz="2100" i="1" dirty="0">
                <a:solidFill>
                  <a:srgbClr val="FF0000"/>
                </a:solidFill>
              </a:rPr>
              <a:t>that</a:t>
            </a:r>
            <a:r>
              <a:rPr lang="en-US" altLang="en-US" sz="2100" i="1" dirty="0"/>
              <a:t> </a:t>
            </a:r>
            <a:r>
              <a:rPr lang="en-US" altLang="en-US" sz="2100" i="1" dirty="0">
                <a:solidFill>
                  <a:srgbClr val="FF0000"/>
                </a:solidFill>
              </a:rPr>
              <a:t>party</a:t>
            </a:r>
            <a:r>
              <a:rPr lang="en-US" altLang="en-US" sz="2100" i="1" dirty="0"/>
              <a:t> direct.</a:t>
            </a:r>
            <a:r>
              <a:rPr lang="en-US" altLang="en-US" sz="2100" dirty="0"/>
              <a:t> </a:t>
            </a:r>
          </a:p>
          <a:p>
            <a:pPr>
              <a:lnSpc>
                <a:spcPct val="90000"/>
              </a:lnSpc>
              <a:buFont typeface="Wingdings" panose="05000000000000000000" pitchFamily="2" charset="2"/>
              <a:buNone/>
            </a:pPr>
            <a:endParaRPr lang="en-US" altLang="en-US" sz="2100"/>
          </a:p>
          <a:p>
            <a:pPr>
              <a:buNone/>
            </a:pPr>
            <a:r>
              <a:rPr lang="en-US" sz="1800" dirty="0"/>
              <a:t>(Human annotation) </a:t>
            </a:r>
            <a:r>
              <a:rPr lang="en-US" altLang="en-US" sz="2100" dirty="0"/>
              <a:t>Reference 1: </a:t>
            </a:r>
            <a:r>
              <a:rPr lang="en-US" altLang="en-US" sz="2100" i="1" dirty="0">
                <a:solidFill>
                  <a:srgbClr val="FF0000"/>
                </a:solidFill>
              </a:rPr>
              <a:t>It is</a:t>
            </a:r>
            <a:r>
              <a:rPr lang="en-US" altLang="en-US" sz="2100" i="1" dirty="0"/>
              <a:t> a guide </a:t>
            </a:r>
            <a:r>
              <a:rPr lang="en-US" altLang="en-US" sz="2100" i="1" dirty="0">
                <a:solidFill>
                  <a:srgbClr val="FF0000"/>
                </a:solidFill>
              </a:rPr>
              <a:t>to</a:t>
            </a:r>
            <a:r>
              <a:rPr lang="en-US" altLang="en-US" sz="2100" i="1" dirty="0"/>
              <a:t> action </a:t>
            </a:r>
            <a:r>
              <a:rPr lang="en-US" altLang="en-US" sz="2100" i="1" dirty="0">
                <a:solidFill>
                  <a:srgbClr val="FF0000"/>
                </a:solidFill>
              </a:rPr>
              <a:t>that</a:t>
            </a:r>
            <a:r>
              <a:rPr lang="en-US" altLang="en-US" sz="2100" i="1" dirty="0"/>
              <a:t> ensures that </a:t>
            </a:r>
            <a:r>
              <a:rPr lang="en-US" altLang="en-US" sz="2100" i="1" dirty="0">
                <a:solidFill>
                  <a:srgbClr val="FF0000"/>
                </a:solidFill>
              </a:rPr>
              <a:t>the</a:t>
            </a:r>
            <a:r>
              <a:rPr lang="en-US" altLang="en-US" sz="2100" i="1" dirty="0"/>
              <a:t> military will </a:t>
            </a:r>
            <a:r>
              <a:rPr lang="en-US" altLang="en-US" sz="2100" i="1" dirty="0">
                <a:solidFill>
                  <a:srgbClr val="FF0000"/>
                </a:solidFill>
              </a:rPr>
              <a:t>forever</a:t>
            </a:r>
            <a:r>
              <a:rPr lang="en-US" altLang="en-US" sz="2100" i="1" dirty="0"/>
              <a:t> heed </a:t>
            </a:r>
            <a:r>
              <a:rPr lang="en-US" altLang="en-US" sz="2100" i="1" dirty="0">
                <a:solidFill>
                  <a:srgbClr val="FF0000"/>
                </a:solidFill>
              </a:rPr>
              <a:t>Party</a:t>
            </a:r>
            <a:r>
              <a:rPr lang="en-US" altLang="en-US" sz="2100" i="1" dirty="0"/>
              <a:t> commands. </a:t>
            </a:r>
            <a:endParaRPr lang="en-US" altLang="en-US" sz="2100" dirty="0"/>
          </a:p>
          <a:p>
            <a:pPr>
              <a:buNone/>
            </a:pPr>
            <a:r>
              <a:rPr lang="en-US" sz="1800" dirty="0"/>
              <a:t>(Human annotation) </a:t>
            </a:r>
            <a:r>
              <a:rPr lang="en-US" altLang="en-US" sz="2100" dirty="0"/>
              <a:t>Reference 2: </a:t>
            </a:r>
            <a:r>
              <a:rPr lang="en-US" altLang="en-US" sz="2100" i="1" dirty="0"/>
              <a:t>It is </a:t>
            </a:r>
            <a:r>
              <a:rPr lang="en-US" altLang="en-US" sz="2100" i="1" dirty="0">
                <a:solidFill>
                  <a:srgbClr val="FF0000"/>
                </a:solidFill>
              </a:rPr>
              <a:t>the</a:t>
            </a:r>
            <a:r>
              <a:rPr lang="en-US" altLang="en-US" sz="2100" i="1" dirty="0"/>
              <a:t> guiding principle which guarantees the military forces always being under the command of the Party.</a:t>
            </a:r>
            <a:endParaRPr lang="en-US" dirty="0"/>
          </a:p>
          <a:p>
            <a:pPr>
              <a:buNone/>
            </a:pPr>
            <a:r>
              <a:rPr lang="en-US" sz="1800" dirty="0"/>
              <a:t>(Human annotation) </a:t>
            </a:r>
            <a:r>
              <a:rPr lang="en-US" altLang="en-US" sz="2100" dirty="0"/>
              <a:t>Reference 3: </a:t>
            </a:r>
            <a:r>
              <a:rPr lang="en-US" altLang="en-US" sz="2100" i="1" dirty="0"/>
              <a:t>It is the practical guide for the army always to heed directions of the party.</a:t>
            </a:r>
            <a:endParaRPr lang="en-US" dirty="0"/>
          </a:p>
          <a:p>
            <a:pPr>
              <a:lnSpc>
                <a:spcPct val="90000"/>
              </a:lnSpc>
              <a:buFont typeface="Wingdings" panose="05000000000000000000" pitchFamily="2" charset="2"/>
              <a:buNone/>
            </a:pPr>
            <a:endParaRPr lang="en-US" altLang="en-US" sz="2100" i="1"/>
          </a:p>
          <a:p>
            <a:pPr>
              <a:lnSpc>
                <a:spcPct val="90000"/>
              </a:lnSpc>
              <a:buFont typeface="Wingdings" panose="05000000000000000000" pitchFamily="2" charset="2"/>
              <a:buNone/>
            </a:pPr>
            <a:r>
              <a:rPr lang="en-US" altLang="en-US" sz="2400" dirty="0">
                <a:latin typeface="Arial"/>
              </a:rPr>
              <a:t>1-gram match : 8, 1-gram precision : 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21D544D1-B5E0-AC34-4F60-35BF18141407}"/>
              </a:ext>
            </a:extLst>
          </p:cNvPr>
          <p:cNvSpPr>
            <a:spLocks noGrp="1" noChangeArrowheads="1"/>
          </p:cNvSpPr>
          <p:nvPr>
            <p:ph type="title"/>
          </p:nvPr>
        </p:nvSpPr>
        <p:spPr/>
        <p:txBody>
          <a:bodyPr>
            <a:normAutofit fontScale="90000"/>
          </a:bodyPr>
          <a:lstStyle/>
          <a:p>
            <a:r>
              <a:rPr lang="en-US" altLang="en-US" sz="3800"/>
              <a:t>Issue of N-gram Precision</a:t>
            </a:r>
          </a:p>
        </p:txBody>
      </p:sp>
      <p:sp>
        <p:nvSpPr>
          <p:cNvPr id="104451" name="Rectangle 3">
            <a:extLst>
              <a:ext uri="{FF2B5EF4-FFF2-40B4-BE49-F238E27FC236}">
                <a16:creationId xmlns:a16="http://schemas.microsoft.com/office/drawing/2014/main" id="{1A2491C0-127D-67CE-C3EE-28F4FDDF832C}"/>
              </a:ext>
            </a:extLst>
          </p:cNvPr>
          <p:cNvSpPr>
            <a:spLocks noGrp="1" noChangeArrowheads="1"/>
          </p:cNvSpPr>
          <p:nvPr>
            <p:ph type="body" idx="1"/>
          </p:nvPr>
        </p:nvSpPr>
        <p:spPr/>
        <p:txBody>
          <a:bodyPr/>
          <a:lstStyle/>
          <a:p>
            <a:pPr>
              <a:lnSpc>
                <a:spcPct val="80000"/>
              </a:lnSpc>
            </a:pPr>
            <a:r>
              <a:rPr lang="en-US" altLang="en-US" sz="2500" dirty="0"/>
              <a:t>What if some words are over-generated?</a:t>
            </a:r>
          </a:p>
          <a:p>
            <a:pPr lvl="1">
              <a:lnSpc>
                <a:spcPct val="80000"/>
              </a:lnSpc>
            </a:pPr>
            <a:r>
              <a:rPr lang="en-US" altLang="en-US" sz="2100" dirty="0"/>
              <a:t>e.g. “the”</a:t>
            </a:r>
          </a:p>
          <a:p>
            <a:pPr>
              <a:lnSpc>
                <a:spcPct val="80000"/>
              </a:lnSpc>
            </a:pPr>
            <a:r>
              <a:rPr lang="en-US" altLang="en-US" sz="2500" dirty="0"/>
              <a:t>An extreme example</a:t>
            </a:r>
          </a:p>
          <a:p>
            <a:pPr>
              <a:lnSpc>
                <a:spcPct val="80000"/>
              </a:lnSpc>
              <a:buFont typeface="Wingdings" panose="05000000000000000000" pitchFamily="2" charset="2"/>
              <a:buNone/>
            </a:pPr>
            <a:endParaRPr lang="en-US" altLang="en-US" sz="2500"/>
          </a:p>
          <a:p>
            <a:pPr>
              <a:lnSpc>
                <a:spcPct val="80000"/>
              </a:lnSpc>
              <a:buFont typeface="Wingdings" panose="05000000000000000000" pitchFamily="2" charset="2"/>
              <a:buNone/>
            </a:pPr>
            <a:r>
              <a:rPr lang="en-US" altLang="en-US" sz="2500" dirty="0"/>
              <a:t>Candidate: </a:t>
            </a:r>
            <a:r>
              <a:rPr lang="en-US" altLang="en-US" sz="2500" i="1" dirty="0">
                <a:solidFill>
                  <a:srgbClr val="FF0000"/>
                </a:solidFill>
              </a:rPr>
              <a:t>the </a:t>
            </a:r>
            <a:r>
              <a:rPr lang="en-US" altLang="en-US" sz="2500" i="1" dirty="0" err="1">
                <a:solidFill>
                  <a:srgbClr val="FF0000"/>
                </a:solidFill>
              </a:rPr>
              <a:t>the</a:t>
            </a:r>
            <a:r>
              <a:rPr lang="en-US" altLang="en-US" sz="2500" i="1" dirty="0">
                <a:solidFill>
                  <a:srgbClr val="FF0000"/>
                </a:solidFill>
              </a:rPr>
              <a:t> </a:t>
            </a:r>
            <a:r>
              <a:rPr lang="en-US" altLang="en-US" sz="2500" i="1" dirty="0" err="1">
                <a:solidFill>
                  <a:srgbClr val="FF0000"/>
                </a:solidFill>
              </a:rPr>
              <a:t>the</a:t>
            </a:r>
            <a:r>
              <a:rPr lang="en-US" altLang="en-US" sz="2500" i="1" dirty="0">
                <a:solidFill>
                  <a:srgbClr val="FF0000"/>
                </a:solidFill>
              </a:rPr>
              <a:t> </a:t>
            </a:r>
            <a:r>
              <a:rPr lang="en-US" altLang="en-US" sz="2500" i="1" dirty="0" err="1">
                <a:solidFill>
                  <a:srgbClr val="FF0000"/>
                </a:solidFill>
              </a:rPr>
              <a:t>the</a:t>
            </a:r>
            <a:r>
              <a:rPr lang="en-US" altLang="en-US" sz="2500" i="1" dirty="0">
                <a:solidFill>
                  <a:srgbClr val="FF0000"/>
                </a:solidFill>
              </a:rPr>
              <a:t> </a:t>
            </a:r>
            <a:r>
              <a:rPr lang="en-US" altLang="en-US" sz="2500" i="1" dirty="0" err="1">
                <a:solidFill>
                  <a:srgbClr val="FF0000"/>
                </a:solidFill>
              </a:rPr>
              <a:t>the</a:t>
            </a:r>
            <a:r>
              <a:rPr lang="en-US" altLang="en-US" sz="2500" i="1" dirty="0">
                <a:solidFill>
                  <a:srgbClr val="FF0000"/>
                </a:solidFill>
              </a:rPr>
              <a:t> </a:t>
            </a:r>
            <a:r>
              <a:rPr lang="en-US" altLang="en-US" sz="2500" i="1" dirty="0" err="1">
                <a:solidFill>
                  <a:srgbClr val="FF0000"/>
                </a:solidFill>
              </a:rPr>
              <a:t>the</a:t>
            </a:r>
            <a:r>
              <a:rPr lang="en-US" altLang="en-US" sz="2500" i="1" dirty="0">
                <a:solidFill>
                  <a:srgbClr val="FF0000"/>
                </a:solidFill>
              </a:rPr>
              <a:t> </a:t>
            </a:r>
            <a:r>
              <a:rPr lang="en-US" altLang="en-US" sz="2500" i="1" dirty="0" err="1">
                <a:solidFill>
                  <a:srgbClr val="FF0000"/>
                </a:solidFill>
              </a:rPr>
              <a:t>the</a:t>
            </a:r>
            <a:r>
              <a:rPr lang="en-US" altLang="en-US" sz="2500" i="1" dirty="0"/>
              <a:t>.</a:t>
            </a:r>
          </a:p>
          <a:p>
            <a:pPr>
              <a:lnSpc>
                <a:spcPct val="80000"/>
              </a:lnSpc>
              <a:buNone/>
            </a:pPr>
            <a:r>
              <a:rPr lang="en-US" sz="1800" dirty="0"/>
              <a:t>(Human annotation) </a:t>
            </a:r>
            <a:r>
              <a:rPr lang="en-US" altLang="en-US" sz="2500" dirty="0"/>
              <a:t>Reference 1: </a:t>
            </a:r>
            <a:r>
              <a:rPr lang="en-US" altLang="en-US" sz="2500" i="1" dirty="0">
                <a:solidFill>
                  <a:srgbClr val="FF0000"/>
                </a:solidFill>
              </a:rPr>
              <a:t>The</a:t>
            </a:r>
            <a:r>
              <a:rPr lang="en-US" altLang="en-US" sz="2500" i="1" dirty="0"/>
              <a:t> cat is on the mat.</a:t>
            </a:r>
            <a:endParaRPr lang="en-US" dirty="0"/>
          </a:p>
          <a:p>
            <a:pPr>
              <a:lnSpc>
                <a:spcPct val="80000"/>
              </a:lnSpc>
              <a:buNone/>
            </a:pPr>
            <a:r>
              <a:rPr lang="en-US" sz="1800" dirty="0"/>
              <a:t>(Human annotation) </a:t>
            </a:r>
            <a:r>
              <a:rPr lang="en-US" altLang="en-US" sz="2500" dirty="0"/>
              <a:t>Reference 2: </a:t>
            </a:r>
            <a:r>
              <a:rPr lang="en-US" altLang="en-US" sz="2500" i="1" dirty="0"/>
              <a:t>There is a cat on the mat.</a:t>
            </a:r>
            <a:endParaRPr lang="en-US"/>
          </a:p>
          <a:p>
            <a:pPr>
              <a:lnSpc>
                <a:spcPct val="80000"/>
              </a:lnSpc>
              <a:buFont typeface="Wingdings" panose="05000000000000000000" pitchFamily="2" charset="2"/>
              <a:buNone/>
            </a:pPr>
            <a:endParaRPr lang="en-US" altLang="en-US" sz="2500"/>
          </a:p>
          <a:p>
            <a:pPr>
              <a:lnSpc>
                <a:spcPct val="80000"/>
              </a:lnSpc>
            </a:pPr>
            <a:r>
              <a:rPr lang="en-US" altLang="en-US" sz="2500" dirty="0"/>
              <a:t>1-gram match: 7, 1-gram precision: 1 (Something wrong)</a:t>
            </a:r>
          </a:p>
          <a:p>
            <a:pPr>
              <a:lnSpc>
                <a:spcPct val="80000"/>
              </a:lnSpc>
            </a:pPr>
            <a:r>
              <a:rPr lang="en-US" altLang="en-US" sz="2500" b="1" dirty="0"/>
              <a:t>Intuitively : reference word should be exhausted after it is matched.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4">
            <a:extLst>
              <a:ext uri="{FF2B5EF4-FFF2-40B4-BE49-F238E27FC236}">
                <a16:creationId xmlns:a16="http://schemas.microsoft.com/office/drawing/2014/main" id="{1FE2EE85-FFF5-A0B2-9E49-D5B04775C090}"/>
              </a:ext>
            </a:extLst>
          </p:cNvPr>
          <p:cNvSpPr>
            <a:spLocks noGrp="1" noChangeArrowheads="1"/>
          </p:cNvSpPr>
          <p:nvPr>
            <p:ph type="title"/>
          </p:nvPr>
        </p:nvSpPr>
        <p:spPr/>
        <p:txBody>
          <a:bodyPr>
            <a:normAutofit fontScale="90000"/>
          </a:bodyPr>
          <a:lstStyle/>
          <a:p>
            <a:r>
              <a:rPr lang="en-US" altLang="en-US" sz="3200"/>
              <a:t>Modified N-gram Precision : Procedure</a:t>
            </a:r>
          </a:p>
        </p:txBody>
      </p:sp>
      <p:sp>
        <p:nvSpPr>
          <p:cNvPr id="109573" name="Rectangle 5">
            <a:extLst>
              <a:ext uri="{FF2B5EF4-FFF2-40B4-BE49-F238E27FC236}">
                <a16:creationId xmlns:a16="http://schemas.microsoft.com/office/drawing/2014/main" id="{5ECBA786-2E08-2F18-027E-AB469E95FBB4}"/>
              </a:ext>
            </a:extLst>
          </p:cNvPr>
          <p:cNvSpPr>
            <a:spLocks noGrp="1" noChangeArrowheads="1"/>
          </p:cNvSpPr>
          <p:nvPr>
            <p:ph type="body" sz="half" idx="1"/>
          </p:nvPr>
        </p:nvSpPr>
        <p:spPr>
          <a:noFill/>
          <a:ln>
            <a:solidFill>
              <a:schemeClr val="tx1"/>
            </a:solidFill>
            <a:miter lim="800000"/>
            <a:headEnd/>
            <a:tailEnd/>
          </a:ln>
        </p:spPr>
        <p:txBody>
          <a:bodyPr/>
          <a:lstStyle/>
          <a:p>
            <a:pPr>
              <a:lnSpc>
                <a:spcPct val="80000"/>
              </a:lnSpc>
            </a:pPr>
            <a:r>
              <a:rPr lang="en-US" altLang="en-US" sz="2100"/>
              <a:t>Procedure</a:t>
            </a:r>
          </a:p>
          <a:p>
            <a:pPr lvl="1">
              <a:lnSpc>
                <a:spcPct val="80000"/>
              </a:lnSpc>
            </a:pPr>
            <a:r>
              <a:rPr lang="en-US" altLang="en-US" sz="1900"/>
              <a:t>Count the max number of times a word occurs in any single reference</a:t>
            </a:r>
          </a:p>
          <a:p>
            <a:pPr lvl="1">
              <a:lnSpc>
                <a:spcPct val="80000"/>
              </a:lnSpc>
            </a:pPr>
            <a:endParaRPr lang="en-US" altLang="en-US" sz="1900"/>
          </a:p>
          <a:p>
            <a:pPr lvl="1">
              <a:lnSpc>
                <a:spcPct val="80000"/>
              </a:lnSpc>
            </a:pPr>
            <a:r>
              <a:rPr lang="en-US" altLang="en-US" sz="1900"/>
              <a:t>Clip the total count of each candidate word</a:t>
            </a:r>
          </a:p>
          <a:p>
            <a:pPr lvl="1">
              <a:lnSpc>
                <a:spcPct val="80000"/>
              </a:lnSpc>
            </a:pPr>
            <a:endParaRPr lang="en-US" altLang="en-US" sz="1900"/>
          </a:p>
          <a:p>
            <a:pPr lvl="1">
              <a:lnSpc>
                <a:spcPct val="80000"/>
              </a:lnSpc>
            </a:pPr>
            <a:endParaRPr lang="en-US" altLang="en-US" sz="1900"/>
          </a:p>
          <a:p>
            <a:pPr lvl="1">
              <a:lnSpc>
                <a:spcPct val="80000"/>
              </a:lnSpc>
            </a:pPr>
            <a:r>
              <a:rPr lang="en-US" altLang="en-US" sz="1900"/>
              <a:t>Modified N-gram Precision equal to</a:t>
            </a:r>
          </a:p>
          <a:p>
            <a:pPr lvl="2">
              <a:lnSpc>
                <a:spcPct val="80000"/>
              </a:lnSpc>
            </a:pPr>
            <a:r>
              <a:rPr lang="en-US" altLang="en-US" sz="1800"/>
              <a:t>Clipped count/Total no. of candidate word</a:t>
            </a:r>
          </a:p>
        </p:txBody>
      </p:sp>
      <p:sp>
        <p:nvSpPr>
          <p:cNvPr id="109574" name="Rectangle 6">
            <a:extLst>
              <a:ext uri="{FF2B5EF4-FFF2-40B4-BE49-F238E27FC236}">
                <a16:creationId xmlns:a16="http://schemas.microsoft.com/office/drawing/2014/main" id="{D7F8CD2F-A0FC-6D43-8A46-CFA594BD916A}"/>
              </a:ext>
            </a:extLst>
          </p:cNvPr>
          <p:cNvSpPr>
            <a:spLocks noGrp="1" noChangeArrowheads="1"/>
          </p:cNvSpPr>
          <p:nvPr>
            <p:ph type="body" sz="half" idx="2"/>
          </p:nvPr>
        </p:nvSpPr>
        <p:spPr>
          <a:noFill/>
          <a:ln>
            <a:solidFill>
              <a:schemeClr val="tx1"/>
            </a:solidFill>
            <a:miter lim="800000"/>
            <a:headEnd/>
            <a:tailEnd/>
          </a:ln>
        </p:spPr>
        <p:txBody>
          <a:bodyPr>
            <a:normAutofit lnSpcReduction="10000"/>
          </a:bodyPr>
          <a:lstStyle/>
          <a:p>
            <a:pPr>
              <a:lnSpc>
                <a:spcPct val="80000"/>
              </a:lnSpc>
            </a:pPr>
            <a:r>
              <a:rPr lang="en-US" altLang="en-US" sz="2100" dirty="0"/>
              <a:t>Example: </a:t>
            </a:r>
          </a:p>
          <a:p>
            <a:pPr>
              <a:lnSpc>
                <a:spcPct val="80000"/>
              </a:lnSpc>
              <a:buFont typeface="Wingdings" panose="05000000000000000000" pitchFamily="2" charset="2"/>
              <a:buNone/>
            </a:pPr>
            <a:r>
              <a:rPr lang="en-US" altLang="en-US" sz="1600" dirty="0"/>
              <a:t>Ref 1: </a:t>
            </a:r>
            <a:r>
              <a:rPr lang="en-US" altLang="en-US" sz="1600" i="1" dirty="0"/>
              <a:t>The cat is on the mat.</a:t>
            </a:r>
          </a:p>
          <a:p>
            <a:pPr>
              <a:lnSpc>
                <a:spcPct val="80000"/>
              </a:lnSpc>
              <a:buFont typeface="Wingdings" panose="05000000000000000000" pitchFamily="2" charset="2"/>
              <a:buNone/>
            </a:pPr>
            <a:r>
              <a:rPr lang="en-US" altLang="en-US" sz="1600" dirty="0"/>
              <a:t>Ref 2: </a:t>
            </a:r>
            <a:r>
              <a:rPr lang="en-US" altLang="en-US" sz="1600" i="1" dirty="0"/>
              <a:t>There is a cat on the mat.</a:t>
            </a:r>
          </a:p>
          <a:p>
            <a:pPr>
              <a:lnSpc>
                <a:spcPct val="80000"/>
              </a:lnSpc>
              <a:buFont typeface="Wingdings" panose="05000000000000000000" pitchFamily="2" charset="2"/>
              <a:buNone/>
            </a:pPr>
            <a:r>
              <a:rPr lang="en-US" altLang="en-US" sz="1600" i="1" dirty="0"/>
              <a:t>“the” </a:t>
            </a:r>
            <a:r>
              <a:rPr lang="en-US" altLang="en-US" sz="1600" dirty="0"/>
              <a:t>has max count 2</a:t>
            </a:r>
          </a:p>
          <a:p>
            <a:pPr>
              <a:lnSpc>
                <a:spcPct val="80000"/>
              </a:lnSpc>
              <a:buFont typeface="Wingdings" panose="05000000000000000000" pitchFamily="2" charset="2"/>
              <a:buNone/>
            </a:pPr>
            <a:endParaRPr lang="en-US" altLang="en-US" sz="2100" dirty="0"/>
          </a:p>
          <a:p>
            <a:pPr>
              <a:lnSpc>
                <a:spcPct val="80000"/>
              </a:lnSpc>
            </a:pPr>
            <a:endParaRPr lang="en-US" altLang="en-US" sz="1600" dirty="0"/>
          </a:p>
          <a:p>
            <a:pPr>
              <a:lnSpc>
                <a:spcPct val="80000"/>
              </a:lnSpc>
            </a:pPr>
            <a:r>
              <a:rPr lang="en-US" altLang="en-US" sz="1600" dirty="0"/>
              <a:t>Unigram count = 7</a:t>
            </a:r>
          </a:p>
          <a:p>
            <a:pPr>
              <a:lnSpc>
                <a:spcPct val="80000"/>
              </a:lnSpc>
              <a:buFont typeface="Wingdings" panose="05000000000000000000" pitchFamily="2" charset="2"/>
              <a:buNone/>
            </a:pPr>
            <a:r>
              <a:rPr lang="en-US" altLang="en-US" sz="1600" dirty="0"/>
              <a:t>	Clipped unigram count = 2</a:t>
            </a:r>
          </a:p>
          <a:p>
            <a:pPr>
              <a:lnSpc>
                <a:spcPct val="80000"/>
              </a:lnSpc>
              <a:buFont typeface="Wingdings" panose="05000000000000000000" pitchFamily="2" charset="2"/>
              <a:buNone/>
            </a:pPr>
            <a:r>
              <a:rPr lang="en-US" altLang="en-US" sz="1600" dirty="0"/>
              <a:t>	Total no. of counts = 7</a:t>
            </a:r>
          </a:p>
          <a:p>
            <a:pPr>
              <a:lnSpc>
                <a:spcPct val="80000"/>
              </a:lnSpc>
            </a:pPr>
            <a:endParaRPr lang="en-US" altLang="en-US" sz="2100" dirty="0"/>
          </a:p>
          <a:p>
            <a:pPr>
              <a:lnSpc>
                <a:spcPct val="80000"/>
              </a:lnSpc>
            </a:pPr>
            <a:r>
              <a:rPr lang="en-US" altLang="en-US" sz="1600" dirty="0"/>
              <a:t>Modified-</a:t>
            </a:r>
            <a:r>
              <a:rPr lang="en-US" altLang="en-US" sz="1600" dirty="0" err="1"/>
              <a:t>ngram</a:t>
            </a:r>
            <a:r>
              <a:rPr lang="en-US" altLang="en-US" sz="1600" dirty="0"/>
              <a:t> precision:</a:t>
            </a:r>
          </a:p>
          <a:p>
            <a:pPr lvl="1">
              <a:lnSpc>
                <a:spcPct val="80000"/>
              </a:lnSpc>
            </a:pPr>
            <a:r>
              <a:rPr lang="en-US" altLang="en-US" sz="1600" dirty="0"/>
              <a:t>Clipped count = 2</a:t>
            </a:r>
          </a:p>
          <a:p>
            <a:pPr lvl="1">
              <a:lnSpc>
                <a:spcPct val="80000"/>
              </a:lnSpc>
            </a:pPr>
            <a:r>
              <a:rPr lang="en-US" altLang="en-US" sz="1600" dirty="0"/>
              <a:t>Total no. of counts =7 </a:t>
            </a:r>
          </a:p>
          <a:p>
            <a:pPr lvl="1">
              <a:lnSpc>
                <a:spcPct val="80000"/>
              </a:lnSpc>
            </a:pPr>
            <a:r>
              <a:rPr lang="en-US" altLang="en-US" sz="1600" dirty="0"/>
              <a:t>Modified-</a:t>
            </a:r>
            <a:r>
              <a:rPr lang="en-US" altLang="en-US" sz="1600" dirty="0" err="1"/>
              <a:t>ngram</a:t>
            </a:r>
            <a:r>
              <a:rPr lang="en-US" altLang="en-US" sz="1600" dirty="0"/>
              <a:t> precision = 2/7</a:t>
            </a:r>
          </a:p>
          <a:p>
            <a:pPr>
              <a:lnSpc>
                <a:spcPct val="80000"/>
              </a:lnSpc>
            </a:pPr>
            <a:endParaRPr lang="en-US" altLang="en-US" sz="2100" dirty="0"/>
          </a:p>
          <a:p>
            <a:pPr>
              <a:lnSpc>
                <a:spcPct val="80000"/>
              </a:lnSpc>
              <a:buFont typeface="Wingdings" panose="05000000000000000000" pitchFamily="2" charset="2"/>
              <a:buNone/>
            </a:pPr>
            <a:endParaRPr lang="en-US" altLang="en-US" sz="1600" dirty="0"/>
          </a:p>
          <a:p>
            <a:pPr>
              <a:lnSpc>
                <a:spcPct val="80000"/>
              </a:lnSpc>
              <a:buFont typeface="Wingdings" panose="05000000000000000000" pitchFamily="2" charset="2"/>
              <a:buNone/>
            </a:pPr>
            <a:endParaRPr lang="en-US" altLang="en-US" sz="2100" dirty="0"/>
          </a:p>
          <a:p>
            <a:pPr lvl="1">
              <a:lnSpc>
                <a:spcPct val="80000"/>
              </a:lnSpc>
            </a:pPr>
            <a:endParaRPr lang="en-US" alt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A6E78-40A5-A4D1-4411-6CB86B66EE37}"/>
              </a:ext>
            </a:extLst>
          </p:cNvPr>
          <p:cNvSpPr>
            <a:spLocks noGrp="1"/>
          </p:cNvSpPr>
          <p:nvPr>
            <p:ph type="title"/>
          </p:nvPr>
        </p:nvSpPr>
        <p:spPr/>
        <p:txBody>
          <a:bodyPr>
            <a:normAutofit fontScale="90000"/>
          </a:bodyPr>
          <a:lstStyle/>
          <a:p>
            <a:r>
              <a:rPr lang="en-US"/>
              <a:t>How does a modified precision score help?</a:t>
            </a:r>
          </a:p>
        </p:txBody>
      </p:sp>
      <p:sp>
        <p:nvSpPr>
          <p:cNvPr id="3" name="Text Placeholder 2">
            <a:extLst>
              <a:ext uri="{FF2B5EF4-FFF2-40B4-BE49-F238E27FC236}">
                <a16:creationId xmlns:a16="http://schemas.microsoft.com/office/drawing/2014/main" id="{E5D4ACA9-9A3E-E06F-7E9C-E3D0118F9BFD}"/>
              </a:ext>
            </a:extLst>
          </p:cNvPr>
          <p:cNvSpPr>
            <a:spLocks noGrp="1"/>
          </p:cNvSpPr>
          <p:nvPr>
            <p:ph type="body" idx="1"/>
          </p:nvPr>
        </p:nvSpPr>
        <p:spPr/>
        <p:txBody>
          <a:bodyPr/>
          <a:lstStyle/>
          <a:p>
            <a:r>
              <a:rPr lang="en-US"/>
              <a:t>Modified n-gram precision score captures two aspects of translation: adequacy and fluency</a:t>
            </a:r>
          </a:p>
          <a:p>
            <a:pPr lvl="1"/>
            <a:r>
              <a:rPr lang="en-US"/>
              <a:t>A translation using the same words as in the references tends to satisfy adequacy</a:t>
            </a:r>
          </a:p>
          <a:p>
            <a:pPr lvl="1"/>
            <a:r>
              <a:rPr lang="en-US"/>
              <a:t>The longer n-gram matches between candidate and reference translation account for fluency</a:t>
            </a:r>
          </a:p>
          <a:p>
            <a:endParaRPr lang="en-US"/>
          </a:p>
        </p:txBody>
      </p:sp>
    </p:spTree>
    <p:extLst>
      <p:ext uri="{BB962C8B-B14F-4D97-AF65-F5344CB8AC3E}">
        <p14:creationId xmlns:p14="http://schemas.microsoft.com/office/powerpoint/2010/main" val="315482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03B6-D7EB-800D-78E2-BB0130D05734}"/>
              </a:ext>
            </a:extLst>
          </p:cNvPr>
          <p:cNvSpPr>
            <a:spLocks noGrp="1"/>
          </p:cNvSpPr>
          <p:nvPr>
            <p:ph type="title"/>
          </p:nvPr>
        </p:nvSpPr>
        <p:spPr/>
        <p:txBody>
          <a:bodyPr>
            <a:normAutofit fontScale="90000"/>
          </a:bodyPr>
          <a:lstStyle/>
          <a:p>
            <a:r>
              <a:rPr lang="en-US" dirty="0"/>
              <a:t>BLEU Score Formula</a:t>
            </a:r>
          </a:p>
        </p:txBody>
      </p:sp>
      <p:sp>
        <p:nvSpPr>
          <p:cNvPr id="3" name="Text Placeholder 2">
            <a:extLst>
              <a:ext uri="{FF2B5EF4-FFF2-40B4-BE49-F238E27FC236}">
                <a16:creationId xmlns:a16="http://schemas.microsoft.com/office/drawing/2014/main" id="{16C328CA-EB42-AA27-A325-A0BA4DC124F6}"/>
              </a:ext>
            </a:extLst>
          </p:cNvPr>
          <p:cNvSpPr>
            <a:spLocks noGrp="1"/>
          </p:cNvSpPr>
          <p:nvPr>
            <p:ph type="body" idx="1"/>
          </p:nvPr>
        </p:nvSpPr>
        <p:spPr>
          <a:xfrm>
            <a:off x="685800" y="3291840"/>
            <a:ext cx="11320465" cy="3064510"/>
          </a:xfrm>
        </p:spPr>
        <p:txBody>
          <a:bodyPr>
            <a:normAutofit fontScale="77500" lnSpcReduction="20000"/>
          </a:bodyPr>
          <a:lstStyle/>
          <a:p>
            <a:r>
              <a:rPr lang="en-US" dirty="0"/>
              <a:t>The formula consists of two parts: the brevity penalty and the n-gram overlap.</a:t>
            </a:r>
          </a:p>
          <a:p>
            <a:r>
              <a:rPr lang="en-US" dirty="0"/>
              <a:t>Brevity Penalty</a:t>
            </a:r>
          </a:p>
          <a:p>
            <a:pPr lvl="1"/>
            <a:r>
              <a:rPr lang="en-US" dirty="0"/>
              <a:t>Penalizes generated translations that are too short compared to the closest reference length with exponential decay</a:t>
            </a:r>
          </a:p>
          <a:p>
            <a:pPr lvl="1"/>
            <a:r>
              <a:rPr lang="en-US" dirty="0"/>
              <a:t>Compensates for the fact that the BLEU score has no recall term</a:t>
            </a:r>
          </a:p>
          <a:p>
            <a:r>
              <a:rPr lang="en-US" dirty="0"/>
              <a:t>N-Gram Overlap</a:t>
            </a:r>
          </a:p>
          <a:p>
            <a:pPr lvl="1"/>
            <a:r>
              <a:rPr lang="en-US" dirty="0"/>
              <a:t>The n-gram overlap counts how many unigrams, bigrams, trigrams, and four-grams (</a:t>
            </a:r>
            <a:r>
              <a:rPr lang="en-US" dirty="0" err="1"/>
              <a:t>i</a:t>
            </a:r>
            <a:r>
              <a:rPr lang="en-US" dirty="0"/>
              <a:t>=1,...,4) match their n-gram counterpart in the reference translations</a:t>
            </a:r>
          </a:p>
          <a:p>
            <a:pPr lvl="1"/>
            <a:r>
              <a:rPr lang="en-US" dirty="0"/>
              <a:t>Unigrams account for adequacy, while longer n-grams account for fluency of the translation. To avoid </a:t>
            </a:r>
            <a:r>
              <a:rPr lang="en-US" dirty="0" err="1"/>
              <a:t>overcounting</a:t>
            </a:r>
            <a:r>
              <a:rPr lang="en-US" dirty="0"/>
              <a:t>, the n-gram counts are clipped to the maximal n-gram count occurring in the reference</a:t>
            </a:r>
          </a:p>
          <a:p>
            <a:endParaRPr lang="en-US" dirty="0"/>
          </a:p>
          <a:p>
            <a:endParaRPr lang="en-US" dirty="0"/>
          </a:p>
        </p:txBody>
      </p:sp>
      <p:pic>
        <p:nvPicPr>
          <p:cNvPr id="5" name="Picture 4">
            <a:extLst>
              <a:ext uri="{FF2B5EF4-FFF2-40B4-BE49-F238E27FC236}">
                <a16:creationId xmlns:a16="http://schemas.microsoft.com/office/drawing/2014/main" id="{7026927A-A8E4-DED1-5470-CF28039B7301}"/>
              </a:ext>
            </a:extLst>
          </p:cNvPr>
          <p:cNvPicPr>
            <a:picLocks noChangeAspect="1"/>
          </p:cNvPicPr>
          <p:nvPr/>
        </p:nvPicPr>
        <p:blipFill>
          <a:blip r:embed="rId2"/>
          <a:stretch>
            <a:fillRect/>
          </a:stretch>
        </p:blipFill>
        <p:spPr>
          <a:xfrm>
            <a:off x="1164255" y="974833"/>
            <a:ext cx="5075360" cy="2084251"/>
          </a:xfrm>
          <a:prstGeom prst="rect">
            <a:avLst/>
          </a:prstGeom>
        </p:spPr>
      </p:pic>
      <p:pic>
        <p:nvPicPr>
          <p:cNvPr id="7" name="Picture 6">
            <a:extLst>
              <a:ext uri="{FF2B5EF4-FFF2-40B4-BE49-F238E27FC236}">
                <a16:creationId xmlns:a16="http://schemas.microsoft.com/office/drawing/2014/main" id="{087437CC-67FC-55E4-82A8-CD65A522D45F}"/>
              </a:ext>
            </a:extLst>
          </p:cNvPr>
          <p:cNvPicPr>
            <a:picLocks noChangeAspect="1"/>
          </p:cNvPicPr>
          <p:nvPr/>
        </p:nvPicPr>
        <p:blipFill>
          <a:blip r:embed="rId3"/>
          <a:stretch>
            <a:fillRect/>
          </a:stretch>
        </p:blipFill>
        <p:spPr>
          <a:xfrm>
            <a:off x="6656276" y="1303149"/>
            <a:ext cx="5132515" cy="1009738"/>
          </a:xfrm>
          <a:prstGeom prst="rect">
            <a:avLst/>
          </a:prstGeom>
        </p:spPr>
      </p:pic>
    </p:spTree>
    <p:extLst>
      <p:ext uri="{BB962C8B-B14F-4D97-AF65-F5344CB8AC3E}">
        <p14:creationId xmlns:p14="http://schemas.microsoft.com/office/powerpoint/2010/main" val="2320207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DA3B-436E-AA72-EBE2-18AE83825E49}"/>
              </a:ext>
            </a:extLst>
          </p:cNvPr>
          <p:cNvSpPr>
            <a:spLocks noGrp="1"/>
          </p:cNvSpPr>
          <p:nvPr>
            <p:ph type="title"/>
          </p:nvPr>
        </p:nvSpPr>
        <p:spPr/>
        <p:txBody>
          <a:bodyPr>
            <a:normAutofit fontScale="90000"/>
          </a:bodyPr>
          <a:lstStyle/>
          <a:p>
            <a:r>
              <a:rPr lang="en-US"/>
              <a:t>Size of the translations</a:t>
            </a:r>
          </a:p>
        </p:txBody>
      </p:sp>
      <p:sp>
        <p:nvSpPr>
          <p:cNvPr id="3" name="Text Placeholder 2">
            <a:extLst>
              <a:ext uri="{FF2B5EF4-FFF2-40B4-BE49-F238E27FC236}">
                <a16:creationId xmlns:a16="http://schemas.microsoft.com/office/drawing/2014/main" id="{DA5B41C2-61B7-624C-AAE9-1203A2D90CEF}"/>
              </a:ext>
            </a:extLst>
          </p:cNvPr>
          <p:cNvSpPr>
            <a:spLocks noGrp="1"/>
          </p:cNvSpPr>
          <p:nvPr>
            <p:ph type="body" idx="1"/>
          </p:nvPr>
        </p:nvSpPr>
        <p:spPr/>
        <p:txBody>
          <a:bodyPr/>
          <a:lstStyle/>
          <a:p>
            <a:r>
              <a:rPr lang="en-US" dirty="0"/>
              <a:t>Brevity penalty is added to penalize too short translations.</a:t>
            </a:r>
          </a:p>
          <a:p>
            <a:r>
              <a:rPr lang="en-US" dirty="0"/>
              <a:t>Brevity Penalty(BP) will be 1.0 when the candidate translation length is the same as any reference translation length</a:t>
            </a:r>
          </a:p>
          <a:p>
            <a:pPr lvl="1"/>
            <a:r>
              <a:rPr lang="en-US" dirty="0"/>
              <a:t>The closest reference sentence length is the “best match length.”</a:t>
            </a:r>
          </a:p>
          <a:p>
            <a:r>
              <a:rPr lang="en-US" dirty="0"/>
              <a:t>With the brevity penalty, we see that a high-scoring candidate translation will match the reference translations in length, in word choice, and word order.</a:t>
            </a:r>
          </a:p>
          <a:p>
            <a:r>
              <a:rPr lang="en-US" dirty="0"/>
              <a:t>Neither the brevity penalty nor the modified n-gram precision length directly considers the source length; instead, they only consider the range of reference translation lengths of the target language</a:t>
            </a:r>
          </a:p>
          <a:p>
            <a:endParaRPr lang="en-US" dirty="0"/>
          </a:p>
          <a:p>
            <a:endParaRPr lang="en-US" dirty="0"/>
          </a:p>
        </p:txBody>
      </p:sp>
    </p:spTree>
    <p:extLst>
      <p:ext uri="{BB962C8B-B14F-4D97-AF65-F5344CB8AC3E}">
        <p14:creationId xmlns:p14="http://schemas.microsoft.com/office/powerpoint/2010/main" val="4220927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82CF8-C735-36AF-D1D5-3A54741EF1D5}"/>
              </a:ext>
            </a:extLst>
          </p:cNvPr>
          <p:cNvSpPr>
            <a:spLocks noGrp="1"/>
          </p:cNvSpPr>
          <p:nvPr>
            <p:ph type="title"/>
          </p:nvPr>
        </p:nvSpPr>
        <p:spPr/>
        <p:txBody>
          <a:bodyPr>
            <a:normAutofit fontScale="90000"/>
          </a:bodyPr>
          <a:lstStyle/>
          <a:p>
            <a:r>
              <a:rPr lang="en-US"/>
              <a:t>BLUE Interpretation</a:t>
            </a:r>
          </a:p>
        </p:txBody>
      </p:sp>
      <p:sp>
        <p:nvSpPr>
          <p:cNvPr id="3" name="Text Placeholder 2">
            <a:extLst>
              <a:ext uri="{FF2B5EF4-FFF2-40B4-BE49-F238E27FC236}">
                <a16:creationId xmlns:a16="http://schemas.microsoft.com/office/drawing/2014/main" id="{B3D7974A-873C-F470-5F7B-9E0777F35B2A}"/>
              </a:ext>
            </a:extLst>
          </p:cNvPr>
          <p:cNvSpPr>
            <a:spLocks noGrp="1"/>
          </p:cNvSpPr>
          <p:nvPr>
            <p:ph type="body" idx="1"/>
          </p:nvPr>
        </p:nvSpPr>
        <p:spPr/>
        <p:txBody>
          <a:bodyPr/>
          <a:lstStyle/>
          <a:p>
            <a:r>
              <a:rPr lang="en-US" dirty="0"/>
              <a:t>Trying to compare BLEU scores across different corpora and languages is strongly discouraged</a:t>
            </a:r>
          </a:p>
          <a:p>
            <a:pPr lvl="1"/>
            <a:r>
              <a:rPr lang="en-US" dirty="0"/>
              <a:t>Even comparing BLEU scores for the same corpus but with different numbers of reference translations can be highly misleading</a:t>
            </a:r>
          </a:p>
          <a:p>
            <a:r>
              <a:rPr lang="en-US" dirty="0"/>
              <a:t>However, as a rough guideline, the following interpretation of BLEU scores (expressed as percentages rather than decimals) might be helpful.</a:t>
            </a:r>
          </a:p>
          <a:p>
            <a:endParaRPr lang="en-US" dirty="0"/>
          </a:p>
          <a:p>
            <a:endParaRPr lang="en-US" dirty="0"/>
          </a:p>
        </p:txBody>
      </p:sp>
      <p:pic>
        <p:nvPicPr>
          <p:cNvPr id="5" name="Picture 4">
            <a:extLst>
              <a:ext uri="{FF2B5EF4-FFF2-40B4-BE49-F238E27FC236}">
                <a16:creationId xmlns:a16="http://schemas.microsoft.com/office/drawing/2014/main" id="{10622F24-6AB2-4C93-4053-C0BC11E5BF33}"/>
              </a:ext>
            </a:extLst>
          </p:cNvPr>
          <p:cNvPicPr>
            <a:picLocks noChangeAspect="1"/>
          </p:cNvPicPr>
          <p:nvPr/>
        </p:nvPicPr>
        <p:blipFill>
          <a:blip r:embed="rId2"/>
          <a:stretch>
            <a:fillRect/>
          </a:stretch>
        </p:blipFill>
        <p:spPr>
          <a:xfrm>
            <a:off x="2377117" y="3878811"/>
            <a:ext cx="7437765" cy="2674852"/>
          </a:xfrm>
          <a:prstGeom prst="rect">
            <a:avLst/>
          </a:prstGeom>
        </p:spPr>
      </p:pic>
    </p:spTree>
    <p:extLst>
      <p:ext uri="{BB962C8B-B14F-4D97-AF65-F5344CB8AC3E}">
        <p14:creationId xmlns:p14="http://schemas.microsoft.com/office/powerpoint/2010/main" val="1930275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96A49-B198-BA1E-D8C6-E32AEB5C561B}"/>
              </a:ext>
            </a:extLst>
          </p:cNvPr>
          <p:cNvSpPr>
            <a:spLocks noGrp="1"/>
          </p:cNvSpPr>
          <p:nvPr>
            <p:ph type="title"/>
          </p:nvPr>
        </p:nvSpPr>
        <p:spPr/>
        <p:txBody>
          <a:bodyPr>
            <a:normAutofit fontScale="90000"/>
          </a:bodyPr>
          <a:lstStyle/>
          <a:p>
            <a:r>
              <a:rPr lang="en-US"/>
              <a:t>BLEU Properties</a:t>
            </a:r>
          </a:p>
        </p:txBody>
      </p:sp>
      <p:sp>
        <p:nvSpPr>
          <p:cNvPr id="3" name="Text Placeholder 2">
            <a:extLst>
              <a:ext uri="{FF2B5EF4-FFF2-40B4-BE49-F238E27FC236}">
                <a16:creationId xmlns:a16="http://schemas.microsoft.com/office/drawing/2014/main" id="{49190440-04F0-9846-3CD4-633E5C176F56}"/>
              </a:ext>
            </a:extLst>
          </p:cNvPr>
          <p:cNvSpPr>
            <a:spLocks noGrp="1"/>
          </p:cNvSpPr>
          <p:nvPr>
            <p:ph type="body" idx="1"/>
          </p:nvPr>
        </p:nvSpPr>
        <p:spPr/>
        <p:txBody>
          <a:bodyPr>
            <a:normAutofit fontScale="92500" lnSpcReduction="20000"/>
          </a:bodyPr>
          <a:lstStyle/>
          <a:p>
            <a:r>
              <a:rPr lang="en-US" dirty="0"/>
              <a:t>BLEU is a Corpus-based Metric</a:t>
            </a:r>
          </a:p>
          <a:p>
            <a:pPr lvl="1"/>
            <a:r>
              <a:rPr lang="en-US" dirty="0"/>
              <a:t>The BLEU metric performs poorly when used to evaluate individual sentences. </a:t>
            </a:r>
          </a:p>
          <a:p>
            <a:pPr lvl="1"/>
            <a:r>
              <a:rPr lang="en-US" dirty="0"/>
              <a:t>n-gram statistics for individual sentences are less meaningful, BLEU is by design a corpus-based metric; that is, statistics are accumulated over an entire corpus when computing the score. </a:t>
            </a:r>
          </a:p>
          <a:p>
            <a:r>
              <a:rPr lang="en-US" dirty="0"/>
              <a:t>No distinction between content and function words</a:t>
            </a:r>
          </a:p>
          <a:p>
            <a:pPr lvl="1"/>
            <a:r>
              <a:rPr lang="en-US" dirty="0"/>
              <a:t>The BLEU metric does not distinguish between content and function words; that is, a dropped function word like "a" gets the same penalty as if the name "NASA" were erroneously replaced with "ESA."</a:t>
            </a:r>
          </a:p>
          <a:p>
            <a:r>
              <a:rPr lang="en-US" dirty="0"/>
              <a:t>Not good at capturing the meaning and grammar of a sentence</a:t>
            </a:r>
          </a:p>
          <a:p>
            <a:pPr lvl="1"/>
            <a:r>
              <a:rPr lang="en-US" dirty="0"/>
              <a:t>The drop of a single word like "not" can change the polarity of a sentence. Also, taking only n-grams into account with n≤4 ignores long-range dependencies and thus BLEU often imposes only a small penalty for ungrammatical sentences.</a:t>
            </a:r>
          </a:p>
          <a:p>
            <a:r>
              <a:rPr lang="en-US" dirty="0"/>
              <a:t>Normalization and Tokenization</a:t>
            </a:r>
          </a:p>
          <a:p>
            <a:pPr lvl="1"/>
            <a:r>
              <a:rPr lang="en-US" dirty="0"/>
              <a:t> Before computing the BLEU score, the reference and candidate translations are normalized and tokenized. The choice of normalization and tokenization steps significantly affects the final BLEU score.</a:t>
            </a:r>
          </a:p>
        </p:txBody>
      </p:sp>
    </p:spTree>
    <p:extLst>
      <p:ext uri="{BB962C8B-B14F-4D97-AF65-F5344CB8AC3E}">
        <p14:creationId xmlns:p14="http://schemas.microsoft.com/office/powerpoint/2010/main" val="3922897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6B2DB-2CB2-9EF2-370A-0B13B3E97FB3}"/>
              </a:ext>
            </a:extLst>
          </p:cNvPr>
          <p:cNvSpPr>
            <a:spLocks noGrp="1"/>
          </p:cNvSpPr>
          <p:nvPr>
            <p:ph type="title"/>
          </p:nvPr>
        </p:nvSpPr>
        <p:spPr/>
        <p:txBody>
          <a:bodyPr>
            <a:normAutofit fontScale="90000"/>
          </a:bodyPr>
          <a:lstStyle/>
          <a:p>
            <a:r>
              <a:rPr lang="en-US"/>
              <a:t>ROGUE</a:t>
            </a:r>
          </a:p>
        </p:txBody>
      </p:sp>
      <p:sp>
        <p:nvSpPr>
          <p:cNvPr id="3" name="Text Placeholder 2">
            <a:extLst>
              <a:ext uri="{FF2B5EF4-FFF2-40B4-BE49-F238E27FC236}">
                <a16:creationId xmlns:a16="http://schemas.microsoft.com/office/drawing/2014/main" id="{EF3668C1-D82C-E684-C4FC-817E283E56F8}"/>
              </a:ext>
            </a:extLst>
          </p:cNvPr>
          <p:cNvSpPr>
            <a:spLocks noGrp="1"/>
          </p:cNvSpPr>
          <p:nvPr>
            <p:ph type="body" idx="1"/>
          </p:nvPr>
        </p:nvSpPr>
        <p:spPr/>
        <p:txBody>
          <a:bodyPr/>
          <a:lstStyle/>
          <a:p>
            <a:r>
              <a:rPr lang="en-US" dirty="0"/>
              <a:t>ROGUE stands for Recall-Oriented Understudy for </a:t>
            </a:r>
            <a:r>
              <a:rPr lang="en-US" dirty="0" err="1"/>
              <a:t>Gisting</a:t>
            </a:r>
            <a:r>
              <a:rPr lang="en-US" dirty="0"/>
              <a:t> Evaluation</a:t>
            </a:r>
          </a:p>
          <a:p>
            <a:pPr lvl="1"/>
            <a:r>
              <a:rPr lang="en-US" dirty="0"/>
              <a:t>Recall based, unlike BLEU, which is Precision based</a:t>
            </a:r>
          </a:p>
          <a:p>
            <a:r>
              <a:rPr lang="en-US" dirty="0"/>
              <a:t>ROUGE metric includes a set of variants: ROUGE-N, ROUGE-L, and ROUGE-S. </a:t>
            </a:r>
          </a:p>
          <a:p>
            <a:r>
              <a:rPr lang="en-US" dirty="0"/>
              <a:t>ROUGE-N is like BLEU-N in counting the 𝑛-gram matches between the machine generated and human annotation</a:t>
            </a:r>
          </a:p>
          <a:p>
            <a:r>
              <a:rPr lang="en-US" dirty="0"/>
              <a:t>Used for evaluating automatic summarization and machine translation in natural language processing</a:t>
            </a:r>
          </a:p>
          <a:p>
            <a:r>
              <a:rPr lang="en-US" dirty="0"/>
              <a:t>The metrics compare an automatically produced summary or translation against a set of references (human-produced) summary or translation</a:t>
            </a:r>
          </a:p>
        </p:txBody>
      </p:sp>
    </p:spTree>
    <p:extLst>
      <p:ext uri="{BB962C8B-B14F-4D97-AF65-F5344CB8AC3E}">
        <p14:creationId xmlns:p14="http://schemas.microsoft.com/office/powerpoint/2010/main" val="2805191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654E-3080-DD7E-A8FC-FCEB63C897B3}"/>
              </a:ext>
            </a:extLst>
          </p:cNvPr>
          <p:cNvSpPr>
            <a:spLocks noGrp="1"/>
          </p:cNvSpPr>
          <p:nvPr>
            <p:ph type="title"/>
          </p:nvPr>
        </p:nvSpPr>
        <p:spPr/>
        <p:txBody>
          <a:bodyPr>
            <a:normAutofit fontScale="90000"/>
          </a:bodyPr>
          <a:lstStyle/>
          <a:p>
            <a:r>
              <a:rPr lang="en-US"/>
              <a:t>ROUGE-N</a:t>
            </a:r>
          </a:p>
        </p:txBody>
      </p:sp>
      <p:sp>
        <p:nvSpPr>
          <p:cNvPr id="3" name="Text Placeholder 2">
            <a:extLst>
              <a:ext uri="{FF2B5EF4-FFF2-40B4-BE49-F238E27FC236}">
                <a16:creationId xmlns:a16="http://schemas.microsoft.com/office/drawing/2014/main" id="{32C591A2-7FAE-1ACA-D7FA-00BAD2ADF196}"/>
              </a:ext>
            </a:extLst>
          </p:cNvPr>
          <p:cNvSpPr>
            <a:spLocks noGrp="1"/>
          </p:cNvSpPr>
          <p:nvPr>
            <p:ph type="body" idx="1"/>
          </p:nvPr>
        </p:nvSpPr>
        <p:spPr/>
        <p:txBody>
          <a:bodyPr>
            <a:normAutofit/>
          </a:bodyPr>
          <a:lstStyle/>
          <a:p>
            <a:r>
              <a:rPr lang="en-US" dirty="0"/>
              <a:t>ROUGE-N measures the number of matching ‘n-grams’ between our model-generated text and a ‘reference.’</a:t>
            </a:r>
          </a:p>
          <a:p>
            <a:r>
              <a:rPr lang="en-US" dirty="0"/>
              <a:t>In ROUGE-N, the N represents the n-gram that we are using</a:t>
            </a:r>
          </a:p>
          <a:p>
            <a:pPr lvl="1"/>
            <a:r>
              <a:rPr lang="en-US" dirty="0"/>
              <a:t>ROUGE-1 measures the match of unigrams between our model's output and the reference</a:t>
            </a:r>
          </a:p>
          <a:p>
            <a:pPr lvl="1"/>
            <a:r>
              <a:rPr lang="en-US" dirty="0"/>
              <a:t>ROUGE-2 and ROUGE-3 will use bigrams and trigrams respectively</a:t>
            </a:r>
          </a:p>
          <a:p>
            <a:r>
              <a:rPr lang="en-US" dirty="0"/>
              <a:t>Once we have decided which N to use, we now decide whether to calculate the ROUGE recall, precision, or F1 score</a:t>
            </a:r>
          </a:p>
          <a:p>
            <a:endParaRPr lang="en-US" dirty="0"/>
          </a:p>
          <a:p>
            <a:endParaRPr lang="en-US" dirty="0"/>
          </a:p>
          <a:p>
            <a:endParaRPr lang="en-US" dirty="0"/>
          </a:p>
        </p:txBody>
      </p:sp>
    </p:spTree>
    <p:extLst>
      <p:ext uri="{BB962C8B-B14F-4D97-AF65-F5344CB8AC3E}">
        <p14:creationId xmlns:p14="http://schemas.microsoft.com/office/powerpoint/2010/main" val="784376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CD752-7A6B-9DD9-69AF-4CBD48FF423C}"/>
              </a:ext>
            </a:extLst>
          </p:cNvPr>
          <p:cNvSpPr>
            <a:spLocks noGrp="1"/>
          </p:cNvSpPr>
          <p:nvPr>
            <p:ph type="title"/>
          </p:nvPr>
        </p:nvSpPr>
        <p:spPr/>
        <p:txBody>
          <a:bodyPr>
            <a:normAutofit fontScale="90000"/>
          </a:bodyPr>
          <a:lstStyle/>
          <a:p>
            <a:r>
              <a:rPr lang="en-US" dirty="0"/>
              <a:t>ROUGE-L</a:t>
            </a:r>
          </a:p>
        </p:txBody>
      </p:sp>
      <p:sp>
        <p:nvSpPr>
          <p:cNvPr id="3" name="Text Placeholder 2">
            <a:extLst>
              <a:ext uri="{FF2B5EF4-FFF2-40B4-BE49-F238E27FC236}">
                <a16:creationId xmlns:a16="http://schemas.microsoft.com/office/drawing/2014/main" id="{DE4ECB3E-1F75-BF0F-F708-606F45874913}"/>
              </a:ext>
            </a:extLst>
          </p:cNvPr>
          <p:cNvSpPr>
            <a:spLocks noGrp="1"/>
          </p:cNvSpPr>
          <p:nvPr>
            <p:ph type="body" idx="1"/>
          </p:nvPr>
        </p:nvSpPr>
        <p:spPr/>
        <p:txBody>
          <a:bodyPr/>
          <a:lstStyle/>
          <a:p>
            <a:r>
              <a:rPr lang="en-US" dirty="0"/>
              <a:t>ROUGE-L measures the longest common subsequence (LCS) between our model’s output and the reference</a:t>
            </a:r>
          </a:p>
          <a:p>
            <a:pPr lvl="1"/>
            <a:r>
              <a:rPr lang="en-US" dirty="0"/>
              <a:t>We count the longest sequence of tokens that are shared between the two</a:t>
            </a:r>
          </a:p>
          <a:p>
            <a:r>
              <a:rPr lang="en-US" dirty="0"/>
              <a:t>A longer shared sequence would indicate more similarity between the two sequences</a:t>
            </a:r>
          </a:p>
          <a:p>
            <a:r>
              <a:rPr lang="en-US" dirty="0"/>
              <a:t>Recall and precision are also calculated based on reference and the model’s output</a:t>
            </a:r>
          </a:p>
        </p:txBody>
      </p:sp>
    </p:spTree>
    <p:extLst>
      <p:ext uri="{BB962C8B-B14F-4D97-AF65-F5344CB8AC3E}">
        <p14:creationId xmlns:p14="http://schemas.microsoft.com/office/powerpoint/2010/main" val="3565828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F52B-B0F6-F3E1-BF0A-B384EF0F4970}"/>
              </a:ext>
            </a:extLst>
          </p:cNvPr>
          <p:cNvSpPr>
            <a:spLocks noGrp="1"/>
          </p:cNvSpPr>
          <p:nvPr>
            <p:ph type="title"/>
          </p:nvPr>
        </p:nvSpPr>
        <p:spPr/>
        <p:txBody>
          <a:bodyPr>
            <a:normAutofit fontScale="90000"/>
          </a:bodyPr>
          <a:lstStyle/>
          <a:p>
            <a:r>
              <a:rPr lang="en-US" dirty="0"/>
              <a:t>ROUGE Demo</a:t>
            </a:r>
          </a:p>
        </p:txBody>
      </p:sp>
      <p:pic>
        <p:nvPicPr>
          <p:cNvPr id="7" name="Picture 6">
            <a:extLst>
              <a:ext uri="{FF2B5EF4-FFF2-40B4-BE49-F238E27FC236}">
                <a16:creationId xmlns:a16="http://schemas.microsoft.com/office/drawing/2014/main" id="{4DDAAB04-8597-5067-176F-972C98D9BAF0}"/>
              </a:ext>
            </a:extLst>
          </p:cNvPr>
          <p:cNvPicPr>
            <a:picLocks noChangeAspect="1"/>
          </p:cNvPicPr>
          <p:nvPr/>
        </p:nvPicPr>
        <p:blipFill>
          <a:blip r:embed="rId2"/>
          <a:stretch>
            <a:fillRect/>
          </a:stretch>
        </p:blipFill>
        <p:spPr>
          <a:xfrm>
            <a:off x="1278733" y="1920118"/>
            <a:ext cx="9932413" cy="3017763"/>
          </a:xfrm>
          <a:prstGeom prst="rect">
            <a:avLst/>
          </a:prstGeom>
        </p:spPr>
      </p:pic>
    </p:spTree>
    <p:extLst>
      <p:ext uri="{BB962C8B-B14F-4D97-AF65-F5344CB8AC3E}">
        <p14:creationId xmlns:p14="http://schemas.microsoft.com/office/powerpoint/2010/main" val="2858809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ED0A-671C-AC5F-0E04-51D67F4CA956}"/>
              </a:ext>
            </a:extLst>
          </p:cNvPr>
          <p:cNvSpPr>
            <a:spLocks noGrp="1"/>
          </p:cNvSpPr>
          <p:nvPr>
            <p:ph type="title"/>
          </p:nvPr>
        </p:nvSpPr>
        <p:spPr/>
        <p:txBody>
          <a:bodyPr>
            <a:normAutofit fontScale="90000"/>
          </a:bodyPr>
          <a:lstStyle/>
          <a:p>
            <a:r>
              <a:rPr lang="en-US" dirty="0"/>
              <a:t>ROUGE Demo</a:t>
            </a:r>
          </a:p>
        </p:txBody>
      </p:sp>
      <p:pic>
        <p:nvPicPr>
          <p:cNvPr id="7" name="Picture 6">
            <a:extLst>
              <a:ext uri="{FF2B5EF4-FFF2-40B4-BE49-F238E27FC236}">
                <a16:creationId xmlns:a16="http://schemas.microsoft.com/office/drawing/2014/main" id="{0EDD26BC-FF93-AEF4-A91E-D65C0458B7CB}"/>
              </a:ext>
            </a:extLst>
          </p:cNvPr>
          <p:cNvPicPr>
            <a:picLocks noChangeAspect="1"/>
          </p:cNvPicPr>
          <p:nvPr/>
        </p:nvPicPr>
        <p:blipFill>
          <a:blip r:embed="rId2"/>
          <a:stretch>
            <a:fillRect/>
          </a:stretch>
        </p:blipFill>
        <p:spPr>
          <a:xfrm>
            <a:off x="1754782" y="1760075"/>
            <a:ext cx="9213378" cy="3337849"/>
          </a:xfrm>
          <a:prstGeom prst="rect">
            <a:avLst/>
          </a:prstGeom>
        </p:spPr>
      </p:pic>
    </p:spTree>
    <p:extLst>
      <p:ext uri="{BB962C8B-B14F-4D97-AF65-F5344CB8AC3E}">
        <p14:creationId xmlns:p14="http://schemas.microsoft.com/office/powerpoint/2010/main" val="3234452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B902-F810-C8FB-A599-765D43914077}"/>
              </a:ext>
            </a:extLst>
          </p:cNvPr>
          <p:cNvSpPr>
            <a:spLocks noGrp="1"/>
          </p:cNvSpPr>
          <p:nvPr>
            <p:ph type="title"/>
          </p:nvPr>
        </p:nvSpPr>
        <p:spPr/>
        <p:txBody>
          <a:bodyPr>
            <a:normAutofit fontScale="90000"/>
          </a:bodyPr>
          <a:lstStyle/>
          <a:p>
            <a:endParaRPr lang="en-US"/>
          </a:p>
        </p:txBody>
      </p:sp>
      <p:pic>
        <p:nvPicPr>
          <p:cNvPr id="5" name="Picture 4">
            <a:extLst>
              <a:ext uri="{FF2B5EF4-FFF2-40B4-BE49-F238E27FC236}">
                <a16:creationId xmlns:a16="http://schemas.microsoft.com/office/drawing/2014/main" id="{90A9E5FD-0CB4-FCA3-70FB-23676336FD16}"/>
              </a:ext>
            </a:extLst>
          </p:cNvPr>
          <p:cNvPicPr>
            <a:picLocks noChangeAspect="1"/>
          </p:cNvPicPr>
          <p:nvPr/>
        </p:nvPicPr>
        <p:blipFill>
          <a:blip r:embed="rId2"/>
          <a:stretch>
            <a:fillRect/>
          </a:stretch>
        </p:blipFill>
        <p:spPr>
          <a:xfrm>
            <a:off x="1470259" y="1920109"/>
            <a:ext cx="9251482" cy="3017782"/>
          </a:xfrm>
          <a:prstGeom prst="rect">
            <a:avLst/>
          </a:prstGeom>
        </p:spPr>
      </p:pic>
    </p:spTree>
    <p:extLst>
      <p:ext uri="{BB962C8B-B14F-4D97-AF65-F5344CB8AC3E}">
        <p14:creationId xmlns:p14="http://schemas.microsoft.com/office/powerpoint/2010/main" val="1703854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B8EE-0CA8-9F70-ED94-A6897AD276C0}"/>
              </a:ext>
            </a:extLst>
          </p:cNvPr>
          <p:cNvSpPr>
            <a:spLocks noGrp="1"/>
          </p:cNvSpPr>
          <p:nvPr>
            <p:ph type="title"/>
          </p:nvPr>
        </p:nvSpPr>
        <p:spPr/>
        <p:txBody>
          <a:bodyPr>
            <a:normAutofit fontScale="90000"/>
          </a:bodyPr>
          <a:lstStyle/>
          <a:p>
            <a:r>
              <a:rPr lang="en-US" dirty="0"/>
              <a:t>ROUGE Demo</a:t>
            </a:r>
          </a:p>
        </p:txBody>
      </p:sp>
      <p:pic>
        <p:nvPicPr>
          <p:cNvPr id="5" name="Picture 4">
            <a:extLst>
              <a:ext uri="{FF2B5EF4-FFF2-40B4-BE49-F238E27FC236}">
                <a16:creationId xmlns:a16="http://schemas.microsoft.com/office/drawing/2014/main" id="{DAEA022E-427F-2D4C-682A-2D594ED47FB8}"/>
              </a:ext>
            </a:extLst>
          </p:cNvPr>
          <p:cNvPicPr>
            <a:picLocks noChangeAspect="1"/>
          </p:cNvPicPr>
          <p:nvPr/>
        </p:nvPicPr>
        <p:blipFill>
          <a:blip r:embed="rId2"/>
          <a:stretch>
            <a:fillRect/>
          </a:stretch>
        </p:blipFill>
        <p:spPr>
          <a:xfrm>
            <a:off x="1569327" y="1569559"/>
            <a:ext cx="9053345" cy="3718882"/>
          </a:xfrm>
          <a:prstGeom prst="rect">
            <a:avLst/>
          </a:prstGeom>
        </p:spPr>
      </p:pic>
    </p:spTree>
    <p:extLst>
      <p:ext uri="{BB962C8B-B14F-4D97-AF65-F5344CB8AC3E}">
        <p14:creationId xmlns:p14="http://schemas.microsoft.com/office/powerpoint/2010/main" val="18857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A8C1-DFE6-2B52-E55B-1F72C1169348}"/>
              </a:ext>
            </a:extLst>
          </p:cNvPr>
          <p:cNvSpPr>
            <a:spLocks noGrp="1"/>
          </p:cNvSpPr>
          <p:nvPr>
            <p:ph type="title"/>
          </p:nvPr>
        </p:nvSpPr>
        <p:spPr/>
        <p:txBody>
          <a:bodyPr>
            <a:normAutofit fontScale="90000"/>
          </a:bodyPr>
          <a:lstStyle/>
          <a:p>
            <a:r>
              <a:rPr lang="en-US" dirty="0"/>
              <a:t>ROUGE Demo</a:t>
            </a:r>
          </a:p>
        </p:txBody>
      </p:sp>
      <p:pic>
        <p:nvPicPr>
          <p:cNvPr id="5" name="Picture 4">
            <a:extLst>
              <a:ext uri="{FF2B5EF4-FFF2-40B4-BE49-F238E27FC236}">
                <a16:creationId xmlns:a16="http://schemas.microsoft.com/office/drawing/2014/main" id="{5283BE99-F19D-1C65-A76C-566ECF638CAD}"/>
              </a:ext>
            </a:extLst>
          </p:cNvPr>
          <p:cNvPicPr>
            <a:picLocks noChangeAspect="1"/>
          </p:cNvPicPr>
          <p:nvPr/>
        </p:nvPicPr>
        <p:blipFill>
          <a:blip r:embed="rId2"/>
          <a:stretch>
            <a:fillRect/>
          </a:stretch>
        </p:blipFill>
        <p:spPr>
          <a:xfrm>
            <a:off x="1428345" y="1664817"/>
            <a:ext cx="9335309" cy="3528366"/>
          </a:xfrm>
          <a:prstGeom prst="rect">
            <a:avLst/>
          </a:prstGeom>
        </p:spPr>
      </p:pic>
    </p:spTree>
    <p:extLst>
      <p:ext uri="{BB962C8B-B14F-4D97-AF65-F5344CB8AC3E}">
        <p14:creationId xmlns:p14="http://schemas.microsoft.com/office/powerpoint/2010/main" val="239668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8A54-B859-313C-C263-F8CB0B8B4E3F}"/>
              </a:ext>
            </a:extLst>
          </p:cNvPr>
          <p:cNvSpPr>
            <a:spLocks noGrp="1"/>
          </p:cNvSpPr>
          <p:nvPr>
            <p:ph type="title"/>
          </p:nvPr>
        </p:nvSpPr>
        <p:spPr/>
        <p:txBody>
          <a:bodyPr>
            <a:normAutofit fontScale="90000"/>
          </a:bodyPr>
          <a:lstStyle/>
          <a:p>
            <a:r>
              <a:rPr lang="en-US"/>
              <a:t>ROUGE Demo</a:t>
            </a:r>
          </a:p>
        </p:txBody>
      </p:sp>
      <p:pic>
        <p:nvPicPr>
          <p:cNvPr id="5" name="Picture 4">
            <a:extLst>
              <a:ext uri="{FF2B5EF4-FFF2-40B4-BE49-F238E27FC236}">
                <a16:creationId xmlns:a16="http://schemas.microsoft.com/office/drawing/2014/main" id="{F3D80FEC-2957-AA16-58A7-925098933434}"/>
              </a:ext>
            </a:extLst>
          </p:cNvPr>
          <p:cNvPicPr>
            <a:picLocks noChangeAspect="1"/>
          </p:cNvPicPr>
          <p:nvPr/>
        </p:nvPicPr>
        <p:blipFill>
          <a:blip r:embed="rId2"/>
          <a:stretch>
            <a:fillRect/>
          </a:stretch>
        </p:blipFill>
        <p:spPr>
          <a:xfrm>
            <a:off x="1569327" y="1840092"/>
            <a:ext cx="9053345" cy="3177815"/>
          </a:xfrm>
          <a:prstGeom prst="rect">
            <a:avLst/>
          </a:prstGeom>
        </p:spPr>
      </p:pic>
    </p:spTree>
    <p:extLst>
      <p:ext uri="{BB962C8B-B14F-4D97-AF65-F5344CB8AC3E}">
        <p14:creationId xmlns:p14="http://schemas.microsoft.com/office/powerpoint/2010/main" val="4073920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B0F7-F056-CAA2-1F52-5D1DC487AED8}"/>
              </a:ext>
            </a:extLst>
          </p:cNvPr>
          <p:cNvSpPr>
            <a:spLocks noGrp="1"/>
          </p:cNvSpPr>
          <p:nvPr>
            <p:ph type="title"/>
          </p:nvPr>
        </p:nvSpPr>
        <p:spPr/>
        <p:txBody>
          <a:bodyPr>
            <a:normAutofit fontScale="90000"/>
          </a:bodyPr>
          <a:lstStyle/>
          <a:p>
            <a:r>
              <a:rPr lang="en-US" dirty="0"/>
              <a:t>ROUGE-S</a:t>
            </a:r>
          </a:p>
        </p:txBody>
      </p:sp>
      <p:sp>
        <p:nvSpPr>
          <p:cNvPr id="3" name="Text Placeholder 2">
            <a:extLst>
              <a:ext uri="{FF2B5EF4-FFF2-40B4-BE49-F238E27FC236}">
                <a16:creationId xmlns:a16="http://schemas.microsoft.com/office/drawing/2014/main" id="{2B17FED2-C207-061C-CDA8-B9F3C679334C}"/>
              </a:ext>
            </a:extLst>
          </p:cNvPr>
          <p:cNvSpPr>
            <a:spLocks noGrp="1"/>
          </p:cNvSpPr>
          <p:nvPr>
            <p:ph type="body" idx="1"/>
          </p:nvPr>
        </p:nvSpPr>
        <p:spPr/>
        <p:txBody>
          <a:bodyPr/>
          <a:lstStyle/>
          <a:p>
            <a:r>
              <a:rPr lang="en-US" dirty="0"/>
              <a:t>ROUGE-S skips at most (n-1) grams to find the n-grams</a:t>
            </a:r>
          </a:p>
          <a:p>
            <a:r>
              <a:rPr lang="en-US" dirty="0"/>
              <a:t>Using this metric allows us to search for consecutive words from the reference text that appear in the model’s output but are separated by other words</a:t>
            </a:r>
          </a:p>
          <a:p>
            <a:pPr lvl="1"/>
            <a:r>
              <a:rPr lang="en-US" dirty="0"/>
              <a:t>If we encounter the bigram “the fox,” the original ROUGE-2 metric would only match this if this exact sequence was found in the model’s output</a:t>
            </a:r>
          </a:p>
          <a:p>
            <a:pPr lvl="1"/>
            <a:r>
              <a:rPr lang="en-US" dirty="0"/>
              <a:t>If the model instead outputs “the brown fox,” no match would be found.</a:t>
            </a:r>
          </a:p>
          <a:p>
            <a:pPr lvl="2"/>
            <a:r>
              <a:rPr lang="en-US" dirty="0"/>
              <a:t>ROUGE-S compensates </a:t>
            </a:r>
            <a:r>
              <a:rPr lang="en-US"/>
              <a:t>for that</a:t>
            </a:r>
            <a:endParaRPr lang="en-US" dirty="0"/>
          </a:p>
          <a:p>
            <a:r>
              <a:rPr lang="en-US" dirty="0"/>
              <a:t>ROUGE-S allows us to add a degree of leniency to the n-gram matching</a:t>
            </a:r>
          </a:p>
        </p:txBody>
      </p:sp>
    </p:spTree>
    <p:extLst>
      <p:ext uri="{BB962C8B-B14F-4D97-AF65-F5344CB8AC3E}">
        <p14:creationId xmlns:p14="http://schemas.microsoft.com/office/powerpoint/2010/main" val="1661502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A5E2-687E-973F-63AD-70F0907C2AD9}"/>
              </a:ext>
            </a:extLst>
          </p:cNvPr>
          <p:cNvSpPr>
            <a:spLocks noGrp="1"/>
          </p:cNvSpPr>
          <p:nvPr>
            <p:ph type="title"/>
          </p:nvPr>
        </p:nvSpPr>
        <p:spPr/>
        <p:txBody>
          <a:bodyPr>
            <a:normAutofit fontScale="90000"/>
          </a:bodyPr>
          <a:lstStyle/>
          <a:p>
            <a:r>
              <a:rPr lang="en-US" dirty="0"/>
              <a:t>ROUGE Drawbacks</a:t>
            </a:r>
          </a:p>
        </p:txBody>
      </p:sp>
      <p:sp>
        <p:nvSpPr>
          <p:cNvPr id="3" name="Text Placeholder 2">
            <a:extLst>
              <a:ext uri="{FF2B5EF4-FFF2-40B4-BE49-F238E27FC236}">
                <a16:creationId xmlns:a16="http://schemas.microsoft.com/office/drawing/2014/main" id="{861B42D1-8848-08AC-297B-1F4C5F7BC6C4}"/>
              </a:ext>
            </a:extLst>
          </p:cNvPr>
          <p:cNvSpPr>
            <a:spLocks noGrp="1"/>
          </p:cNvSpPr>
          <p:nvPr>
            <p:ph type="body" idx="1"/>
          </p:nvPr>
        </p:nvSpPr>
        <p:spPr/>
        <p:txBody>
          <a:bodyPr/>
          <a:lstStyle/>
          <a:p>
            <a:r>
              <a:rPr lang="en-US" dirty="0"/>
              <a:t>ROUGE cannot differentiate words with the same meaning as it measures syntactical matches rather than semantics.</a:t>
            </a:r>
          </a:p>
          <a:p>
            <a:r>
              <a:rPr lang="en-US" dirty="0"/>
              <a:t>If we had two sequences that had the same meaning but used different words to express that meaning, they could be assigned a low ROUGE score.</a:t>
            </a:r>
          </a:p>
        </p:txBody>
      </p:sp>
    </p:spTree>
    <p:extLst>
      <p:ext uri="{BB962C8B-B14F-4D97-AF65-F5344CB8AC3E}">
        <p14:creationId xmlns:p14="http://schemas.microsoft.com/office/powerpoint/2010/main" val="2060619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BLEU vs ROUGE</a:t>
            </a:r>
          </a:p>
        </p:txBody>
      </p:sp>
      <p:sp>
        <p:nvSpPr>
          <p:cNvPr id="3" name="Text Placeholder 2"/>
          <p:cNvSpPr>
            <a:spLocks noGrp="1"/>
          </p:cNvSpPr>
          <p:nvPr>
            <p:ph type="body" idx="1"/>
          </p:nvPr>
        </p:nvSpPr>
        <p:spPr/>
        <p:txBody>
          <a:bodyPr/>
          <a:lstStyle/>
          <a:p>
            <a:r>
              <a:rPr lang="en-US" dirty="0"/>
              <a:t>BLEU focuses on precision: how many words (and/or n-grams) in the candidate model outputs appear in the human reference.</a:t>
            </a:r>
          </a:p>
          <a:p>
            <a:r>
              <a:rPr lang="en-US" dirty="0"/>
              <a:t>ROUGE focuses on recall: how many words (and/or n-grams) in the human references appear in the candidate model outputs.</a:t>
            </a:r>
          </a:p>
          <a:p>
            <a:pPr lvl="1"/>
            <a:r>
              <a:rPr lang="en-US" dirty="0"/>
              <a:t>But ROUGE also have precision/f1 versions</a:t>
            </a:r>
          </a:p>
        </p:txBody>
      </p:sp>
    </p:spTree>
    <p:extLst>
      <p:ext uri="{BB962C8B-B14F-4D97-AF65-F5344CB8AC3E}">
        <p14:creationId xmlns:p14="http://schemas.microsoft.com/office/powerpoint/2010/main" val="102071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D742-7545-8287-4CA7-435581785096}"/>
              </a:ext>
            </a:extLst>
          </p:cNvPr>
          <p:cNvSpPr>
            <a:spLocks noGrp="1"/>
          </p:cNvSpPr>
          <p:nvPr>
            <p:ph type="title"/>
          </p:nvPr>
        </p:nvSpPr>
        <p:spPr/>
        <p:txBody>
          <a:bodyPr>
            <a:normAutofit fontScale="90000"/>
          </a:bodyPr>
          <a:lstStyle/>
          <a:p>
            <a:r>
              <a:rPr lang="en-US" dirty="0"/>
              <a:t>Perplexity</a:t>
            </a:r>
            <a:endParaRPr lang="en-US"/>
          </a:p>
        </p:txBody>
      </p:sp>
      <p:sp>
        <p:nvSpPr>
          <p:cNvPr id="3" name="Text Placeholder 2">
            <a:extLst>
              <a:ext uri="{FF2B5EF4-FFF2-40B4-BE49-F238E27FC236}">
                <a16:creationId xmlns:a16="http://schemas.microsoft.com/office/drawing/2014/main" id="{4C81E6B9-8209-07DC-D49F-178C89AE6850}"/>
              </a:ext>
            </a:extLst>
          </p:cNvPr>
          <p:cNvSpPr>
            <a:spLocks noGrp="1"/>
          </p:cNvSpPr>
          <p:nvPr>
            <p:ph type="body" idx="1"/>
          </p:nvPr>
        </p:nvSpPr>
        <p:spPr/>
        <p:txBody>
          <a:bodyPr/>
          <a:lstStyle/>
          <a:p>
            <a:r>
              <a:rPr lang="en-US" dirty="0"/>
              <a:t>Perplexity is an evaluation metric for language models</a:t>
            </a:r>
          </a:p>
          <a:p>
            <a:r>
              <a:rPr lang="en-US" dirty="0"/>
              <a:t>A metric that quantifies how uncertain a model is about the predictions it makes</a:t>
            </a:r>
          </a:p>
          <a:p>
            <a:r>
              <a:rPr lang="en-US" dirty="0"/>
              <a:t>Low perplexity only guarantees a model is confident, not accurate, but it often correlates well with the model’s final real-world performance, and it can be quickly calculated using just the probability distribution the model learns from the training dataset</a:t>
            </a:r>
            <a:endParaRPr lang="en-US"/>
          </a:p>
        </p:txBody>
      </p:sp>
    </p:spTree>
    <p:extLst>
      <p:ext uri="{BB962C8B-B14F-4D97-AF65-F5344CB8AC3E}">
        <p14:creationId xmlns:p14="http://schemas.microsoft.com/office/powerpoint/2010/main" val="1061430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0570-081B-EFA5-4B98-8A556251B848}"/>
              </a:ext>
            </a:extLst>
          </p:cNvPr>
          <p:cNvSpPr>
            <a:spLocks noGrp="1"/>
          </p:cNvSpPr>
          <p:nvPr>
            <p:ph type="title"/>
          </p:nvPr>
        </p:nvSpPr>
        <p:spPr/>
        <p:txBody>
          <a:bodyPr>
            <a:normAutofit fontScale="90000"/>
          </a:bodyPr>
          <a:lstStyle/>
          <a:p>
            <a:r>
              <a:rPr lang="en-US" dirty="0"/>
              <a:t>Perplexity</a:t>
            </a:r>
          </a:p>
        </p:txBody>
      </p:sp>
      <p:sp>
        <p:nvSpPr>
          <p:cNvPr id="3" name="Text Placeholder 2">
            <a:extLst>
              <a:ext uri="{FF2B5EF4-FFF2-40B4-BE49-F238E27FC236}">
                <a16:creationId xmlns:a16="http://schemas.microsoft.com/office/drawing/2014/main" id="{54DA02E9-CC7F-91E6-08B0-BCB76377B744}"/>
              </a:ext>
            </a:extLst>
          </p:cNvPr>
          <p:cNvSpPr>
            <a:spLocks noGrp="1"/>
          </p:cNvSpPr>
          <p:nvPr>
            <p:ph type="body" idx="1"/>
          </p:nvPr>
        </p:nvSpPr>
        <p:spPr/>
        <p:txBody>
          <a:bodyPr>
            <a:normAutofit/>
          </a:bodyPr>
          <a:lstStyle/>
          <a:p>
            <a:r>
              <a:rPr lang="en-US" dirty="0"/>
              <a:t>What makes a good language model? </a:t>
            </a:r>
            <a:endParaRPr lang="en-US"/>
          </a:p>
          <a:p>
            <a:pPr lvl="1"/>
            <a:r>
              <a:rPr lang="en-US" dirty="0"/>
              <a:t>We want our model to assign high probabilities to sentences that are real and syntactically correct, and low probabilities to fake, incorrect, or highly infrequent sentences</a:t>
            </a:r>
          </a:p>
          <a:p>
            <a:r>
              <a:rPr lang="en-US" dirty="0"/>
              <a:t>Assuming our dataset is made of sentences that are in fact real and correct, this means that the best model will be the one that assigns the highest probability to the test set </a:t>
            </a:r>
          </a:p>
          <a:p>
            <a:r>
              <a:rPr lang="en-US" dirty="0"/>
              <a:t>Intuitively, if a model assigns a high probability to the test set, it means that it is not surprised to see it (it’s not perplexed by it), which means that it has a good understanding of how the language works</a:t>
            </a:r>
            <a:br>
              <a:rPr lang="en-US" dirty="0"/>
            </a:br>
            <a:endParaRPr lang="en-US" dirty="0"/>
          </a:p>
          <a:p>
            <a:endParaRPr lang="en-US"/>
          </a:p>
        </p:txBody>
      </p:sp>
    </p:spTree>
    <p:extLst>
      <p:ext uri="{BB962C8B-B14F-4D97-AF65-F5344CB8AC3E}">
        <p14:creationId xmlns:p14="http://schemas.microsoft.com/office/powerpoint/2010/main" val="2859145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219F-966F-1E81-2C11-7B34B127359F}"/>
              </a:ext>
            </a:extLst>
          </p:cNvPr>
          <p:cNvSpPr>
            <a:spLocks noGrp="1"/>
          </p:cNvSpPr>
          <p:nvPr>
            <p:ph type="title"/>
          </p:nvPr>
        </p:nvSpPr>
        <p:spPr/>
        <p:txBody>
          <a:bodyPr>
            <a:normAutofit fontScale="90000"/>
          </a:bodyPr>
          <a:lstStyle/>
          <a:p>
            <a:r>
              <a:rPr lang="en-US" dirty="0"/>
              <a:t>Perplexity example</a:t>
            </a:r>
          </a:p>
        </p:txBody>
      </p:sp>
      <p:pic>
        <p:nvPicPr>
          <p:cNvPr id="4" name="Picture 4" descr="Graphical user interface, text, application&#10;&#10;Description automatically generated">
            <a:extLst>
              <a:ext uri="{FF2B5EF4-FFF2-40B4-BE49-F238E27FC236}">
                <a16:creationId xmlns:a16="http://schemas.microsoft.com/office/drawing/2014/main" id="{A7324AA2-F3BB-BCFF-949D-267B7C5A6106}"/>
              </a:ext>
            </a:extLst>
          </p:cNvPr>
          <p:cNvPicPr>
            <a:picLocks noChangeAspect="1"/>
          </p:cNvPicPr>
          <p:nvPr/>
        </p:nvPicPr>
        <p:blipFill>
          <a:blip r:embed="rId2"/>
          <a:stretch>
            <a:fillRect/>
          </a:stretch>
        </p:blipFill>
        <p:spPr>
          <a:xfrm>
            <a:off x="310552" y="1804238"/>
            <a:ext cx="11412746" cy="3537071"/>
          </a:xfrm>
          <a:prstGeom prst="rect">
            <a:avLst/>
          </a:prstGeom>
        </p:spPr>
      </p:pic>
    </p:spTree>
    <p:extLst>
      <p:ext uri="{BB962C8B-B14F-4D97-AF65-F5344CB8AC3E}">
        <p14:creationId xmlns:p14="http://schemas.microsoft.com/office/powerpoint/2010/main" val="409420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6289-68EF-1A7C-D7F6-9023C4503F41}"/>
              </a:ext>
            </a:extLst>
          </p:cNvPr>
          <p:cNvSpPr>
            <a:spLocks noGrp="1"/>
          </p:cNvSpPr>
          <p:nvPr>
            <p:ph type="title"/>
          </p:nvPr>
        </p:nvSpPr>
        <p:spPr/>
        <p:txBody>
          <a:bodyPr>
            <a:normAutofit fontScale="90000"/>
          </a:bodyPr>
          <a:lstStyle/>
          <a:p>
            <a:r>
              <a:rPr lang="en-US" dirty="0"/>
              <a:t>Normalization of the Score</a:t>
            </a:r>
          </a:p>
        </p:txBody>
      </p:sp>
      <p:sp>
        <p:nvSpPr>
          <p:cNvPr id="3" name="Text Placeholder 2">
            <a:extLst>
              <a:ext uri="{FF2B5EF4-FFF2-40B4-BE49-F238E27FC236}">
                <a16:creationId xmlns:a16="http://schemas.microsoft.com/office/drawing/2014/main" id="{325C8BCF-1EB9-3ADC-DA44-49578B3A9F54}"/>
              </a:ext>
            </a:extLst>
          </p:cNvPr>
          <p:cNvSpPr>
            <a:spLocks noGrp="1"/>
          </p:cNvSpPr>
          <p:nvPr>
            <p:ph type="body" idx="1"/>
          </p:nvPr>
        </p:nvSpPr>
        <p:spPr/>
        <p:txBody>
          <a:bodyPr/>
          <a:lstStyle/>
          <a:p>
            <a:r>
              <a:rPr lang="en-US" dirty="0"/>
              <a:t>Datasets can have varying numbers of sentences, and sentences can have varying numbers of words</a:t>
            </a:r>
          </a:p>
          <a:p>
            <a:r>
              <a:rPr lang="en-US" dirty="0"/>
              <a:t>Adding more sentences introduces more uncertainty, so other things being equal a larger test set is likely to have a lower probability than a smaller one</a:t>
            </a:r>
          </a:p>
          <a:p>
            <a:pPr lvl="1"/>
            <a:r>
              <a:rPr lang="en-US" dirty="0"/>
              <a:t>A metric should be independent of the size of the dataset</a:t>
            </a:r>
          </a:p>
          <a:p>
            <a:r>
              <a:rPr lang="en-US" dirty="0"/>
              <a:t>We could obtain this by normalizing the probability of the test set by the total number of words, which would give us a per-word measure</a:t>
            </a:r>
            <a:br>
              <a:rPr lang="en-US" dirty="0"/>
            </a:br>
            <a:endParaRPr lang="en-US"/>
          </a:p>
        </p:txBody>
      </p:sp>
    </p:spTree>
    <p:extLst>
      <p:ext uri="{BB962C8B-B14F-4D97-AF65-F5344CB8AC3E}">
        <p14:creationId xmlns:p14="http://schemas.microsoft.com/office/powerpoint/2010/main" val="753828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6098-6323-BFEB-19A4-8BEFEB46E34F}"/>
              </a:ext>
            </a:extLst>
          </p:cNvPr>
          <p:cNvSpPr>
            <a:spLocks noGrp="1"/>
          </p:cNvSpPr>
          <p:nvPr>
            <p:ph type="title"/>
          </p:nvPr>
        </p:nvSpPr>
        <p:spPr/>
        <p:txBody>
          <a:bodyPr>
            <a:normAutofit fontScale="90000"/>
          </a:bodyPr>
          <a:lstStyle/>
          <a:p>
            <a:r>
              <a:rPr lang="en-US" dirty="0"/>
              <a:t>Normalization</a:t>
            </a:r>
          </a:p>
        </p:txBody>
      </p:sp>
      <p:sp>
        <p:nvSpPr>
          <p:cNvPr id="3" name="Text Placeholder 2">
            <a:extLst>
              <a:ext uri="{FF2B5EF4-FFF2-40B4-BE49-F238E27FC236}">
                <a16:creationId xmlns:a16="http://schemas.microsoft.com/office/drawing/2014/main" id="{AFC6B055-7BC1-6841-F843-885DECC7B5EE}"/>
              </a:ext>
            </a:extLst>
          </p:cNvPr>
          <p:cNvSpPr>
            <a:spLocks noGrp="1"/>
          </p:cNvSpPr>
          <p:nvPr>
            <p:ph type="body" idx="1"/>
          </p:nvPr>
        </p:nvSpPr>
        <p:spPr/>
        <p:txBody>
          <a:bodyPr/>
          <a:lstStyle/>
          <a:p>
            <a:r>
              <a:rPr lang="en-US" dirty="0"/>
              <a:t>Probability of the test set:</a:t>
            </a:r>
          </a:p>
          <a:p>
            <a:endParaRPr lang="en-US" dirty="0"/>
          </a:p>
          <a:p>
            <a:endParaRPr lang="en-US" dirty="0"/>
          </a:p>
          <a:p>
            <a:r>
              <a:rPr lang="en-US" dirty="0"/>
              <a:t>How do we normalize this probability? It’s easier to do it by looking at the log probability, which turns the product into a sum</a:t>
            </a:r>
          </a:p>
          <a:p>
            <a:endParaRPr lang="en-US" dirty="0"/>
          </a:p>
          <a:p>
            <a:endParaRPr lang="en-US" dirty="0"/>
          </a:p>
          <a:p>
            <a:r>
              <a:rPr lang="en-US" dirty="0"/>
              <a:t>We can now normalize this by dividing with N to obtain the per-word log probability:</a:t>
            </a:r>
          </a:p>
        </p:txBody>
      </p:sp>
      <p:pic>
        <p:nvPicPr>
          <p:cNvPr id="4" name="Picture 4">
            <a:extLst>
              <a:ext uri="{FF2B5EF4-FFF2-40B4-BE49-F238E27FC236}">
                <a16:creationId xmlns:a16="http://schemas.microsoft.com/office/drawing/2014/main" id="{4A28C339-0AB7-3F2F-6E4E-A3838D8EF519}"/>
              </a:ext>
            </a:extLst>
          </p:cNvPr>
          <p:cNvPicPr>
            <a:picLocks noChangeAspect="1"/>
          </p:cNvPicPr>
          <p:nvPr/>
        </p:nvPicPr>
        <p:blipFill>
          <a:blip r:embed="rId2"/>
          <a:stretch>
            <a:fillRect/>
          </a:stretch>
        </p:blipFill>
        <p:spPr>
          <a:xfrm>
            <a:off x="1805796" y="1718274"/>
            <a:ext cx="7746520" cy="948544"/>
          </a:xfrm>
          <a:prstGeom prst="rect">
            <a:avLst/>
          </a:prstGeom>
        </p:spPr>
      </p:pic>
      <p:pic>
        <p:nvPicPr>
          <p:cNvPr id="5" name="Picture 5" descr="Text&#10;&#10;Description automatically generated">
            <a:extLst>
              <a:ext uri="{FF2B5EF4-FFF2-40B4-BE49-F238E27FC236}">
                <a16:creationId xmlns:a16="http://schemas.microsoft.com/office/drawing/2014/main" id="{B8D1AAC3-54D7-6ADB-76D1-6A872500F29E}"/>
              </a:ext>
            </a:extLst>
          </p:cNvPr>
          <p:cNvPicPr>
            <a:picLocks noChangeAspect="1"/>
          </p:cNvPicPr>
          <p:nvPr/>
        </p:nvPicPr>
        <p:blipFill>
          <a:blip r:embed="rId3"/>
          <a:stretch>
            <a:fillRect/>
          </a:stretch>
        </p:blipFill>
        <p:spPr>
          <a:xfrm>
            <a:off x="3430438" y="3667435"/>
            <a:ext cx="4137803" cy="860227"/>
          </a:xfrm>
          <a:prstGeom prst="rect">
            <a:avLst/>
          </a:prstGeom>
        </p:spPr>
      </p:pic>
      <p:pic>
        <p:nvPicPr>
          <p:cNvPr id="6" name="Picture 6" descr="Text&#10;&#10;Description automatically generated">
            <a:extLst>
              <a:ext uri="{FF2B5EF4-FFF2-40B4-BE49-F238E27FC236}">
                <a16:creationId xmlns:a16="http://schemas.microsoft.com/office/drawing/2014/main" id="{246A3585-800B-DEED-A870-164129F0BB92}"/>
              </a:ext>
            </a:extLst>
          </p:cNvPr>
          <p:cNvPicPr>
            <a:picLocks noChangeAspect="1"/>
          </p:cNvPicPr>
          <p:nvPr/>
        </p:nvPicPr>
        <p:blipFill>
          <a:blip r:embed="rId4"/>
          <a:stretch>
            <a:fillRect/>
          </a:stretch>
        </p:blipFill>
        <p:spPr>
          <a:xfrm>
            <a:off x="4077419" y="5355932"/>
            <a:ext cx="3893388" cy="1221345"/>
          </a:xfrm>
          <a:prstGeom prst="rect">
            <a:avLst/>
          </a:prstGeom>
        </p:spPr>
      </p:pic>
    </p:spTree>
    <p:extLst>
      <p:ext uri="{BB962C8B-B14F-4D97-AF65-F5344CB8AC3E}">
        <p14:creationId xmlns:p14="http://schemas.microsoft.com/office/powerpoint/2010/main" val="1520021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41892-EFB7-63CC-A563-44C8B245C9D7}"/>
              </a:ext>
            </a:extLst>
          </p:cNvPr>
          <p:cNvSpPr>
            <a:spLocks noGrp="1"/>
          </p:cNvSpPr>
          <p:nvPr>
            <p:ph type="title"/>
          </p:nvPr>
        </p:nvSpPr>
        <p:spPr/>
        <p:txBody>
          <a:bodyPr>
            <a:normAutofit fontScale="90000"/>
          </a:bodyPr>
          <a:lstStyle/>
          <a:p>
            <a:r>
              <a:rPr lang="en-US" dirty="0"/>
              <a:t>Formula manipulation of normalization</a:t>
            </a:r>
          </a:p>
        </p:txBody>
      </p:sp>
      <p:sp>
        <p:nvSpPr>
          <p:cNvPr id="3" name="Text Placeholder 2">
            <a:extLst>
              <a:ext uri="{FF2B5EF4-FFF2-40B4-BE49-F238E27FC236}">
                <a16:creationId xmlns:a16="http://schemas.microsoft.com/office/drawing/2014/main" id="{BB3A3755-2A43-99C7-7778-1E3C6D613B28}"/>
              </a:ext>
            </a:extLst>
          </p:cNvPr>
          <p:cNvSpPr>
            <a:spLocks noGrp="1"/>
          </p:cNvSpPr>
          <p:nvPr>
            <p:ph type="body" idx="1"/>
          </p:nvPr>
        </p:nvSpPr>
        <p:spPr/>
        <p:txBody>
          <a:bodyPr/>
          <a:lstStyle/>
          <a:p>
            <a:r>
              <a:rPr lang="en-US" dirty="0"/>
              <a:t>… and then remove the log by exponentiating:</a:t>
            </a:r>
          </a:p>
        </p:txBody>
      </p:sp>
      <p:pic>
        <p:nvPicPr>
          <p:cNvPr id="4" name="Picture 4" descr="Text, letter&#10;&#10;Description automatically generated">
            <a:extLst>
              <a:ext uri="{FF2B5EF4-FFF2-40B4-BE49-F238E27FC236}">
                <a16:creationId xmlns:a16="http://schemas.microsoft.com/office/drawing/2014/main" id="{4B0E1878-B00F-AA56-6A71-F4A8290429BE}"/>
              </a:ext>
            </a:extLst>
          </p:cNvPr>
          <p:cNvPicPr>
            <a:picLocks noChangeAspect="1"/>
          </p:cNvPicPr>
          <p:nvPr/>
        </p:nvPicPr>
        <p:blipFill>
          <a:blip r:embed="rId2"/>
          <a:stretch>
            <a:fillRect/>
          </a:stretch>
        </p:blipFill>
        <p:spPr>
          <a:xfrm>
            <a:off x="3315419" y="2360083"/>
            <a:ext cx="4813538" cy="2856705"/>
          </a:xfrm>
          <a:prstGeom prst="rect">
            <a:avLst/>
          </a:prstGeom>
        </p:spPr>
      </p:pic>
    </p:spTree>
    <p:extLst>
      <p:ext uri="{BB962C8B-B14F-4D97-AF65-F5344CB8AC3E}">
        <p14:creationId xmlns:p14="http://schemas.microsoft.com/office/powerpoint/2010/main" val="1753453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A99DA-1D9E-F58C-277B-2326C8EF8191}"/>
              </a:ext>
            </a:extLst>
          </p:cNvPr>
          <p:cNvSpPr>
            <a:spLocks noGrp="1"/>
          </p:cNvSpPr>
          <p:nvPr>
            <p:ph type="title"/>
          </p:nvPr>
        </p:nvSpPr>
        <p:spPr/>
        <p:txBody>
          <a:bodyPr>
            <a:normAutofit fontScale="90000"/>
          </a:bodyPr>
          <a:lstStyle/>
          <a:p>
            <a:r>
              <a:rPr lang="en-US" dirty="0"/>
              <a:t>Final form of the formula</a:t>
            </a:r>
          </a:p>
        </p:txBody>
      </p:sp>
      <p:sp>
        <p:nvSpPr>
          <p:cNvPr id="3" name="Text Placeholder 2">
            <a:extLst>
              <a:ext uri="{FF2B5EF4-FFF2-40B4-BE49-F238E27FC236}">
                <a16:creationId xmlns:a16="http://schemas.microsoft.com/office/drawing/2014/main" id="{E55F3657-99FA-F2E5-DC38-ACA37848D29A}"/>
              </a:ext>
            </a:extLst>
          </p:cNvPr>
          <p:cNvSpPr>
            <a:spLocks noGrp="1"/>
          </p:cNvSpPr>
          <p:nvPr>
            <p:ph type="body" idx="1"/>
          </p:nvPr>
        </p:nvSpPr>
        <p:spPr/>
        <p:txBody>
          <a:bodyPr>
            <a:normAutofit/>
          </a:bodyPr>
          <a:lstStyle/>
          <a:p>
            <a:r>
              <a:rPr lang="en-US" dirty="0"/>
              <a:t>Now going back to our original equation for perplexity, we can see that we can interpret it as the inverse probability of the test set, normalized by the number of words in the test set:</a:t>
            </a:r>
          </a:p>
          <a:p>
            <a:endParaRPr lang="en-US" dirty="0"/>
          </a:p>
          <a:p>
            <a:endParaRPr lang="en-US" dirty="0"/>
          </a:p>
          <a:p>
            <a:endParaRPr lang="en-US" dirty="0"/>
          </a:p>
          <a:p>
            <a:endParaRPr lang="en-US" dirty="0"/>
          </a:p>
          <a:p>
            <a:endParaRPr lang="en-US" dirty="0"/>
          </a:p>
          <a:p>
            <a:r>
              <a:rPr lang="en-US" dirty="0">
                <a:latin typeface="Arial"/>
                <a:cs typeface="Arial"/>
              </a:rPr>
              <a:t>Since we’re taking the inverse probability, a lower  perplexity indicates a better model</a:t>
            </a:r>
            <a:br>
              <a:rPr lang="en-US" dirty="0"/>
            </a:br>
            <a:endParaRPr lang="en-US"/>
          </a:p>
          <a:p>
            <a:endParaRPr lang="en-US" dirty="0"/>
          </a:p>
        </p:txBody>
      </p:sp>
      <p:pic>
        <p:nvPicPr>
          <p:cNvPr id="4" name="Picture 4" descr="Diagram&#10;&#10;Description automatically generated">
            <a:extLst>
              <a:ext uri="{FF2B5EF4-FFF2-40B4-BE49-F238E27FC236}">
                <a16:creationId xmlns:a16="http://schemas.microsoft.com/office/drawing/2014/main" id="{018212D9-16AA-F0CD-F3FD-5505B842E7AD}"/>
              </a:ext>
            </a:extLst>
          </p:cNvPr>
          <p:cNvPicPr>
            <a:picLocks noChangeAspect="1"/>
          </p:cNvPicPr>
          <p:nvPr/>
        </p:nvPicPr>
        <p:blipFill>
          <a:blip r:embed="rId2"/>
          <a:stretch>
            <a:fillRect/>
          </a:stretch>
        </p:blipFill>
        <p:spPr>
          <a:xfrm>
            <a:off x="3611121" y="2509156"/>
            <a:ext cx="3876866" cy="2028952"/>
          </a:xfrm>
          <a:prstGeom prst="rect">
            <a:avLst/>
          </a:prstGeom>
        </p:spPr>
      </p:pic>
    </p:spTree>
    <p:extLst>
      <p:ext uri="{BB962C8B-B14F-4D97-AF65-F5344CB8AC3E}">
        <p14:creationId xmlns:p14="http://schemas.microsoft.com/office/powerpoint/2010/main" val="202703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4BEB7-3689-9B1B-24E9-B4578CBE46B2}"/>
              </a:ext>
            </a:extLst>
          </p:cNvPr>
          <p:cNvSpPr>
            <a:spLocks noGrp="1"/>
          </p:cNvSpPr>
          <p:nvPr>
            <p:ph type="title"/>
          </p:nvPr>
        </p:nvSpPr>
        <p:spPr/>
        <p:txBody>
          <a:bodyPr>
            <a:normAutofit fontScale="90000"/>
          </a:bodyPr>
          <a:lstStyle/>
          <a:p>
            <a:r>
              <a:rPr lang="en-US"/>
              <a:t>Perplexity Conclusion</a:t>
            </a:r>
          </a:p>
        </p:txBody>
      </p:sp>
      <p:sp>
        <p:nvSpPr>
          <p:cNvPr id="3" name="Text Placeholder 2">
            <a:extLst>
              <a:ext uri="{FF2B5EF4-FFF2-40B4-BE49-F238E27FC236}">
                <a16:creationId xmlns:a16="http://schemas.microsoft.com/office/drawing/2014/main" id="{370A43F5-1E11-EC8B-6B67-095E1EC4FECD}"/>
              </a:ext>
            </a:extLst>
          </p:cNvPr>
          <p:cNvSpPr>
            <a:spLocks noGrp="1"/>
          </p:cNvSpPr>
          <p:nvPr>
            <p:ph type="body" idx="1"/>
          </p:nvPr>
        </p:nvSpPr>
        <p:spPr/>
        <p:txBody>
          <a:bodyPr/>
          <a:lstStyle/>
          <a:p>
            <a:r>
              <a:rPr lang="en-US" dirty="0"/>
              <a:t>Perplexity is a metric used to judge how good a language model is</a:t>
            </a:r>
          </a:p>
          <a:p>
            <a:r>
              <a:rPr lang="en-US" dirty="0"/>
              <a:t>We can define perplexity as the inverse probability of the test set, normalized by the number of words:</a:t>
            </a:r>
          </a:p>
          <a:p>
            <a:r>
              <a:rPr lang="en-US" dirty="0"/>
              <a:t>The main disadvantage of perplexity is, it can be hard to make comparisons across datasets </a:t>
            </a:r>
          </a:p>
          <a:p>
            <a:pPr lvl="1"/>
            <a:r>
              <a:rPr lang="en-US" dirty="0"/>
              <a:t>Each dataset has its own distribution of words, and each model has its own parameters</a:t>
            </a:r>
          </a:p>
          <a:p>
            <a:r>
              <a:rPr lang="en-US" dirty="0"/>
              <a:t>This makes it difficult to compare the performances of models trained on different datasets directly</a:t>
            </a:r>
          </a:p>
        </p:txBody>
      </p:sp>
    </p:spTree>
    <p:extLst>
      <p:ext uri="{BB962C8B-B14F-4D97-AF65-F5344CB8AC3E}">
        <p14:creationId xmlns:p14="http://schemas.microsoft.com/office/powerpoint/2010/main" val="242142532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8F25371BF2364E9237A48B420CBFE6" ma:contentTypeVersion="10" ma:contentTypeDescription="Create a new document." ma:contentTypeScope="" ma:versionID="11f3563726280dad668e084657328117">
  <xsd:schema xmlns:xsd="http://www.w3.org/2001/XMLSchema" xmlns:xs="http://www.w3.org/2001/XMLSchema" xmlns:p="http://schemas.microsoft.com/office/2006/metadata/properties" xmlns:ns3="acd04cee-d56a-427f-9d20-a2ddbaad1b8a" targetNamespace="http://schemas.microsoft.com/office/2006/metadata/properties" ma:root="true" ma:fieldsID="b1849ebb73de6034d7fc53653df836e2" ns3:_="">
    <xsd:import namespace="acd04cee-d56a-427f-9d20-a2ddbaad1b8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d04cee-d56a-427f-9d20-a2ddbaad1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cd04cee-d56a-427f-9d20-a2ddbaad1b8a" xsi:nil="true"/>
  </documentManagement>
</p:properties>
</file>

<file path=customXml/itemProps1.xml><?xml version="1.0" encoding="utf-8"?>
<ds:datastoreItem xmlns:ds="http://schemas.openxmlformats.org/officeDocument/2006/customXml" ds:itemID="{7F22C9CE-6D0B-425C-A056-D3BC2AE68201}">
  <ds:schemaRefs>
    <ds:schemaRef ds:uri="acd04cee-d56a-427f-9d20-a2ddbaad1b8a"/>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CA9026-8EEB-4409-9E71-8222341684FF}">
  <ds:schemaRefs>
    <ds:schemaRef ds:uri="http://schemas.microsoft.com/sharepoint/v3/contenttype/forms"/>
  </ds:schemaRefs>
</ds:datastoreItem>
</file>

<file path=customXml/itemProps3.xml><?xml version="1.0" encoding="utf-8"?>
<ds:datastoreItem xmlns:ds="http://schemas.openxmlformats.org/officeDocument/2006/customXml" ds:itemID="{1F1BCE9E-A416-43AA-8B5C-F580FC88AB31}">
  <ds:schemaRefs>
    <ds:schemaRef ds:uri="http://schemas.microsoft.com/office/2006/documentManagement/types"/>
    <ds:schemaRef ds:uri="http://purl.org/dc/elements/1.1/"/>
    <ds:schemaRef ds:uri="http://schemas.openxmlformats.org/package/2006/metadata/core-properties"/>
    <ds:schemaRef ds:uri="http://www.w3.org/XML/1998/namespace"/>
    <ds:schemaRef ds:uri="http://schemas.microsoft.com/office/infopath/2007/PartnerControls"/>
    <ds:schemaRef ds:uri="http://purl.org/dc/terms/"/>
    <ds:schemaRef ds:uri="http://schemas.microsoft.com/office/2006/metadata/properties"/>
    <ds:schemaRef ds:uri="acd04cee-d56a-427f-9d20-a2ddbaad1b8a"/>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498</TotalTime>
  <Words>2737</Words>
  <Application>Microsoft Office PowerPoint</Application>
  <PresentationFormat>Widescreen</PresentationFormat>
  <Paragraphs>248</Paragraphs>
  <Slides>39</Slides>
  <Notes>9</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CSE 495 (Natural Language Processing) Lecture 11</vt:lpstr>
      <vt:lpstr>Why Study NLP Evaluation Metrics</vt:lpstr>
      <vt:lpstr>Evaluation Metrics to Use</vt:lpstr>
      <vt:lpstr>Categories of Evaluation</vt:lpstr>
      <vt:lpstr>Conventional Metrics</vt:lpstr>
      <vt:lpstr>Conventional Metrics</vt:lpstr>
      <vt:lpstr>BLEU – Metric for MT</vt:lpstr>
      <vt:lpstr>What is BLEU? A Big Picture </vt:lpstr>
      <vt:lpstr>N-gram Precision: an Example</vt:lpstr>
      <vt:lpstr>N-gram Precision</vt:lpstr>
      <vt:lpstr>BLEU – Example : Unigram Precision</vt:lpstr>
      <vt:lpstr>Example : Unigram Precision (cont.)</vt:lpstr>
      <vt:lpstr>Issue of N-gram Precision</vt:lpstr>
      <vt:lpstr>Modified N-gram Precision : Procedure</vt:lpstr>
      <vt:lpstr>How does a modified precision score help?</vt:lpstr>
      <vt:lpstr>BLEU Score Formula</vt:lpstr>
      <vt:lpstr>Size of the translations</vt:lpstr>
      <vt:lpstr>BLUE Interpretation</vt:lpstr>
      <vt:lpstr>BLEU Properties</vt:lpstr>
      <vt:lpstr>ROGUE</vt:lpstr>
      <vt:lpstr>ROUGE-N</vt:lpstr>
      <vt:lpstr>ROUGE-L</vt:lpstr>
      <vt:lpstr>ROUGE Demo</vt:lpstr>
      <vt:lpstr>ROUGE Demo</vt:lpstr>
      <vt:lpstr>PowerPoint Presentation</vt:lpstr>
      <vt:lpstr>ROUGE Demo</vt:lpstr>
      <vt:lpstr>ROUGE Demo</vt:lpstr>
      <vt:lpstr>ROUGE Demo</vt:lpstr>
      <vt:lpstr>ROUGE-S</vt:lpstr>
      <vt:lpstr>ROUGE Drawbacks</vt:lpstr>
      <vt:lpstr>BLEU vs ROUGE</vt:lpstr>
      <vt:lpstr>Perplexity</vt:lpstr>
      <vt:lpstr>Perplexity</vt:lpstr>
      <vt:lpstr>Perplexity example</vt:lpstr>
      <vt:lpstr>Normalization of the Score</vt:lpstr>
      <vt:lpstr>Normalization</vt:lpstr>
      <vt:lpstr>Formula manipulation of normalization</vt:lpstr>
      <vt:lpstr>Final form of the formula</vt:lpstr>
      <vt:lpstr>Perplexity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 Lecture 2</dc:title>
  <dc:creator>Mohammad Khan</dc:creator>
  <cp:lastModifiedBy>Mohammad Khan</cp:lastModifiedBy>
  <cp:revision>65</cp:revision>
  <dcterms:created xsi:type="dcterms:W3CDTF">2018-11-03T12:07:21Z</dcterms:created>
  <dcterms:modified xsi:type="dcterms:W3CDTF">2025-12-09T18:59:34Z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0x010100688F25371BF2364E9237A48B420CBFE6</vt:lpwstr>
  </property>
</Properties>
</file>