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4"/>
  </p:sldMasterIdLst>
  <p:notesMasterIdLst>
    <p:notesMasterId r:id="rId41"/>
  </p:notesMasterIdLst>
  <p:sldIdLst>
    <p:sldId id="256" r:id="rId5"/>
    <p:sldId id="640" r:id="rId6"/>
    <p:sldId id="652" r:id="rId7"/>
    <p:sldId id="653" r:id="rId8"/>
    <p:sldId id="654" r:id="rId9"/>
    <p:sldId id="642" r:id="rId10"/>
    <p:sldId id="657" r:id="rId11"/>
    <p:sldId id="312" r:id="rId12"/>
    <p:sldId id="660" r:id="rId13"/>
    <p:sldId id="661" r:id="rId14"/>
    <p:sldId id="662" r:id="rId15"/>
    <p:sldId id="677" r:id="rId16"/>
    <p:sldId id="675" r:id="rId17"/>
    <p:sldId id="676" r:id="rId18"/>
    <p:sldId id="678" r:id="rId19"/>
    <p:sldId id="679" r:id="rId20"/>
    <p:sldId id="664" r:id="rId21"/>
    <p:sldId id="683" r:id="rId22"/>
    <p:sldId id="672" r:id="rId23"/>
    <p:sldId id="673" r:id="rId24"/>
    <p:sldId id="674" r:id="rId25"/>
    <p:sldId id="684" r:id="rId26"/>
    <p:sldId id="685" r:id="rId27"/>
    <p:sldId id="669" r:id="rId28"/>
    <p:sldId id="686" r:id="rId29"/>
    <p:sldId id="665" r:id="rId30"/>
    <p:sldId id="687" r:id="rId31"/>
    <p:sldId id="688" r:id="rId32"/>
    <p:sldId id="682" r:id="rId33"/>
    <p:sldId id="330" r:id="rId34"/>
    <p:sldId id="334" r:id="rId35"/>
    <p:sldId id="343" r:id="rId36"/>
    <p:sldId id="336" r:id="rId37"/>
    <p:sldId id="337" r:id="rId38"/>
    <p:sldId id="338" r:id="rId39"/>
    <p:sldId id="339" r:id="rId4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3" roundtripDataSignature="AMtx7miLAPrl4d+V1IstkCCj/PL+6qtYP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1C75BF-4A64-8C62-539A-B2E190B5E14B}" v="21" dt="2025-12-14T18:44:40.355"/>
    <p1510:client id="{306AA2DA-E7FB-FF3F-6E89-FD8A4C541425}" v="7" dt="2025-12-15T08:38:30.356"/>
    <p1510:client id="{9BD18741-C960-78A2-3154-F9DF2447F928}" v="1" dt="2025-12-14T19:04:27.290"/>
    <p1510:client id="{A2C85D22-DBF5-8B07-AA73-6E7C4F3D2DFB}" v="26" dt="2025-12-14T18:41:59.721"/>
    <p1510:client id="{F10486DE-022C-BD3C-7C9C-54972154EAF9}" v="26" dt="2025-12-15T07:32:48.352"/>
  </p1510:revLst>
</p1510:revInfo>
</file>

<file path=ppt/tableStyles.xml><?xml version="1.0" encoding="utf-8"?>
<a:tblStyleLst xmlns:a="http://schemas.openxmlformats.org/drawingml/2006/main" def="{E1EA1CD8-9A49-4420-9597-29AC4BAAC592}">
  <a:tblStyle styleId="{E1EA1CD8-9A49-4420-9597-29AC4BAAC592}"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63" Type="http://customschemas.google.com/relationships/presentationmetadata" Target="metadata"/><Relationship Id="rId68"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66"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65"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64" Type="http://schemas.openxmlformats.org/officeDocument/2006/relationships/presProps" Target="presProps.xml"/><Relationship Id="rId69"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67"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ad Khan" userId="S::mohammad.khan02@northsouth.edu::66e9fb8e-4ed6-4e1e-bddc-ac99ec076f45" providerId="AD" clId="Web-{306AA2DA-E7FB-FF3F-6E89-FD8A4C541425}"/>
    <pc:docChg chg="delSld modSld">
      <pc:chgData name="Mohammad Khan" userId="S::mohammad.khan02@northsouth.edu::66e9fb8e-4ed6-4e1e-bddc-ac99ec076f45" providerId="AD" clId="Web-{306AA2DA-E7FB-FF3F-6E89-FD8A4C541425}" dt="2025-12-15T08:38:30.356" v="6" actId="20577"/>
      <pc:docMkLst>
        <pc:docMk/>
      </pc:docMkLst>
      <pc:sldChg chg="del">
        <pc:chgData name="Mohammad Khan" userId="S::mohammad.khan02@northsouth.edu::66e9fb8e-4ed6-4e1e-bddc-ac99ec076f45" providerId="AD" clId="Web-{306AA2DA-E7FB-FF3F-6E89-FD8A4C541425}" dt="2025-12-15T08:36:40.181" v="1"/>
        <pc:sldMkLst>
          <pc:docMk/>
          <pc:sldMk cId="1356926433" sldId="668"/>
        </pc:sldMkLst>
      </pc:sldChg>
      <pc:sldChg chg="modSp">
        <pc:chgData name="Mohammad Khan" userId="S::mohammad.khan02@northsouth.edu::66e9fb8e-4ed6-4e1e-bddc-ac99ec076f45" providerId="AD" clId="Web-{306AA2DA-E7FB-FF3F-6E89-FD8A4C541425}" dt="2025-12-15T08:34:06.036" v="0" actId="20577"/>
        <pc:sldMkLst>
          <pc:docMk/>
          <pc:sldMk cId="1018451653" sldId="684"/>
        </pc:sldMkLst>
        <pc:spChg chg="mod">
          <ac:chgData name="Mohammad Khan" userId="S::mohammad.khan02@northsouth.edu::66e9fb8e-4ed6-4e1e-bddc-ac99ec076f45" providerId="AD" clId="Web-{306AA2DA-E7FB-FF3F-6E89-FD8A4C541425}" dt="2025-12-15T08:34:06.036" v="0" actId="20577"/>
          <ac:spMkLst>
            <pc:docMk/>
            <pc:sldMk cId="1018451653" sldId="684"/>
            <ac:spMk id="3" creationId="{B95270FB-F046-6C5A-ABD2-B294D04C2A97}"/>
          </ac:spMkLst>
        </pc:spChg>
      </pc:sldChg>
      <pc:sldChg chg="modSp">
        <pc:chgData name="Mohammad Khan" userId="S::mohammad.khan02@northsouth.edu::66e9fb8e-4ed6-4e1e-bddc-ac99ec076f45" providerId="AD" clId="Web-{306AA2DA-E7FB-FF3F-6E89-FD8A4C541425}" dt="2025-12-15T08:38:30.356" v="6" actId="20577"/>
        <pc:sldMkLst>
          <pc:docMk/>
          <pc:sldMk cId="2134868030" sldId="686"/>
        </pc:sldMkLst>
        <pc:spChg chg="mod">
          <ac:chgData name="Mohammad Khan" userId="S::mohammad.khan02@northsouth.edu::66e9fb8e-4ed6-4e1e-bddc-ac99ec076f45" providerId="AD" clId="Web-{306AA2DA-E7FB-FF3F-6E89-FD8A4C541425}" dt="2025-12-15T08:38:30.356" v="6" actId="20577"/>
          <ac:spMkLst>
            <pc:docMk/>
            <pc:sldMk cId="2134868030" sldId="686"/>
            <ac:spMk id="3" creationId="{17840281-C986-BDD4-D165-18445904CA77}"/>
          </ac:spMkLst>
        </pc:spChg>
      </pc:sldChg>
    </pc:docChg>
  </pc:docChgLst>
  <pc:docChgLst>
    <pc:chgData name="Mohammad Khan" userId="S::mohammad.khan02@northsouth.edu::66e9fb8e-4ed6-4e1e-bddc-ac99ec076f45" providerId="AD" clId="Web-{9BD18741-C960-78A2-3154-F9DF2447F928}"/>
    <pc:docChg chg="delSld">
      <pc:chgData name="Mohammad Khan" userId="S::mohammad.khan02@northsouth.edu::66e9fb8e-4ed6-4e1e-bddc-ac99ec076f45" providerId="AD" clId="Web-{9BD18741-C960-78A2-3154-F9DF2447F928}" dt="2025-12-14T19:04:27.290" v="0"/>
      <pc:docMkLst>
        <pc:docMk/>
      </pc:docMkLst>
      <pc:sldChg chg="del">
        <pc:chgData name="Mohammad Khan" userId="S::mohammad.khan02@northsouth.edu::66e9fb8e-4ed6-4e1e-bddc-ac99ec076f45" providerId="AD" clId="Web-{9BD18741-C960-78A2-3154-F9DF2447F928}" dt="2025-12-14T19:04:27.290" v="0"/>
        <pc:sldMkLst>
          <pc:docMk/>
          <pc:sldMk cId="1339797455" sldId="656"/>
        </pc:sldMkLst>
      </pc:sldChg>
    </pc:docChg>
  </pc:docChgLst>
  <pc:docChgLst>
    <pc:chgData name="Mohammad Khan" userId="S::mohammad.khan02@northsouth.edu::66e9fb8e-4ed6-4e1e-bddc-ac99ec076f45" providerId="AD" clId="Web-{F10486DE-022C-BD3C-7C9C-54972154EAF9}"/>
    <pc:docChg chg="modSld">
      <pc:chgData name="Mohammad Khan" userId="S::mohammad.khan02@northsouth.edu::66e9fb8e-4ed6-4e1e-bddc-ac99ec076f45" providerId="AD" clId="Web-{F10486DE-022C-BD3C-7C9C-54972154EAF9}" dt="2025-12-15T07:32:48.368" v="28" actId="20577"/>
      <pc:docMkLst>
        <pc:docMk/>
      </pc:docMkLst>
      <pc:sldChg chg="modSp">
        <pc:chgData name="Mohammad Khan" userId="S::mohammad.khan02@northsouth.edu::66e9fb8e-4ed6-4e1e-bddc-ac99ec076f45" providerId="AD" clId="Web-{F10486DE-022C-BD3C-7C9C-54972154EAF9}" dt="2025-12-15T05:06:11.164" v="10" actId="20577"/>
        <pc:sldMkLst>
          <pc:docMk/>
          <pc:sldMk cId="0" sldId="256"/>
        </pc:sldMkLst>
        <pc:spChg chg="mod">
          <ac:chgData name="Mohammad Khan" userId="S::mohammad.khan02@northsouth.edu::66e9fb8e-4ed6-4e1e-bddc-ac99ec076f45" providerId="AD" clId="Web-{F10486DE-022C-BD3C-7C9C-54972154EAF9}" dt="2025-12-15T05:05:55.726" v="1" actId="20577"/>
          <ac:spMkLst>
            <pc:docMk/>
            <pc:sldMk cId="0" sldId="256"/>
            <ac:spMk id="90" creationId="{00000000-0000-0000-0000-000000000000}"/>
          </ac:spMkLst>
        </pc:spChg>
        <pc:spChg chg="mod">
          <ac:chgData name="Mohammad Khan" userId="S::mohammad.khan02@northsouth.edu::66e9fb8e-4ed6-4e1e-bddc-ac99ec076f45" providerId="AD" clId="Web-{F10486DE-022C-BD3C-7C9C-54972154EAF9}" dt="2025-12-15T05:06:11.164" v="10" actId="20577"/>
          <ac:spMkLst>
            <pc:docMk/>
            <pc:sldMk cId="0" sldId="256"/>
            <ac:spMk id="91" creationId="{00000000-0000-0000-0000-000000000000}"/>
          </ac:spMkLst>
        </pc:spChg>
      </pc:sldChg>
      <pc:sldChg chg="modSp">
        <pc:chgData name="Mohammad Khan" userId="S::mohammad.khan02@northsouth.edu::66e9fb8e-4ed6-4e1e-bddc-ac99ec076f45" providerId="AD" clId="Web-{F10486DE-022C-BD3C-7C9C-54972154EAF9}" dt="2025-12-15T05:47:24.280" v="18" actId="20577"/>
        <pc:sldMkLst>
          <pc:docMk/>
          <pc:sldMk cId="569722597" sldId="652"/>
        </pc:sldMkLst>
        <pc:spChg chg="mod">
          <ac:chgData name="Mohammad Khan" userId="S::mohammad.khan02@northsouth.edu::66e9fb8e-4ed6-4e1e-bddc-ac99ec076f45" providerId="AD" clId="Web-{F10486DE-022C-BD3C-7C9C-54972154EAF9}" dt="2025-12-15T05:47:24.280" v="18" actId="20577"/>
          <ac:spMkLst>
            <pc:docMk/>
            <pc:sldMk cId="569722597" sldId="652"/>
            <ac:spMk id="3" creationId="{00000000-0000-0000-0000-000000000000}"/>
          </ac:spMkLst>
        </pc:spChg>
      </pc:sldChg>
      <pc:sldChg chg="modSp">
        <pc:chgData name="Mohammad Khan" userId="S::mohammad.khan02@northsouth.edu::66e9fb8e-4ed6-4e1e-bddc-ac99ec076f45" providerId="AD" clId="Web-{F10486DE-022C-BD3C-7C9C-54972154EAF9}" dt="2025-12-15T07:32:48.368" v="28" actId="20577"/>
        <pc:sldMkLst>
          <pc:docMk/>
          <pc:sldMk cId="796625403" sldId="660"/>
        </pc:sldMkLst>
        <pc:spChg chg="mod">
          <ac:chgData name="Mohammad Khan" userId="S::mohammad.khan02@northsouth.edu::66e9fb8e-4ed6-4e1e-bddc-ac99ec076f45" providerId="AD" clId="Web-{F10486DE-022C-BD3C-7C9C-54972154EAF9}" dt="2025-12-15T07:32:48.368" v="28" actId="20577"/>
          <ac:spMkLst>
            <pc:docMk/>
            <pc:sldMk cId="796625403" sldId="660"/>
            <ac:spMk id="3" creationId="{4413BE0A-C241-E85C-499C-F34A72F0C23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 name="Google Shape;8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AutoNum type="arabicPeriod"/>
            </a:pPr>
            <a:r>
              <a:rPr lang="en-US"/>
              <a:t>https://arxiv.org/pdf/2302.13971.pdf</a:t>
            </a:r>
          </a:p>
          <a:p>
            <a:pPr>
              <a:buAutoNum type="arabicPeriod"/>
            </a:pPr>
            <a:r>
              <a:rPr lang="en-US"/>
              <a:t>https://arxiv.org/abs/2001.08361</a:t>
            </a:r>
          </a:p>
          <a:p>
            <a:pPr>
              <a:buAutoNum type="arabicPeriod"/>
            </a:pPr>
            <a:endParaRPr lang="en-US"/>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5</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3856705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59"/>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002060"/>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5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rgbClr val="0070C0"/>
              </a:buClr>
              <a:buSzPts val="2400"/>
              <a:buNone/>
              <a:defRPr sz="2400"/>
            </a:lvl1pPr>
            <a:lvl2pPr lvl="1" algn="ctr">
              <a:lnSpc>
                <a:spcPct val="90000"/>
              </a:lnSpc>
              <a:spcBef>
                <a:spcPts val="500"/>
              </a:spcBef>
              <a:spcAft>
                <a:spcPts val="0"/>
              </a:spcAft>
              <a:buClr>
                <a:srgbClr val="548135"/>
              </a:buClr>
              <a:buSzPts val="2000"/>
              <a:buNone/>
              <a:defRPr sz="2000"/>
            </a:lvl2pPr>
            <a:lvl3pPr lvl="2" algn="ctr">
              <a:lnSpc>
                <a:spcPct val="90000"/>
              </a:lnSpc>
              <a:spcBef>
                <a:spcPts val="500"/>
              </a:spcBef>
              <a:spcAft>
                <a:spcPts val="0"/>
              </a:spcAft>
              <a:buClr>
                <a:srgbClr val="FFC000"/>
              </a:buClr>
              <a:buSzPts val="1800"/>
              <a:buNone/>
              <a:defRPr sz="1800"/>
            </a:lvl3pPr>
            <a:lvl4pPr lvl="3" algn="ctr">
              <a:lnSpc>
                <a:spcPct val="90000"/>
              </a:lnSpc>
              <a:spcBef>
                <a:spcPts val="500"/>
              </a:spcBef>
              <a:spcAft>
                <a:spcPts val="0"/>
              </a:spcAft>
              <a:buClr>
                <a:srgbClr val="C00000"/>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0" name="Google Shape;20;p5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5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5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60"/>
          <p:cNvSpPr txBox="1">
            <a:spLocks noGrp="1"/>
          </p:cNvSpPr>
          <p:nvPr>
            <p:ph type="title"/>
          </p:nvPr>
        </p:nvSpPr>
        <p:spPr>
          <a:xfrm>
            <a:off x="1278733" y="155574"/>
            <a:ext cx="10515600" cy="52546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002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60"/>
          <p:cNvSpPr txBox="1">
            <a:spLocks noGrp="1"/>
          </p:cNvSpPr>
          <p:nvPr>
            <p:ph type="body" idx="1"/>
          </p:nvPr>
        </p:nvSpPr>
        <p:spPr>
          <a:xfrm>
            <a:off x="685800" y="1119188"/>
            <a:ext cx="11320465" cy="523716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0070C0"/>
              </a:buClr>
              <a:buSzPts val="1800"/>
              <a:buChar char="•"/>
              <a:defRPr/>
            </a:lvl1pPr>
            <a:lvl2pPr marL="914400" lvl="1" indent="-342900" algn="l">
              <a:lnSpc>
                <a:spcPct val="90000"/>
              </a:lnSpc>
              <a:spcBef>
                <a:spcPts val="500"/>
              </a:spcBef>
              <a:spcAft>
                <a:spcPts val="0"/>
              </a:spcAft>
              <a:buClr>
                <a:srgbClr val="548135"/>
              </a:buClr>
              <a:buSzPts val="1800"/>
              <a:buChar char="•"/>
              <a:defRPr/>
            </a:lvl2pPr>
            <a:lvl3pPr marL="1371600" lvl="2" indent="-342900" algn="l">
              <a:lnSpc>
                <a:spcPct val="90000"/>
              </a:lnSpc>
              <a:spcBef>
                <a:spcPts val="500"/>
              </a:spcBef>
              <a:spcAft>
                <a:spcPts val="0"/>
              </a:spcAft>
              <a:buClr>
                <a:srgbClr val="FFC000"/>
              </a:buClr>
              <a:buSzPts val="1800"/>
              <a:buChar char="•"/>
              <a:defRPr/>
            </a:lvl3pPr>
            <a:lvl4pPr marL="1828800" lvl="3" indent="-342900" algn="l">
              <a:lnSpc>
                <a:spcPct val="90000"/>
              </a:lnSpc>
              <a:spcBef>
                <a:spcPts val="500"/>
              </a:spcBef>
              <a:spcAft>
                <a:spcPts val="0"/>
              </a:spcAft>
              <a:buClr>
                <a:srgbClr val="C00000"/>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6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6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6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6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002060"/>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6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2" name="Google Shape;32;p6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6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6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62"/>
          <p:cNvSpPr txBox="1">
            <a:spLocks noGrp="1"/>
          </p:cNvSpPr>
          <p:nvPr>
            <p:ph type="title"/>
          </p:nvPr>
        </p:nvSpPr>
        <p:spPr>
          <a:xfrm>
            <a:off x="1278733" y="155574"/>
            <a:ext cx="10515600" cy="52546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002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6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0070C0"/>
              </a:buClr>
              <a:buSzPts val="1800"/>
              <a:buChar char="•"/>
              <a:defRPr/>
            </a:lvl1pPr>
            <a:lvl2pPr marL="914400" lvl="1" indent="-342900" algn="l">
              <a:lnSpc>
                <a:spcPct val="90000"/>
              </a:lnSpc>
              <a:spcBef>
                <a:spcPts val="500"/>
              </a:spcBef>
              <a:spcAft>
                <a:spcPts val="0"/>
              </a:spcAft>
              <a:buClr>
                <a:srgbClr val="548135"/>
              </a:buClr>
              <a:buSzPts val="1800"/>
              <a:buChar char="•"/>
              <a:defRPr/>
            </a:lvl2pPr>
            <a:lvl3pPr marL="1371600" lvl="2" indent="-342900" algn="l">
              <a:lnSpc>
                <a:spcPct val="90000"/>
              </a:lnSpc>
              <a:spcBef>
                <a:spcPts val="500"/>
              </a:spcBef>
              <a:spcAft>
                <a:spcPts val="0"/>
              </a:spcAft>
              <a:buClr>
                <a:srgbClr val="FFC000"/>
              </a:buClr>
              <a:buSzPts val="1800"/>
              <a:buChar char="•"/>
              <a:defRPr/>
            </a:lvl3pPr>
            <a:lvl4pPr marL="1828800" lvl="3" indent="-342900" algn="l">
              <a:lnSpc>
                <a:spcPct val="90000"/>
              </a:lnSpc>
              <a:spcBef>
                <a:spcPts val="500"/>
              </a:spcBef>
              <a:spcAft>
                <a:spcPts val="0"/>
              </a:spcAft>
              <a:buClr>
                <a:srgbClr val="C00000"/>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6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0070C0"/>
              </a:buClr>
              <a:buSzPts val="1800"/>
              <a:buChar char="•"/>
              <a:defRPr/>
            </a:lvl1pPr>
            <a:lvl2pPr marL="914400" lvl="1" indent="-342900" algn="l">
              <a:lnSpc>
                <a:spcPct val="90000"/>
              </a:lnSpc>
              <a:spcBef>
                <a:spcPts val="500"/>
              </a:spcBef>
              <a:spcAft>
                <a:spcPts val="0"/>
              </a:spcAft>
              <a:buClr>
                <a:srgbClr val="548135"/>
              </a:buClr>
              <a:buSzPts val="1800"/>
              <a:buChar char="•"/>
              <a:defRPr/>
            </a:lvl2pPr>
            <a:lvl3pPr marL="1371600" lvl="2" indent="-342900" algn="l">
              <a:lnSpc>
                <a:spcPct val="90000"/>
              </a:lnSpc>
              <a:spcBef>
                <a:spcPts val="500"/>
              </a:spcBef>
              <a:spcAft>
                <a:spcPts val="0"/>
              </a:spcAft>
              <a:buClr>
                <a:srgbClr val="FFC000"/>
              </a:buClr>
              <a:buSzPts val="1800"/>
              <a:buChar char="•"/>
              <a:defRPr/>
            </a:lvl3pPr>
            <a:lvl4pPr marL="1828800" lvl="3" indent="-342900" algn="l">
              <a:lnSpc>
                <a:spcPct val="90000"/>
              </a:lnSpc>
              <a:spcBef>
                <a:spcPts val="500"/>
              </a:spcBef>
              <a:spcAft>
                <a:spcPts val="0"/>
              </a:spcAft>
              <a:buClr>
                <a:srgbClr val="C00000"/>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6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6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6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6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002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6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rgbClr val="0070C0"/>
              </a:buClr>
              <a:buSzPts val="2400"/>
              <a:buNone/>
              <a:defRPr sz="2400" b="1"/>
            </a:lvl1pPr>
            <a:lvl2pPr marL="914400" lvl="1" indent="-228600" algn="l">
              <a:lnSpc>
                <a:spcPct val="90000"/>
              </a:lnSpc>
              <a:spcBef>
                <a:spcPts val="500"/>
              </a:spcBef>
              <a:spcAft>
                <a:spcPts val="0"/>
              </a:spcAft>
              <a:buClr>
                <a:srgbClr val="548135"/>
              </a:buClr>
              <a:buSzPts val="2000"/>
              <a:buNone/>
              <a:defRPr sz="2000" b="1"/>
            </a:lvl2pPr>
            <a:lvl3pPr marL="1371600" lvl="2" indent="-228600" algn="l">
              <a:lnSpc>
                <a:spcPct val="90000"/>
              </a:lnSpc>
              <a:spcBef>
                <a:spcPts val="500"/>
              </a:spcBef>
              <a:spcAft>
                <a:spcPts val="0"/>
              </a:spcAft>
              <a:buClr>
                <a:srgbClr val="FFC000"/>
              </a:buClr>
              <a:buSzPts val="1800"/>
              <a:buNone/>
              <a:defRPr sz="1800" b="1"/>
            </a:lvl3pPr>
            <a:lvl4pPr marL="1828800" lvl="3" indent="-228600" algn="l">
              <a:lnSpc>
                <a:spcPct val="90000"/>
              </a:lnSpc>
              <a:spcBef>
                <a:spcPts val="500"/>
              </a:spcBef>
              <a:spcAft>
                <a:spcPts val="0"/>
              </a:spcAft>
              <a:buClr>
                <a:srgbClr val="C00000"/>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6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0070C0"/>
              </a:buClr>
              <a:buSzPts val="1800"/>
              <a:buChar char="•"/>
              <a:defRPr/>
            </a:lvl1pPr>
            <a:lvl2pPr marL="914400" lvl="1" indent="-342900" algn="l">
              <a:lnSpc>
                <a:spcPct val="90000"/>
              </a:lnSpc>
              <a:spcBef>
                <a:spcPts val="500"/>
              </a:spcBef>
              <a:spcAft>
                <a:spcPts val="0"/>
              </a:spcAft>
              <a:buClr>
                <a:srgbClr val="548135"/>
              </a:buClr>
              <a:buSzPts val="1800"/>
              <a:buChar char="•"/>
              <a:defRPr/>
            </a:lvl2pPr>
            <a:lvl3pPr marL="1371600" lvl="2" indent="-342900" algn="l">
              <a:lnSpc>
                <a:spcPct val="90000"/>
              </a:lnSpc>
              <a:spcBef>
                <a:spcPts val="500"/>
              </a:spcBef>
              <a:spcAft>
                <a:spcPts val="0"/>
              </a:spcAft>
              <a:buClr>
                <a:srgbClr val="FFC000"/>
              </a:buClr>
              <a:buSzPts val="1800"/>
              <a:buChar char="•"/>
              <a:defRPr/>
            </a:lvl3pPr>
            <a:lvl4pPr marL="1828800" lvl="3" indent="-342900" algn="l">
              <a:lnSpc>
                <a:spcPct val="90000"/>
              </a:lnSpc>
              <a:spcBef>
                <a:spcPts val="500"/>
              </a:spcBef>
              <a:spcAft>
                <a:spcPts val="0"/>
              </a:spcAft>
              <a:buClr>
                <a:srgbClr val="C00000"/>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6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rgbClr val="0070C0"/>
              </a:buClr>
              <a:buSzPts val="2400"/>
              <a:buNone/>
              <a:defRPr sz="2400" b="1"/>
            </a:lvl1pPr>
            <a:lvl2pPr marL="914400" lvl="1" indent="-228600" algn="l">
              <a:lnSpc>
                <a:spcPct val="90000"/>
              </a:lnSpc>
              <a:spcBef>
                <a:spcPts val="500"/>
              </a:spcBef>
              <a:spcAft>
                <a:spcPts val="0"/>
              </a:spcAft>
              <a:buClr>
                <a:srgbClr val="548135"/>
              </a:buClr>
              <a:buSzPts val="2000"/>
              <a:buNone/>
              <a:defRPr sz="2000" b="1"/>
            </a:lvl2pPr>
            <a:lvl3pPr marL="1371600" lvl="2" indent="-228600" algn="l">
              <a:lnSpc>
                <a:spcPct val="90000"/>
              </a:lnSpc>
              <a:spcBef>
                <a:spcPts val="500"/>
              </a:spcBef>
              <a:spcAft>
                <a:spcPts val="0"/>
              </a:spcAft>
              <a:buClr>
                <a:srgbClr val="FFC000"/>
              </a:buClr>
              <a:buSzPts val="1800"/>
              <a:buNone/>
              <a:defRPr sz="1800" b="1"/>
            </a:lvl3pPr>
            <a:lvl4pPr marL="1828800" lvl="3" indent="-228600" algn="l">
              <a:lnSpc>
                <a:spcPct val="90000"/>
              </a:lnSpc>
              <a:spcBef>
                <a:spcPts val="500"/>
              </a:spcBef>
              <a:spcAft>
                <a:spcPts val="0"/>
              </a:spcAft>
              <a:buClr>
                <a:srgbClr val="C00000"/>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6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0070C0"/>
              </a:buClr>
              <a:buSzPts val="1800"/>
              <a:buChar char="•"/>
              <a:defRPr/>
            </a:lvl1pPr>
            <a:lvl2pPr marL="914400" lvl="1" indent="-342900" algn="l">
              <a:lnSpc>
                <a:spcPct val="90000"/>
              </a:lnSpc>
              <a:spcBef>
                <a:spcPts val="500"/>
              </a:spcBef>
              <a:spcAft>
                <a:spcPts val="0"/>
              </a:spcAft>
              <a:buClr>
                <a:srgbClr val="548135"/>
              </a:buClr>
              <a:buSzPts val="1800"/>
              <a:buChar char="•"/>
              <a:defRPr/>
            </a:lvl2pPr>
            <a:lvl3pPr marL="1371600" lvl="2" indent="-342900" algn="l">
              <a:lnSpc>
                <a:spcPct val="90000"/>
              </a:lnSpc>
              <a:spcBef>
                <a:spcPts val="500"/>
              </a:spcBef>
              <a:spcAft>
                <a:spcPts val="0"/>
              </a:spcAft>
              <a:buClr>
                <a:srgbClr val="FFC000"/>
              </a:buClr>
              <a:buSzPts val="1800"/>
              <a:buChar char="•"/>
              <a:defRPr/>
            </a:lvl3pPr>
            <a:lvl4pPr marL="1828800" lvl="3" indent="-342900" algn="l">
              <a:lnSpc>
                <a:spcPct val="90000"/>
              </a:lnSpc>
              <a:spcBef>
                <a:spcPts val="500"/>
              </a:spcBef>
              <a:spcAft>
                <a:spcPts val="0"/>
              </a:spcAft>
              <a:buClr>
                <a:srgbClr val="C00000"/>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6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6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6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64"/>
          <p:cNvSpPr txBox="1">
            <a:spLocks noGrp="1"/>
          </p:cNvSpPr>
          <p:nvPr>
            <p:ph type="title"/>
          </p:nvPr>
        </p:nvSpPr>
        <p:spPr>
          <a:xfrm>
            <a:off x="1278733" y="155574"/>
            <a:ext cx="10515600" cy="52546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002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6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6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6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6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6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6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6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002060"/>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66"/>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rgbClr val="0070C0"/>
              </a:buClr>
              <a:buSzPts val="3200"/>
              <a:buChar char="•"/>
              <a:defRPr sz="3200"/>
            </a:lvl1pPr>
            <a:lvl2pPr marL="914400" lvl="1" indent="-406400" algn="l">
              <a:lnSpc>
                <a:spcPct val="90000"/>
              </a:lnSpc>
              <a:spcBef>
                <a:spcPts val="500"/>
              </a:spcBef>
              <a:spcAft>
                <a:spcPts val="0"/>
              </a:spcAft>
              <a:buClr>
                <a:srgbClr val="548135"/>
              </a:buClr>
              <a:buSzPts val="2800"/>
              <a:buChar char="•"/>
              <a:defRPr sz="2800"/>
            </a:lvl2pPr>
            <a:lvl3pPr marL="1371600" lvl="2" indent="-381000" algn="l">
              <a:lnSpc>
                <a:spcPct val="90000"/>
              </a:lnSpc>
              <a:spcBef>
                <a:spcPts val="500"/>
              </a:spcBef>
              <a:spcAft>
                <a:spcPts val="0"/>
              </a:spcAft>
              <a:buClr>
                <a:srgbClr val="FFC000"/>
              </a:buClr>
              <a:buSzPts val="2400"/>
              <a:buChar char="•"/>
              <a:defRPr sz="2400"/>
            </a:lvl3pPr>
            <a:lvl4pPr marL="1828800" lvl="3" indent="-355600" algn="l">
              <a:lnSpc>
                <a:spcPct val="90000"/>
              </a:lnSpc>
              <a:spcBef>
                <a:spcPts val="500"/>
              </a:spcBef>
              <a:spcAft>
                <a:spcPts val="0"/>
              </a:spcAft>
              <a:buClr>
                <a:srgbClr val="C00000"/>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3" name="Google Shape;63;p6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070C0"/>
              </a:buClr>
              <a:buSzPts val="1600"/>
              <a:buNone/>
              <a:defRPr sz="1600"/>
            </a:lvl1pPr>
            <a:lvl2pPr marL="914400" lvl="1" indent="-228600" algn="l">
              <a:lnSpc>
                <a:spcPct val="90000"/>
              </a:lnSpc>
              <a:spcBef>
                <a:spcPts val="500"/>
              </a:spcBef>
              <a:spcAft>
                <a:spcPts val="0"/>
              </a:spcAft>
              <a:buClr>
                <a:srgbClr val="548135"/>
              </a:buClr>
              <a:buSzPts val="1400"/>
              <a:buNone/>
              <a:defRPr sz="1400"/>
            </a:lvl2pPr>
            <a:lvl3pPr marL="1371600" lvl="2" indent="-228600" algn="l">
              <a:lnSpc>
                <a:spcPct val="90000"/>
              </a:lnSpc>
              <a:spcBef>
                <a:spcPts val="500"/>
              </a:spcBef>
              <a:spcAft>
                <a:spcPts val="0"/>
              </a:spcAft>
              <a:buClr>
                <a:srgbClr val="FFC000"/>
              </a:buClr>
              <a:buSzPts val="1200"/>
              <a:buNone/>
              <a:defRPr sz="1200"/>
            </a:lvl3pPr>
            <a:lvl4pPr marL="1828800" lvl="3" indent="-228600" algn="l">
              <a:lnSpc>
                <a:spcPct val="90000"/>
              </a:lnSpc>
              <a:spcBef>
                <a:spcPts val="500"/>
              </a:spcBef>
              <a:spcAft>
                <a:spcPts val="0"/>
              </a:spcAft>
              <a:buClr>
                <a:srgbClr val="C00000"/>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4" name="Google Shape;64;p6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6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6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6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002060"/>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67"/>
          <p:cNvSpPr>
            <a:spLocks noGrp="1"/>
          </p:cNvSpPr>
          <p:nvPr>
            <p:ph type="pic" idx="2"/>
          </p:nvPr>
        </p:nvSpPr>
        <p:spPr>
          <a:xfrm>
            <a:off x="5183188" y="987425"/>
            <a:ext cx="6172200" cy="4873625"/>
          </a:xfrm>
          <a:prstGeom prst="rect">
            <a:avLst/>
          </a:prstGeom>
          <a:noFill/>
          <a:ln>
            <a:noFill/>
          </a:ln>
        </p:spPr>
      </p:sp>
      <p:sp>
        <p:nvSpPr>
          <p:cNvPr id="70" name="Google Shape;70;p6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070C0"/>
              </a:buClr>
              <a:buSzPts val="1600"/>
              <a:buNone/>
              <a:defRPr sz="1600"/>
            </a:lvl1pPr>
            <a:lvl2pPr marL="914400" lvl="1" indent="-228600" algn="l">
              <a:lnSpc>
                <a:spcPct val="90000"/>
              </a:lnSpc>
              <a:spcBef>
                <a:spcPts val="500"/>
              </a:spcBef>
              <a:spcAft>
                <a:spcPts val="0"/>
              </a:spcAft>
              <a:buClr>
                <a:srgbClr val="548135"/>
              </a:buClr>
              <a:buSzPts val="1400"/>
              <a:buNone/>
              <a:defRPr sz="1400"/>
            </a:lvl2pPr>
            <a:lvl3pPr marL="1371600" lvl="2" indent="-228600" algn="l">
              <a:lnSpc>
                <a:spcPct val="90000"/>
              </a:lnSpc>
              <a:spcBef>
                <a:spcPts val="500"/>
              </a:spcBef>
              <a:spcAft>
                <a:spcPts val="0"/>
              </a:spcAft>
              <a:buClr>
                <a:srgbClr val="FFC000"/>
              </a:buClr>
              <a:buSzPts val="1200"/>
              <a:buNone/>
              <a:defRPr sz="1200"/>
            </a:lvl3pPr>
            <a:lvl4pPr marL="1828800" lvl="3" indent="-228600" algn="l">
              <a:lnSpc>
                <a:spcPct val="90000"/>
              </a:lnSpc>
              <a:spcBef>
                <a:spcPts val="500"/>
              </a:spcBef>
              <a:spcAft>
                <a:spcPts val="0"/>
              </a:spcAft>
              <a:buClr>
                <a:srgbClr val="C00000"/>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1" name="Google Shape;71;p6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6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6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68"/>
          <p:cNvSpPr txBox="1">
            <a:spLocks noGrp="1"/>
          </p:cNvSpPr>
          <p:nvPr>
            <p:ph type="title"/>
          </p:nvPr>
        </p:nvSpPr>
        <p:spPr>
          <a:xfrm>
            <a:off x="1278733" y="155574"/>
            <a:ext cx="10515600" cy="52546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002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68"/>
          <p:cNvSpPr txBox="1">
            <a:spLocks noGrp="1"/>
          </p:cNvSpPr>
          <p:nvPr>
            <p:ph type="body" idx="1"/>
          </p:nvPr>
        </p:nvSpPr>
        <p:spPr>
          <a:xfrm rot="5400000">
            <a:off x="3727452" y="-1922463"/>
            <a:ext cx="5237162" cy="1132046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0070C0"/>
              </a:buClr>
              <a:buSzPts val="1800"/>
              <a:buChar char="•"/>
              <a:defRPr/>
            </a:lvl1pPr>
            <a:lvl2pPr marL="914400" lvl="1" indent="-342900" algn="l">
              <a:lnSpc>
                <a:spcPct val="90000"/>
              </a:lnSpc>
              <a:spcBef>
                <a:spcPts val="500"/>
              </a:spcBef>
              <a:spcAft>
                <a:spcPts val="0"/>
              </a:spcAft>
              <a:buClr>
                <a:srgbClr val="548135"/>
              </a:buClr>
              <a:buSzPts val="1800"/>
              <a:buChar char="•"/>
              <a:defRPr/>
            </a:lvl2pPr>
            <a:lvl3pPr marL="1371600" lvl="2" indent="-342900" algn="l">
              <a:lnSpc>
                <a:spcPct val="90000"/>
              </a:lnSpc>
              <a:spcBef>
                <a:spcPts val="500"/>
              </a:spcBef>
              <a:spcAft>
                <a:spcPts val="0"/>
              </a:spcAft>
              <a:buClr>
                <a:srgbClr val="FFC000"/>
              </a:buClr>
              <a:buSzPts val="1800"/>
              <a:buChar char="•"/>
              <a:defRPr/>
            </a:lvl3pPr>
            <a:lvl4pPr marL="1828800" lvl="3" indent="-342900" algn="l">
              <a:lnSpc>
                <a:spcPct val="90000"/>
              </a:lnSpc>
              <a:spcBef>
                <a:spcPts val="500"/>
              </a:spcBef>
              <a:spcAft>
                <a:spcPts val="0"/>
              </a:spcAft>
              <a:buClr>
                <a:srgbClr val="C00000"/>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6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6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6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6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002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6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0070C0"/>
              </a:buClr>
              <a:buSzPts val="1800"/>
              <a:buChar char="•"/>
              <a:defRPr/>
            </a:lvl1pPr>
            <a:lvl2pPr marL="914400" lvl="1" indent="-342900" algn="l">
              <a:lnSpc>
                <a:spcPct val="90000"/>
              </a:lnSpc>
              <a:spcBef>
                <a:spcPts val="500"/>
              </a:spcBef>
              <a:spcAft>
                <a:spcPts val="0"/>
              </a:spcAft>
              <a:buClr>
                <a:srgbClr val="548135"/>
              </a:buClr>
              <a:buSzPts val="1800"/>
              <a:buChar char="•"/>
              <a:defRPr/>
            </a:lvl2pPr>
            <a:lvl3pPr marL="1371600" lvl="2" indent="-342900" algn="l">
              <a:lnSpc>
                <a:spcPct val="90000"/>
              </a:lnSpc>
              <a:spcBef>
                <a:spcPts val="500"/>
              </a:spcBef>
              <a:spcAft>
                <a:spcPts val="0"/>
              </a:spcAft>
              <a:buClr>
                <a:srgbClr val="FFC000"/>
              </a:buClr>
              <a:buSzPts val="1800"/>
              <a:buChar char="•"/>
              <a:defRPr/>
            </a:lvl3pPr>
            <a:lvl4pPr marL="1828800" lvl="3" indent="-342900" algn="l">
              <a:lnSpc>
                <a:spcPct val="90000"/>
              </a:lnSpc>
              <a:spcBef>
                <a:spcPts val="500"/>
              </a:spcBef>
              <a:spcAft>
                <a:spcPts val="0"/>
              </a:spcAft>
              <a:buClr>
                <a:srgbClr val="C00000"/>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6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6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6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8"/>
          <p:cNvSpPr txBox="1">
            <a:spLocks noGrp="1"/>
          </p:cNvSpPr>
          <p:nvPr>
            <p:ph type="title"/>
          </p:nvPr>
        </p:nvSpPr>
        <p:spPr>
          <a:xfrm>
            <a:off x="1278733" y="155574"/>
            <a:ext cx="10515600" cy="525463"/>
          </a:xfrm>
          <a:prstGeom prst="rect">
            <a:avLst/>
          </a:prstGeom>
          <a:noFill/>
          <a:ln>
            <a:noFill/>
          </a:ln>
        </p:spPr>
        <p:txBody>
          <a:bodyPr spcFirstLastPara="1" wrap="square" lIns="91425" tIns="45700" rIns="91425" bIns="45700" anchor="ctr" anchorCtr="0">
            <a:normAutofit/>
          </a:bodyPr>
          <a:lstStyle>
            <a:lvl1pPr marR="0" lvl="0" algn="ctr" rtl="0">
              <a:lnSpc>
                <a:spcPct val="90000"/>
              </a:lnSpc>
              <a:spcBef>
                <a:spcPts val="0"/>
              </a:spcBef>
              <a:spcAft>
                <a:spcPts val="0"/>
              </a:spcAft>
              <a:buClr>
                <a:srgbClr val="002060"/>
              </a:buClr>
              <a:buSzPts val="4400"/>
              <a:buFont typeface="Calibri"/>
              <a:buNone/>
              <a:defRPr sz="4400" b="1" i="0" u="none" strike="noStrike" cap="none">
                <a:solidFill>
                  <a:srgbClr val="002060"/>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58"/>
          <p:cNvSpPr txBox="1">
            <a:spLocks noGrp="1"/>
          </p:cNvSpPr>
          <p:nvPr>
            <p:ph type="body" idx="1"/>
          </p:nvPr>
        </p:nvSpPr>
        <p:spPr>
          <a:xfrm>
            <a:off x="685800" y="1119188"/>
            <a:ext cx="11320465" cy="5237162"/>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rgbClr val="0070C0"/>
              </a:buClr>
              <a:buSzPts val="2800"/>
              <a:buFont typeface="Arial"/>
              <a:buChar char="•"/>
              <a:defRPr sz="2800" b="0" i="0" u="none" strike="noStrike" cap="none">
                <a:solidFill>
                  <a:srgbClr val="0070C0"/>
                </a:solidFill>
                <a:latin typeface="Calibri"/>
                <a:ea typeface="Calibri"/>
                <a:cs typeface="Calibri"/>
                <a:sym typeface="Calibri"/>
              </a:defRPr>
            </a:lvl1pPr>
            <a:lvl2pPr marL="914400" marR="0" lvl="1" indent="-381000" algn="l" rtl="0">
              <a:lnSpc>
                <a:spcPct val="90000"/>
              </a:lnSpc>
              <a:spcBef>
                <a:spcPts val="500"/>
              </a:spcBef>
              <a:spcAft>
                <a:spcPts val="0"/>
              </a:spcAft>
              <a:buClr>
                <a:srgbClr val="548135"/>
              </a:buClr>
              <a:buSzPts val="2400"/>
              <a:buFont typeface="Arial"/>
              <a:buChar char="•"/>
              <a:defRPr sz="2400" b="0" i="0" u="none" strike="noStrike" cap="none">
                <a:solidFill>
                  <a:srgbClr val="548135"/>
                </a:solidFill>
                <a:latin typeface="Calibri"/>
                <a:ea typeface="Calibri"/>
                <a:cs typeface="Calibri"/>
                <a:sym typeface="Calibri"/>
              </a:defRPr>
            </a:lvl2pPr>
            <a:lvl3pPr marL="1371600" marR="0" lvl="2" indent="-355600" algn="l" rtl="0">
              <a:lnSpc>
                <a:spcPct val="90000"/>
              </a:lnSpc>
              <a:spcBef>
                <a:spcPts val="500"/>
              </a:spcBef>
              <a:spcAft>
                <a:spcPts val="0"/>
              </a:spcAft>
              <a:buClr>
                <a:srgbClr val="FFC000"/>
              </a:buClr>
              <a:buSzPts val="2000"/>
              <a:buFont typeface="Arial"/>
              <a:buChar char="•"/>
              <a:defRPr sz="2000" b="0" i="0" u="none" strike="noStrike" cap="none">
                <a:solidFill>
                  <a:srgbClr val="FFC000"/>
                </a:solidFill>
                <a:latin typeface="Calibri"/>
                <a:ea typeface="Calibri"/>
                <a:cs typeface="Calibri"/>
                <a:sym typeface="Calibri"/>
              </a:defRPr>
            </a:lvl3pPr>
            <a:lvl4pPr marL="1828800" marR="0" lvl="3" indent="-342900" algn="l" rtl="0">
              <a:lnSpc>
                <a:spcPct val="90000"/>
              </a:lnSpc>
              <a:spcBef>
                <a:spcPts val="500"/>
              </a:spcBef>
              <a:spcAft>
                <a:spcPts val="0"/>
              </a:spcAft>
              <a:buClr>
                <a:srgbClr val="C00000"/>
              </a:buClr>
              <a:buSzPts val="1800"/>
              <a:buFont typeface="Arial"/>
              <a:buChar char="•"/>
              <a:defRPr sz="1800" b="0" i="0" u="none" strike="noStrike" cap="none">
                <a:solidFill>
                  <a:srgbClr val="C00000"/>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5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5" name="Google Shape;15;p58" descr="http://www.northsouth.edu/newassets/images/nsu-photo/logo-4.png"/>
          <p:cNvPicPr preferRelativeResize="0"/>
          <p:nvPr/>
        </p:nvPicPr>
        <p:blipFill rotWithShape="1">
          <a:blip r:embed="rId13">
            <a:alphaModFix/>
          </a:blip>
          <a:srcRect/>
          <a:stretch/>
        </p:blipFill>
        <p:spPr>
          <a:xfrm>
            <a:off x="1" y="0"/>
            <a:ext cx="495300" cy="396240"/>
          </a:xfrm>
          <a:prstGeom prst="rect">
            <a:avLst/>
          </a:prstGeom>
          <a:noFill/>
          <a:ln>
            <a:noFill/>
          </a:ln>
        </p:spPr>
      </p:pic>
      <p:cxnSp>
        <p:nvCxnSpPr>
          <p:cNvPr id="16" name="Google Shape;16;p58"/>
          <p:cNvCxnSpPr/>
          <p:nvPr/>
        </p:nvCxnSpPr>
        <p:spPr>
          <a:xfrm rot="10800000" flipH="1">
            <a:off x="792958" y="54768"/>
            <a:ext cx="11001375" cy="46037"/>
          </a:xfrm>
          <a:prstGeom prst="straightConnector1">
            <a:avLst/>
          </a:prstGeom>
          <a:noFill/>
          <a:ln w="19050" cap="flat" cmpd="sng">
            <a:solidFill>
              <a:schemeClr val="accent1"/>
            </a:solidFill>
            <a:prstDash val="solid"/>
            <a:miter lim="800000"/>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
          <p:cNvSpPr txBox="1">
            <a:spLocks noGrp="1"/>
          </p:cNvSpPr>
          <p:nvPr>
            <p:ph type="ctrTitle"/>
          </p:nvPr>
        </p:nvSpPr>
        <p:spPr>
          <a:xfrm>
            <a:off x="1524000" y="2245809"/>
            <a:ext cx="9144000" cy="1445963"/>
          </a:xfrm>
          <a:prstGeom prst="rect">
            <a:avLst/>
          </a:prstGeom>
          <a:noFill/>
          <a:ln>
            <a:noFill/>
          </a:ln>
        </p:spPr>
        <p:txBody>
          <a:bodyPr spcFirstLastPara="1" wrap="square" lIns="91425" tIns="45700" rIns="91425" bIns="45700" anchor="b" anchorCtr="0">
            <a:normAutofit fontScale="90000"/>
          </a:bodyPr>
          <a:lstStyle/>
          <a:p>
            <a:pPr marL="0" lvl="0" indent="0" rtl="0">
              <a:lnSpc>
                <a:spcPct val="90000"/>
              </a:lnSpc>
              <a:spcBef>
                <a:spcPts val="0"/>
              </a:spcBef>
              <a:spcAft>
                <a:spcPts val="0"/>
              </a:spcAft>
              <a:buClr>
                <a:srgbClr val="002060"/>
              </a:buClr>
              <a:buSzPct val="100000"/>
              <a:buFont typeface="Calibri"/>
              <a:buNone/>
            </a:pPr>
            <a:r>
              <a:rPr lang="en-US" sz="4800"/>
              <a:t>CSE495B (Natural Language Processing)</a:t>
            </a:r>
            <a:br>
              <a:rPr lang="en-US" sz="4800"/>
            </a:br>
            <a:r>
              <a:rPr lang="en-US" sz="4800"/>
              <a:t>Lecture 13</a:t>
            </a:r>
            <a:endParaRPr lang="en-US"/>
          </a:p>
        </p:txBody>
      </p:sp>
      <p:sp>
        <p:nvSpPr>
          <p:cNvPr id="91" name="Google Shape;91;p1"/>
          <p:cNvSpPr txBox="1">
            <a:spLocks noGrp="1"/>
          </p:cNvSpPr>
          <p:nvPr>
            <p:ph type="subTitle" idx="1"/>
          </p:nvPr>
        </p:nvSpPr>
        <p:spPr>
          <a:xfrm>
            <a:off x="1524000" y="4194453"/>
            <a:ext cx="9144000" cy="572583"/>
          </a:xfrm>
          <a:prstGeom prst="rect">
            <a:avLst/>
          </a:prstGeom>
          <a:noFill/>
          <a:ln>
            <a:noFill/>
          </a:ln>
        </p:spPr>
        <p:txBody>
          <a:bodyPr spcFirstLastPara="1" wrap="square" lIns="91425" tIns="45700" rIns="91425" bIns="45700" anchor="t" anchorCtr="0">
            <a:normAutofit/>
          </a:bodyPr>
          <a:lstStyle/>
          <a:p>
            <a:pPr marL="0" indent="0" algn="l">
              <a:spcBef>
                <a:spcPts val="0"/>
              </a:spcBef>
            </a:pPr>
            <a:r>
              <a:rPr lang="en-US" sz="2000"/>
              <a:t>Working with Language Models: Reasoning &amp; Prompting</a:t>
            </a:r>
          </a:p>
        </p:txBody>
      </p:sp>
      <p:sp>
        <p:nvSpPr>
          <p:cNvPr id="92" name="Google Shape;92;p1"/>
          <p:cNvSpPr/>
          <p:nvPr/>
        </p:nvSpPr>
        <p:spPr>
          <a:xfrm>
            <a:off x="0" y="1"/>
            <a:ext cx="5920619" cy="2130951"/>
          </a:xfrm>
          <a:custGeom>
            <a:avLst/>
            <a:gdLst/>
            <a:ahLst/>
            <a:cxnLst/>
            <a:rect l="l" t="t" r="r" b="b"/>
            <a:pathLst>
              <a:path w="5920619" h="2130951" extrusionOk="0">
                <a:moveTo>
                  <a:pt x="0" y="0"/>
                </a:moveTo>
                <a:lnTo>
                  <a:pt x="3191370" y="0"/>
                </a:lnTo>
                <a:lnTo>
                  <a:pt x="3346315" y="0"/>
                </a:lnTo>
                <a:lnTo>
                  <a:pt x="5920619" y="0"/>
                </a:lnTo>
                <a:lnTo>
                  <a:pt x="4936971" y="2130951"/>
                </a:lnTo>
                <a:lnTo>
                  <a:pt x="0" y="2130951"/>
                </a:lnTo>
                <a:close/>
              </a:path>
            </a:pathLst>
          </a:cu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3" name="Google Shape;93;p1"/>
          <p:cNvSpPr/>
          <p:nvPr/>
        </p:nvSpPr>
        <p:spPr>
          <a:xfrm>
            <a:off x="5097839" y="0"/>
            <a:ext cx="7094160" cy="2130952"/>
          </a:xfrm>
          <a:custGeom>
            <a:avLst/>
            <a:gdLst/>
            <a:ahLst/>
            <a:cxnLst/>
            <a:rect l="l" t="t" r="r" b="b"/>
            <a:pathLst>
              <a:path w="7094160" h="2130952" extrusionOk="0">
                <a:moveTo>
                  <a:pt x="4417853" y="0"/>
                </a:moveTo>
                <a:lnTo>
                  <a:pt x="7094160" y="0"/>
                </a:lnTo>
                <a:lnTo>
                  <a:pt x="7094160" y="2130552"/>
                </a:lnTo>
                <a:lnTo>
                  <a:pt x="5920619" y="2130552"/>
                </a:lnTo>
                <a:lnTo>
                  <a:pt x="5920619" y="2130952"/>
                </a:lnTo>
                <a:lnTo>
                  <a:pt x="2729249" y="2130952"/>
                </a:lnTo>
                <a:lnTo>
                  <a:pt x="2574304" y="2130952"/>
                </a:lnTo>
                <a:lnTo>
                  <a:pt x="0" y="2130952"/>
                </a:lnTo>
                <a:lnTo>
                  <a:pt x="983648" y="1"/>
                </a:lnTo>
                <a:lnTo>
                  <a:pt x="4417853" y="1"/>
                </a:lnTo>
                <a:close/>
              </a:path>
            </a:pathLst>
          </a:custGeom>
          <a:solidFill>
            <a:srgbClr val="7F7F7F">
              <a:alpha val="4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4" name="Google Shape;94;p1"/>
          <p:cNvSpPr/>
          <p:nvPr/>
        </p:nvSpPr>
        <p:spPr>
          <a:xfrm flipH="1">
            <a:off x="6149721" y="4682920"/>
            <a:ext cx="4522796" cy="2175080"/>
          </a:xfrm>
          <a:custGeom>
            <a:avLst/>
            <a:gdLst/>
            <a:ahLst/>
            <a:cxnLst/>
            <a:rect l="l" t="t" r="r" b="b"/>
            <a:pathLst>
              <a:path w="4522796" h="2175080" extrusionOk="0">
                <a:moveTo>
                  <a:pt x="3515449" y="0"/>
                </a:moveTo>
                <a:lnTo>
                  <a:pt x="0" y="0"/>
                </a:lnTo>
                <a:lnTo>
                  <a:pt x="0" y="2175080"/>
                </a:lnTo>
                <a:lnTo>
                  <a:pt x="4522796" y="217508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i="0" u="none" strike="noStrike" cap="none">
              <a:solidFill>
                <a:schemeClr val="lt1"/>
              </a:solidFill>
              <a:latin typeface="Calibri"/>
              <a:ea typeface="Calibri"/>
              <a:cs typeface="Calibri"/>
              <a:sym typeface="Calibri"/>
            </a:endParaRPr>
          </a:p>
        </p:txBody>
      </p:sp>
      <p:sp>
        <p:nvSpPr>
          <p:cNvPr id="95" name="Google Shape;95;p1"/>
          <p:cNvSpPr/>
          <p:nvPr/>
        </p:nvSpPr>
        <p:spPr>
          <a:xfrm>
            <a:off x="6266810" y="4682920"/>
            <a:ext cx="5925190" cy="2175080"/>
          </a:xfrm>
          <a:custGeom>
            <a:avLst/>
            <a:gdLst/>
            <a:ahLst/>
            <a:cxnLst/>
            <a:rect l="l" t="t" r="r" b="b"/>
            <a:pathLst>
              <a:path w="5925190" h="2175080" extrusionOk="0">
                <a:moveTo>
                  <a:pt x="1007347" y="0"/>
                </a:moveTo>
                <a:lnTo>
                  <a:pt x="5925190" y="0"/>
                </a:lnTo>
                <a:lnTo>
                  <a:pt x="5925190" y="2175080"/>
                </a:lnTo>
                <a:lnTo>
                  <a:pt x="0" y="2175080"/>
                </a:ln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6" name="Google Shape;96;p1"/>
          <p:cNvSpPr/>
          <p:nvPr/>
        </p:nvSpPr>
        <p:spPr>
          <a:xfrm>
            <a:off x="0" y="4682920"/>
            <a:ext cx="7114535" cy="2175080"/>
          </a:xfrm>
          <a:custGeom>
            <a:avLst/>
            <a:gdLst/>
            <a:ahLst/>
            <a:cxnLst/>
            <a:rect l="l" t="t" r="r" b="b"/>
            <a:pathLst>
              <a:path w="7114535" h="2175080" extrusionOk="0">
                <a:moveTo>
                  <a:pt x="0" y="0"/>
                </a:moveTo>
                <a:lnTo>
                  <a:pt x="1189345" y="0"/>
                </a:lnTo>
                <a:lnTo>
                  <a:pt x="7114535" y="0"/>
                </a:lnTo>
                <a:lnTo>
                  <a:pt x="6107188" y="2175080"/>
                </a:lnTo>
                <a:lnTo>
                  <a:pt x="1189345" y="2175080"/>
                </a:lnTo>
                <a:lnTo>
                  <a:pt x="0" y="2175080"/>
                </a:lnTo>
                <a:close/>
              </a:path>
            </a:pathLst>
          </a:custGeom>
          <a:solidFill>
            <a:srgbClr val="7F7F7F">
              <a:alpha val="4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Elements of Prompts</a:t>
            </a:r>
          </a:p>
        </p:txBody>
      </p:sp>
      <p:sp>
        <p:nvSpPr>
          <p:cNvPr id="3" name="Text Placeholder 2"/>
          <p:cNvSpPr>
            <a:spLocks noGrp="1"/>
          </p:cNvSpPr>
          <p:nvPr>
            <p:ph type="body" idx="1"/>
          </p:nvPr>
        </p:nvSpPr>
        <p:spPr>
          <a:xfrm>
            <a:off x="685800" y="1119188"/>
            <a:ext cx="11320465" cy="2572279"/>
          </a:xfrm>
        </p:spPr>
        <p:txBody>
          <a:bodyPr>
            <a:normAutofit/>
          </a:bodyPr>
          <a:lstStyle/>
          <a:p>
            <a:r>
              <a:rPr lang="en-US"/>
              <a:t>A prompt contains any of the following elements:</a:t>
            </a:r>
          </a:p>
          <a:p>
            <a:pPr lvl="1"/>
            <a:r>
              <a:rPr lang="en-US"/>
              <a:t>Instruction - a specific task or instruction the model should perform</a:t>
            </a:r>
          </a:p>
          <a:p>
            <a:pPr lvl="1"/>
            <a:r>
              <a:rPr lang="en-US"/>
              <a:t>Context – facts, external information, or additional context that can steer the model to better responses</a:t>
            </a:r>
          </a:p>
          <a:p>
            <a:pPr lvl="1"/>
            <a:r>
              <a:rPr lang="en-US"/>
              <a:t>Input Data - the input or question that we are interested in finding a response for</a:t>
            </a:r>
          </a:p>
          <a:p>
            <a:pPr lvl="1"/>
            <a:r>
              <a:rPr lang="en-US"/>
              <a:t>Output Indicator - the type or format of the output.</a:t>
            </a:r>
          </a:p>
          <a:p>
            <a:endParaRPr lang="en-US"/>
          </a:p>
          <a:p>
            <a:pPr marL="114300" indent="0">
              <a:buNone/>
            </a:pPr>
            <a:endParaRPr lang="en-US"/>
          </a:p>
        </p:txBody>
      </p:sp>
      <p:sp>
        <p:nvSpPr>
          <p:cNvPr id="4" name="TextBox 3"/>
          <p:cNvSpPr txBox="1"/>
          <p:nvPr/>
        </p:nvSpPr>
        <p:spPr>
          <a:xfrm>
            <a:off x="2968978" y="4741334"/>
            <a:ext cx="6141156" cy="738664"/>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r>
              <a:rPr lang="en-US"/>
              <a:t>Classify the text into neutral, negative, or positive</a:t>
            </a:r>
          </a:p>
          <a:p>
            <a:r>
              <a:rPr lang="en-US"/>
              <a:t>Text: I think the food was okay.</a:t>
            </a:r>
          </a:p>
          <a:p>
            <a:r>
              <a:rPr lang="en-US"/>
              <a:t>Sentiment:</a:t>
            </a:r>
          </a:p>
        </p:txBody>
      </p:sp>
    </p:spTree>
    <p:extLst>
      <p:ext uri="{BB962C8B-B14F-4D97-AF65-F5344CB8AC3E}">
        <p14:creationId xmlns:p14="http://schemas.microsoft.com/office/powerpoint/2010/main" val="34691041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Zero-shot Prompting</a:t>
            </a:r>
          </a:p>
        </p:txBody>
      </p:sp>
      <p:sp>
        <p:nvSpPr>
          <p:cNvPr id="3" name="Text Placeholder 2"/>
          <p:cNvSpPr>
            <a:spLocks noGrp="1"/>
          </p:cNvSpPr>
          <p:nvPr>
            <p:ph type="body" idx="1"/>
          </p:nvPr>
        </p:nvSpPr>
        <p:spPr/>
        <p:txBody>
          <a:bodyPr/>
          <a:lstStyle/>
          <a:p>
            <a:r>
              <a:rPr lang="en-US"/>
              <a:t>Large-scale training makes large language models (LLMs) capable of performing some tasks in a "zero-shot" manner. </a:t>
            </a:r>
          </a:p>
          <a:p>
            <a:pPr lvl="1"/>
            <a:r>
              <a:rPr lang="en-US"/>
              <a:t>That the prompt used to interact with the model won't contain examples or demonstrations. </a:t>
            </a:r>
          </a:p>
          <a:p>
            <a:r>
              <a:rPr lang="en-US"/>
              <a:t>The zero-shot prompt directly instructs the model to perform a task without any additional examples.</a:t>
            </a:r>
          </a:p>
          <a:p>
            <a:endParaRPr lang="en-US"/>
          </a:p>
        </p:txBody>
      </p:sp>
      <p:pic>
        <p:nvPicPr>
          <p:cNvPr id="4" name="Picture 3"/>
          <p:cNvPicPr>
            <a:picLocks noChangeAspect="1"/>
          </p:cNvPicPr>
          <p:nvPr/>
        </p:nvPicPr>
        <p:blipFill>
          <a:blip r:embed="rId2"/>
          <a:stretch>
            <a:fillRect/>
          </a:stretch>
        </p:blipFill>
        <p:spPr>
          <a:xfrm>
            <a:off x="2261358" y="3902497"/>
            <a:ext cx="8169348" cy="2453853"/>
          </a:xfrm>
          <a:prstGeom prst="rect">
            <a:avLst/>
          </a:prstGeom>
        </p:spPr>
      </p:pic>
    </p:spTree>
    <p:extLst>
      <p:ext uri="{BB962C8B-B14F-4D97-AF65-F5344CB8AC3E}">
        <p14:creationId xmlns:p14="http://schemas.microsoft.com/office/powerpoint/2010/main" val="5697225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Zero-shot Prompt</a:t>
            </a:r>
          </a:p>
        </p:txBody>
      </p:sp>
      <p:sp>
        <p:nvSpPr>
          <p:cNvPr id="3" name="Text Placeholder 2"/>
          <p:cNvSpPr>
            <a:spLocks noGrp="1"/>
          </p:cNvSpPr>
          <p:nvPr>
            <p:ph type="body" idx="1"/>
          </p:nvPr>
        </p:nvSpPr>
        <p:spPr/>
        <p:txBody>
          <a:bodyPr/>
          <a:lstStyle/>
          <a:p>
            <a:r>
              <a:rPr lang="en-US"/>
              <a:t>Proper instruction tuning improves zero-shot inferences </a:t>
            </a:r>
          </a:p>
          <a:p>
            <a:r>
              <a:rPr lang="en-US"/>
              <a:t>Instruction tuning is essentially the concept of fine-tuning models on datasets described via instructions. </a:t>
            </a:r>
          </a:p>
          <a:p>
            <a:r>
              <a:rPr lang="en-US"/>
              <a:t>Furthermore, RLHF (reinforcement learning from human feedback) has been adopted to scale instruction tuning wherein the model is aligned to better fit human preferences. </a:t>
            </a:r>
          </a:p>
          <a:p>
            <a:r>
              <a:rPr lang="en-US"/>
              <a:t>This recent development powers models like </a:t>
            </a:r>
            <a:r>
              <a:rPr lang="en-US" err="1"/>
              <a:t>ChatGPT</a:t>
            </a:r>
            <a:r>
              <a:rPr lang="en-US"/>
              <a:t>. </a:t>
            </a:r>
          </a:p>
          <a:p>
            <a:endParaRPr lang="en-US"/>
          </a:p>
          <a:p>
            <a:endParaRPr lang="en-US"/>
          </a:p>
        </p:txBody>
      </p:sp>
    </p:spTree>
    <p:extLst>
      <p:ext uri="{BB962C8B-B14F-4D97-AF65-F5344CB8AC3E}">
        <p14:creationId xmlns:p14="http://schemas.microsoft.com/office/powerpoint/2010/main" val="2918622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Few-shot Prompt</a:t>
            </a:r>
          </a:p>
        </p:txBody>
      </p:sp>
      <p:sp>
        <p:nvSpPr>
          <p:cNvPr id="3" name="Text Placeholder 2"/>
          <p:cNvSpPr>
            <a:spLocks noGrp="1"/>
          </p:cNvSpPr>
          <p:nvPr>
            <p:ph type="body" idx="1"/>
          </p:nvPr>
        </p:nvSpPr>
        <p:spPr>
          <a:xfrm>
            <a:off x="656303" y="810419"/>
            <a:ext cx="11320465" cy="5237162"/>
          </a:xfrm>
        </p:spPr>
        <p:txBody>
          <a:bodyPr>
            <a:normAutofit/>
          </a:bodyPr>
          <a:lstStyle/>
          <a:p>
            <a:r>
              <a:rPr lang="en-US"/>
              <a:t>Large-language models still struggle on more complex tasks when using the zero-shot setting </a:t>
            </a:r>
          </a:p>
          <a:p>
            <a:r>
              <a:rPr lang="en-US"/>
              <a:t>Few-shot prompting can be used as a technique to enable in-context learning, where we provide demonstrations of the prompt to steer the model to better performance. </a:t>
            </a:r>
          </a:p>
          <a:p>
            <a:r>
              <a:rPr lang="en-US"/>
              <a:t>According to </a:t>
            </a:r>
            <a:r>
              <a:rPr lang="en-US" err="1"/>
              <a:t>Touvron</a:t>
            </a:r>
            <a:r>
              <a:rPr lang="en-US"/>
              <a:t> et al. 2023 few shot properties first appeared when models were scaled to a sufficient size (Kaplan et al., 2020).</a:t>
            </a:r>
          </a:p>
          <a:p>
            <a:endParaRPr lang="en-US"/>
          </a:p>
          <a:p>
            <a:endParaRPr lang="en-US"/>
          </a:p>
        </p:txBody>
      </p:sp>
      <p:pic>
        <p:nvPicPr>
          <p:cNvPr id="4" name="Picture 3"/>
          <p:cNvPicPr>
            <a:picLocks noChangeAspect="1"/>
          </p:cNvPicPr>
          <p:nvPr/>
        </p:nvPicPr>
        <p:blipFill>
          <a:blip r:embed="rId3"/>
          <a:stretch>
            <a:fillRect/>
          </a:stretch>
        </p:blipFill>
        <p:spPr>
          <a:xfrm>
            <a:off x="1765754" y="4150132"/>
            <a:ext cx="8161727" cy="2644369"/>
          </a:xfrm>
          <a:prstGeom prst="rect">
            <a:avLst/>
          </a:prstGeom>
        </p:spPr>
      </p:pic>
    </p:spTree>
    <p:extLst>
      <p:ext uri="{BB962C8B-B14F-4D97-AF65-F5344CB8AC3E}">
        <p14:creationId xmlns:p14="http://schemas.microsoft.com/office/powerpoint/2010/main" val="28690834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Limitations of Few-shot Prompt</a:t>
            </a:r>
          </a:p>
        </p:txBody>
      </p:sp>
      <p:pic>
        <p:nvPicPr>
          <p:cNvPr id="4" name="Picture 3"/>
          <p:cNvPicPr>
            <a:picLocks noChangeAspect="1"/>
          </p:cNvPicPr>
          <p:nvPr/>
        </p:nvPicPr>
        <p:blipFill>
          <a:blip r:embed="rId2"/>
          <a:stretch>
            <a:fillRect/>
          </a:stretch>
        </p:blipFill>
        <p:spPr>
          <a:xfrm>
            <a:off x="388270" y="789676"/>
            <a:ext cx="8062659" cy="762066"/>
          </a:xfrm>
          <a:prstGeom prst="rect">
            <a:avLst/>
          </a:prstGeom>
        </p:spPr>
      </p:pic>
      <p:pic>
        <p:nvPicPr>
          <p:cNvPr id="5" name="Picture 4"/>
          <p:cNvPicPr>
            <a:picLocks noChangeAspect="1"/>
          </p:cNvPicPr>
          <p:nvPr/>
        </p:nvPicPr>
        <p:blipFill>
          <a:blip r:embed="rId3"/>
          <a:stretch>
            <a:fillRect/>
          </a:stretch>
        </p:blipFill>
        <p:spPr>
          <a:xfrm>
            <a:off x="388270" y="1660381"/>
            <a:ext cx="5829805" cy="617273"/>
          </a:xfrm>
          <a:prstGeom prst="rect">
            <a:avLst/>
          </a:prstGeom>
        </p:spPr>
      </p:pic>
      <p:pic>
        <p:nvPicPr>
          <p:cNvPr id="6" name="Picture 5"/>
          <p:cNvPicPr>
            <a:picLocks noChangeAspect="1"/>
          </p:cNvPicPr>
          <p:nvPr/>
        </p:nvPicPr>
        <p:blipFill>
          <a:blip r:embed="rId4"/>
          <a:stretch>
            <a:fillRect/>
          </a:stretch>
        </p:blipFill>
        <p:spPr>
          <a:xfrm>
            <a:off x="5299786" y="2627701"/>
            <a:ext cx="6302286" cy="3680779"/>
          </a:xfrm>
          <a:prstGeom prst="rect">
            <a:avLst/>
          </a:prstGeom>
        </p:spPr>
      </p:pic>
    </p:spTree>
    <p:extLst>
      <p:ext uri="{BB962C8B-B14F-4D97-AF65-F5344CB8AC3E}">
        <p14:creationId xmlns:p14="http://schemas.microsoft.com/office/powerpoint/2010/main" val="22077013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err="1"/>
              <a:t>CoT</a:t>
            </a:r>
            <a:r>
              <a:rPr lang="en-US"/>
              <a:t> Prompt</a:t>
            </a:r>
          </a:p>
        </p:txBody>
      </p:sp>
      <p:pic>
        <p:nvPicPr>
          <p:cNvPr id="2052" name="Picture 4" descr="C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9466" y="1183120"/>
            <a:ext cx="8953500" cy="4505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48736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Chain of Thought Prompting</a:t>
            </a:r>
            <a:endParaRPr lang="en-US" b="0">
              <a:solidFill>
                <a:srgbClr val="000000"/>
              </a:solidFill>
            </a:endParaRPr>
          </a:p>
        </p:txBody>
      </p:sp>
      <p:sp>
        <p:nvSpPr>
          <p:cNvPr id="3" name="Content Placeholder 2"/>
          <p:cNvSpPr>
            <a:spLocks noGrp="1"/>
          </p:cNvSpPr>
          <p:nvPr>
            <p:ph idx="1"/>
          </p:nvPr>
        </p:nvSpPr>
        <p:spPr/>
        <p:txBody>
          <a:bodyPr vert="horz" lIns="91440" tIns="45720" rIns="91440" bIns="45720" rtlCol="0" anchor="t">
            <a:normAutofit/>
          </a:bodyPr>
          <a:lstStyle/>
          <a:p>
            <a:r>
              <a:rPr lang="en-US">
                <a:ea typeface="Calibri"/>
                <a:cs typeface="Calibri"/>
              </a:rPr>
              <a:t>A chain of thought—a series of intermediate reasoning steps—significantly improves the ability of large language models to perform complex reasoning</a:t>
            </a:r>
          </a:p>
          <a:p>
            <a:r>
              <a:rPr lang="en-US">
                <a:solidFill>
                  <a:srgbClr val="0070C0"/>
                </a:solidFill>
                <a:ea typeface="Calibri"/>
                <a:cs typeface="Calibri"/>
              </a:rPr>
              <a:t>Such reasoning abilities emerge naturally in sufficiently large language models </a:t>
            </a:r>
            <a:endParaRPr lang="en-US"/>
          </a:p>
          <a:p>
            <a:r>
              <a:rPr lang="en-US">
                <a:ea typeface="Calibri"/>
                <a:cs typeface="Calibri"/>
              </a:rPr>
              <a:t>For solving a complicated reasoning task such as a multi-step math word problem</a:t>
            </a:r>
            <a:endParaRPr lang="en-US"/>
          </a:p>
          <a:p>
            <a:pPr lvl="1"/>
            <a:r>
              <a:rPr lang="en-US">
                <a:ea typeface="Calibri"/>
                <a:cs typeface="Calibri"/>
              </a:rPr>
              <a:t>It is typical to decompose the problem into intermediate steps and solve each before giving the final answer: </a:t>
            </a:r>
          </a:p>
          <a:p>
            <a:pPr lvl="1"/>
            <a:r>
              <a:rPr lang="en-US">
                <a:ea typeface="Calibri"/>
                <a:cs typeface="Calibri"/>
              </a:rPr>
              <a:t>“After Jane gives 2 flowers to her mom she has 10 . . . then after she gives 3 to her dad she will have 7 . . . so the answer is 7.” </a:t>
            </a:r>
          </a:p>
        </p:txBody>
      </p:sp>
    </p:spTree>
    <p:extLst>
      <p:ext uri="{BB962C8B-B14F-4D97-AF65-F5344CB8AC3E}">
        <p14:creationId xmlns:p14="http://schemas.microsoft.com/office/powerpoint/2010/main" val="13015319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D5965-1370-AB8D-E582-42BB5885BF4A}"/>
              </a:ext>
            </a:extLst>
          </p:cNvPr>
          <p:cNvSpPr>
            <a:spLocks noGrp="1"/>
          </p:cNvSpPr>
          <p:nvPr>
            <p:ph type="title"/>
          </p:nvPr>
        </p:nvSpPr>
        <p:spPr/>
        <p:txBody>
          <a:bodyPr>
            <a:normAutofit fontScale="90000"/>
          </a:bodyPr>
          <a:lstStyle/>
          <a:p>
            <a:r>
              <a:rPr lang="en-US"/>
              <a:t>Chain-of-Thought Properties</a:t>
            </a:r>
          </a:p>
        </p:txBody>
      </p:sp>
      <p:sp>
        <p:nvSpPr>
          <p:cNvPr id="3" name="Text Placeholder 2">
            <a:extLst>
              <a:ext uri="{FF2B5EF4-FFF2-40B4-BE49-F238E27FC236}">
                <a16:creationId xmlns:a16="http://schemas.microsoft.com/office/drawing/2014/main" id="{4413BE0A-C241-E85C-499C-F34A72F0C23C}"/>
              </a:ext>
            </a:extLst>
          </p:cNvPr>
          <p:cNvSpPr>
            <a:spLocks noGrp="1"/>
          </p:cNvSpPr>
          <p:nvPr>
            <p:ph type="body" idx="1"/>
          </p:nvPr>
        </p:nvSpPr>
        <p:spPr/>
        <p:txBody>
          <a:bodyPr>
            <a:normAutofit lnSpcReduction="10000"/>
          </a:bodyPr>
          <a:lstStyle/>
          <a:p>
            <a:r>
              <a:rPr lang="en-US" err="1"/>
              <a:t>CoT</a:t>
            </a:r>
            <a:r>
              <a:rPr lang="en-US"/>
              <a:t> allows models to decompose multi-step problems into intermediate steps, which means that additional computation can be allocated to problems that require more reasoning steps</a:t>
            </a:r>
          </a:p>
          <a:p>
            <a:r>
              <a:rPr lang="en-US"/>
              <a:t>Provides an interpretable window into the model’s behavior</a:t>
            </a:r>
          </a:p>
          <a:p>
            <a:pPr lvl="1"/>
            <a:r>
              <a:rPr lang="en-US"/>
              <a:t>How it might have arrived at a particular answer and providing opportunities to debug where the reasoning path went wrong (although fully characterizing a model’s computations that support an answer remains an open question). </a:t>
            </a:r>
          </a:p>
          <a:p>
            <a:r>
              <a:rPr lang="en-US"/>
              <a:t>Can be used for tasks such as math word problems, commonsense reasoning, and symbolic manipulation, and is potentially applicable (at least in principle) to any task humans can solve via language. </a:t>
            </a:r>
          </a:p>
          <a:p>
            <a:r>
              <a:rPr lang="en-US"/>
              <a:t>Can be readily elicited from sufficiently large off-the-shelf language models simply by including chain-of-thought examples within few-shot prompts.</a:t>
            </a:r>
          </a:p>
        </p:txBody>
      </p:sp>
    </p:spTree>
    <p:extLst>
      <p:ext uri="{BB962C8B-B14F-4D97-AF65-F5344CB8AC3E}">
        <p14:creationId xmlns:p14="http://schemas.microsoft.com/office/powerpoint/2010/main" val="7966254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D5965-1370-AB8D-E582-42BB5885BF4A}"/>
              </a:ext>
            </a:extLst>
          </p:cNvPr>
          <p:cNvSpPr>
            <a:spLocks noGrp="1"/>
          </p:cNvSpPr>
          <p:nvPr>
            <p:ph type="title"/>
          </p:nvPr>
        </p:nvSpPr>
        <p:spPr/>
        <p:txBody>
          <a:bodyPr>
            <a:normAutofit fontScale="90000"/>
          </a:bodyPr>
          <a:lstStyle/>
          <a:p>
            <a:r>
              <a:rPr lang="en-US"/>
              <a:t>Chain-of-Thought Example</a:t>
            </a:r>
          </a:p>
        </p:txBody>
      </p:sp>
      <p:pic>
        <p:nvPicPr>
          <p:cNvPr id="6" name="Picture 5" descr="A screenshot of a math problem&#10;&#10;Description automatically generated">
            <a:extLst>
              <a:ext uri="{FF2B5EF4-FFF2-40B4-BE49-F238E27FC236}">
                <a16:creationId xmlns:a16="http://schemas.microsoft.com/office/drawing/2014/main" id="{77B4B022-F445-6B11-0D38-FB9F2FC93749}"/>
              </a:ext>
            </a:extLst>
          </p:cNvPr>
          <p:cNvPicPr>
            <a:picLocks noChangeAspect="1"/>
          </p:cNvPicPr>
          <p:nvPr/>
        </p:nvPicPr>
        <p:blipFill>
          <a:blip r:embed="rId2"/>
          <a:stretch>
            <a:fillRect/>
          </a:stretch>
        </p:blipFill>
        <p:spPr>
          <a:xfrm>
            <a:off x="840365" y="1605396"/>
            <a:ext cx="10968470" cy="3009899"/>
          </a:xfrm>
          <a:prstGeom prst="rect">
            <a:avLst/>
          </a:prstGeom>
        </p:spPr>
      </p:pic>
    </p:spTree>
    <p:extLst>
      <p:ext uri="{BB962C8B-B14F-4D97-AF65-F5344CB8AC3E}">
        <p14:creationId xmlns:p14="http://schemas.microsoft.com/office/powerpoint/2010/main" val="36786994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D5965-1370-AB8D-E582-42BB5885BF4A}"/>
              </a:ext>
            </a:extLst>
          </p:cNvPr>
          <p:cNvSpPr>
            <a:spLocks noGrp="1"/>
          </p:cNvSpPr>
          <p:nvPr>
            <p:ph type="title"/>
          </p:nvPr>
        </p:nvSpPr>
        <p:spPr/>
        <p:txBody>
          <a:bodyPr>
            <a:normAutofit fontScale="90000"/>
          </a:bodyPr>
          <a:lstStyle/>
          <a:p>
            <a:r>
              <a:rPr lang="en-US"/>
              <a:t>Chain-of-Thought Example</a:t>
            </a:r>
          </a:p>
        </p:txBody>
      </p:sp>
      <p:pic>
        <p:nvPicPr>
          <p:cNvPr id="7" name="Picture 6" descr="A group of text boxes&#10;&#10;Description automatically generated">
            <a:extLst>
              <a:ext uri="{FF2B5EF4-FFF2-40B4-BE49-F238E27FC236}">
                <a16:creationId xmlns:a16="http://schemas.microsoft.com/office/drawing/2014/main" id="{36255E8E-78D8-A391-35DD-D834F4DBFEA5}"/>
              </a:ext>
            </a:extLst>
          </p:cNvPr>
          <p:cNvPicPr>
            <a:picLocks noChangeAspect="1"/>
          </p:cNvPicPr>
          <p:nvPr/>
        </p:nvPicPr>
        <p:blipFill>
          <a:blip r:embed="rId2"/>
          <a:stretch>
            <a:fillRect/>
          </a:stretch>
        </p:blipFill>
        <p:spPr>
          <a:xfrm>
            <a:off x="762434" y="966788"/>
            <a:ext cx="10334625" cy="5450897"/>
          </a:xfrm>
          <a:prstGeom prst="rect">
            <a:avLst/>
          </a:prstGeom>
        </p:spPr>
      </p:pic>
    </p:spTree>
    <p:extLst>
      <p:ext uri="{BB962C8B-B14F-4D97-AF65-F5344CB8AC3E}">
        <p14:creationId xmlns:p14="http://schemas.microsoft.com/office/powerpoint/2010/main" val="22683003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8EFD3-DEB7-FE7B-E36F-6F17E8921CCE}"/>
              </a:ext>
            </a:extLst>
          </p:cNvPr>
          <p:cNvSpPr>
            <a:spLocks noGrp="1"/>
          </p:cNvSpPr>
          <p:nvPr>
            <p:ph type="title"/>
          </p:nvPr>
        </p:nvSpPr>
        <p:spPr/>
        <p:txBody>
          <a:bodyPr>
            <a:normAutofit fontScale="90000"/>
          </a:bodyPr>
          <a:lstStyle/>
          <a:p>
            <a:r>
              <a:rPr lang="en-US"/>
              <a:t>Zero Shot Chain-of-Thought</a:t>
            </a:r>
            <a:endParaRPr lang="en-US" b="0">
              <a:solidFill>
                <a:srgbClr val="000000"/>
              </a:solidFill>
            </a:endParaRPr>
          </a:p>
        </p:txBody>
      </p:sp>
      <p:sp>
        <p:nvSpPr>
          <p:cNvPr id="3" name="Text Placeholder 2">
            <a:extLst>
              <a:ext uri="{FF2B5EF4-FFF2-40B4-BE49-F238E27FC236}">
                <a16:creationId xmlns:a16="http://schemas.microsoft.com/office/drawing/2014/main" id="{227ADBD4-BF9B-5EC1-C714-01227378D661}"/>
              </a:ext>
            </a:extLst>
          </p:cNvPr>
          <p:cNvSpPr>
            <a:spLocks noGrp="1"/>
          </p:cNvSpPr>
          <p:nvPr>
            <p:ph type="body" idx="1"/>
          </p:nvPr>
        </p:nvSpPr>
        <p:spPr>
          <a:xfrm>
            <a:off x="671945" y="681037"/>
            <a:ext cx="11320465" cy="5237162"/>
          </a:xfrm>
        </p:spPr>
        <p:txBody>
          <a:bodyPr/>
          <a:lstStyle/>
          <a:p>
            <a:r>
              <a:rPr lang="en-US"/>
              <a:t>Zero-shot </a:t>
            </a:r>
            <a:r>
              <a:rPr lang="en-US" err="1"/>
              <a:t>CoT</a:t>
            </a:r>
            <a:r>
              <a:rPr lang="en-US"/>
              <a:t> adds a single prompt like “Let’s think step by step” after the test question</a:t>
            </a:r>
          </a:p>
          <a:p>
            <a:r>
              <a:rPr lang="en-US"/>
              <a:t>Since this prompting paradigm is task-agnostic and does not need input-output demonstrations, it is called Zero-Shot-CoT </a:t>
            </a:r>
          </a:p>
        </p:txBody>
      </p:sp>
      <p:pic>
        <p:nvPicPr>
          <p:cNvPr id="5" name="Picture 4" descr="A screenshot of a test&#10;&#10;Description automatically generated">
            <a:extLst>
              <a:ext uri="{FF2B5EF4-FFF2-40B4-BE49-F238E27FC236}">
                <a16:creationId xmlns:a16="http://schemas.microsoft.com/office/drawing/2014/main" id="{788660A5-DC7E-5363-9E0B-96408D5A20BA}"/>
              </a:ext>
            </a:extLst>
          </p:cNvPr>
          <p:cNvPicPr>
            <a:picLocks noChangeAspect="1"/>
          </p:cNvPicPr>
          <p:nvPr/>
        </p:nvPicPr>
        <p:blipFill>
          <a:blip r:embed="rId2"/>
          <a:stretch>
            <a:fillRect/>
          </a:stretch>
        </p:blipFill>
        <p:spPr>
          <a:xfrm>
            <a:off x="1888115" y="2576219"/>
            <a:ext cx="8415770" cy="4203123"/>
          </a:xfrm>
          <a:prstGeom prst="rect">
            <a:avLst/>
          </a:prstGeom>
        </p:spPr>
      </p:pic>
    </p:spTree>
    <p:extLst>
      <p:ext uri="{BB962C8B-B14F-4D97-AF65-F5344CB8AC3E}">
        <p14:creationId xmlns:p14="http://schemas.microsoft.com/office/powerpoint/2010/main" val="19373699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CAE1E-95E3-821F-6BFB-B825DA98BEB3}"/>
              </a:ext>
            </a:extLst>
          </p:cNvPr>
          <p:cNvSpPr>
            <a:spLocks noGrp="1"/>
          </p:cNvSpPr>
          <p:nvPr>
            <p:ph type="title"/>
          </p:nvPr>
        </p:nvSpPr>
        <p:spPr/>
        <p:txBody>
          <a:bodyPr>
            <a:normAutofit fontScale="90000"/>
          </a:bodyPr>
          <a:lstStyle/>
          <a:p>
            <a:r>
              <a:rPr lang="en-US"/>
              <a:t>Automatic Chain-of-Thought</a:t>
            </a:r>
          </a:p>
        </p:txBody>
      </p:sp>
      <p:sp>
        <p:nvSpPr>
          <p:cNvPr id="3" name="Text Placeholder 2">
            <a:extLst>
              <a:ext uri="{FF2B5EF4-FFF2-40B4-BE49-F238E27FC236}">
                <a16:creationId xmlns:a16="http://schemas.microsoft.com/office/drawing/2014/main" id="{40E074CA-75A3-F738-8019-D4CBEB67996A}"/>
              </a:ext>
            </a:extLst>
          </p:cNvPr>
          <p:cNvSpPr>
            <a:spLocks noGrp="1"/>
          </p:cNvSpPr>
          <p:nvPr>
            <p:ph type="body" idx="1"/>
          </p:nvPr>
        </p:nvSpPr>
        <p:spPr/>
        <p:txBody>
          <a:bodyPr>
            <a:normAutofit/>
          </a:bodyPr>
          <a:lstStyle/>
          <a:p>
            <a:r>
              <a:rPr lang="en-US" err="1"/>
              <a:t>CoT</a:t>
            </a:r>
            <a:r>
              <a:rPr lang="en-US"/>
              <a:t> prompting has two major paradigms.</a:t>
            </a:r>
          </a:p>
          <a:p>
            <a:pPr lvl="1"/>
            <a:r>
              <a:rPr lang="en-US"/>
              <a:t>One leverages a simple prompt like “Let’s think step by step” to facilitate step-by-step thinking before answering a question. </a:t>
            </a:r>
          </a:p>
          <a:p>
            <a:pPr lvl="1"/>
            <a:r>
              <a:rPr lang="en-US"/>
              <a:t>The other uses a few manual demonstrations one by one, each composed of a question and a reasoning chain that leads to an answer. </a:t>
            </a:r>
          </a:p>
          <a:p>
            <a:pPr lvl="2"/>
            <a:r>
              <a:rPr lang="en-US"/>
              <a:t>The superior performance of the second paradigm hinges on hand-crafting task-specific demonstrations one by one. </a:t>
            </a:r>
          </a:p>
        </p:txBody>
      </p:sp>
    </p:spTree>
    <p:extLst>
      <p:ext uri="{BB962C8B-B14F-4D97-AF65-F5344CB8AC3E}">
        <p14:creationId xmlns:p14="http://schemas.microsoft.com/office/powerpoint/2010/main" val="672032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CAE1E-95E3-821F-6BFB-B825DA98BEB3}"/>
              </a:ext>
            </a:extLst>
          </p:cNvPr>
          <p:cNvSpPr>
            <a:spLocks noGrp="1"/>
          </p:cNvSpPr>
          <p:nvPr>
            <p:ph type="title"/>
          </p:nvPr>
        </p:nvSpPr>
        <p:spPr/>
        <p:txBody>
          <a:bodyPr>
            <a:normAutofit fontScale="90000"/>
          </a:bodyPr>
          <a:lstStyle/>
          <a:p>
            <a:r>
              <a:rPr lang="en-US"/>
              <a:t>Automatic Chain-of-Thought</a:t>
            </a:r>
          </a:p>
        </p:txBody>
      </p:sp>
      <p:sp>
        <p:nvSpPr>
          <p:cNvPr id="3" name="Text Placeholder 2">
            <a:extLst>
              <a:ext uri="{FF2B5EF4-FFF2-40B4-BE49-F238E27FC236}">
                <a16:creationId xmlns:a16="http://schemas.microsoft.com/office/drawing/2014/main" id="{40E074CA-75A3-F738-8019-D4CBEB67996A}"/>
              </a:ext>
            </a:extLst>
          </p:cNvPr>
          <p:cNvSpPr>
            <a:spLocks noGrp="1"/>
          </p:cNvSpPr>
          <p:nvPr>
            <p:ph type="body" idx="1"/>
          </p:nvPr>
        </p:nvSpPr>
        <p:spPr/>
        <p:txBody>
          <a:bodyPr>
            <a:normAutofit/>
          </a:bodyPr>
          <a:lstStyle/>
          <a:p>
            <a:r>
              <a:rPr lang="en-US"/>
              <a:t>It is possible to eliminate the manual efforts by leveraging LLMs with the “Let’s think step by step” prompt to generate reasoning chains for demonstrations one by one, i.e., let’s think not just step by step, but also one by one. </a:t>
            </a:r>
          </a:p>
          <a:p>
            <a:r>
              <a:rPr lang="en-US"/>
              <a:t>However, these generated chains often come with mistakes. To mitigate the effect of such mistakes, we find that diversity matters when automatically constructing demonstrations. </a:t>
            </a:r>
          </a:p>
          <a:p>
            <a:r>
              <a:rPr lang="en-US" err="1"/>
              <a:t>AutoCoT</a:t>
            </a:r>
            <a:r>
              <a:rPr lang="en-US"/>
              <a:t> samples questions with diversity and generates reasoning chains to construct demonstrations. </a:t>
            </a:r>
          </a:p>
        </p:txBody>
      </p:sp>
    </p:spTree>
    <p:extLst>
      <p:ext uri="{BB962C8B-B14F-4D97-AF65-F5344CB8AC3E}">
        <p14:creationId xmlns:p14="http://schemas.microsoft.com/office/powerpoint/2010/main" val="9229675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26D23-E74C-255A-332D-BA606228C9F1}"/>
              </a:ext>
            </a:extLst>
          </p:cNvPr>
          <p:cNvSpPr>
            <a:spLocks noGrp="1"/>
          </p:cNvSpPr>
          <p:nvPr>
            <p:ph type="title"/>
          </p:nvPr>
        </p:nvSpPr>
        <p:spPr/>
        <p:txBody>
          <a:bodyPr>
            <a:normAutofit fontScale="90000"/>
          </a:bodyPr>
          <a:lstStyle/>
          <a:p>
            <a:r>
              <a:rPr lang="en-US"/>
              <a:t>Automatic </a:t>
            </a:r>
            <a:r>
              <a:rPr lang="en-US" err="1"/>
              <a:t>CoT</a:t>
            </a:r>
          </a:p>
        </p:txBody>
      </p:sp>
      <p:pic>
        <p:nvPicPr>
          <p:cNvPr id="4" name="Picture 3" descr="A paper with text and numbers&#10;&#10;Description automatically generated">
            <a:extLst>
              <a:ext uri="{FF2B5EF4-FFF2-40B4-BE49-F238E27FC236}">
                <a16:creationId xmlns:a16="http://schemas.microsoft.com/office/drawing/2014/main" id="{6F217745-C55A-A8BB-E0F1-86A8C61CCBDB}"/>
              </a:ext>
            </a:extLst>
          </p:cNvPr>
          <p:cNvPicPr>
            <a:picLocks noChangeAspect="1"/>
          </p:cNvPicPr>
          <p:nvPr/>
        </p:nvPicPr>
        <p:blipFill>
          <a:blip r:embed="rId2"/>
          <a:stretch>
            <a:fillRect/>
          </a:stretch>
        </p:blipFill>
        <p:spPr>
          <a:xfrm>
            <a:off x="129756" y="1360728"/>
            <a:ext cx="12061884" cy="4150923"/>
          </a:xfrm>
          <a:prstGeom prst="rect">
            <a:avLst/>
          </a:prstGeom>
        </p:spPr>
      </p:pic>
    </p:spTree>
    <p:extLst>
      <p:ext uri="{BB962C8B-B14F-4D97-AF65-F5344CB8AC3E}">
        <p14:creationId xmlns:p14="http://schemas.microsoft.com/office/powerpoint/2010/main" val="33420689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3A47B-26D7-7A77-D464-33D16CEFD300}"/>
              </a:ext>
            </a:extLst>
          </p:cNvPr>
          <p:cNvSpPr>
            <a:spLocks noGrp="1"/>
          </p:cNvSpPr>
          <p:nvPr>
            <p:ph type="title"/>
          </p:nvPr>
        </p:nvSpPr>
        <p:spPr/>
        <p:txBody>
          <a:bodyPr>
            <a:normAutofit fontScale="90000"/>
          </a:bodyPr>
          <a:lstStyle/>
          <a:p>
            <a:r>
              <a:rPr lang="en-US"/>
              <a:t>Automatic Chain-of-Thought</a:t>
            </a:r>
          </a:p>
        </p:txBody>
      </p:sp>
      <p:pic>
        <p:nvPicPr>
          <p:cNvPr id="4" name="Picture 3" descr="AUTOCOT">
            <a:extLst>
              <a:ext uri="{FF2B5EF4-FFF2-40B4-BE49-F238E27FC236}">
                <a16:creationId xmlns:a16="http://schemas.microsoft.com/office/drawing/2014/main" id="{594CA7E7-D861-5798-1D8D-50ACCD3CB4F3}"/>
              </a:ext>
            </a:extLst>
          </p:cNvPr>
          <p:cNvPicPr>
            <a:picLocks noChangeAspect="1"/>
          </p:cNvPicPr>
          <p:nvPr/>
        </p:nvPicPr>
        <p:blipFill>
          <a:blip r:embed="rId2"/>
          <a:stretch>
            <a:fillRect/>
          </a:stretch>
        </p:blipFill>
        <p:spPr>
          <a:xfrm>
            <a:off x="1183264" y="1083252"/>
            <a:ext cx="10601325" cy="5772150"/>
          </a:xfrm>
          <a:prstGeom prst="rect">
            <a:avLst/>
          </a:prstGeom>
        </p:spPr>
      </p:pic>
    </p:spTree>
    <p:extLst>
      <p:ext uri="{BB962C8B-B14F-4D97-AF65-F5344CB8AC3E}">
        <p14:creationId xmlns:p14="http://schemas.microsoft.com/office/powerpoint/2010/main" val="40176138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3318D-F4CB-9F5B-4AA0-A69308952E92}"/>
              </a:ext>
            </a:extLst>
          </p:cNvPr>
          <p:cNvSpPr>
            <a:spLocks noGrp="1"/>
          </p:cNvSpPr>
          <p:nvPr>
            <p:ph type="title"/>
          </p:nvPr>
        </p:nvSpPr>
        <p:spPr/>
        <p:txBody>
          <a:bodyPr>
            <a:normAutofit fontScale="90000"/>
          </a:bodyPr>
          <a:lstStyle/>
          <a:p>
            <a:r>
              <a:rPr lang="en-US"/>
              <a:t>Ensemble prompting: Self Consistency</a:t>
            </a:r>
          </a:p>
        </p:txBody>
      </p:sp>
      <p:pic>
        <p:nvPicPr>
          <p:cNvPr id="4" name="Picture 3" descr="A diagram of a language model&#10;&#10;Description automatically generated">
            <a:extLst>
              <a:ext uri="{FF2B5EF4-FFF2-40B4-BE49-F238E27FC236}">
                <a16:creationId xmlns:a16="http://schemas.microsoft.com/office/drawing/2014/main" id="{35C7BED8-DFDF-2275-C880-5399377FDA68}"/>
              </a:ext>
            </a:extLst>
          </p:cNvPr>
          <p:cNvPicPr>
            <a:picLocks noChangeAspect="1"/>
          </p:cNvPicPr>
          <p:nvPr/>
        </p:nvPicPr>
        <p:blipFill>
          <a:blip r:embed="rId2"/>
          <a:stretch>
            <a:fillRect/>
          </a:stretch>
        </p:blipFill>
        <p:spPr>
          <a:xfrm>
            <a:off x="844696" y="1361643"/>
            <a:ext cx="10945956" cy="5021406"/>
          </a:xfrm>
          <a:prstGeom prst="rect">
            <a:avLst/>
          </a:prstGeom>
        </p:spPr>
      </p:pic>
    </p:spTree>
    <p:extLst>
      <p:ext uri="{BB962C8B-B14F-4D97-AF65-F5344CB8AC3E}">
        <p14:creationId xmlns:p14="http://schemas.microsoft.com/office/powerpoint/2010/main" val="19165316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063FB-CC37-EB7E-2418-2E082DBA2A5D}"/>
              </a:ext>
            </a:extLst>
          </p:cNvPr>
          <p:cNvSpPr>
            <a:spLocks noGrp="1"/>
          </p:cNvSpPr>
          <p:nvPr>
            <p:ph type="title"/>
          </p:nvPr>
        </p:nvSpPr>
        <p:spPr/>
        <p:txBody>
          <a:bodyPr>
            <a:normAutofit fontScale="90000"/>
          </a:bodyPr>
          <a:lstStyle/>
          <a:p>
            <a:r>
              <a:rPr lang="en-US"/>
              <a:t>Self Consistency: </a:t>
            </a:r>
            <a:r>
              <a:rPr lang="en-US" err="1"/>
              <a:t>CoT</a:t>
            </a:r>
            <a:r>
              <a:rPr lang="en-US"/>
              <a:t> Reasoning</a:t>
            </a:r>
          </a:p>
        </p:txBody>
      </p:sp>
      <p:sp>
        <p:nvSpPr>
          <p:cNvPr id="3" name="Text Placeholder 2">
            <a:extLst>
              <a:ext uri="{FF2B5EF4-FFF2-40B4-BE49-F238E27FC236}">
                <a16:creationId xmlns:a16="http://schemas.microsoft.com/office/drawing/2014/main" id="{8A6FF44D-23EA-2585-7969-75B8DBC602B1}"/>
              </a:ext>
            </a:extLst>
          </p:cNvPr>
          <p:cNvSpPr>
            <a:spLocks noGrp="1"/>
          </p:cNvSpPr>
          <p:nvPr>
            <p:ph type="body" idx="1"/>
          </p:nvPr>
        </p:nvSpPr>
        <p:spPr/>
        <p:txBody>
          <a:bodyPr>
            <a:normAutofit fontScale="92500" lnSpcReduction="10000"/>
          </a:bodyPr>
          <a:lstStyle/>
          <a:p>
            <a:r>
              <a:rPr lang="en-US"/>
              <a:t>Prompt the language model with chain-of-thought prompting, then instead of greedily decoding the optimal reasoning path, “sample-and-marginalize” decoding procedure: </a:t>
            </a:r>
          </a:p>
          <a:p>
            <a:r>
              <a:rPr lang="en-US"/>
              <a:t>First sample from the language model’s decoder to generate a diverse set of reasoning paths; </a:t>
            </a:r>
          </a:p>
          <a:p>
            <a:r>
              <a:rPr lang="en-US"/>
              <a:t>each reasoning path might lead to a different final answer, determine the optimal answer by marginalizing out the sampled reasoning paths to find the most consistent answer in the final answer set. </a:t>
            </a:r>
          </a:p>
          <a:p>
            <a:r>
              <a:rPr lang="en-US"/>
              <a:t>Such an approach is analogous to the human experience that if multiple different ways of thinking lead to the same answer, one has greater confidence that the final answer is correct. </a:t>
            </a:r>
          </a:p>
          <a:p>
            <a:r>
              <a:rPr lang="en-US"/>
              <a:t>Compared to other decoding methods, self-consistency avoids the repetitiveness and local-optimality that plague greedy decoding, while mitigating the stochasticity of a single sampled generation.</a:t>
            </a:r>
          </a:p>
        </p:txBody>
      </p:sp>
    </p:spTree>
    <p:extLst>
      <p:ext uri="{BB962C8B-B14F-4D97-AF65-F5344CB8AC3E}">
        <p14:creationId xmlns:p14="http://schemas.microsoft.com/office/powerpoint/2010/main" val="33084547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6387E-6CA2-9827-7CC7-724F13E46846}"/>
              </a:ext>
            </a:extLst>
          </p:cNvPr>
          <p:cNvSpPr>
            <a:spLocks noGrp="1"/>
          </p:cNvSpPr>
          <p:nvPr>
            <p:ph type="title"/>
          </p:nvPr>
        </p:nvSpPr>
        <p:spPr/>
        <p:txBody>
          <a:bodyPr>
            <a:normAutofit fontScale="90000"/>
          </a:bodyPr>
          <a:lstStyle/>
          <a:p>
            <a:r>
              <a:rPr lang="en-US"/>
              <a:t>Tree-of-thought Prompt</a:t>
            </a:r>
          </a:p>
        </p:txBody>
      </p:sp>
      <p:sp>
        <p:nvSpPr>
          <p:cNvPr id="3" name="Text Placeholder 2">
            <a:extLst>
              <a:ext uri="{FF2B5EF4-FFF2-40B4-BE49-F238E27FC236}">
                <a16:creationId xmlns:a16="http://schemas.microsoft.com/office/drawing/2014/main" id="{BF76264E-4987-2952-F26E-B6382BEFAAB8}"/>
              </a:ext>
            </a:extLst>
          </p:cNvPr>
          <p:cNvSpPr>
            <a:spLocks noGrp="1"/>
          </p:cNvSpPr>
          <p:nvPr>
            <p:ph type="body" idx="1"/>
          </p:nvPr>
        </p:nvSpPr>
        <p:spPr/>
        <p:txBody>
          <a:bodyPr/>
          <a:lstStyle/>
          <a:p>
            <a:r>
              <a:rPr lang="en-US" err="1"/>
              <a:t>ToT</a:t>
            </a:r>
            <a:r>
              <a:rPr lang="en-US"/>
              <a:t> maintains a tree of thoughts, where thoughts represent coherent language sequences that serve as intermediate steps toward solving a problem. </a:t>
            </a:r>
          </a:p>
        </p:txBody>
      </p:sp>
      <p:pic>
        <p:nvPicPr>
          <p:cNvPr id="4" name="Picture 3" descr="TOT">
            <a:extLst>
              <a:ext uri="{FF2B5EF4-FFF2-40B4-BE49-F238E27FC236}">
                <a16:creationId xmlns:a16="http://schemas.microsoft.com/office/drawing/2014/main" id="{4599FF77-F8FB-2AA0-14D2-5F9B07765A7A}"/>
              </a:ext>
            </a:extLst>
          </p:cNvPr>
          <p:cNvPicPr>
            <a:picLocks noChangeAspect="1"/>
          </p:cNvPicPr>
          <p:nvPr/>
        </p:nvPicPr>
        <p:blipFill>
          <a:blip r:embed="rId2"/>
          <a:stretch>
            <a:fillRect/>
          </a:stretch>
        </p:blipFill>
        <p:spPr>
          <a:xfrm>
            <a:off x="2345099" y="2415859"/>
            <a:ext cx="8001866" cy="4061114"/>
          </a:xfrm>
          <a:prstGeom prst="rect">
            <a:avLst/>
          </a:prstGeom>
        </p:spPr>
      </p:pic>
    </p:spTree>
    <p:extLst>
      <p:ext uri="{BB962C8B-B14F-4D97-AF65-F5344CB8AC3E}">
        <p14:creationId xmlns:p14="http://schemas.microsoft.com/office/powerpoint/2010/main" val="133431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6387E-6CA2-9827-7CC7-724F13E46846}"/>
              </a:ext>
            </a:extLst>
          </p:cNvPr>
          <p:cNvSpPr>
            <a:spLocks noGrp="1"/>
          </p:cNvSpPr>
          <p:nvPr>
            <p:ph type="title"/>
          </p:nvPr>
        </p:nvSpPr>
        <p:spPr/>
        <p:txBody>
          <a:bodyPr>
            <a:normAutofit fontScale="90000"/>
          </a:bodyPr>
          <a:lstStyle/>
          <a:p>
            <a:r>
              <a:rPr lang="en-US"/>
              <a:t>Tree-of-thought Prompt</a:t>
            </a:r>
          </a:p>
        </p:txBody>
      </p:sp>
      <p:sp>
        <p:nvSpPr>
          <p:cNvPr id="3" name="Text Placeholder 2">
            <a:extLst>
              <a:ext uri="{FF2B5EF4-FFF2-40B4-BE49-F238E27FC236}">
                <a16:creationId xmlns:a16="http://schemas.microsoft.com/office/drawing/2014/main" id="{BF76264E-4987-2952-F26E-B6382BEFAAB8}"/>
              </a:ext>
            </a:extLst>
          </p:cNvPr>
          <p:cNvSpPr>
            <a:spLocks noGrp="1"/>
          </p:cNvSpPr>
          <p:nvPr>
            <p:ph type="body" idx="1"/>
          </p:nvPr>
        </p:nvSpPr>
        <p:spPr/>
        <p:txBody>
          <a:bodyPr/>
          <a:lstStyle/>
          <a:p>
            <a:r>
              <a:rPr lang="en-US"/>
              <a:t>This approach enables an LM to self-evaluate the progress through intermediate thoughts made towards solving a problem through a deliberate reasoning process. </a:t>
            </a:r>
          </a:p>
        </p:txBody>
      </p:sp>
      <p:pic>
        <p:nvPicPr>
          <p:cNvPr id="4" name="Picture 3" descr="TOT">
            <a:extLst>
              <a:ext uri="{FF2B5EF4-FFF2-40B4-BE49-F238E27FC236}">
                <a16:creationId xmlns:a16="http://schemas.microsoft.com/office/drawing/2014/main" id="{9183750A-5CC8-EA55-B2A3-A1612CC744CF}"/>
              </a:ext>
            </a:extLst>
          </p:cNvPr>
          <p:cNvPicPr>
            <a:picLocks noChangeAspect="1"/>
          </p:cNvPicPr>
          <p:nvPr/>
        </p:nvPicPr>
        <p:blipFill>
          <a:blip r:embed="rId2"/>
          <a:stretch>
            <a:fillRect/>
          </a:stretch>
        </p:blipFill>
        <p:spPr>
          <a:xfrm>
            <a:off x="2212830" y="2513733"/>
            <a:ext cx="6893504" cy="3493078"/>
          </a:xfrm>
          <a:prstGeom prst="rect">
            <a:avLst/>
          </a:prstGeom>
        </p:spPr>
      </p:pic>
    </p:spTree>
    <p:extLst>
      <p:ext uri="{BB962C8B-B14F-4D97-AF65-F5344CB8AC3E}">
        <p14:creationId xmlns:p14="http://schemas.microsoft.com/office/powerpoint/2010/main" val="19200007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6387E-6CA2-9827-7CC7-724F13E46846}"/>
              </a:ext>
            </a:extLst>
          </p:cNvPr>
          <p:cNvSpPr>
            <a:spLocks noGrp="1"/>
          </p:cNvSpPr>
          <p:nvPr>
            <p:ph type="title"/>
          </p:nvPr>
        </p:nvSpPr>
        <p:spPr/>
        <p:txBody>
          <a:bodyPr>
            <a:normAutofit fontScale="90000"/>
          </a:bodyPr>
          <a:lstStyle/>
          <a:p>
            <a:r>
              <a:rPr lang="en-US"/>
              <a:t>Tree-of-thought Prompt</a:t>
            </a:r>
          </a:p>
        </p:txBody>
      </p:sp>
      <p:sp>
        <p:nvSpPr>
          <p:cNvPr id="3" name="Text Placeholder 2">
            <a:extLst>
              <a:ext uri="{FF2B5EF4-FFF2-40B4-BE49-F238E27FC236}">
                <a16:creationId xmlns:a16="http://schemas.microsoft.com/office/drawing/2014/main" id="{BF76264E-4987-2952-F26E-B6382BEFAAB8}"/>
              </a:ext>
            </a:extLst>
          </p:cNvPr>
          <p:cNvSpPr>
            <a:spLocks noGrp="1"/>
          </p:cNvSpPr>
          <p:nvPr>
            <p:ph type="body" idx="1"/>
          </p:nvPr>
        </p:nvSpPr>
        <p:spPr/>
        <p:txBody>
          <a:bodyPr/>
          <a:lstStyle/>
          <a:p>
            <a:r>
              <a:rPr lang="en-US"/>
              <a:t>The LM's ability to generate and evaluate thoughts is then combined with search algorithms (e.g., breadth-first search and depth-first search) to enable systematic exploration of thoughts with lookahead and backtracking.</a:t>
            </a:r>
          </a:p>
        </p:txBody>
      </p:sp>
      <p:pic>
        <p:nvPicPr>
          <p:cNvPr id="4" name="Picture 3" descr="TOT">
            <a:extLst>
              <a:ext uri="{FF2B5EF4-FFF2-40B4-BE49-F238E27FC236}">
                <a16:creationId xmlns:a16="http://schemas.microsoft.com/office/drawing/2014/main" id="{EB7FCF50-0586-A080-EA18-5D708B7148A1}"/>
              </a:ext>
            </a:extLst>
          </p:cNvPr>
          <p:cNvPicPr>
            <a:picLocks noChangeAspect="1"/>
          </p:cNvPicPr>
          <p:nvPr/>
        </p:nvPicPr>
        <p:blipFill>
          <a:blip r:embed="rId2"/>
          <a:stretch>
            <a:fillRect/>
          </a:stretch>
        </p:blipFill>
        <p:spPr>
          <a:xfrm>
            <a:off x="3376612" y="2499880"/>
            <a:ext cx="7032048" cy="3562350"/>
          </a:xfrm>
          <a:prstGeom prst="rect">
            <a:avLst/>
          </a:prstGeom>
        </p:spPr>
      </p:pic>
    </p:spTree>
    <p:extLst>
      <p:ext uri="{BB962C8B-B14F-4D97-AF65-F5344CB8AC3E}">
        <p14:creationId xmlns:p14="http://schemas.microsoft.com/office/powerpoint/2010/main" val="42017497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2FB52-3CB5-0506-C0AC-EBA1F8B7E7C8}"/>
              </a:ext>
            </a:extLst>
          </p:cNvPr>
          <p:cNvSpPr>
            <a:spLocks noGrp="1"/>
          </p:cNvSpPr>
          <p:nvPr>
            <p:ph type="title"/>
          </p:nvPr>
        </p:nvSpPr>
        <p:spPr/>
        <p:txBody>
          <a:bodyPr>
            <a:normAutofit fontScale="90000"/>
          </a:bodyPr>
          <a:lstStyle/>
          <a:p>
            <a:r>
              <a:rPr lang="en-US"/>
              <a:t>Tree-of-thoughts Prompt</a:t>
            </a:r>
          </a:p>
        </p:txBody>
      </p:sp>
      <p:sp>
        <p:nvSpPr>
          <p:cNvPr id="3" name="Text Placeholder 2">
            <a:extLst>
              <a:ext uri="{FF2B5EF4-FFF2-40B4-BE49-F238E27FC236}">
                <a16:creationId xmlns:a16="http://schemas.microsoft.com/office/drawing/2014/main" id="{B95270FB-F046-6C5A-ABD2-B294D04C2A97}"/>
              </a:ext>
            </a:extLst>
          </p:cNvPr>
          <p:cNvSpPr>
            <a:spLocks noGrp="1"/>
          </p:cNvSpPr>
          <p:nvPr>
            <p:ph type="body" idx="1"/>
          </p:nvPr>
        </p:nvSpPr>
        <p:spPr/>
        <p:txBody>
          <a:bodyPr/>
          <a:lstStyle/>
          <a:p>
            <a:r>
              <a:rPr lang="en-US"/>
              <a:t>Tree of Thought Prompting generates multiple lines of thought, resembling a decision tree, to explore different possibilities and ideas. Unlike traditional linear approaches, this technique allows the AI model to evaluate and pursue multiple paths simultaneously.</a:t>
            </a:r>
            <a:br>
              <a:rPr lang="en-US"/>
            </a:br>
            <a:endParaRPr lang="en-US"/>
          </a:p>
          <a:p>
            <a:endParaRPr lang="en-US"/>
          </a:p>
        </p:txBody>
      </p:sp>
      <p:pic>
        <p:nvPicPr>
          <p:cNvPr id="4" name="Picture 3">
            <a:extLst>
              <a:ext uri="{FF2B5EF4-FFF2-40B4-BE49-F238E27FC236}">
                <a16:creationId xmlns:a16="http://schemas.microsoft.com/office/drawing/2014/main" id="{0ED59D8B-1EDD-6472-571B-CD4EE09E4893}"/>
              </a:ext>
            </a:extLst>
          </p:cNvPr>
          <p:cNvPicPr>
            <a:picLocks noChangeAspect="1"/>
          </p:cNvPicPr>
          <p:nvPr/>
        </p:nvPicPr>
        <p:blipFill>
          <a:blip r:embed="rId2"/>
          <a:stretch>
            <a:fillRect/>
          </a:stretch>
        </p:blipFill>
        <p:spPr>
          <a:xfrm>
            <a:off x="2471305" y="3256684"/>
            <a:ext cx="6667500" cy="1924050"/>
          </a:xfrm>
          <a:prstGeom prst="rect">
            <a:avLst/>
          </a:prstGeom>
        </p:spPr>
      </p:pic>
    </p:spTree>
    <p:extLst>
      <p:ext uri="{BB962C8B-B14F-4D97-AF65-F5344CB8AC3E}">
        <p14:creationId xmlns:p14="http://schemas.microsoft.com/office/powerpoint/2010/main" val="10184516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716C9-CF6D-4ADE-165D-671F9947E231}"/>
              </a:ext>
            </a:extLst>
          </p:cNvPr>
          <p:cNvSpPr>
            <a:spLocks noGrp="1"/>
          </p:cNvSpPr>
          <p:nvPr>
            <p:ph type="title"/>
          </p:nvPr>
        </p:nvSpPr>
        <p:spPr/>
        <p:txBody>
          <a:bodyPr>
            <a:normAutofit fontScale="90000"/>
          </a:bodyPr>
          <a:lstStyle/>
          <a:p>
            <a:r>
              <a:rPr lang="en-US" sz="4000"/>
              <a:t>Generated Knowledge Prompt</a:t>
            </a:r>
            <a:endParaRPr lang="en-US" sz="4000" b="0">
              <a:solidFill>
                <a:srgbClr val="000000"/>
              </a:solidFill>
            </a:endParaRPr>
          </a:p>
        </p:txBody>
      </p:sp>
      <p:sp>
        <p:nvSpPr>
          <p:cNvPr id="3" name="Text Placeholder 2">
            <a:extLst>
              <a:ext uri="{FF2B5EF4-FFF2-40B4-BE49-F238E27FC236}">
                <a16:creationId xmlns:a16="http://schemas.microsoft.com/office/drawing/2014/main" id="{5058FB81-929C-A788-B3DA-3480C8DC3FB7}"/>
              </a:ext>
            </a:extLst>
          </p:cNvPr>
          <p:cNvSpPr>
            <a:spLocks noGrp="1"/>
          </p:cNvSpPr>
          <p:nvPr>
            <p:ph type="body" idx="1"/>
          </p:nvPr>
        </p:nvSpPr>
        <p:spPr/>
        <p:txBody>
          <a:bodyPr>
            <a:normAutofit fontScale="92500" lnSpcReduction="10000"/>
          </a:bodyPr>
          <a:lstStyle/>
          <a:p>
            <a:r>
              <a:rPr lang="en-US"/>
              <a:t>Generated Knowledge Prompting (GKP) is a prompt engineering technique designed to enhance the performance of large language models (LLMs) by guiding them to generate relevant information before answering a question. </a:t>
            </a:r>
          </a:p>
          <a:p>
            <a:r>
              <a:rPr lang="en-US"/>
              <a:t>This approach helps in producing more accurate, contextually grounded, and reliable responses. </a:t>
            </a:r>
          </a:p>
          <a:p>
            <a:r>
              <a:rPr lang="en-US"/>
              <a:t>GKP involves a two-step process: </a:t>
            </a:r>
          </a:p>
          <a:p>
            <a:pPr lvl="1"/>
            <a:r>
              <a:rPr lang="en-US">
                <a:solidFill>
                  <a:schemeClr val="accent6">
                    <a:lumMod val="76000"/>
                  </a:schemeClr>
                </a:solidFill>
              </a:rPr>
              <a:t>Knowledge Generation: The LLM is first prompted to produce background information, facts, or context related to the query</a:t>
            </a:r>
          </a:p>
          <a:p>
            <a:pPr lvl="1"/>
            <a:r>
              <a:rPr lang="en-US"/>
              <a:t>Answer Generation: The model then uses this generated knowledge to formulate a final response to the original question</a:t>
            </a:r>
          </a:p>
          <a:p>
            <a:r>
              <a:rPr lang="en-US"/>
              <a:t>This method is similar to Chain-of-Thought prompting, where the model is encouraged to reason through intermediate steps. </a:t>
            </a:r>
          </a:p>
          <a:p>
            <a:r>
              <a:rPr lang="en-US"/>
              <a:t>However, GKP focuses on generating factual knowledge rather than just reasoning paths .</a:t>
            </a:r>
          </a:p>
          <a:p>
            <a:endParaRPr lang="en-US"/>
          </a:p>
        </p:txBody>
      </p:sp>
    </p:spTree>
    <p:extLst>
      <p:ext uri="{BB962C8B-B14F-4D97-AF65-F5344CB8AC3E}">
        <p14:creationId xmlns:p14="http://schemas.microsoft.com/office/powerpoint/2010/main" val="16077328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8A08B-9E15-55FB-10AE-8E61807D7DC9}"/>
              </a:ext>
            </a:extLst>
          </p:cNvPr>
          <p:cNvSpPr>
            <a:spLocks noGrp="1"/>
          </p:cNvSpPr>
          <p:nvPr>
            <p:ph type="title"/>
          </p:nvPr>
        </p:nvSpPr>
        <p:spPr/>
        <p:txBody>
          <a:bodyPr>
            <a:normAutofit fontScale="90000"/>
          </a:bodyPr>
          <a:lstStyle/>
          <a:p>
            <a:r>
              <a:rPr lang="en-US"/>
              <a:t>Generated Knowledge Prompt</a:t>
            </a:r>
          </a:p>
        </p:txBody>
      </p:sp>
      <p:pic>
        <p:nvPicPr>
          <p:cNvPr id="4" name="Picture 3" descr="GENKNOW">
            <a:extLst>
              <a:ext uri="{FF2B5EF4-FFF2-40B4-BE49-F238E27FC236}">
                <a16:creationId xmlns:a16="http://schemas.microsoft.com/office/drawing/2014/main" id="{04B2D292-DA85-2B40-B17A-0F056456D1B6}"/>
              </a:ext>
            </a:extLst>
          </p:cNvPr>
          <p:cNvPicPr>
            <a:picLocks noChangeAspect="1"/>
          </p:cNvPicPr>
          <p:nvPr/>
        </p:nvPicPr>
        <p:blipFill>
          <a:blip r:embed="rId2"/>
          <a:stretch>
            <a:fillRect/>
          </a:stretch>
        </p:blipFill>
        <p:spPr>
          <a:xfrm>
            <a:off x="1859262" y="995362"/>
            <a:ext cx="8832909" cy="5701161"/>
          </a:xfrm>
          <a:prstGeom prst="rect">
            <a:avLst/>
          </a:prstGeom>
        </p:spPr>
      </p:pic>
    </p:spTree>
    <p:extLst>
      <p:ext uri="{BB962C8B-B14F-4D97-AF65-F5344CB8AC3E}">
        <p14:creationId xmlns:p14="http://schemas.microsoft.com/office/powerpoint/2010/main" val="30181735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CE851-8275-EC01-2010-575356C4CDE0}"/>
              </a:ext>
            </a:extLst>
          </p:cNvPr>
          <p:cNvSpPr>
            <a:spLocks noGrp="1"/>
          </p:cNvSpPr>
          <p:nvPr>
            <p:ph type="title"/>
          </p:nvPr>
        </p:nvSpPr>
        <p:spPr/>
        <p:txBody>
          <a:bodyPr>
            <a:normAutofit fontScale="90000"/>
          </a:bodyPr>
          <a:lstStyle/>
          <a:p>
            <a:r>
              <a:rPr lang="en-US" sz="4000"/>
              <a:t>Directional Stimulus Prompting</a:t>
            </a:r>
            <a:endParaRPr lang="en-US" sz="4000" b="0">
              <a:solidFill>
                <a:srgbClr val="000000"/>
              </a:solidFill>
            </a:endParaRPr>
          </a:p>
        </p:txBody>
      </p:sp>
      <p:sp>
        <p:nvSpPr>
          <p:cNvPr id="3" name="Text Placeholder 2">
            <a:extLst>
              <a:ext uri="{FF2B5EF4-FFF2-40B4-BE49-F238E27FC236}">
                <a16:creationId xmlns:a16="http://schemas.microsoft.com/office/drawing/2014/main" id="{17840281-C986-BDD4-D165-18445904CA77}"/>
              </a:ext>
            </a:extLst>
          </p:cNvPr>
          <p:cNvSpPr>
            <a:spLocks noGrp="1"/>
          </p:cNvSpPr>
          <p:nvPr>
            <p:ph type="body" idx="1"/>
          </p:nvPr>
        </p:nvSpPr>
        <p:spPr/>
        <p:txBody>
          <a:bodyPr>
            <a:normAutofit/>
          </a:bodyPr>
          <a:lstStyle/>
          <a:p>
            <a:r>
              <a:rPr lang="en-US"/>
              <a:t>Directional Stimulus Prompting (DSP) is an advanced prompt engineering technique designed to guide large language models (LLMs), such as GPT-4 or </a:t>
            </a:r>
            <a:r>
              <a:rPr lang="en-US" err="1"/>
              <a:t>PaLM</a:t>
            </a:r>
            <a:r>
              <a:rPr lang="en-US"/>
              <a:t>, Gemini toward producing specific, context-sensitive outputs without altering the model's internal parameters.</a:t>
            </a:r>
          </a:p>
          <a:p>
            <a:r>
              <a:rPr lang="en-US"/>
              <a:t>DSP employs a two-model framework: </a:t>
            </a:r>
          </a:p>
          <a:p>
            <a:pPr lvl="1"/>
            <a:r>
              <a:rPr lang="en-US">
                <a:solidFill>
                  <a:schemeClr val="accent6">
                    <a:lumMod val="76000"/>
                  </a:schemeClr>
                </a:solidFill>
              </a:rPr>
              <a:t>Policy Model: A small, tunable language model (e.g., T5) trained to generate a "directional stimulus"—a hint or cue tailored to the input. </a:t>
            </a:r>
          </a:p>
          <a:p>
            <a:pPr lvl="1"/>
            <a:r>
              <a:rPr lang="en-US"/>
              <a:t>Target LLM: A larger, often black-box model that receives the directional stimulus alongside the original input to produce the desired output. </a:t>
            </a:r>
          </a:p>
          <a:p>
            <a:r>
              <a:rPr lang="en-US">
                <a:solidFill>
                  <a:srgbClr val="0070C0"/>
                </a:solidFill>
              </a:rPr>
              <a:t>This</a:t>
            </a:r>
            <a:r>
              <a:rPr lang="en-US"/>
              <a:t> approach allows for precise control over the LLM's responses, enhancing accuracy and relevance, especially in tasks like summarization or question answering. </a:t>
            </a:r>
          </a:p>
          <a:p>
            <a:endParaRPr lang="en-US"/>
          </a:p>
        </p:txBody>
      </p:sp>
    </p:spTree>
    <p:extLst>
      <p:ext uri="{BB962C8B-B14F-4D97-AF65-F5344CB8AC3E}">
        <p14:creationId xmlns:p14="http://schemas.microsoft.com/office/powerpoint/2010/main" val="21348680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2D11E-4813-C14F-524D-4632156DFBF5}"/>
              </a:ext>
            </a:extLst>
          </p:cNvPr>
          <p:cNvSpPr>
            <a:spLocks noGrp="1"/>
          </p:cNvSpPr>
          <p:nvPr>
            <p:ph type="title"/>
          </p:nvPr>
        </p:nvSpPr>
        <p:spPr/>
        <p:txBody>
          <a:bodyPr>
            <a:normAutofit fontScale="90000"/>
          </a:bodyPr>
          <a:lstStyle/>
          <a:p>
            <a:r>
              <a:rPr lang="en-US"/>
              <a:t>Directional Stimulus Prompting</a:t>
            </a:r>
          </a:p>
        </p:txBody>
      </p:sp>
      <p:pic>
        <p:nvPicPr>
          <p:cNvPr id="4" name="Picture 3" descr="DSP">
            <a:extLst>
              <a:ext uri="{FF2B5EF4-FFF2-40B4-BE49-F238E27FC236}">
                <a16:creationId xmlns:a16="http://schemas.microsoft.com/office/drawing/2014/main" id="{D0A5A097-0B36-32F9-831C-C4714C3C2D97}"/>
              </a:ext>
            </a:extLst>
          </p:cNvPr>
          <p:cNvPicPr>
            <a:picLocks noChangeAspect="1"/>
          </p:cNvPicPr>
          <p:nvPr/>
        </p:nvPicPr>
        <p:blipFill>
          <a:blip r:embed="rId2"/>
          <a:stretch>
            <a:fillRect/>
          </a:stretch>
        </p:blipFill>
        <p:spPr>
          <a:xfrm>
            <a:off x="1391948" y="712210"/>
            <a:ext cx="10045411" cy="6140162"/>
          </a:xfrm>
          <a:prstGeom prst="rect">
            <a:avLst/>
          </a:prstGeom>
        </p:spPr>
      </p:pic>
    </p:spTree>
    <p:extLst>
      <p:ext uri="{BB962C8B-B14F-4D97-AF65-F5344CB8AC3E}">
        <p14:creationId xmlns:p14="http://schemas.microsoft.com/office/powerpoint/2010/main" val="20174216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B0FFA-2968-E8E8-2E19-9A64A9718530}"/>
              </a:ext>
            </a:extLst>
          </p:cNvPr>
          <p:cNvSpPr>
            <a:spLocks noGrp="1"/>
          </p:cNvSpPr>
          <p:nvPr>
            <p:ph type="title"/>
          </p:nvPr>
        </p:nvSpPr>
        <p:spPr/>
        <p:txBody>
          <a:bodyPr>
            <a:normAutofit fontScale="90000"/>
          </a:bodyPr>
          <a:lstStyle/>
          <a:p>
            <a:r>
              <a:rPr lang="en-US" sz="4000" err="1"/>
              <a:t>ReAct</a:t>
            </a:r>
            <a:r>
              <a:rPr lang="en-US" sz="4000"/>
              <a:t> Prompting</a:t>
            </a:r>
            <a:endParaRPr lang="en-US" sz="4000" b="0">
              <a:solidFill>
                <a:srgbClr val="000000"/>
              </a:solidFill>
            </a:endParaRPr>
          </a:p>
        </p:txBody>
      </p:sp>
      <p:sp>
        <p:nvSpPr>
          <p:cNvPr id="3" name="Text Placeholder 2">
            <a:extLst>
              <a:ext uri="{FF2B5EF4-FFF2-40B4-BE49-F238E27FC236}">
                <a16:creationId xmlns:a16="http://schemas.microsoft.com/office/drawing/2014/main" id="{416AA2E9-BBBD-D32A-D496-95A58F7E9D48}"/>
              </a:ext>
            </a:extLst>
          </p:cNvPr>
          <p:cNvSpPr>
            <a:spLocks noGrp="1"/>
          </p:cNvSpPr>
          <p:nvPr>
            <p:ph type="body" idx="1"/>
          </p:nvPr>
        </p:nvSpPr>
        <p:spPr/>
        <p:txBody>
          <a:bodyPr>
            <a:normAutofit lnSpcReduction="10000"/>
          </a:bodyPr>
          <a:lstStyle/>
          <a:p>
            <a:r>
              <a:rPr lang="en-US" err="1"/>
              <a:t>ReAct</a:t>
            </a:r>
            <a:r>
              <a:rPr lang="en-US"/>
              <a:t> prompting—short for Reasoning and Acting—is an advanced prompt engineering technique that enables large language models (LLMs) to solve complex tasks by interleaving logical reasoning with actionable steps. </a:t>
            </a:r>
          </a:p>
          <a:p>
            <a:r>
              <a:rPr lang="en-US"/>
              <a:t>This approach enhances the model's ability to handle multi-step problems, interact with external tools, and produce more accurate, transparent, and grounded responses. </a:t>
            </a:r>
          </a:p>
          <a:p>
            <a:r>
              <a:rPr lang="en-US" err="1"/>
              <a:t>ReAct</a:t>
            </a:r>
            <a:r>
              <a:rPr lang="en-US"/>
              <a:t> prompting guides LLMs to alternate between: </a:t>
            </a:r>
          </a:p>
          <a:p>
            <a:pPr lvl="1"/>
            <a:r>
              <a:rPr lang="en-US">
                <a:solidFill>
                  <a:schemeClr val="accent6">
                    <a:lumMod val="76000"/>
                  </a:schemeClr>
                </a:solidFill>
              </a:rPr>
              <a:t>Thought: The model's internal reasoning about the problem. </a:t>
            </a:r>
          </a:p>
          <a:p>
            <a:pPr lvl="1"/>
            <a:r>
              <a:rPr lang="en-US">
                <a:solidFill>
                  <a:srgbClr val="548135"/>
                </a:solidFill>
              </a:rPr>
              <a:t>Action: An operation the model performs, such as querying a database, searching the web, or invoking a function. </a:t>
            </a:r>
          </a:p>
          <a:p>
            <a:pPr lvl="1"/>
            <a:r>
              <a:rPr lang="en-US"/>
              <a:t>Observation: The result or feedback from the action taken. </a:t>
            </a:r>
          </a:p>
          <a:p>
            <a:r>
              <a:rPr lang="en-US"/>
              <a:t>This cycle continues until the model arrives at a final answer. </a:t>
            </a:r>
          </a:p>
          <a:p>
            <a:endParaRPr lang="en-US"/>
          </a:p>
        </p:txBody>
      </p:sp>
    </p:spTree>
    <p:extLst>
      <p:ext uri="{BB962C8B-B14F-4D97-AF65-F5344CB8AC3E}">
        <p14:creationId xmlns:p14="http://schemas.microsoft.com/office/powerpoint/2010/main" val="1374848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D52D7-B12D-041F-EEB1-D2BF1D9AAA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994900-025B-A4E0-FF73-245DA30E787D}"/>
              </a:ext>
            </a:extLst>
          </p:cNvPr>
          <p:cNvSpPr>
            <a:spLocks noGrp="1"/>
          </p:cNvSpPr>
          <p:nvPr>
            <p:ph type="title"/>
          </p:nvPr>
        </p:nvSpPr>
        <p:spPr/>
        <p:txBody>
          <a:bodyPr>
            <a:normAutofit fontScale="90000"/>
          </a:bodyPr>
          <a:lstStyle/>
          <a:p>
            <a:r>
              <a:rPr lang="en-US" sz="4000" err="1"/>
              <a:t>ReAct</a:t>
            </a:r>
            <a:r>
              <a:rPr lang="en-US" sz="4000"/>
              <a:t> Prompting</a:t>
            </a:r>
            <a:endParaRPr lang="en-US" sz="4000" b="0">
              <a:solidFill>
                <a:srgbClr val="000000"/>
              </a:solidFill>
            </a:endParaRPr>
          </a:p>
        </p:txBody>
      </p:sp>
      <p:sp>
        <p:nvSpPr>
          <p:cNvPr id="3" name="Text Placeholder 2">
            <a:extLst>
              <a:ext uri="{FF2B5EF4-FFF2-40B4-BE49-F238E27FC236}">
                <a16:creationId xmlns:a16="http://schemas.microsoft.com/office/drawing/2014/main" id="{F617C2EF-6727-C621-5A47-804B89921DF7}"/>
              </a:ext>
            </a:extLst>
          </p:cNvPr>
          <p:cNvSpPr>
            <a:spLocks noGrp="1"/>
          </p:cNvSpPr>
          <p:nvPr>
            <p:ph type="body" idx="1"/>
          </p:nvPr>
        </p:nvSpPr>
        <p:spPr/>
        <p:txBody>
          <a:bodyPr>
            <a:normAutofit/>
          </a:bodyPr>
          <a:lstStyle/>
          <a:p>
            <a:pPr marL="114300" indent="0">
              <a:buNone/>
            </a:pPr>
            <a:r>
              <a:rPr lang="en-US"/>
              <a:t> By structuring prompts in this way, </a:t>
            </a:r>
            <a:r>
              <a:rPr lang="en-US" err="1"/>
              <a:t>ReAct</a:t>
            </a:r>
            <a:r>
              <a:rPr lang="en-US"/>
              <a:t> enables LLMs to: </a:t>
            </a:r>
          </a:p>
          <a:p>
            <a:r>
              <a:rPr lang="en-US">
                <a:solidFill>
                  <a:srgbClr val="0070C0"/>
                </a:solidFill>
              </a:rPr>
              <a:t>Plan and adjust actions dynamically </a:t>
            </a:r>
          </a:p>
          <a:p>
            <a:r>
              <a:rPr lang="en-US"/>
              <a:t>Interact with external environments or tools </a:t>
            </a:r>
          </a:p>
          <a:p>
            <a:r>
              <a:rPr lang="en-US"/>
              <a:t>Incorporate new information into their reasoning process </a:t>
            </a:r>
          </a:p>
          <a:p>
            <a:r>
              <a:rPr lang="en-US"/>
              <a:t>This methodology is particularly effective for tasks that require both deep reasoning and real-time information retrieval. </a:t>
            </a:r>
          </a:p>
          <a:p>
            <a:endParaRPr lang="en-US"/>
          </a:p>
        </p:txBody>
      </p:sp>
    </p:spTree>
    <p:extLst>
      <p:ext uri="{BB962C8B-B14F-4D97-AF65-F5344CB8AC3E}">
        <p14:creationId xmlns:p14="http://schemas.microsoft.com/office/powerpoint/2010/main" val="33639033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18592-248F-4668-AC94-BF9385725C27}"/>
              </a:ext>
            </a:extLst>
          </p:cNvPr>
          <p:cNvSpPr>
            <a:spLocks noGrp="1"/>
          </p:cNvSpPr>
          <p:nvPr>
            <p:ph type="title"/>
          </p:nvPr>
        </p:nvSpPr>
        <p:spPr/>
        <p:txBody>
          <a:bodyPr>
            <a:normAutofit fontScale="90000"/>
          </a:bodyPr>
          <a:lstStyle/>
          <a:p>
            <a:r>
              <a:rPr lang="en-US" err="1"/>
              <a:t>ReAct</a:t>
            </a:r>
            <a:r>
              <a:rPr lang="en-US"/>
              <a:t> Prompting</a:t>
            </a:r>
          </a:p>
        </p:txBody>
      </p:sp>
      <p:pic>
        <p:nvPicPr>
          <p:cNvPr id="4" name="Picture 3" descr="A screenshot of a computer program&#10;&#10;Description automatically generated">
            <a:extLst>
              <a:ext uri="{FF2B5EF4-FFF2-40B4-BE49-F238E27FC236}">
                <a16:creationId xmlns:a16="http://schemas.microsoft.com/office/drawing/2014/main" id="{9576F288-2E52-4FF5-7595-FFFECB1CEF2F}"/>
              </a:ext>
            </a:extLst>
          </p:cNvPr>
          <p:cNvPicPr>
            <a:picLocks noChangeAspect="1"/>
          </p:cNvPicPr>
          <p:nvPr/>
        </p:nvPicPr>
        <p:blipFill>
          <a:blip r:embed="rId2"/>
          <a:stretch>
            <a:fillRect/>
          </a:stretch>
        </p:blipFill>
        <p:spPr>
          <a:xfrm>
            <a:off x="315673" y="1265207"/>
            <a:ext cx="11474389" cy="4859546"/>
          </a:xfrm>
          <a:prstGeom prst="rect">
            <a:avLst/>
          </a:prstGeom>
        </p:spPr>
      </p:pic>
    </p:spTree>
    <p:extLst>
      <p:ext uri="{BB962C8B-B14F-4D97-AF65-F5344CB8AC3E}">
        <p14:creationId xmlns:p14="http://schemas.microsoft.com/office/powerpoint/2010/main" val="2105069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44AF9-D5A0-0567-EFBE-96CA14B2B8DF}"/>
              </a:ext>
            </a:extLst>
          </p:cNvPr>
          <p:cNvSpPr>
            <a:spLocks noGrp="1"/>
          </p:cNvSpPr>
          <p:nvPr>
            <p:ph type="title"/>
          </p:nvPr>
        </p:nvSpPr>
        <p:spPr/>
        <p:txBody>
          <a:bodyPr>
            <a:normAutofit fontScale="90000"/>
          </a:bodyPr>
          <a:lstStyle/>
          <a:p>
            <a:r>
              <a:rPr lang="en-US"/>
              <a:t>What is RAG?</a:t>
            </a:r>
          </a:p>
        </p:txBody>
      </p:sp>
      <p:sp>
        <p:nvSpPr>
          <p:cNvPr id="3" name="Text Placeholder 2">
            <a:extLst>
              <a:ext uri="{FF2B5EF4-FFF2-40B4-BE49-F238E27FC236}">
                <a16:creationId xmlns:a16="http://schemas.microsoft.com/office/drawing/2014/main" id="{494055AA-DFFA-321C-3767-052BFD8DA1F0}"/>
              </a:ext>
            </a:extLst>
          </p:cNvPr>
          <p:cNvSpPr>
            <a:spLocks noGrp="1"/>
          </p:cNvSpPr>
          <p:nvPr>
            <p:ph type="body" idx="1"/>
          </p:nvPr>
        </p:nvSpPr>
        <p:spPr/>
        <p:txBody>
          <a:bodyPr>
            <a:normAutofit/>
          </a:bodyPr>
          <a:lstStyle/>
          <a:p>
            <a:r>
              <a:rPr lang="en-US"/>
              <a:t>RAG complements the existing internal knowledge of the LLMs with new knowledge</a:t>
            </a:r>
          </a:p>
          <a:p>
            <a:r>
              <a:rPr lang="en-US"/>
              <a:t>RAG stands for: </a:t>
            </a:r>
          </a:p>
          <a:p>
            <a:pPr lvl="1"/>
            <a:r>
              <a:rPr lang="en-US">
                <a:solidFill>
                  <a:schemeClr val="accent6">
                    <a:lumMod val="76000"/>
                  </a:schemeClr>
                </a:solidFill>
              </a:rPr>
              <a:t>Retrieval: Search for relevant data </a:t>
            </a:r>
          </a:p>
          <a:p>
            <a:pPr lvl="1"/>
            <a:r>
              <a:rPr lang="en-US">
                <a:solidFill>
                  <a:schemeClr val="accent6">
                    <a:lumMod val="76000"/>
                  </a:schemeClr>
                </a:solidFill>
              </a:rPr>
              <a:t>Augmented: Add the data as context to the prompt </a:t>
            </a:r>
          </a:p>
          <a:p>
            <a:pPr lvl="1"/>
            <a:r>
              <a:rPr lang="en-US">
                <a:solidFill>
                  <a:schemeClr val="accent6">
                    <a:lumMod val="76000"/>
                  </a:schemeClr>
                </a:solidFill>
              </a:rPr>
              <a:t>Generation: Use the augmented prompt with an LLM for generation Any LLM is bound to understand the data it was trained on, sometimes called parameterized knowledge. </a:t>
            </a:r>
          </a:p>
        </p:txBody>
      </p:sp>
    </p:spTree>
    <p:extLst>
      <p:ext uri="{BB962C8B-B14F-4D97-AF65-F5344CB8AC3E}">
        <p14:creationId xmlns:p14="http://schemas.microsoft.com/office/powerpoint/2010/main" val="11629127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F549F-813C-1105-85C2-65F02103BC0E}"/>
              </a:ext>
            </a:extLst>
          </p:cNvPr>
          <p:cNvSpPr>
            <a:spLocks noGrp="1"/>
          </p:cNvSpPr>
          <p:nvPr>
            <p:ph type="title"/>
          </p:nvPr>
        </p:nvSpPr>
        <p:spPr/>
        <p:txBody>
          <a:bodyPr>
            <a:normAutofit fontScale="90000"/>
          </a:bodyPr>
          <a:lstStyle/>
          <a:p>
            <a:r>
              <a:rPr lang="en-US"/>
              <a:t>RAG Pipelines</a:t>
            </a:r>
          </a:p>
        </p:txBody>
      </p:sp>
      <p:pic>
        <p:nvPicPr>
          <p:cNvPr id="5" name="Picture 4">
            <a:extLst>
              <a:ext uri="{FF2B5EF4-FFF2-40B4-BE49-F238E27FC236}">
                <a16:creationId xmlns:a16="http://schemas.microsoft.com/office/drawing/2014/main" id="{13184EA2-B4B3-D458-115F-709DDE3A801B}"/>
              </a:ext>
            </a:extLst>
          </p:cNvPr>
          <p:cNvPicPr>
            <a:picLocks noChangeAspect="1"/>
          </p:cNvPicPr>
          <p:nvPr/>
        </p:nvPicPr>
        <p:blipFill>
          <a:blip r:embed="rId2"/>
          <a:stretch>
            <a:fillRect/>
          </a:stretch>
        </p:blipFill>
        <p:spPr>
          <a:xfrm>
            <a:off x="2953891" y="1005670"/>
            <a:ext cx="5393155" cy="5360796"/>
          </a:xfrm>
          <a:prstGeom prst="rect">
            <a:avLst/>
          </a:prstGeom>
        </p:spPr>
      </p:pic>
    </p:spTree>
    <p:extLst>
      <p:ext uri="{BB962C8B-B14F-4D97-AF65-F5344CB8AC3E}">
        <p14:creationId xmlns:p14="http://schemas.microsoft.com/office/powerpoint/2010/main" val="17952541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5F905-59B3-1AB7-54B3-B00673B02BB2}"/>
              </a:ext>
            </a:extLst>
          </p:cNvPr>
          <p:cNvSpPr>
            <a:spLocks noGrp="1"/>
          </p:cNvSpPr>
          <p:nvPr>
            <p:ph type="title"/>
          </p:nvPr>
        </p:nvSpPr>
        <p:spPr/>
        <p:txBody>
          <a:bodyPr>
            <a:normAutofit fontScale="90000"/>
          </a:bodyPr>
          <a:lstStyle/>
          <a:p>
            <a:r>
              <a:rPr lang="en-US"/>
              <a:t>Ingestion Pipeline</a:t>
            </a:r>
          </a:p>
        </p:txBody>
      </p:sp>
      <p:sp>
        <p:nvSpPr>
          <p:cNvPr id="3" name="Text Placeholder 2">
            <a:extLst>
              <a:ext uri="{FF2B5EF4-FFF2-40B4-BE49-F238E27FC236}">
                <a16:creationId xmlns:a16="http://schemas.microsoft.com/office/drawing/2014/main" id="{C545DB58-5A4B-6B5C-9CA8-315021DDE59D}"/>
              </a:ext>
            </a:extLst>
          </p:cNvPr>
          <p:cNvSpPr>
            <a:spLocks noGrp="1"/>
          </p:cNvSpPr>
          <p:nvPr>
            <p:ph type="body" idx="1"/>
          </p:nvPr>
        </p:nvSpPr>
        <p:spPr/>
        <p:txBody>
          <a:bodyPr>
            <a:normAutofit fontScale="85000" lnSpcReduction="20000"/>
          </a:bodyPr>
          <a:lstStyle/>
          <a:p>
            <a:r>
              <a:rPr lang="en-US"/>
              <a:t>Gathers all the necessary data from sources such as DBs, APIs, or web pages</a:t>
            </a:r>
          </a:p>
          <a:p>
            <a:pPr lvl="1"/>
            <a:r>
              <a:rPr lang="en-US"/>
              <a:t>This module data source dependent </a:t>
            </a:r>
          </a:p>
          <a:p>
            <a:pPr lvl="1"/>
            <a:r>
              <a:rPr lang="en-US"/>
              <a:t>It can be as easy as querying data warehouse or as complex as crawling Wikipedia</a:t>
            </a:r>
          </a:p>
          <a:p>
            <a:r>
              <a:rPr lang="en-US"/>
              <a:t>A cleaning layer removes unwanted characters from the extracted data</a:t>
            </a:r>
          </a:p>
          <a:p>
            <a:pPr lvl="1"/>
            <a:r>
              <a:rPr lang="en-US"/>
              <a:t>A normalizing step</a:t>
            </a:r>
          </a:p>
          <a:p>
            <a:r>
              <a:rPr lang="en-US"/>
              <a:t>The chunking module splits the cleaned documents into smaller ones</a:t>
            </a:r>
          </a:p>
          <a:p>
            <a:pPr lvl="1"/>
            <a:r>
              <a:rPr lang="en-US"/>
              <a:t>Chunking is required to separate specific regions that are semantically related</a:t>
            </a:r>
          </a:p>
          <a:p>
            <a:pPr lvl="1"/>
            <a:r>
              <a:rPr lang="en-US"/>
              <a:t>For example, when chunking a book’s chapter, the most optimal way is to group similar paragraphs into the same section or chunk</a:t>
            </a:r>
          </a:p>
          <a:p>
            <a:pPr lvl="1"/>
            <a:r>
              <a:rPr lang="en-US"/>
              <a:t>The goal is to use the essential data during the retrieval time</a:t>
            </a:r>
          </a:p>
          <a:p>
            <a:r>
              <a:rPr lang="en-US"/>
              <a:t>The chunks are embedded and then stored in a vector database</a:t>
            </a:r>
          </a:p>
          <a:p>
            <a:r>
              <a:rPr lang="en-US"/>
              <a:t>Later module takes the embedded chunks along with a metadata document</a:t>
            </a:r>
          </a:p>
          <a:p>
            <a:pPr lvl="1"/>
            <a:r>
              <a:rPr lang="en-US"/>
              <a:t>The metadata contains essential information such as the embedded content, the URL to the source of the chunk, and when the content was published on the web</a:t>
            </a:r>
          </a:p>
          <a:p>
            <a:pPr lvl="1"/>
            <a:r>
              <a:rPr lang="en-US"/>
              <a:t>The embedding is used as an index to query similar chunks, while the metadata is used to access the information added to augment the prompt</a:t>
            </a:r>
          </a:p>
        </p:txBody>
      </p:sp>
    </p:spTree>
    <p:extLst>
      <p:ext uri="{BB962C8B-B14F-4D97-AF65-F5344CB8AC3E}">
        <p14:creationId xmlns:p14="http://schemas.microsoft.com/office/powerpoint/2010/main" val="25242012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DA975-28D8-A54F-3E19-5B7B6E930A03}"/>
              </a:ext>
            </a:extLst>
          </p:cNvPr>
          <p:cNvSpPr>
            <a:spLocks noGrp="1"/>
          </p:cNvSpPr>
          <p:nvPr>
            <p:ph type="title"/>
          </p:nvPr>
        </p:nvSpPr>
        <p:spPr/>
        <p:txBody>
          <a:bodyPr>
            <a:normAutofit fontScale="90000"/>
          </a:bodyPr>
          <a:lstStyle/>
          <a:p>
            <a:r>
              <a:rPr lang="en-US"/>
              <a:t>Retrieval Pipeline</a:t>
            </a:r>
          </a:p>
        </p:txBody>
      </p:sp>
      <p:sp>
        <p:nvSpPr>
          <p:cNvPr id="3" name="Text Placeholder 2">
            <a:extLst>
              <a:ext uri="{FF2B5EF4-FFF2-40B4-BE49-F238E27FC236}">
                <a16:creationId xmlns:a16="http://schemas.microsoft.com/office/drawing/2014/main" id="{4D037AF0-252E-DEF3-07AF-216E69A5E4DB}"/>
              </a:ext>
            </a:extLst>
          </p:cNvPr>
          <p:cNvSpPr>
            <a:spLocks noGrp="1"/>
          </p:cNvSpPr>
          <p:nvPr>
            <p:ph type="body" idx="1"/>
          </p:nvPr>
        </p:nvSpPr>
        <p:spPr/>
        <p:txBody>
          <a:bodyPr>
            <a:normAutofit fontScale="92500" lnSpcReduction="20000"/>
          </a:bodyPr>
          <a:lstStyle/>
          <a:p>
            <a:r>
              <a:rPr lang="en-US"/>
              <a:t>The retrieval components take the user’s input (text, image, audio, etc.), embed it, and query the vector DB for similar vectors to the user’s input</a:t>
            </a:r>
          </a:p>
          <a:p>
            <a:r>
              <a:rPr lang="en-US"/>
              <a:t>The primary function of the retrieval step is to project the user’s input into the same vector space as the embeddings used as an index in the vector DB</a:t>
            </a:r>
          </a:p>
          <a:p>
            <a:pPr lvl="1"/>
            <a:r>
              <a:rPr lang="en-US"/>
              <a:t>Find the top K similar entries by comparing the embeddings from the vector storage with the user’s input vector.</a:t>
            </a:r>
          </a:p>
          <a:p>
            <a:pPr lvl="1"/>
            <a:r>
              <a:rPr lang="en-US"/>
              <a:t>These entries then serve as content to augment the prompt that is passed to the LLM to generate the answer.</a:t>
            </a:r>
          </a:p>
          <a:p>
            <a:r>
              <a:rPr lang="en-US"/>
              <a:t>We must use a distance metric to compare two vectors, such as the Euclidean or Manhattan distance. But the most popular one is the cosine distance</a:t>
            </a:r>
          </a:p>
          <a:p>
            <a:r>
              <a:rPr lang="en-US"/>
              <a:t>Most of the time, the cosine distance works well in non-linear complex vector spaces. However, it is essential to notice that choosing the proper distance between two vectors depends on data and the embedding model.</a:t>
            </a:r>
          </a:p>
          <a:p>
            <a:r>
              <a:rPr lang="en-US"/>
              <a:t>One critical factor to highlight is that the user’s input and embeddings must be in the same vector space. </a:t>
            </a:r>
          </a:p>
        </p:txBody>
      </p:sp>
    </p:spTree>
    <p:extLst>
      <p:ext uri="{BB962C8B-B14F-4D97-AF65-F5344CB8AC3E}">
        <p14:creationId xmlns:p14="http://schemas.microsoft.com/office/powerpoint/2010/main" val="18139108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14654-C3AA-55D8-FD2B-5F37A752548D}"/>
              </a:ext>
            </a:extLst>
          </p:cNvPr>
          <p:cNvSpPr>
            <a:spLocks noGrp="1"/>
          </p:cNvSpPr>
          <p:nvPr>
            <p:ph type="title"/>
          </p:nvPr>
        </p:nvSpPr>
        <p:spPr/>
        <p:txBody>
          <a:bodyPr>
            <a:normAutofit fontScale="90000"/>
          </a:bodyPr>
          <a:lstStyle/>
          <a:p>
            <a:r>
              <a:rPr lang="en-US"/>
              <a:t>Generation Pipeline</a:t>
            </a:r>
          </a:p>
        </p:txBody>
      </p:sp>
      <p:sp>
        <p:nvSpPr>
          <p:cNvPr id="3" name="Text Placeholder 2">
            <a:extLst>
              <a:ext uri="{FF2B5EF4-FFF2-40B4-BE49-F238E27FC236}">
                <a16:creationId xmlns:a16="http://schemas.microsoft.com/office/drawing/2014/main" id="{1685FDF7-AC5A-6F75-4E44-EB412C8D2E9E}"/>
              </a:ext>
            </a:extLst>
          </p:cNvPr>
          <p:cNvSpPr>
            <a:spLocks noGrp="1"/>
          </p:cNvSpPr>
          <p:nvPr>
            <p:ph type="body" idx="1"/>
          </p:nvPr>
        </p:nvSpPr>
        <p:spPr/>
        <p:txBody>
          <a:bodyPr/>
          <a:lstStyle/>
          <a:p>
            <a:r>
              <a:rPr lang="en-US"/>
              <a:t>The last step of the RAG system is to take the user’s input, retrieve data, pass it to an LLM, and generate a valuable answer</a:t>
            </a:r>
          </a:p>
          <a:p>
            <a:r>
              <a:rPr lang="en-US"/>
              <a:t>The final prompt results from a system and prompt template populated with the user’s query and retrieved context</a:t>
            </a:r>
          </a:p>
          <a:p>
            <a:r>
              <a:rPr lang="en-US"/>
              <a:t>You might have a single prompt template or multiple prompt templates, depending on your application. Usually, all the prompt engineering is done at the prompt template level.</a:t>
            </a:r>
          </a:p>
        </p:txBody>
      </p:sp>
    </p:spTree>
    <p:extLst>
      <p:ext uri="{BB962C8B-B14F-4D97-AF65-F5344CB8AC3E}">
        <p14:creationId xmlns:p14="http://schemas.microsoft.com/office/powerpoint/2010/main" val="28739667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67461-5259-2E76-6C2B-78C3A63BA048}"/>
              </a:ext>
            </a:extLst>
          </p:cNvPr>
          <p:cNvSpPr>
            <a:spLocks noGrp="1"/>
          </p:cNvSpPr>
          <p:nvPr>
            <p:ph type="title"/>
          </p:nvPr>
        </p:nvSpPr>
        <p:spPr/>
        <p:txBody>
          <a:bodyPr>
            <a:normAutofit fontScale="90000"/>
          </a:bodyPr>
          <a:lstStyle/>
          <a:p>
            <a:r>
              <a:rPr lang="en-US"/>
              <a:t>Vector DB</a:t>
            </a:r>
          </a:p>
        </p:txBody>
      </p:sp>
      <p:sp>
        <p:nvSpPr>
          <p:cNvPr id="3" name="Text Placeholder 2">
            <a:extLst>
              <a:ext uri="{FF2B5EF4-FFF2-40B4-BE49-F238E27FC236}">
                <a16:creationId xmlns:a16="http://schemas.microsoft.com/office/drawing/2014/main" id="{4D535E9A-192A-2C80-FF99-2F47EE9847E6}"/>
              </a:ext>
            </a:extLst>
          </p:cNvPr>
          <p:cNvSpPr>
            <a:spLocks noGrp="1"/>
          </p:cNvSpPr>
          <p:nvPr>
            <p:ph type="body" idx="1"/>
          </p:nvPr>
        </p:nvSpPr>
        <p:spPr/>
        <p:txBody>
          <a:bodyPr>
            <a:normAutofit/>
          </a:bodyPr>
          <a:lstStyle/>
          <a:p>
            <a:r>
              <a:rPr lang="en-US"/>
              <a:t>Vector DBs are specialized DBs designed to efficiently store, index, and retrieve vector embeddings. </a:t>
            </a:r>
          </a:p>
          <a:p>
            <a:r>
              <a:rPr lang="en-US"/>
              <a:t>Traditional scalar-based DBs struggle with the complexity of vector data, making vector DBs crucial for tasks like real-time semantic search.</a:t>
            </a:r>
          </a:p>
          <a:p>
            <a:r>
              <a:rPr lang="en-US"/>
              <a:t>While standalone vector indices like FAISS are effective for similarity search, they lack vector DBs’ comprehensive data management capabilities. Vector DBs support CRUD operations, metadata filtering, scalability, real-time updates, backups, ecosystem integration, and robust data security, making them more suited for production environments than standalone indices.</a:t>
            </a:r>
          </a:p>
        </p:txBody>
      </p:sp>
    </p:spTree>
    <p:extLst>
      <p:ext uri="{BB962C8B-B14F-4D97-AF65-F5344CB8AC3E}">
        <p14:creationId xmlns:p14="http://schemas.microsoft.com/office/powerpoint/2010/main" val="24520060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F7975-80DD-A4BB-E4B5-FEDA89E707DB}"/>
              </a:ext>
            </a:extLst>
          </p:cNvPr>
          <p:cNvSpPr>
            <a:spLocks noGrp="1"/>
          </p:cNvSpPr>
          <p:nvPr>
            <p:ph type="title"/>
          </p:nvPr>
        </p:nvSpPr>
        <p:spPr/>
        <p:txBody>
          <a:bodyPr>
            <a:normAutofit fontScale="90000"/>
          </a:bodyPr>
          <a:lstStyle/>
          <a:p>
            <a:r>
              <a:rPr lang="en-US"/>
              <a:t>Traditional DB vs Vector DB </a:t>
            </a:r>
          </a:p>
        </p:txBody>
      </p:sp>
      <p:sp>
        <p:nvSpPr>
          <p:cNvPr id="3" name="Text Placeholder 2">
            <a:extLst>
              <a:ext uri="{FF2B5EF4-FFF2-40B4-BE49-F238E27FC236}">
                <a16:creationId xmlns:a16="http://schemas.microsoft.com/office/drawing/2014/main" id="{B470908F-64DC-3B25-F47C-C94EDF3F658F}"/>
              </a:ext>
            </a:extLst>
          </p:cNvPr>
          <p:cNvSpPr>
            <a:spLocks noGrp="1"/>
          </p:cNvSpPr>
          <p:nvPr>
            <p:ph type="body" idx="1"/>
          </p:nvPr>
        </p:nvSpPr>
        <p:spPr/>
        <p:txBody>
          <a:bodyPr>
            <a:normAutofit/>
          </a:bodyPr>
          <a:lstStyle/>
          <a:p>
            <a:r>
              <a:rPr lang="en-US"/>
              <a:t>Vector DBs are different than usual </a:t>
            </a:r>
            <a:r>
              <a:rPr lang="en-US" err="1"/>
              <a:t>DBs.</a:t>
            </a:r>
            <a:r>
              <a:rPr lang="en-US"/>
              <a:t> </a:t>
            </a:r>
          </a:p>
          <a:p>
            <a:pPr lvl="1"/>
            <a:r>
              <a:rPr lang="en-US"/>
              <a:t>Instead of perfect matches, we look for the closest neighbors of the query vector</a:t>
            </a:r>
          </a:p>
          <a:p>
            <a:r>
              <a:rPr lang="en-US"/>
              <a:t>A vector DB uses approximate nearest neighbor (ANN) algorithms to find these close neighbors.</a:t>
            </a:r>
          </a:p>
          <a:p>
            <a:r>
              <a:rPr lang="en-US"/>
              <a:t>While ANN algorithms don’t return the top matches for a given search, standard nearest neighbor algorithms are too slow to work in practice.</a:t>
            </a:r>
          </a:p>
          <a:p>
            <a:r>
              <a:rPr lang="en-US"/>
              <a:t>Also, it is shown empirically that using only approximations of the top matches for a given input query works well enough</a:t>
            </a:r>
          </a:p>
          <a:p>
            <a:r>
              <a:rPr lang="en-US"/>
              <a:t>Thus, the trade-off between accuracy and latency ultimately favors ANN algorithms.</a:t>
            </a:r>
          </a:p>
        </p:txBody>
      </p:sp>
    </p:spTree>
    <p:extLst>
      <p:ext uri="{BB962C8B-B14F-4D97-AF65-F5344CB8AC3E}">
        <p14:creationId xmlns:p14="http://schemas.microsoft.com/office/powerpoint/2010/main" val="2137122807"/>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88F25371BF2364E9237A48B420CBFE6" ma:contentTypeVersion="14" ma:contentTypeDescription="Create a new document." ma:contentTypeScope="" ma:versionID="2a9e69bc7b9d3c4cf6a41faca233a91e">
  <xsd:schema xmlns:xsd="http://www.w3.org/2001/XMLSchema" xmlns:xs="http://www.w3.org/2001/XMLSchema" xmlns:p="http://schemas.microsoft.com/office/2006/metadata/properties" xmlns:ns3="acd04cee-d56a-427f-9d20-a2ddbaad1b8a" targetNamespace="http://schemas.microsoft.com/office/2006/metadata/properties" ma:root="true" ma:fieldsID="66afc55c35dc6a8b593a412c64b4fad1" ns3:_="">
    <xsd:import namespace="acd04cee-d56a-427f-9d20-a2ddbaad1b8a"/>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_activity" minOccurs="0"/>
                <xsd:element ref="ns3:MediaServiceObjectDetectorVersions" minOccurs="0"/>
                <xsd:element ref="ns3:MediaServiceSearchProperties" minOccurs="0"/>
                <xsd:element ref="ns3:MediaServiceSystemTag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cd04cee-d56a-427f-9d20-a2ddbaad1b8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_activity" ma:index="17" nillable="true" ma:displayName="_activity" ma:hidden="true" ma:internalName="_activity">
      <xsd:simpleType>
        <xsd:restriction base="dms:Note"/>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SystemTags" ma:index="20" nillable="true" ma:displayName="MediaServiceSystemTags" ma:hidden="true" ma:internalName="MediaServiceSystemTags" ma:readOnly="true">
      <xsd:simpleType>
        <xsd:restriction base="dms:Note"/>
      </xsd:simpleType>
    </xsd:element>
    <xsd:element name="MediaLengthInSeconds" ma:index="21"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acd04cee-d56a-427f-9d20-a2ddbaad1b8a"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11F2561-5213-4AC5-91E6-19E1D8FD9F32}">
  <ds:schemaRefs>
    <ds:schemaRef ds:uri="acd04cee-d56a-427f-9d20-a2ddbaad1b8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7F5C3BD6-F3BA-429A-92A6-59CA1895FEB3}">
  <ds:schemaRefs>
    <ds:schemaRef ds:uri="acd04cee-d56a-427f-9d20-a2ddbaad1b8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1563A34E-0EA2-4A85-9B2D-E560C472D3E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36</Slides>
  <Notes>2</Notes>
  <HiddenSlides>0</HiddenSlides>
  <ScaleCrop>false</ScaleCrop>
  <HeadingPairs>
    <vt:vector size="4" baseType="variant">
      <vt:variant>
        <vt:lpstr>Theme</vt:lpstr>
      </vt:variant>
      <vt:variant>
        <vt:i4>1</vt:i4>
      </vt:variant>
      <vt:variant>
        <vt:lpstr>Slide Titles</vt:lpstr>
      </vt:variant>
      <vt:variant>
        <vt:i4>36</vt:i4>
      </vt:variant>
    </vt:vector>
  </HeadingPairs>
  <TitlesOfParts>
    <vt:vector size="37" baseType="lpstr">
      <vt:lpstr>Office Theme</vt:lpstr>
      <vt:lpstr>CSE495B (Natural Language Processing) Lecture 13</vt:lpstr>
      <vt:lpstr>Elements of Prompts</vt:lpstr>
      <vt:lpstr>Zero-shot Prompting</vt:lpstr>
      <vt:lpstr>Zero-shot Prompt</vt:lpstr>
      <vt:lpstr>Few-shot Prompt</vt:lpstr>
      <vt:lpstr>Limitations of Few-shot Prompt</vt:lpstr>
      <vt:lpstr>CoT Prompt</vt:lpstr>
      <vt:lpstr>Chain of Thought Prompting</vt:lpstr>
      <vt:lpstr>Chain-of-Thought Properties</vt:lpstr>
      <vt:lpstr>Chain-of-Thought Example</vt:lpstr>
      <vt:lpstr>Chain-of-Thought Example</vt:lpstr>
      <vt:lpstr>Zero Shot Chain-of-Thought</vt:lpstr>
      <vt:lpstr>Automatic Chain-of-Thought</vt:lpstr>
      <vt:lpstr>Automatic Chain-of-Thought</vt:lpstr>
      <vt:lpstr>Automatic CoT</vt:lpstr>
      <vt:lpstr>Automatic Chain-of-Thought</vt:lpstr>
      <vt:lpstr>Ensemble prompting: Self Consistency</vt:lpstr>
      <vt:lpstr>Self Consistency: CoT Reasoning</vt:lpstr>
      <vt:lpstr>Tree-of-thought Prompt</vt:lpstr>
      <vt:lpstr>Tree-of-thought Prompt</vt:lpstr>
      <vt:lpstr>Tree-of-thought Prompt</vt:lpstr>
      <vt:lpstr>Tree-of-thoughts Prompt</vt:lpstr>
      <vt:lpstr>Generated Knowledge Prompt</vt:lpstr>
      <vt:lpstr>Generated Knowledge Prompt</vt:lpstr>
      <vt:lpstr>Directional Stimulus Prompting</vt:lpstr>
      <vt:lpstr>Directional Stimulus Prompting</vt:lpstr>
      <vt:lpstr>ReAct Prompting</vt:lpstr>
      <vt:lpstr>ReAct Prompting</vt:lpstr>
      <vt:lpstr>ReAct Prompting</vt:lpstr>
      <vt:lpstr>What is RAG?</vt:lpstr>
      <vt:lpstr>RAG Pipelines</vt:lpstr>
      <vt:lpstr>Ingestion Pipeline</vt:lpstr>
      <vt:lpstr>Retrieval Pipeline</vt:lpstr>
      <vt:lpstr>Generation Pipeline</vt:lpstr>
      <vt:lpstr>Vector DB</vt:lpstr>
      <vt:lpstr>Traditional DB vs Vector DB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495 (Natural Language Processing) Lecture 2</dc:title>
  <dc:creator>Mohammad Khan</dc:creator>
  <cp:revision>1</cp:revision>
  <dcterms:created xsi:type="dcterms:W3CDTF">2018-11-03T12:07:21Z</dcterms:created>
  <dcterms:modified xsi:type="dcterms:W3CDTF">2025-12-15T08:38:46Z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0x010100688F25371BF2364E9237A48B420CBFE6</vt:lpwstr>
  </property>
</Properties>
</file>