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84" r:id="rId4"/>
    <p:sldId id="285" r:id="rId5"/>
    <p:sldId id="286" r:id="rId6"/>
    <p:sldId id="261" r:id="rId7"/>
    <p:sldId id="262" r:id="rId8"/>
    <p:sldId id="263" r:id="rId9"/>
    <p:sldId id="264" r:id="rId10"/>
    <p:sldId id="265" r:id="rId11"/>
    <p:sldId id="266" r:id="rId12"/>
    <p:sldId id="267" r:id="rId13"/>
    <p:sldId id="268" r:id="rId14"/>
    <p:sldId id="269" r:id="rId15"/>
    <p:sldId id="270" r:id="rId16"/>
    <p:sldId id="287" r:id="rId17"/>
    <p:sldId id="288" r:id="rId18"/>
    <p:sldId id="271" r:id="rId19"/>
    <p:sldId id="289" r:id="rId20"/>
    <p:sldId id="290" r:id="rId21"/>
    <p:sldId id="291" r:id="rId22"/>
    <p:sldId id="292" r:id="rId23"/>
    <p:sldId id="273" r:id="rId24"/>
    <p:sldId id="293" r:id="rId25"/>
    <p:sldId id="274" r:id="rId26"/>
    <p:sldId id="275" r:id="rId27"/>
    <p:sldId id="276" r:id="rId28"/>
    <p:sldId id="277" r:id="rId29"/>
    <p:sldId id="279" r:id="rId30"/>
    <p:sldId id="280" r:id="rId31"/>
    <p:sldId id="278" r:id="rId32"/>
    <p:sldId id="294" r:id="rId33"/>
  </p:sldIdLst>
  <p:sldSz cx="12192000" cy="6858000"/>
  <p:notesSz cx="6858000" cy="9144000"/>
  <p:embeddedFontLst>
    <p:embeddedFont>
      <p:font typeface="Cambria" panose="02040503050406030204" pitchFamily="18" charset="0"/>
      <p:regular r:id="rId35"/>
      <p:bold r:id="rId36"/>
      <p:italic r:id="rId37"/>
      <p:boldItalic r:id="rId38"/>
    </p:embeddedFont>
    <p:embeddedFont>
      <p:font typeface="Lustria" panose="020B0604020202020204"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2" roundtripDataSignature="AMtx7miislWGQsqdk63oeD6fI6kOR7I/j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mad Khan" initials="MK" lastIdx="2" clrIdx="0">
    <p:extLst>
      <p:ext uri="{19B8F6BF-5375-455C-9EA6-DF929625EA0E}">
        <p15:presenceInfo xmlns:p15="http://schemas.microsoft.com/office/powerpoint/2012/main" userId="Mohammad K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28E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A6DE7A-AEA1-81D1-6F75-E3111B99FBA6}" v="57" dt="2025-10-26T09:56:59.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customschemas.google.com/relationships/presentationmetadata" Target="meta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commentAuthors" Target="commentAuthor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212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5071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30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6"/>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00000"/>
              </a:buClr>
              <a:buSzPts val="4400"/>
              <a:buFont typeface="MS PGothic"/>
              <a:buNone/>
              <a:defRPr>
                <a:solidFill>
                  <a:srgbClr val="C00000"/>
                </a:solidFill>
                <a:latin typeface="MS PGothic"/>
                <a:ea typeface="MS PGothic"/>
                <a:cs typeface="MS PGothic"/>
                <a:sym typeface="MS P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6"/>
          <p:cNvSpPr txBox="1">
            <a:spLocks noGrp="1"/>
          </p:cNvSpPr>
          <p:nvPr>
            <p:ph type="body" idx="1"/>
          </p:nvPr>
        </p:nvSpPr>
        <p:spPr>
          <a:xfrm>
            <a:off x="442174" y="817037"/>
            <a:ext cx="11320529" cy="5480732"/>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B0F0"/>
              </a:buClr>
              <a:buSzPts val="2800"/>
              <a:buChar char="•"/>
              <a:defRPr>
                <a:solidFill>
                  <a:srgbClr val="00B0F0"/>
                </a:solidFill>
              </a:defRPr>
            </a:lvl1pPr>
            <a:lvl2pPr marL="914400" lvl="1" indent="-381000" algn="l">
              <a:lnSpc>
                <a:spcPct val="90000"/>
              </a:lnSpc>
              <a:spcBef>
                <a:spcPts val="500"/>
              </a:spcBef>
              <a:spcAft>
                <a:spcPts val="0"/>
              </a:spcAft>
              <a:buClr>
                <a:srgbClr val="00B050"/>
              </a:buClr>
              <a:buSzPts val="2400"/>
              <a:buChar char="•"/>
              <a:defRPr>
                <a:solidFill>
                  <a:srgbClr val="00B050"/>
                </a:solidFill>
              </a:defRPr>
            </a:lvl2pPr>
            <a:lvl3pPr marL="1371600" lvl="2" indent="-355600" algn="l">
              <a:lnSpc>
                <a:spcPct val="90000"/>
              </a:lnSpc>
              <a:spcBef>
                <a:spcPts val="500"/>
              </a:spcBef>
              <a:spcAft>
                <a:spcPts val="0"/>
              </a:spcAft>
              <a:buClr>
                <a:srgbClr val="FFC000"/>
              </a:buClr>
              <a:buSzPts val="2000"/>
              <a:buChar char="•"/>
              <a:defRPr>
                <a:solidFill>
                  <a:srgbClr val="FFC000"/>
                </a:solidFill>
              </a:defRPr>
            </a:lvl3pPr>
            <a:lvl4pPr marL="1828800" lvl="3" indent="-342900" algn="l">
              <a:lnSpc>
                <a:spcPct val="90000"/>
              </a:lnSpc>
              <a:spcBef>
                <a:spcPts val="500"/>
              </a:spcBef>
              <a:spcAft>
                <a:spcPts val="0"/>
              </a:spcAft>
              <a:buClr>
                <a:srgbClr val="002060"/>
              </a:buClr>
              <a:buSzPts val="1800"/>
              <a:buChar char="•"/>
              <a:defRPr>
                <a:solidFill>
                  <a:srgbClr val="002060"/>
                </a:solidFill>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3"/>
          <p:cNvSpPr>
            <a:spLocks noGrp="1"/>
          </p:cNvSpPr>
          <p:nvPr>
            <p:ph type="pic" idx="2"/>
          </p:nvPr>
        </p:nvSpPr>
        <p:spPr>
          <a:xfrm>
            <a:off x="5183188" y="987425"/>
            <a:ext cx="6172200" cy="4873625"/>
          </a:xfrm>
          <a:prstGeom prst="rect">
            <a:avLst/>
          </a:prstGeom>
          <a:noFill/>
          <a:ln>
            <a:noFill/>
          </a:ln>
        </p:spPr>
      </p:sp>
      <p:sp>
        <p:nvSpPr>
          <p:cNvPr id="68" name="Google Shape;68;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pic>
        <p:nvPicPr>
          <p:cNvPr id="88" name="Google Shape;88;p1" descr="Lines and dots connected representing a network"/>
          <p:cNvPicPr preferRelativeResize="0"/>
          <p:nvPr/>
        </p:nvPicPr>
        <p:blipFill rotWithShape="1">
          <a:blip r:embed="rId3">
            <a:alphaModFix/>
          </a:blip>
          <a:srcRect l="13286" r="30401"/>
          <a:stretch/>
        </p:blipFill>
        <p:spPr>
          <a:xfrm>
            <a:off x="5326408" y="10"/>
            <a:ext cx="6865592" cy="6857990"/>
          </a:xfrm>
          <a:custGeom>
            <a:avLst/>
            <a:gdLst/>
            <a:ahLst/>
            <a:cxnLst/>
            <a:rect l="l" t="t" r="r" b="b"/>
            <a:pathLst>
              <a:path w="6865592" h="6858000" extrusionOk="0">
                <a:moveTo>
                  <a:pt x="3068432" y="0"/>
                </a:moveTo>
                <a:lnTo>
                  <a:pt x="6865592" y="0"/>
                </a:lnTo>
                <a:lnTo>
                  <a:pt x="6865592" y="6858000"/>
                </a:lnTo>
                <a:lnTo>
                  <a:pt x="3068431" y="6858000"/>
                </a:lnTo>
                <a:lnTo>
                  <a:pt x="3064426" y="6854853"/>
                </a:lnTo>
                <a:cubicBezTo>
                  <a:pt x="2077725" y="6040555"/>
                  <a:pt x="1448804" y="4808224"/>
                  <a:pt x="1448804" y="3429000"/>
                </a:cubicBezTo>
                <a:cubicBezTo>
                  <a:pt x="1448804" y="2049777"/>
                  <a:pt x="2077725" y="817446"/>
                  <a:pt x="3064426" y="3148"/>
                </a:cubicBezTo>
                <a:close/>
                <a:moveTo>
                  <a:pt x="1056707" y="0"/>
                </a:moveTo>
                <a:lnTo>
                  <a:pt x="2472663" y="0"/>
                </a:lnTo>
                <a:lnTo>
                  <a:pt x="2400426" y="75768"/>
                </a:lnTo>
                <a:cubicBezTo>
                  <a:pt x="1595468" y="961418"/>
                  <a:pt x="1104860" y="2137915"/>
                  <a:pt x="1104860" y="3429000"/>
                </a:cubicBezTo>
                <a:cubicBezTo>
                  <a:pt x="1104860" y="4720086"/>
                  <a:pt x="1595468" y="5896583"/>
                  <a:pt x="2400426" y="6782233"/>
                </a:cubicBezTo>
                <a:lnTo>
                  <a:pt x="2472663" y="6858000"/>
                </a:lnTo>
                <a:lnTo>
                  <a:pt x="1056707" y="6858000"/>
                </a:lnTo>
                <a:lnTo>
                  <a:pt x="1040415" y="6835090"/>
                </a:lnTo>
                <a:cubicBezTo>
                  <a:pt x="383550" y="5862802"/>
                  <a:pt x="0" y="4690693"/>
                  <a:pt x="0" y="3429000"/>
                </a:cubicBezTo>
                <a:cubicBezTo>
                  <a:pt x="0" y="2167308"/>
                  <a:pt x="383550" y="995199"/>
                  <a:pt x="1040415" y="22911"/>
                </a:cubicBezTo>
                <a:close/>
              </a:path>
            </a:pathLst>
          </a:custGeom>
          <a:noFill/>
          <a:ln>
            <a:noFill/>
          </a:ln>
        </p:spPr>
      </p:pic>
      <p:sp>
        <p:nvSpPr>
          <p:cNvPr id="89" name="Google Shape;89;p1"/>
          <p:cNvSpPr txBox="1">
            <a:spLocks noGrp="1"/>
          </p:cNvSpPr>
          <p:nvPr>
            <p:ph type="ctrTitle"/>
          </p:nvPr>
        </p:nvSpPr>
        <p:spPr>
          <a:xfrm>
            <a:off x="83856" y="1711797"/>
            <a:ext cx="6239654" cy="118752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C00000"/>
              </a:buClr>
              <a:buSzPct val="100000"/>
              <a:buFont typeface="Lustria"/>
              <a:buNone/>
            </a:pPr>
            <a:r>
              <a:rPr lang="en-US" sz="8000">
                <a:solidFill>
                  <a:srgbClr val="002060"/>
                </a:solidFill>
                <a:latin typeface="Lustria"/>
                <a:ea typeface="Lustria"/>
                <a:cs typeface="Lustria"/>
                <a:sym typeface="Lustria"/>
              </a:rPr>
              <a:t>CSE 495B</a:t>
            </a:r>
            <a:br>
              <a:rPr lang="en-US" sz="8000">
                <a:solidFill>
                  <a:srgbClr val="002060"/>
                </a:solidFill>
                <a:latin typeface="Lustria"/>
                <a:ea typeface="Lustria"/>
                <a:cs typeface="Lustria"/>
              </a:rPr>
            </a:br>
            <a:r>
              <a:rPr lang="en-US" sz="3100">
                <a:solidFill>
                  <a:srgbClr val="0070C0"/>
                </a:solidFill>
                <a:latin typeface="MS PGothic"/>
                <a:ea typeface="MS PGothic"/>
                <a:cs typeface="MS PGothic"/>
                <a:sym typeface="MS PGothic"/>
              </a:rPr>
              <a:t>Natural Language Processing</a:t>
            </a:r>
            <a:endParaRPr lang="en-US" sz="8000">
              <a:solidFill>
                <a:srgbClr val="0070C0"/>
              </a:solidFill>
              <a:latin typeface="MS PGothic"/>
              <a:ea typeface="MS PGothic"/>
              <a:cs typeface="MS PGothic"/>
            </a:endParaRPr>
          </a:p>
        </p:txBody>
      </p:sp>
      <p:sp>
        <p:nvSpPr>
          <p:cNvPr id="90" name="Google Shape;90;p1"/>
          <p:cNvSpPr txBox="1">
            <a:spLocks noGrp="1"/>
          </p:cNvSpPr>
          <p:nvPr>
            <p:ph type="subTitle" idx="1"/>
          </p:nvPr>
        </p:nvSpPr>
        <p:spPr>
          <a:xfrm>
            <a:off x="691090" y="5139644"/>
            <a:ext cx="6672471" cy="1441706"/>
          </a:xfrm>
          <a:prstGeom prst="rect">
            <a:avLst/>
          </a:prstGeom>
          <a:noFill/>
          <a:ln>
            <a:noFill/>
          </a:ln>
        </p:spPr>
        <p:txBody>
          <a:bodyPr spcFirstLastPara="1" wrap="square" lIns="91425" tIns="45700" rIns="91425" bIns="45700" anchor="t" anchorCtr="0">
            <a:normAutofit/>
          </a:bodyPr>
          <a:lstStyle/>
          <a:p>
            <a:pPr marL="0" indent="0" algn="l">
              <a:spcBef>
                <a:spcPts val="0"/>
              </a:spcBef>
              <a:buClr>
                <a:srgbClr val="C00000"/>
              </a:buClr>
            </a:pPr>
            <a:r>
              <a:rPr lang="en-US" dirty="0">
                <a:solidFill>
                  <a:srgbClr val="002060"/>
                </a:solidFill>
                <a:latin typeface="Lustria"/>
                <a:sym typeface="Lustria"/>
              </a:rPr>
              <a:t>Lecture 4: Feature Extraction and Embeddings</a:t>
            </a:r>
            <a:endParaRPr lang="en-US" dirty="0">
              <a:solidFill>
                <a:srgbClr val="002060"/>
              </a:solidFill>
            </a:endParaRPr>
          </a:p>
        </p:txBody>
      </p:sp>
      <p:sp>
        <p:nvSpPr>
          <p:cNvPr id="91" name="Google Shape;91;p1"/>
          <p:cNvSpPr/>
          <p:nvPr/>
        </p:nvSpPr>
        <p:spPr>
          <a:xfrm>
            <a:off x="5326408" y="0"/>
            <a:ext cx="2472664" cy="6858000"/>
          </a:xfrm>
          <a:custGeom>
            <a:avLst/>
            <a:gdLst/>
            <a:ahLst/>
            <a:cxnLst/>
            <a:rect l="l" t="t" r="r" b="b"/>
            <a:pathLst>
              <a:path w="2472664" h="6858000" extrusionOk="0">
                <a:moveTo>
                  <a:pt x="1056708" y="0"/>
                </a:moveTo>
                <a:lnTo>
                  <a:pt x="2472664" y="0"/>
                </a:lnTo>
                <a:lnTo>
                  <a:pt x="2400427" y="75768"/>
                </a:lnTo>
                <a:cubicBezTo>
                  <a:pt x="1595469" y="961418"/>
                  <a:pt x="1104861" y="2137915"/>
                  <a:pt x="1104861" y="3429000"/>
                </a:cubicBezTo>
                <a:cubicBezTo>
                  <a:pt x="1104861" y="4720086"/>
                  <a:pt x="1595469" y="5896583"/>
                  <a:pt x="2400427" y="6782233"/>
                </a:cubicBezTo>
                <a:lnTo>
                  <a:pt x="2472664" y="6858000"/>
                </a:lnTo>
                <a:lnTo>
                  <a:pt x="1056708" y="6858000"/>
                </a:lnTo>
                <a:lnTo>
                  <a:pt x="1040416" y="6835090"/>
                </a:lnTo>
                <a:cubicBezTo>
                  <a:pt x="383551" y="5862802"/>
                  <a:pt x="0" y="4690693"/>
                  <a:pt x="0" y="3429000"/>
                </a:cubicBezTo>
                <a:cubicBezTo>
                  <a:pt x="0" y="2167308"/>
                  <a:pt x="383551" y="995199"/>
                  <a:pt x="1040416" y="22911"/>
                </a:cubicBezTo>
                <a:close/>
              </a:path>
            </a:pathLst>
          </a:custGeom>
          <a:solidFill>
            <a:schemeClr val="accent6">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b="1">
                <a:solidFill>
                  <a:srgbClr val="002060"/>
                </a:solidFill>
                <a:latin typeface="Cambria"/>
              </a:rPr>
              <a:t>Text vs Number</a:t>
            </a:r>
          </a:p>
        </p:txBody>
      </p:sp>
      <p:sp>
        <p:nvSpPr>
          <p:cNvPr id="97" name="Google Shape;97;p2"/>
          <p:cNvSpPr txBox="1">
            <a:spLocks noGrp="1"/>
          </p:cNvSpPr>
          <p:nvPr>
            <p:ph type="body" idx="1"/>
          </p:nvPr>
        </p:nvSpPr>
        <p:spPr>
          <a:xfrm>
            <a:off x="442174" y="1326097"/>
            <a:ext cx="5864233" cy="49716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B0F0"/>
              </a:buClr>
              <a:buSzPts val="2800"/>
              <a:buChar char="•"/>
            </a:pPr>
            <a:r>
              <a:rPr lang="en-US">
                <a:solidFill>
                  <a:schemeClr val="accent5">
                    <a:lumMod val="76000"/>
                  </a:schemeClr>
                </a:solidFill>
              </a:rPr>
              <a:t>Machine learning algorithms operate on a numeric feature space expecting input as a two-dimensional array where </a:t>
            </a:r>
          </a:p>
          <a:p>
            <a:pPr marL="685800" lvl="1" indent="-228600" algn="l" rtl="0">
              <a:lnSpc>
                <a:spcPct val="90000"/>
              </a:lnSpc>
              <a:spcBef>
                <a:spcPts val="500"/>
              </a:spcBef>
              <a:spcAft>
                <a:spcPts val="0"/>
              </a:spcAft>
              <a:buClr>
                <a:srgbClr val="00B050"/>
              </a:buClr>
              <a:buSzPts val="2400"/>
              <a:buChar char="•"/>
            </a:pPr>
            <a:r>
              <a:rPr lang="en-US">
                <a:solidFill>
                  <a:schemeClr val="accent6">
                    <a:lumMod val="76000"/>
                  </a:schemeClr>
                </a:solidFill>
              </a:rPr>
              <a:t>Rows are instances and </a:t>
            </a:r>
            <a:endParaRPr>
              <a:solidFill>
                <a:schemeClr val="accent6">
                  <a:lumMod val="76000"/>
                </a:schemeClr>
              </a:solidFill>
            </a:endParaRPr>
          </a:p>
          <a:p>
            <a:pPr marL="685800" lvl="1" indent="-228600" algn="l" rtl="0">
              <a:lnSpc>
                <a:spcPct val="90000"/>
              </a:lnSpc>
              <a:spcBef>
                <a:spcPts val="500"/>
              </a:spcBef>
              <a:spcAft>
                <a:spcPts val="0"/>
              </a:spcAft>
              <a:buClr>
                <a:srgbClr val="00B050"/>
              </a:buClr>
              <a:buSzPts val="2400"/>
              <a:buChar char="•"/>
            </a:pPr>
            <a:r>
              <a:rPr lang="en-US">
                <a:solidFill>
                  <a:schemeClr val="accent6">
                    <a:lumMod val="76000"/>
                  </a:schemeClr>
                </a:solidFill>
              </a:rPr>
              <a:t>Columns are features</a:t>
            </a:r>
            <a:endParaRPr>
              <a:solidFill>
                <a:schemeClr val="accent6">
                  <a:lumMod val="76000"/>
                </a:schemeClr>
              </a:solidFill>
            </a:endParaRPr>
          </a:p>
          <a:p>
            <a:pPr marL="228600" indent="-228600"/>
            <a:r>
              <a:rPr lang="en-US">
                <a:solidFill>
                  <a:schemeClr val="accent5">
                    <a:lumMod val="76000"/>
                  </a:schemeClr>
                </a:solidFill>
              </a:rPr>
              <a:t>To perform machine learning on text, we need to transform our documents into vector representations so that we can apply numeric machine learning  </a:t>
            </a:r>
            <a:endParaRPr>
              <a:solidFill>
                <a:schemeClr val="accent5">
                  <a:lumMod val="76000"/>
                </a:schemeClr>
              </a:solidFill>
            </a:endParaRPr>
          </a:p>
        </p:txBody>
      </p:sp>
      <p:pic>
        <p:nvPicPr>
          <p:cNvPr id="2" name="Picture 1" descr="A close-up of a text box&#10;&#10;Description automatically generated">
            <a:extLst>
              <a:ext uri="{FF2B5EF4-FFF2-40B4-BE49-F238E27FC236}">
                <a16:creationId xmlns:a16="http://schemas.microsoft.com/office/drawing/2014/main" id="{07297C92-47A4-1065-CCAC-E2F3CC651AA8}"/>
              </a:ext>
            </a:extLst>
          </p:cNvPr>
          <p:cNvPicPr>
            <a:picLocks noChangeAspect="1"/>
          </p:cNvPicPr>
          <p:nvPr/>
        </p:nvPicPr>
        <p:blipFill>
          <a:blip r:embed="rId3"/>
          <a:stretch>
            <a:fillRect/>
          </a:stretch>
        </p:blipFill>
        <p:spPr>
          <a:xfrm>
            <a:off x="6731176" y="1457795"/>
            <a:ext cx="4853870" cy="1825743"/>
          </a:xfrm>
          <a:prstGeom prst="rect">
            <a:avLst/>
          </a:prstGeom>
        </p:spPr>
      </p:pic>
      <p:pic>
        <p:nvPicPr>
          <p:cNvPr id="3" name="Picture 2" descr="A diagram of a algorithm&#10;&#10;Description automatically generated">
            <a:extLst>
              <a:ext uri="{FF2B5EF4-FFF2-40B4-BE49-F238E27FC236}">
                <a16:creationId xmlns:a16="http://schemas.microsoft.com/office/drawing/2014/main" id="{E64B8871-CF48-A54D-6AC7-0BCEBB7C25A6}"/>
              </a:ext>
            </a:extLst>
          </p:cNvPr>
          <p:cNvPicPr>
            <a:picLocks noChangeAspect="1"/>
          </p:cNvPicPr>
          <p:nvPr/>
        </p:nvPicPr>
        <p:blipFill>
          <a:blip r:embed="rId4"/>
          <a:stretch>
            <a:fillRect/>
          </a:stretch>
        </p:blipFill>
        <p:spPr>
          <a:xfrm>
            <a:off x="6731294" y="3991857"/>
            <a:ext cx="5201709" cy="21856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latin typeface="Calibri"/>
              </a:rPr>
              <a:t>Text vs Number</a:t>
            </a:r>
          </a:p>
        </p:txBody>
      </p:sp>
      <p:sp>
        <p:nvSpPr>
          <p:cNvPr id="97" name="Google Shape;97;p2"/>
          <p:cNvSpPr txBox="1">
            <a:spLocks noGrp="1"/>
          </p:cNvSpPr>
          <p:nvPr>
            <p:ph type="body" idx="1"/>
          </p:nvPr>
        </p:nvSpPr>
        <p:spPr>
          <a:xfrm>
            <a:off x="442174" y="1326097"/>
            <a:ext cx="5149270" cy="4971672"/>
          </a:xfrm>
          <a:prstGeom prst="rect">
            <a:avLst/>
          </a:prstGeom>
          <a:noFill/>
          <a:ln>
            <a:noFill/>
          </a:ln>
        </p:spPr>
        <p:txBody>
          <a:bodyPr spcFirstLastPara="1" wrap="square" lIns="91425" tIns="45700" rIns="91425" bIns="45700" anchor="t" anchorCtr="0">
            <a:normAutofit/>
          </a:bodyPr>
          <a:lstStyle/>
          <a:p>
            <a:pPr marL="228600" indent="-228600"/>
            <a:r>
              <a:rPr lang="en-US">
                <a:solidFill>
                  <a:schemeClr val="accent5">
                    <a:lumMod val="76000"/>
                  </a:schemeClr>
                </a:solidFill>
              </a:rPr>
              <a:t>This process of converting text to number is called </a:t>
            </a:r>
            <a:r>
              <a:rPr lang="en-US">
                <a:solidFill>
                  <a:srgbClr val="002060"/>
                </a:solidFill>
              </a:rPr>
              <a:t>feature extraction</a:t>
            </a:r>
            <a:r>
              <a:rPr lang="en-US">
                <a:solidFill>
                  <a:schemeClr val="accent5">
                    <a:lumMod val="76000"/>
                  </a:schemeClr>
                </a:solidFill>
              </a:rPr>
              <a:t> or simply, </a:t>
            </a:r>
            <a:r>
              <a:rPr lang="en-US">
                <a:solidFill>
                  <a:srgbClr val="002060"/>
                </a:solidFill>
              </a:rPr>
              <a:t>vectorization</a:t>
            </a:r>
            <a:r>
              <a:rPr lang="en-US">
                <a:solidFill>
                  <a:schemeClr val="accent5">
                    <a:lumMod val="76000"/>
                  </a:schemeClr>
                </a:solidFill>
              </a:rPr>
              <a:t>, and is an essential first step toward language-aware analysis</a:t>
            </a:r>
          </a:p>
          <a:p>
            <a:pPr marL="228600" lvl="0" indent="-228600" algn="l" rtl="0">
              <a:lnSpc>
                <a:spcPct val="90000"/>
              </a:lnSpc>
              <a:spcBef>
                <a:spcPts val="1000"/>
              </a:spcBef>
              <a:spcAft>
                <a:spcPts val="0"/>
              </a:spcAft>
              <a:buClr>
                <a:srgbClr val="00B0F0"/>
              </a:buClr>
              <a:buSzPts val="2800"/>
              <a:buChar char="•"/>
            </a:pPr>
            <a:r>
              <a:rPr lang="en-US">
                <a:solidFill>
                  <a:schemeClr val="accent5">
                    <a:lumMod val="76000"/>
                  </a:schemeClr>
                </a:solidFill>
              </a:rPr>
              <a:t>In modern NLP this is called representation learning (for words, sentences, sequence, etc.)</a:t>
            </a:r>
            <a:endParaRPr>
              <a:solidFill>
                <a:schemeClr val="accent5">
                  <a:lumMod val="76000"/>
                </a:schemeClr>
              </a:solidFill>
            </a:endParaRPr>
          </a:p>
        </p:txBody>
      </p:sp>
      <p:pic>
        <p:nvPicPr>
          <p:cNvPr id="3" name="Picture 2">
            <a:extLst>
              <a:ext uri="{FF2B5EF4-FFF2-40B4-BE49-F238E27FC236}">
                <a16:creationId xmlns:a16="http://schemas.microsoft.com/office/drawing/2014/main" id="{847BEECE-9FD0-7483-8D78-70C96012E49A}"/>
              </a:ext>
            </a:extLst>
          </p:cNvPr>
          <p:cNvPicPr>
            <a:picLocks noChangeAspect="1"/>
          </p:cNvPicPr>
          <p:nvPr/>
        </p:nvPicPr>
        <p:blipFill>
          <a:blip r:embed="rId3"/>
          <a:stretch>
            <a:fillRect/>
          </a:stretch>
        </p:blipFill>
        <p:spPr>
          <a:xfrm>
            <a:off x="6097882" y="1671018"/>
            <a:ext cx="5396087" cy="3525371"/>
          </a:xfrm>
          <a:prstGeom prst="rect">
            <a:avLst/>
          </a:prstGeom>
        </p:spPr>
      </p:pic>
    </p:spTree>
    <p:extLst>
      <p:ext uri="{BB962C8B-B14F-4D97-AF65-F5344CB8AC3E}">
        <p14:creationId xmlns:p14="http://schemas.microsoft.com/office/powerpoint/2010/main" val="1101464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Syntax vs Semantics</a:t>
            </a:r>
          </a:p>
        </p:txBody>
      </p:sp>
      <p:sp>
        <p:nvSpPr>
          <p:cNvPr id="115" name="Google Shape;115;p5"/>
          <p:cNvSpPr txBox="1">
            <a:spLocks noGrp="1"/>
          </p:cNvSpPr>
          <p:nvPr>
            <p:ph type="body" idx="1"/>
          </p:nvPr>
        </p:nvSpPr>
        <p:spPr>
          <a:xfrm>
            <a:off x="573878" y="3855630"/>
            <a:ext cx="11320529" cy="279962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rgbClr val="00B0F0"/>
              </a:buClr>
              <a:buSzPct val="100000"/>
              <a:buChar char="•"/>
            </a:pPr>
            <a:r>
              <a:rPr lang="en-US">
                <a:solidFill>
                  <a:srgbClr val="0070C0"/>
                </a:solidFill>
              </a:rPr>
              <a:t>Syntax defines the grammatical structures or the rules defining a language </a:t>
            </a:r>
          </a:p>
          <a:p>
            <a:pPr marL="685800" lvl="1" indent="-228600" algn="l" rtl="0">
              <a:lnSpc>
                <a:spcPct val="90000"/>
              </a:lnSpc>
              <a:spcBef>
                <a:spcPts val="500"/>
              </a:spcBef>
              <a:spcAft>
                <a:spcPts val="0"/>
              </a:spcAft>
              <a:buClr>
                <a:srgbClr val="00B050"/>
              </a:buClr>
              <a:buSzPct val="100000"/>
              <a:buChar char="•"/>
            </a:pPr>
            <a:r>
              <a:rPr lang="en-US">
                <a:solidFill>
                  <a:schemeClr val="accent6">
                    <a:lumMod val="76000"/>
                  </a:schemeClr>
                </a:solidFill>
              </a:rPr>
              <a:t>It can be thought of as a set of principles that define how words can be put in sentences or phrases</a:t>
            </a:r>
            <a:endParaRPr>
              <a:solidFill>
                <a:schemeClr val="accent6">
                  <a:lumMod val="76000"/>
                </a:schemeClr>
              </a:solidFill>
            </a:endParaRPr>
          </a:p>
          <a:p>
            <a:pPr marL="685800" lvl="1" indent="-228600" algn="l" rtl="0">
              <a:lnSpc>
                <a:spcPct val="90000"/>
              </a:lnSpc>
              <a:spcBef>
                <a:spcPts val="500"/>
              </a:spcBef>
              <a:spcAft>
                <a:spcPts val="0"/>
              </a:spcAft>
              <a:buClr>
                <a:srgbClr val="00B050"/>
              </a:buClr>
              <a:buSzPct val="100000"/>
              <a:buChar char="•"/>
            </a:pPr>
            <a:r>
              <a:rPr lang="en-US">
                <a:solidFill>
                  <a:schemeClr val="accent6">
                    <a:lumMod val="76000"/>
                  </a:schemeClr>
                </a:solidFill>
              </a:rPr>
              <a:t>However, syntactically correct sentences may not be meaningful</a:t>
            </a:r>
            <a:endParaRPr>
              <a:solidFill>
                <a:schemeClr val="accent6">
                  <a:lumMod val="76000"/>
                </a:schemeClr>
              </a:solidFill>
            </a:endParaRPr>
          </a:p>
          <a:p>
            <a:pPr marL="228600" lvl="0" indent="-228600" algn="l" rtl="0">
              <a:lnSpc>
                <a:spcPct val="90000"/>
              </a:lnSpc>
              <a:spcBef>
                <a:spcPts val="1000"/>
              </a:spcBef>
              <a:spcAft>
                <a:spcPts val="0"/>
              </a:spcAft>
              <a:buClr>
                <a:srgbClr val="00B0F0"/>
              </a:buClr>
              <a:buSzPct val="100000"/>
              <a:buChar char="•"/>
            </a:pPr>
            <a:r>
              <a:rPr lang="en-US">
                <a:solidFill>
                  <a:srgbClr val="0070C0"/>
                </a:solidFill>
              </a:rPr>
              <a:t>Semantics on the other hand deals with meanings</a:t>
            </a:r>
            <a:endParaRPr>
              <a:solidFill>
                <a:srgbClr val="0070C0"/>
              </a:solidFill>
            </a:endParaRPr>
          </a:p>
          <a:p>
            <a:pPr marL="685800" lvl="1" indent="-228600" algn="l" rtl="0">
              <a:lnSpc>
                <a:spcPct val="90000"/>
              </a:lnSpc>
              <a:spcBef>
                <a:spcPts val="500"/>
              </a:spcBef>
              <a:spcAft>
                <a:spcPts val="0"/>
              </a:spcAft>
              <a:buClr>
                <a:srgbClr val="00B050"/>
              </a:buClr>
              <a:buSzPct val="100000"/>
              <a:buChar char="•"/>
            </a:pPr>
            <a:r>
              <a:rPr lang="en-US">
                <a:solidFill>
                  <a:schemeClr val="accent6">
                    <a:lumMod val="76000"/>
                  </a:schemeClr>
                </a:solidFill>
              </a:rPr>
              <a:t>Something that make sense to human </a:t>
            </a:r>
            <a:endParaRPr>
              <a:solidFill>
                <a:schemeClr val="accent6">
                  <a:lumMod val="76000"/>
                </a:schemeClr>
              </a:solidFill>
            </a:endParaRPr>
          </a:p>
          <a:p>
            <a:pPr marL="0" lvl="0" indent="0" algn="l" rtl="0">
              <a:lnSpc>
                <a:spcPct val="90000"/>
              </a:lnSpc>
              <a:spcBef>
                <a:spcPts val="1000"/>
              </a:spcBef>
              <a:spcAft>
                <a:spcPts val="0"/>
              </a:spcAft>
              <a:buClr>
                <a:srgbClr val="00B0F0"/>
              </a:buClr>
              <a:buSzPct val="100000"/>
              <a:buNone/>
            </a:pPr>
            <a:endParaRPr lang="en-US"/>
          </a:p>
        </p:txBody>
      </p:sp>
      <p:pic>
        <p:nvPicPr>
          <p:cNvPr id="2" name="Picture 1" descr="A cartoon of a person and a dog&#10;&#10;Description automatically generated">
            <a:extLst>
              <a:ext uri="{FF2B5EF4-FFF2-40B4-BE49-F238E27FC236}">
                <a16:creationId xmlns:a16="http://schemas.microsoft.com/office/drawing/2014/main" id="{0683822E-E30F-18D0-037F-D7B81662E6BF}"/>
              </a:ext>
            </a:extLst>
          </p:cNvPr>
          <p:cNvPicPr>
            <a:picLocks noChangeAspect="1"/>
          </p:cNvPicPr>
          <p:nvPr/>
        </p:nvPicPr>
        <p:blipFill>
          <a:blip r:embed="rId3"/>
          <a:stretch>
            <a:fillRect/>
          </a:stretch>
        </p:blipFill>
        <p:spPr>
          <a:xfrm>
            <a:off x="3767138" y="915871"/>
            <a:ext cx="4657725" cy="2505075"/>
          </a:xfrm>
          <a:prstGeom prst="rect">
            <a:avLst/>
          </a:prstGeom>
        </p:spPr>
      </p:pic>
    </p:spTree>
    <p:extLst>
      <p:ext uri="{BB962C8B-B14F-4D97-AF65-F5344CB8AC3E}">
        <p14:creationId xmlns:p14="http://schemas.microsoft.com/office/powerpoint/2010/main" val="2079103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Syntax vs Semantics</a:t>
            </a:r>
          </a:p>
        </p:txBody>
      </p:sp>
      <p:sp>
        <p:nvSpPr>
          <p:cNvPr id="115" name="Google Shape;115;p5"/>
          <p:cNvSpPr txBox="1">
            <a:spLocks noGrp="1"/>
          </p:cNvSpPr>
          <p:nvPr>
            <p:ph type="body" idx="1"/>
          </p:nvPr>
        </p:nvSpPr>
        <p:spPr>
          <a:xfrm>
            <a:off x="592693" y="3592223"/>
            <a:ext cx="11320529" cy="313828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1000"/>
              </a:spcBef>
              <a:spcAft>
                <a:spcPts val="0"/>
              </a:spcAft>
              <a:buClr>
                <a:srgbClr val="00B0F0"/>
              </a:buClr>
              <a:buSzPct val="100000"/>
              <a:buChar char="•"/>
            </a:pPr>
            <a:r>
              <a:rPr lang="en-US">
                <a:solidFill>
                  <a:schemeClr val="accent5">
                    <a:lumMod val="76000"/>
                  </a:schemeClr>
                </a:solidFill>
              </a:rPr>
              <a:t>Semantics takes care of putting words together to make sense</a:t>
            </a:r>
          </a:p>
          <a:p>
            <a:pPr marL="685800" lvl="1" indent="-228600" algn="l" rtl="0">
              <a:lnSpc>
                <a:spcPct val="90000"/>
              </a:lnSpc>
              <a:spcBef>
                <a:spcPts val="500"/>
              </a:spcBef>
              <a:spcAft>
                <a:spcPts val="0"/>
              </a:spcAft>
              <a:buClr>
                <a:srgbClr val="00B050"/>
              </a:buClr>
              <a:buSzPct val="100000"/>
              <a:buChar char="•"/>
            </a:pPr>
            <a:r>
              <a:rPr lang="en-US">
                <a:solidFill>
                  <a:schemeClr val="accent6">
                    <a:lumMod val="76000"/>
                  </a:schemeClr>
                </a:solidFill>
              </a:rPr>
              <a:t>That is the words must follow the syntax </a:t>
            </a:r>
            <a:endParaRPr>
              <a:solidFill>
                <a:schemeClr val="accent6">
                  <a:lumMod val="76000"/>
                </a:schemeClr>
              </a:solidFill>
            </a:endParaRPr>
          </a:p>
          <a:p>
            <a:pPr marL="685800" lvl="1" indent="-228600" algn="l" rtl="0">
              <a:lnSpc>
                <a:spcPct val="90000"/>
              </a:lnSpc>
              <a:spcBef>
                <a:spcPts val="500"/>
              </a:spcBef>
              <a:spcAft>
                <a:spcPts val="0"/>
              </a:spcAft>
              <a:buClr>
                <a:srgbClr val="00B050"/>
              </a:buClr>
              <a:buSzPct val="100000"/>
              <a:buChar char="•"/>
            </a:pPr>
            <a:r>
              <a:rPr lang="en-US">
                <a:solidFill>
                  <a:schemeClr val="accent6">
                    <a:lumMod val="76000"/>
                  </a:schemeClr>
                </a:solidFill>
              </a:rPr>
              <a:t>And, must follow meaning of the words</a:t>
            </a:r>
            <a:endParaRPr>
              <a:solidFill>
                <a:schemeClr val="accent6">
                  <a:lumMod val="76000"/>
                </a:schemeClr>
              </a:solidFill>
            </a:endParaRPr>
          </a:p>
          <a:p>
            <a:pPr marL="1143000" lvl="2" indent="-228600" algn="l" rtl="0">
              <a:lnSpc>
                <a:spcPct val="90000"/>
              </a:lnSpc>
              <a:spcBef>
                <a:spcPts val="500"/>
              </a:spcBef>
              <a:spcAft>
                <a:spcPts val="0"/>
              </a:spcAft>
              <a:buClr>
                <a:srgbClr val="FFC000"/>
              </a:buClr>
              <a:buSzPct val="100000"/>
              <a:buChar char="•"/>
            </a:pPr>
            <a:r>
              <a:rPr lang="en-US">
                <a:solidFill>
                  <a:srgbClr val="F28E4B"/>
                </a:solidFill>
              </a:rPr>
              <a:t>How can we really teach computers the meaning of the words?</a:t>
            </a:r>
            <a:endParaRPr>
              <a:solidFill>
                <a:srgbClr val="F28E4B"/>
              </a:solidFill>
            </a:endParaRPr>
          </a:p>
          <a:p>
            <a:pPr marL="1143000" lvl="2" indent="-228600" algn="l" rtl="0">
              <a:lnSpc>
                <a:spcPct val="90000"/>
              </a:lnSpc>
              <a:spcBef>
                <a:spcPts val="500"/>
              </a:spcBef>
              <a:spcAft>
                <a:spcPts val="0"/>
              </a:spcAft>
              <a:buClr>
                <a:srgbClr val="FFC000"/>
              </a:buClr>
              <a:buSzPct val="100000"/>
              <a:buChar char="•"/>
            </a:pPr>
            <a:r>
              <a:rPr lang="en-US">
                <a:solidFill>
                  <a:srgbClr val="F28E4B"/>
                </a:solidFill>
              </a:rPr>
              <a:t>At least, we must agree that it is a difficult problem</a:t>
            </a:r>
            <a:endParaRPr>
              <a:solidFill>
                <a:srgbClr val="F28E4B"/>
              </a:solidFill>
            </a:endParaRPr>
          </a:p>
          <a:p>
            <a:pPr marL="228600" lvl="0" indent="-228600" algn="l" rtl="0">
              <a:lnSpc>
                <a:spcPct val="90000"/>
              </a:lnSpc>
              <a:spcBef>
                <a:spcPts val="1000"/>
              </a:spcBef>
              <a:spcAft>
                <a:spcPts val="0"/>
              </a:spcAft>
              <a:buClr>
                <a:srgbClr val="00B0F0"/>
              </a:buClr>
              <a:buSzPct val="100000"/>
              <a:buChar char="•"/>
            </a:pPr>
            <a:r>
              <a:rPr lang="en-US">
                <a:solidFill>
                  <a:schemeClr val="accent5">
                    <a:lumMod val="76000"/>
                  </a:schemeClr>
                </a:solidFill>
              </a:rPr>
              <a:t>In this lecture we will primarily focus on the syntactic aspects </a:t>
            </a:r>
            <a:endParaRPr>
              <a:solidFill>
                <a:schemeClr val="accent5">
                  <a:lumMod val="76000"/>
                </a:schemeClr>
              </a:solidFill>
            </a:endParaRPr>
          </a:p>
          <a:p>
            <a:pPr marL="685800" lvl="1" indent="-228600" algn="l" rtl="0">
              <a:lnSpc>
                <a:spcPct val="90000"/>
              </a:lnSpc>
              <a:spcBef>
                <a:spcPts val="500"/>
              </a:spcBef>
              <a:spcAft>
                <a:spcPts val="0"/>
              </a:spcAft>
              <a:buClr>
                <a:srgbClr val="00B050"/>
              </a:buClr>
              <a:buSzPct val="100000"/>
              <a:buChar char="•"/>
            </a:pPr>
            <a:r>
              <a:rPr lang="en-US">
                <a:solidFill>
                  <a:schemeClr val="accent6">
                    <a:lumMod val="76000"/>
                  </a:schemeClr>
                </a:solidFill>
              </a:rPr>
              <a:t>We will use naïve information such as </a:t>
            </a:r>
            <a:r>
              <a:rPr lang="en-US">
                <a:solidFill>
                  <a:srgbClr val="002060"/>
                </a:solidFill>
              </a:rPr>
              <a:t>how many times a word occurred</a:t>
            </a:r>
            <a:r>
              <a:rPr lang="en-US">
                <a:solidFill>
                  <a:schemeClr val="accent6">
                    <a:lumMod val="76000"/>
                  </a:schemeClr>
                </a:solidFill>
              </a:rPr>
              <a:t> in a document or in a set of documents as potential features to represent documents</a:t>
            </a:r>
            <a:endParaRPr>
              <a:solidFill>
                <a:schemeClr val="accent6">
                  <a:lumMod val="76000"/>
                </a:schemeClr>
              </a:solidFill>
            </a:endParaRPr>
          </a:p>
        </p:txBody>
      </p:sp>
      <p:pic>
        <p:nvPicPr>
          <p:cNvPr id="2" name="Picture 1" descr="A cartoon of a person and a dog&#10;&#10;Description automatically generated">
            <a:extLst>
              <a:ext uri="{FF2B5EF4-FFF2-40B4-BE49-F238E27FC236}">
                <a16:creationId xmlns:a16="http://schemas.microsoft.com/office/drawing/2014/main" id="{0683822E-E30F-18D0-037F-D7B81662E6BF}"/>
              </a:ext>
            </a:extLst>
          </p:cNvPr>
          <p:cNvPicPr>
            <a:picLocks noChangeAspect="1"/>
          </p:cNvPicPr>
          <p:nvPr/>
        </p:nvPicPr>
        <p:blipFill>
          <a:blip r:embed="rId3"/>
          <a:stretch>
            <a:fillRect/>
          </a:stretch>
        </p:blipFill>
        <p:spPr>
          <a:xfrm>
            <a:off x="3767138" y="915871"/>
            <a:ext cx="4657725" cy="2505075"/>
          </a:xfrm>
          <a:prstGeom prst="rect">
            <a:avLst/>
          </a:prstGeom>
        </p:spPr>
      </p:pic>
    </p:spTree>
    <p:extLst>
      <p:ext uri="{BB962C8B-B14F-4D97-AF65-F5344CB8AC3E}">
        <p14:creationId xmlns:p14="http://schemas.microsoft.com/office/powerpoint/2010/main" val="2581303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How can we convert text to numbers?</a:t>
            </a:r>
          </a:p>
        </p:txBody>
      </p:sp>
      <p:sp>
        <p:nvSpPr>
          <p:cNvPr id="121" name="Google Shape;121;p6"/>
          <p:cNvSpPr txBox="1">
            <a:spLocks noGrp="1"/>
          </p:cNvSpPr>
          <p:nvPr>
            <p:ph type="body" idx="1"/>
          </p:nvPr>
        </p:nvSpPr>
        <p:spPr>
          <a:xfrm>
            <a:off x="442174" y="817037"/>
            <a:ext cx="11320529" cy="548073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B0F0"/>
              </a:buClr>
              <a:buSzPts val="2800"/>
              <a:buChar char="•"/>
            </a:pPr>
            <a:r>
              <a:rPr lang="en-US">
                <a:solidFill>
                  <a:schemeClr val="accent5">
                    <a:lumMod val="76000"/>
                  </a:schemeClr>
                </a:solidFill>
              </a:rPr>
              <a:t>How can we represent words using numbers?</a:t>
            </a:r>
          </a:p>
          <a:p>
            <a:pPr marL="685800" lvl="1" indent="-228600" algn="l" rtl="0">
              <a:lnSpc>
                <a:spcPct val="90000"/>
              </a:lnSpc>
              <a:spcBef>
                <a:spcPts val="500"/>
              </a:spcBef>
              <a:spcAft>
                <a:spcPts val="0"/>
              </a:spcAft>
              <a:buClr>
                <a:srgbClr val="00B050"/>
              </a:buClr>
              <a:buSzPts val="2400"/>
              <a:buChar char="•"/>
            </a:pPr>
            <a:r>
              <a:rPr lang="en-US">
                <a:solidFill>
                  <a:schemeClr val="accent6">
                    <a:lumMod val="76000"/>
                  </a:schemeClr>
                </a:solidFill>
              </a:rPr>
              <a:t>We can use the conventional way we represent data in ML/DL:</a:t>
            </a:r>
            <a:endParaRPr>
              <a:solidFill>
                <a:schemeClr val="accent6">
                  <a:lumMod val="76000"/>
                </a:schemeClr>
              </a:solidFill>
            </a:endParaRPr>
          </a:p>
          <a:p>
            <a:pPr marL="1143000" lvl="2" indent="-228600" algn="l" rtl="0">
              <a:lnSpc>
                <a:spcPct val="90000"/>
              </a:lnSpc>
              <a:spcBef>
                <a:spcPts val="500"/>
              </a:spcBef>
              <a:spcAft>
                <a:spcPts val="0"/>
              </a:spcAft>
              <a:buClr>
                <a:srgbClr val="FFC000"/>
              </a:buClr>
              <a:buSzPts val="2000"/>
              <a:buChar char="•"/>
            </a:pPr>
            <a:r>
              <a:rPr lang="en-US">
                <a:solidFill>
                  <a:srgbClr val="F28E4B"/>
                </a:solidFill>
              </a:rPr>
              <a:t>From a sequence of words to points that occupy a high-dimensional space</a:t>
            </a:r>
            <a:endParaRPr>
              <a:solidFill>
                <a:srgbClr val="F28E4B"/>
              </a:solidFill>
            </a:endParaRPr>
          </a:p>
          <a:p>
            <a:pPr marL="1600200" lvl="3" indent="-228600" algn="l" rtl="0">
              <a:lnSpc>
                <a:spcPct val="90000"/>
              </a:lnSpc>
              <a:spcBef>
                <a:spcPts val="500"/>
              </a:spcBef>
              <a:spcAft>
                <a:spcPts val="0"/>
              </a:spcAft>
              <a:buClr>
                <a:srgbClr val="002060"/>
              </a:buClr>
              <a:buSzPts val="1800"/>
              <a:buChar char="•"/>
            </a:pPr>
            <a:r>
              <a:rPr lang="en-US"/>
              <a:t>Maybe semantic space</a:t>
            </a:r>
            <a:endParaRPr/>
          </a:p>
          <a:p>
            <a:pPr marL="1143000" lvl="2" indent="-228600" algn="l" rtl="0">
              <a:lnSpc>
                <a:spcPct val="90000"/>
              </a:lnSpc>
              <a:spcBef>
                <a:spcPts val="500"/>
              </a:spcBef>
              <a:spcAft>
                <a:spcPts val="0"/>
              </a:spcAft>
              <a:buClr>
                <a:srgbClr val="FFC000"/>
              </a:buClr>
              <a:buSzPts val="2000"/>
              <a:buChar char="•"/>
            </a:pPr>
            <a:r>
              <a:rPr lang="en-US">
                <a:solidFill>
                  <a:srgbClr val="F28E4B"/>
                </a:solidFill>
              </a:rPr>
              <a:t>Points in space can be close together or far apart, tightly clustered or evenly distributed</a:t>
            </a:r>
            <a:endParaRPr>
              <a:solidFill>
                <a:srgbClr val="F28E4B"/>
              </a:solidFill>
            </a:endParaRPr>
          </a:p>
          <a:p>
            <a:pPr marL="1600200" lvl="3" indent="-228600" algn="l" rtl="0">
              <a:lnSpc>
                <a:spcPct val="90000"/>
              </a:lnSpc>
              <a:spcBef>
                <a:spcPts val="500"/>
              </a:spcBef>
              <a:spcAft>
                <a:spcPts val="0"/>
              </a:spcAft>
              <a:buClr>
                <a:srgbClr val="002060"/>
              </a:buClr>
              <a:buSzPts val="1800"/>
              <a:buChar char="•"/>
            </a:pPr>
            <a:r>
              <a:rPr lang="en-US"/>
              <a:t>Following semantic rules </a:t>
            </a:r>
            <a:endParaRPr/>
          </a:p>
          <a:p>
            <a:pPr marL="228600" lvl="0" indent="-228600" algn="l" rtl="0">
              <a:lnSpc>
                <a:spcPct val="90000"/>
              </a:lnSpc>
              <a:spcBef>
                <a:spcPts val="1000"/>
              </a:spcBef>
              <a:spcAft>
                <a:spcPts val="0"/>
              </a:spcAft>
              <a:buClr>
                <a:srgbClr val="00B0F0"/>
              </a:buClr>
              <a:buSzPts val="2800"/>
              <a:buChar char="•"/>
            </a:pPr>
            <a:r>
              <a:rPr lang="en-US">
                <a:solidFill>
                  <a:schemeClr val="accent5">
                    <a:lumMod val="76000"/>
                  </a:schemeClr>
                </a:solidFill>
              </a:rPr>
              <a:t>Semantic space is therefore mapped in such a way where documents with similar meanings are closer together and those that are different are farther apart</a:t>
            </a:r>
            <a:endParaRPr>
              <a:solidFill>
                <a:schemeClr val="accent5">
                  <a:lumMod val="76000"/>
                </a:schemeClr>
              </a:solidFill>
            </a:endParaRPr>
          </a:p>
          <a:p>
            <a:pPr marL="685800" lvl="1" indent="-228600" algn="l" rtl="0">
              <a:lnSpc>
                <a:spcPct val="90000"/>
              </a:lnSpc>
              <a:spcBef>
                <a:spcPts val="500"/>
              </a:spcBef>
              <a:spcAft>
                <a:spcPts val="0"/>
              </a:spcAft>
              <a:buClr>
                <a:srgbClr val="00B050"/>
              </a:buClr>
              <a:buSzPts val="2400"/>
              <a:buChar char="•"/>
            </a:pPr>
            <a:r>
              <a:rPr lang="en-US">
                <a:solidFill>
                  <a:schemeClr val="accent6">
                    <a:lumMod val="76000"/>
                  </a:schemeClr>
                </a:solidFill>
              </a:rPr>
              <a:t>At least that is our goal and hope</a:t>
            </a:r>
            <a:endParaRPr>
              <a:solidFill>
                <a:schemeClr val="accent6">
                  <a:lumMod val="76000"/>
                </a:schemeClr>
              </a:solidFill>
            </a:endParaRPr>
          </a:p>
          <a:p>
            <a:pPr marL="228600" indent="-228600"/>
            <a:r>
              <a:rPr lang="en-US">
                <a:solidFill>
                  <a:schemeClr val="accent5">
                    <a:lumMod val="76000"/>
                  </a:schemeClr>
                </a:solidFill>
              </a:rPr>
              <a:t>By encoding </a:t>
            </a:r>
            <a:r>
              <a:rPr lang="en-US">
                <a:solidFill>
                  <a:srgbClr val="002060"/>
                </a:solidFill>
              </a:rPr>
              <a:t>similarity as space and distance</a:t>
            </a:r>
            <a:r>
              <a:rPr lang="en-US">
                <a:solidFill>
                  <a:schemeClr val="accent5">
                    <a:lumMod val="76000"/>
                  </a:schemeClr>
                </a:solidFill>
              </a:rPr>
              <a:t> (in high-dimensional space), we can begin to derive the primary components of documents and draw decision boundaries in our semantic space</a:t>
            </a:r>
            <a:endParaRPr>
              <a:solidFill>
                <a:schemeClr val="accent5">
                  <a:lumMod val="76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How many ways of conversion?</a:t>
            </a:r>
          </a:p>
        </p:txBody>
      </p:sp>
      <p:sp>
        <p:nvSpPr>
          <p:cNvPr id="127" name="Google Shape;127;p7"/>
          <p:cNvSpPr txBox="1">
            <a:spLocks noGrp="1"/>
          </p:cNvSpPr>
          <p:nvPr>
            <p:ph type="body" idx="1"/>
          </p:nvPr>
        </p:nvSpPr>
        <p:spPr>
          <a:xfrm>
            <a:off x="442174" y="817037"/>
            <a:ext cx="11320529" cy="548073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B0F0"/>
              </a:buClr>
              <a:buSzPts val="2800"/>
              <a:buChar char="•"/>
            </a:pPr>
            <a:r>
              <a:rPr lang="en-US">
                <a:solidFill>
                  <a:schemeClr val="accent5">
                    <a:lumMod val="76000"/>
                  </a:schemeClr>
                </a:solidFill>
              </a:rPr>
              <a:t>What should each element in the document vector be? </a:t>
            </a:r>
          </a:p>
          <a:p>
            <a:pPr marL="228600" lvl="0" indent="-228600" algn="l" rtl="0">
              <a:lnSpc>
                <a:spcPct val="90000"/>
              </a:lnSpc>
              <a:spcBef>
                <a:spcPts val="1000"/>
              </a:spcBef>
              <a:spcAft>
                <a:spcPts val="0"/>
              </a:spcAft>
              <a:buClr>
                <a:srgbClr val="00B0F0"/>
              </a:buClr>
              <a:buSzPts val="2800"/>
              <a:buChar char="•"/>
            </a:pPr>
            <a:r>
              <a:rPr lang="en-US">
                <a:solidFill>
                  <a:schemeClr val="accent5">
                    <a:lumMod val="76000"/>
                  </a:schemeClr>
                </a:solidFill>
              </a:rPr>
              <a:t>In this lecture we will explore several choices, each of which extends or modifies the base bag-of-word model to describe semantic space </a:t>
            </a:r>
            <a:endParaRPr>
              <a:solidFill>
                <a:schemeClr val="accent5">
                  <a:lumMod val="76000"/>
                </a:schemeClr>
              </a:solidFill>
            </a:endParaRPr>
          </a:p>
          <a:p>
            <a:pPr marL="228600" lvl="0" indent="-228600" algn="l" rtl="0">
              <a:lnSpc>
                <a:spcPct val="90000"/>
              </a:lnSpc>
              <a:spcBef>
                <a:spcPts val="1000"/>
              </a:spcBef>
              <a:spcAft>
                <a:spcPts val="0"/>
              </a:spcAft>
              <a:buClr>
                <a:srgbClr val="00B0F0"/>
              </a:buClr>
              <a:buSzPts val="2800"/>
              <a:buChar char="•"/>
            </a:pPr>
            <a:r>
              <a:rPr lang="en-US">
                <a:solidFill>
                  <a:schemeClr val="accent5">
                    <a:lumMod val="76000"/>
                  </a:schemeClr>
                </a:solidFill>
              </a:rPr>
              <a:t>We will look at four types of vector encoding</a:t>
            </a:r>
            <a:endParaRPr>
              <a:solidFill>
                <a:schemeClr val="accent5">
                  <a:lumMod val="76000"/>
                </a:schemeClr>
              </a:solidFill>
            </a:endParaRPr>
          </a:p>
          <a:p>
            <a:pPr marL="685800" lvl="1" indent="-228600" algn="l" rtl="0">
              <a:lnSpc>
                <a:spcPct val="90000"/>
              </a:lnSpc>
              <a:spcBef>
                <a:spcPts val="500"/>
              </a:spcBef>
              <a:spcAft>
                <a:spcPts val="0"/>
              </a:spcAft>
              <a:buClr>
                <a:srgbClr val="00B050"/>
              </a:buClr>
              <a:buSzPts val="2400"/>
              <a:buChar char="•"/>
            </a:pPr>
            <a:r>
              <a:rPr lang="en-US">
                <a:solidFill>
                  <a:schemeClr val="accent6">
                    <a:lumMod val="76000"/>
                  </a:schemeClr>
                </a:solidFill>
              </a:rPr>
              <a:t>Frequency, one-hot, TF–IDF, and distributed representations</a:t>
            </a:r>
            <a:endParaRPr>
              <a:solidFill>
                <a:schemeClr val="accent6">
                  <a:lumMod val="76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A naïve scheme: Bag of words</a:t>
            </a:r>
          </a:p>
        </p:txBody>
      </p:sp>
      <p:sp>
        <p:nvSpPr>
          <p:cNvPr id="133" name="Google Shape;133;p8"/>
          <p:cNvSpPr txBox="1">
            <a:spLocks noGrp="1"/>
          </p:cNvSpPr>
          <p:nvPr>
            <p:ph type="body" idx="1"/>
          </p:nvPr>
        </p:nvSpPr>
        <p:spPr>
          <a:xfrm>
            <a:off x="442175" y="1339098"/>
            <a:ext cx="11320529" cy="4788189"/>
          </a:xfrm>
          <a:prstGeom prst="rect">
            <a:avLst/>
          </a:prstGeom>
          <a:noFill/>
          <a:ln>
            <a:noFill/>
          </a:ln>
        </p:spPr>
        <p:txBody>
          <a:bodyPr spcFirstLastPara="1" wrap="square" lIns="91425" tIns="45700" rIns="91425" bIns="45700" anchor="t" anchorCtr="0">
            <a:normAutofit fontScale="92500" lnSpcReduction="10000"/>
          </a:bodyPr>
          <a:lstStyle/>
          <a:p>
            <a:r>
              <a:rPr lang="en-US">
                <a:solidFill>
                  <a:schemeClr val="accent5">
                    <a:lumMod val="76000"/>
                  </a:schemeClr>
                </a:solidFill>
              </a:rPr>
              <a:t>The simplest representation of semantic space is the bag-of-words (BoW) model.</a:t>
            </a:r>
            <a:endParaRPr lang="en-US"/>
          </a:p>
          <a:p>
            <a:r>
              <a:rPr lang="en-US" dirty="0">
                <a:solidFill>
                  <a:schemeClr val="accent5">
                    <a:lumMod val="76000"/>
                  </a:schemeClr>
                </a:solidFill>
              </a:rPr>
              <a:t>Its core assumption is that the meaning and similarity of texts are reflected in their </a:t>
            </a:r>
            <a:r>
              <a:rPr lang="en-US">
                <a:solidFill>
                  <a:schemeClr val="accent5">
                    <a:lumMod val="76000"/>
                  </a:schemeClr>
                </a:solidFill>
              </a:rPr>
              <a:t>vocabulary — that is, documents with similar word distributions are semantically related.</a:t>
            </a:r>
          </a:p>
          <a:p>
            <a:pPr lvl="1">
              <a:buSzPts val="2400"/>
              <a:buFont typeface="Arial"/>
              <a:buChar char="•"/>
            </a:pPr>
            <a:r>
              <a:rPr lang="en-US" dirty="0">
                <a:solidFill>
                  <a:schemeClr val="accent6">
                    <a:lumMod val="76000"/>
                  </a:schemeClr>
                </a:solidFill>
              </a:rPr>
              <a:t>However, a little brainstorming will quickly reveal many counterexamples.</a:t>
            </a:r>
            <a:endParaRPr dirty="0">
              <a:solidFill>
                <a:schemeClr val="accent6">
                  <a:lumMod val="76000"/>
                </a:schemeClr>
              </a:solidFill>
            </a:endParaRPr>
          </a:p>
          <a:p>
            <a:pPr lvl="2">
              <a:buSzPts val="2400"/>
            </a:pPr>
            <a:r>
              <a:rPr lang="en-US" dirty="0"/>
              <a:t>This is why the model is considered naïve.</a:t>
            </a:r>
          </a:p>
          <a:p>
            <a:pPr lvl="1"/>
            <a:r>
              <a:rPr lang="en-US" dirty="0">
                <a:solidFill>
                  <a:schemeClr val="accent6">
                    <a:lumMod val="76000"/>
                  </a:schemeClr>
                </a:solidFill>
              </a:rPr>
              <a:t>For instance, Wikipedia articles about football, Lionel Messi, or Cristiano Ronaldo are likely to appear quite similar because they share many overlapping words.</a:t>
            </a:r>
          </a:p>
          <a:p>
            <a:pPr lvl="1"/>
            <a:r>
              <a:rPr lang="en-US" dirty="0">
                <a:solidFill>
                  <a:schemeClr val="accent6">
                    <a:lumMod val="76000"/>
                  </a:schemeClr>
                </a:solidFill>
              </a:rPr>
              <a:t>In contrast, they will have little in common with articles about smartphones or Jamuna Future Park.</a:t>
            </a:r>
          </a:p>
          <a:p>
            <a:pPr marL="228600" indent="-228600"/>
            <a:r>
              <a:rPr lang="en-US">
                <a:solidFill>
                  <a:schemeClr val="accent5">
                    <a:lumMod val="76000"/>
                  </a:schemeClr>
                </a:solidFill>
              </a:rPr>
              <a:t>Despite its simplicity, the bag-of-words model remains a surprisingly effective starting point for developing more advanced and nuanced language models.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Bag of Words (</a:t>
            </a:r>
            <a:r>
              <a:rPr lang="en-US" err="1">
                <a:solidFill>
                  <a:srgbClr val="002060"/>
                </a:solidFill>
              </a:rPr>
              <a:t>BoW</a:t>
            </a:r>
            <a:r>
              <a:rPr lang="en-US">
                <a:solidFill>
                  <a:srgbClr val="002060"/>
                </a:solidFill>
              </a:rPr>
              <a:t>)</a:t>
            </a:r>
          </a:p>
        </p:txBody>
      </p:sp>
      <p:pic>
        <p:nvPicPr>
          <p:cNvPr id="139" name="Google Shape;139;p9" descr="NLP Pipeline 101 With Basic Code Example — Feature Extraction | by Haitian  Wei | Voice Tech Podcast | Medium"/>
          <p:cNvPicPr preferRelativeResize="0"/>
          <p:nvPr/>
        </p:nvPicPr>
        <p:blipFill rotWithShape="1">
          <a:blip r:embed="rId3">
            <a:alphaModFix/>
          </a:blip>
          <a:srcRect/>
          <a:stretch/>
        </p:blipFill>
        <p:spPr>
          <a:xfrm>
            <a:off x="1357988" y="1040509"/>
            <a:ext cx="8572291" cy="470266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Bag of Words (</a:t>
            </a:r>
            <a:r>
              <a:rPr lang="en-US" err="1">
                <a:solidFill>
                  <a:srgbClr val="002060"/>
                </a:solidFill>
              </a:rPr>
              <a:t>BoW</a:t>
            </a:r>
            <a:r>
              <a:rPr lang="en-US">
                <a:solidFill>
                  <a:srgbClr val="002060"/>
                </a:solidFill>
              </a:rPr>
              <a:t>) – How to do it</a:t>
            </a:r>
          </a:p>
        </p:txBody>
      </p:sp>
      <p:sp>
        <p:nvSpPr>
          <p:cNvPr id="145" name="Google Shape;145;p10"/>
          <p:cNvSpPr txBox="1">
            <a:spLocks noGrp="1"/>
          </p:cNvSpPr>
          <p:nvPr>
            <p:ph type="body" idx="1"/>
          </p:nvPr>
        </p:nvSpPr>
        <p:spPr>
          <a:xfrm>
            <a:off x="442174" y="1394847"/>
            <a:ext cx="11320529" cy="4902922"/>
          </a:xfrm>
          <a:prstGeom prst="rect">
            <a:avLst/>
          </a:prstGeom>
          <a:noFill/>
          <a:ln>
            <a:noFill/>
          </a:ln>
        </p:spPr>
        <p:txBody>
          <a:bodyPr spcFirstLastPara="1" wrap="square" lIns="91425" tIns="45700" rIns="91425" bIns="45700" anchor="t" anchorCtr="0">
            <a:normAutofit fontScale="92500"/>
          </a:bodyPr>
          <a:lstStyle/>
          <a:p>
            <a:r>
              <a:rPr lang="en-US">
                <a:solidFill>
                  <a:schemeClr val="accent5">
                    <a:lumMod val="76000"/>
                  </a:schemeClr>
                </a:solidFill>
              </a:rPr>
              <a:t>To vectorize a corpus using the bag-of-words (</a:t>
            </a:r>
            <a:r>
              <a:rPr lang="en-US" err="1">
                <a:solidFill>
                  <a:schemeClr val="accent5">
                    <a:lumMod val="76000"/>
                  </a:schemeClr>
                </a:solidFill>
              </a:rPr>
              <a:t>BoW</a:t>
            </a:r>
            <a:r>
              <a:rPr lang="en-US">
                <a:solidFill>
                  <a:schemeClr val="accent5">
                    <a:lumMod val="76000"/>
                  </a:schemeClr>
                </a:solidFill>
              </a:rPr>
              <a:t>) approach, we represent each document as a vector whose length equals the size of the vocabulary in the corpus.</a:t>
            </a:r>
          </a:p>
          <a:p>
            <a:r>
              <a:rPr lang="en-US">
                <a:solidFill>
                  <a:schemeClr val="accent5">
                    <a:lumMod val="76000"/>
                  </a:schemeClr>
                </a:solidFill>
              </a:rPr>
              <a:t>Each dimension of the vector corresponds to a unique token (word) in the vocabulary, and the value in that position reflects how frequently that token appears in the document.</a:t>
            </a:r>
          </a:p>
          <a:p>
            <a:r>
              <a:rPr lang="en-US" dirty="0">
                <a:solidFill>
                  <a:schemeClr val="accent5">
                    <a:lumMod val="76000"/>
                  </a:schemeClr>
                </a:solidFill>
              </a:rPr>
              <a:t>To simplify computation, we can either:</a:t>
            </a:r>
          </a:p>
          <a:p>
            <a:pPr lvl="1">
              <a:buSzPts val="2800"/>
            </a:pPr>
            <a:r>
              <a:rPr lang="en-US" dirty="0">
                <a:solidFill>
                  <a:schemeClr val="accent6">
                    <a:lumMod val="76000"/>
                  </a:schemeClr>
                </a:solidFill>
              </a:rPr>
              <a:t>Sort tokens alphabetically so that each word’s position in the vector is consistent, or</a:t>
            </a:r>
          </a:p>
          <a:p>
            <a:pPr lvl="1">
              <a:buSzPts val="2800"/>
            </a:pPr>
            <a:r>
              <a:rPr lang="en-US" dirty="0">
                <a:solidFill>
                  <a:schemeClr val="accent6">
                    <a:lumMod val="76000"/>
                  </a:schemeClr>
                </a:solidFill>
              </a:rPr>
              <a:t>Maintain a dictionary (mapping) that associates each token with a specific vector index.</a:t>
            </a:r>
          </a:p>
          <a:p>
            <a:pPr marL="228600" indent="-228600">
              <a:spcBef>
                <a:spcPts val="0"/>
              </a:spcBef>
            </a:pPr>
            <a:r>
              <a:rPr lang="en-US">
                <a:solidFill>
                  <a:schemeClr val="accent5">
                    <a:lumMod val="76000"/>
                  </a:schemeClr>
                </a:solidFill>
              </a:rPr>
              <a:t>Either approach yields a consistent vector representation of the corpus, allowing every document to be uniquely and numerically represented for downstream processing.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1"/>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Bag of Words (</a:t>
            </a:r>
            <a:r>
              <a:rPr lang="en-US" err="1">
                <a:solidFill>
                  <a:srgbClr val="002060"/>
                </a:solidFill>
              </a:rPr>
              <a:t>BoW</a:t>
            </a:r>
            <a:r>
              <a:rPr lang="en-US">
                <a:solidFill>
                  <a:srgbClr val="002060"/>
                </a:solidFill>
              </a:rPr>
              <a:t>) – An example</a:t>
            </a:r>
          </a:p>
        </p:txBody>
      </p:sp>
      <p:pic>
        <p:nvPicPr>
          <p:cNvPr id="151" name="Google Shape;151;p11" descr="From Word Embeddings to Pretrained Language Models — A New Age in NLP —  Part 1 | by Shreya Ghelani | Towards Data Science"/>
          <p:cNvPicPr preferRelativeResize="0"/>
          <p:nvPr/>
        </p:nvPicPr>
        <p:blipFill rotWithShape="1">
          <a:blip r:embed="rId3">
            <a:alphaModFix/>
          </a:blip>
          <a:srcRect/>
          <a:stretch/>
        </p:blipFill>
        <p:spPr>
          <a:xfrm>
            <a:off x="5657354" y="4223608"/>
            <a:ext cx="5811654" cy="2593207"/>
          </a:xfrm>
          <a:prstGeom prst="rect">
            <a:avLst/>
          </a:prstGeom>
          <a:noFill/>
          <a:ln>
            <a:noFill/>
          </a:ln>
        </p:spPr>
      </p:pic>
      <p:pic>
        <p:nvPicPr>
          <p:cNvPr id="152" name="Google Shape;152;p11" descr="4. Text Vectorization and Transformation Pipelines - Applied Text Analysis  with Python [Book]"/>
          <p:cNvPicPr preferRelativeResize="0"/>
          <p:nvPr/>
        </p:nvPicPr>
        <p:blipFill rotWithShape="1">
          <a:blip r:embed="rId4">
            <a:alphaModFix/>
          </a:blip>
          <a:srcRect/>
          <a:stretch/>
        </p:blipFill>
        <p:spPr>
          <a:xfrm>
            <a:off x="550516" y="1228874"/>
            <a:ext cx="6559585" cy="282115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err="1">
                <a:solidFill>
                  <a:srgbClr val="002060"/>
                </a:solidFill>
              </a:rPr>
              <a:t>BoW</a:t>
            </a:r>
            <a:r>
              <a:rPr lang="en-US">
                <a:solidFill>
                  <a:srgbClr val="002060"/>
                </a:solidFill>
              </a:rPr>
              <a:t> – Frequency Vectors</a:t>
            </a:r>
          </a:p>
        </p:txBody>
      </p:sp>
      <p:sp>
        <p:nvSpPr>
          <p:cNvPr id="158" name="Google Shape;158;p12"/>
          <p:cNvSpPr txBox="1">
            <a:spLocks noGrp="1"/>
          </p:cNvSpPr>
          <p:nvPr>
            <p:ph type="body" idx="1"/>
          </p:nvPr>
        </p:nvSpPr>
        <p:spPr>
          <a:xfrm>
            <a:off x="442174" y="1053885"/>
            <a:ext cx="11320529" cy="5243884"/>
          </a:xfrm>
          <a:prstGeom prst="rect">
            <a:avLst/>
          </a:prstGeom>
          <a:noFill/>
          <a:ln>
            <a:noFill/>
          </a:ln>
        </p:spPr>
        <p:txBody>
          <a:bodyPr spcFirstLastPara="1" wrap="square" lIns="91425" tIns="45700" rIns="91425" bIns="45700" anchor="t" anchorCtr="0">
            <a:normAutofit lnSpcReduction="10000"/>
          </a:bodyPr>
          <a:lstStyle/>
          <a:p>
            <a:r>
              <a:rPr lang="en-US" dirty="0">
                <a:solidFill>
                  <a:schemeClr val="accent5">
                    <a:lumMod val="76000"/>
                  </a:schemeClr>
                </a:solidFill>
              </a:rPr>
              <a:t>The simplest vector encoding model represents each document by filling a vector with word frequencies — that is, how often each word appears in the document.</a:t>
            </a:r>
          </a:p>
          <a:p>
            <a:r>
              <a:rPr lang="en-US" dirty="0">
                <a:solidFill>
                  <a:schemeClr val="accent5">
                    <a:lumMod val="76000"/>
                  </a:schemeClr>
                </a:solidFill>
              </a:rPr>
              <a:t>In this encoding scheme,</a:t>
            </a:r>
          </a:p>
          <a:p>
            <a:pPr lvl="1">
              <a:buSzPts val="2800"/>
            </a:pPr>
            <a:r>
              <a:rPr lang="en-US" dirty="0">
                <a:solidFill>
                  <a:schemeClr val="accent6">
                    <a:lumMod val="76000"/>
                  </a:schemeClr>
                </a:solidFill>
              </a:rPr>
              <a:t>Each document is treated as a multiset of tokens,</a:t>
            </a:r>
          </a:p>
          <a:p>
            <a:pPr lvl="1">
              <a:buSzPts val="2800"/>
            </a:pPr>
            <a:r>
              <a:rPr lang="en-US" dirty="0">
                <a:solidFill>
                  <a:schemeClr val="accent6">
                    <a:lumMod val="76000"/>
                  </a:schemeClr>
                </a:solidFill>
              </a:rPr>
              <a:t>And the value at each word’s position in the vector corresponds to its count in the document.</a:t>
            </a:r>
            <a:endParaRPr lang="en-US">
              <a:solidFill>
                <a:schemeClr val="accent6">
                  <a:lumMod val="76000"/>
                </a:schemeClr>
              </a:solidFill>
            </a:endParaRPr>
          </a:p>
          <a:p>
            <a:r>
              <a:rPr lang="en-US" dirty="0">
                <a:solidFill>
                  <a:schemeClr val="accent5">
                    <a:lumMod val="76000"/>
                  </a:schemeClr>
                </a:solidFill>
              </a:rPr>
              <a:t>This representation can take two common forms:</a:t>
            </a:r>
          </a:p>
          <a:p>
            <a:pPr lvl="1">
              <a:buSzPts val="2800"/>
            </a:pPr>
            <a:r>
              <a:rPr lang="en-US" dirty="0">
                <a:solidFill>
                  <a:schemeClr val="accent6">
                    <a:lumMod val="76000"/>
                  </a:schemeClr>
                </a:solidFill>
              </a:rPr>
              <a:t>Raw count encoding – where each entry is simply the integer count of the word (as shown in the previous slide).</a:t>
            </a:r>
          </a:p>
          <a:p>
            <a:pPr lvl="1"/>
            <a:r>
              <a:rPr lang="en-US" dirty="0">
                <a:solidFill>
                  <a:schemeClr val="accent6">
                    <a:lumMod val="76000"/>
                  </a:schemeClr>
                </a:solidFill>
              </a:rPr>
              <a:t>Normalized encoding – where each word frequency is weighted by the total number of words in the document, producing relative frequencies instead of raw counts.</a:t>
            </a:r>
            <a:endParaRPr>
              <a:solidFill>
                <a:schemeClr val="accent6">
                  <a:lumMod val="76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3"/>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Problems of frequency vectors</a:t>
            </a:r>
          </a:p>
        </p:txBody>
      </p:sp>
      <p:sp>
        <p:nvSpPr>
          <p:cNvPr id="164" name="Google Shape;164;p13"/>
          <p:cNvSpPr txBox="1">
            <a:spLocks noGrp="1"/>
          </p:cNvSpPr>
          <p:nvPr>
            <p:ph type="body" idx="1"/>
          </p:nvPr>
        </p:nvSpPr>
        <p:spPr>
          <a:xfrm>
            <a:off x="442174" y="1110711"/>
            <a:ext cx="11320529" cy="5187057"/>
          </a:xfrm>
          <a:prstGeom prst="rect">
            <a:avLst/>
          </a:prstGeom>
          <a:noFill/>
          <a:ln>
            <a:noFill/>
          </a:ln>
        </p:spPr>
        <p:txBody>
          <a:bodyPr spcFirstLastPara="1" wrap="square" lIns="91425" tIns="45700" rIns="91425" bIns="45700" anchor="t" anchorCtr="0">
            <a:normAutofit/>
          </a:bodyPr>
          <a:lstStyle/>
          <a:p>
            <a:r>
              <a:rPr lang="en-US" dirty="0">
                <a:solidFill>
                  <a:schemeClr val="accent5">
                    <a:lumMod val="76000"/>
                  </a:schemeClr>
                </a:solidFill>
              </a:rPr>
              <a:t>Frequency-based encoding methods suffer from the long-tail (Zipfian) distribution that naturally characterizes human language.</a:t>
            </a:r>
          </a:p>
          <a:p>
            <a:r>
              <a:rPr lang="en-US" dirty="0">
                <a:solidFill>
                  <a:schemeClr val="accent5">
                    <a:lumMod val="76000"/>
                  </a:schemeClr>
                </a:solidFill>
              </a:rPr>
              <a:t>They also ignore grammar and word order, treating all tokens as independent and unordered features.</a:t>
            </a:r>
          </a:p>
          <a:p>
            <a:pPr lvl="1">
              <a:buSzPts val="2800"/>
            </a:pPr>
            <a:r>
              <a:rPr lang="en-US" dirty="0">
                <a:solidFill>
                  <a:schemeClr val="accent6">
                    <a:lumMod val="76000"/>
                  </a:schemeClr>
                </a:solidFill>
              </a:rPr>
              <a:t>As a result, high-frequency tokens (such as common words) dominate the representation — often becoming orders of magnitude more influential than rare but semantically rich words.</a:t>
            </a:r>
          </a:p>
          <a:p>
            <a:r>
              <a:rPr lang="en-US" dirty="0">
                <a:solidFill>
                  <a:schemeClr val="accent5">
                    <a:lumMod val="76000"/>
                  </a:schemeClr>
                </a:solidFill>
              </a:rPr>
              <a:t>This imbalance can negatively affect models, particularly those like generalized linear models, which assume features follow an approximately normal distribution.</a:t>
            </a:r>
            <a:endParaRPr dirty="0">
              <a:solidFill>
                <a:schemeClr val="accent5">
                  <a:lumMod val="76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One hot encoding</a:t>
            </a:r>
          </a:p>
        </p:txBody>
      </p:sp>
      <p:sp>
        <p:nvSpPr>
          <p:cNvPr id="170" name="Google Shape;170;p14"/>
          <p:cNvSpPr txBox="1">
            <a:spLocks noGrp="1"/>
          </p:cNvSpPr>
          <p:nvPr>
            <p:ph type="body" idx="1"/>
          </p:nvPr>
        </p:nvSpPr>
        <p:spPr>
          <a:xfrm>
            <a:off x="442174" y="817037"/>
            <a:ext cx="11320529" cy="5480732"/>
          </a:xfrm>
          <a:prstGeom prst="rect">
            <a:avLst/>
          </a:prstGeom>
          <a:noFill/>
          <a:ln>
            <a:noFill/>
          </a:ln>
        </p:spPr>
        <p:txBody>
          <a:bodyPr spcFirstLastPara="1" wrap="square" lIns="91425" tIns="45700" rIns="91425" bIns="45700" anchor="t" anchorCtr="0">
            <a:normAutofit/>
          </a:bodyPr>
          <a:lstStyle/>
          <a:p>
            <a:r>
              <a:rPr lang="en-US" dirty="0">
                <a:solidFill>
                  <a:schemeClr val="accent5">
                    <a:lumMod val="76000"/>
                  </a:schemeClr>
                </a:solidFill>
              </a:rPr>
              <a:t>A common way to address this issue is through one-hot encoding, a Boolean vector encoding method.</a:t>
            </a:r>
          </a:p>
          <a:p>
            <a:pPr lvl="1"/>
            <a:r>
              <a:rPr lang="en-US" dirty="0">
                <a:solidFill>
                  <a:schemeClr val="accent6">
                    <a:lumMod val="76000"/>
                  </a:schemeClr>
                </a:solidFill>
              </a:rPr>
              <a:t>In this approach, each document is represented as a vector where a particular index is marked 1 (true) if the corresponding token appears in </a:t>
            </a:r>
            <a:r>
              <a:rPr lang="en-US">
                <a:solidFill>
                  <a:schemeClr val="accent6">
                    <a:lumMod val="76000"/>
                  </a:schemeClr>
                </a:solidFill>
              </a:rPr>
              <a:t>the document, and 0 (false) if it does not.</a:t>
            </a:r>
            <a:endParaRPr lang="en-US" dirty="0">
              <a:solidFill>
                <a:schemeClr val="accent6">
                  <a:lumMod val="76000"/>
                </a:schemeClr>
              </a:solidFill>
            </a:endParaRPr>
          </a:p>
          <a:p>
            <a:pPr lvl="1"/>
            <a:r>
              <a:rPr lang="en-US" dirty="0">
                <a:solidFill>
                  <a:schemeClr val="accent6">
                    <a:lumMod val="76000"/>
                  </a:schemeClr>
                </a:solidFill>
              </a:rPr>
              <a:t>In other words, each element of the one-hot vector simply indicates the presence or absence of a given token in the text — as illustrated in the figure.</a:t>
            </a:r>
            <a:endParaRPr dirty="0">
              <a:solidFill>
                <a:schemeClr val="accent6">
                  <a:lumMod val="76000"/>
                </a:schemeClr>
              </a:solidFill>
            </a:endParaRPr>
          </a:p>
        </p:txBody>
      </p:sp>
      <p:pic>
        <p:nvPicPr>
          <p:cNvPr id="171" name="Google Shape;171;p14"/>
          <p:cNvPicPr preferRelativeResize="0"/>
          <p:nvPr/>
        </p:nvPicPr>
        <p:blipFill rotWithShape="1">
          <a:blip r:embed="rId3">
            <a:alphaModFix/>
          </a:blip>
          <a:srcRect/>
          <a:stretch/>
        </p:blipFill>
        <p:spPr>
          <a:xfrm>
            <a:off x="2232549" y="3837214"/>
            <a:ext cx="6913266" cy="28865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5"/>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Why one-hot encoding?</a:t>
            </a:r>
          </a:p>
        </p:txBody>
      </p:sp>
      <p:sp>
        <p:nvSpPr>
          <p:cNvPr id="177" name="Google Shape;177;p15"/>
          <p:cNvSpPr txBox="1">
            <a:spLocks noGrp="1"/>
          </p:cNvSpPr>
          <p:nvPr>
            <p:ph type="body" idx="1"/>
          </p:nvPr>
        </p:nvSpPr>
        <p:spPr>
          <a:xfrm>
            <a:off x="442174" y="1389681"/>
            <a:ext cx="11320529" cy="4908088"/>
          </a:xfrm>
          <a:prstGeom prst="rect">
            <a:avLst/>
          </a:prstGeom>
          <a:noFill/>
          <a:ln>
            <a:noFill/>
          </a:ln>
        </p:spPr>
        <p:txBody>
          <a:bodyPr spcFirstLastPara="1" wrap="square" lIns="91425" tIns="45700" rIns="91425" bIns="45700" anchor="t" anchorCtr="0">
            <a:normAutofit fontScale="92500" lnSpcReduction="10000"/>
          </a:bodyPr>
          <a:lstStyle/>
          <a:p>
            <a:r>
              <a:rPr lang="en-US" dirty="0">
                <a:solidFill>
                  <a:schemeClr val="accent5">
                    <a:lumMod val="76000"/>
                  </a:schemeClr>
                </a:solidFill>
              </a:rPr>
              <a:t>One-hot encoding helps reduce the imbalance caused by token frequency distributions by simplifying a document into a set of its distinct components.</a:t>
            </a:r>
          </a:p>
          <a:p>
            <a:r>
              <a:rPr lang="en-US" dirty="0">
                <a:solidFill>
                  <a:schemeClr val="accent5">
                    <a:lumMod val="76000"/>
                  </a:schemeClr>
                </a:solidFill>
              </a:rPr>
              <a:t>This representation works best for short texts—such as sentences or tweets—where repeated tokens are rare.</a:t>
            </a:r>
          </a:p>
          <a:p>
            <a:r>
              <a:rPr lang="en-US" dirty="0">
                <a:solidFill>
                  <a:schemeClr val="accent5">
                    <a:lumMod val="76000"/>
                  </a:schemeClr>
                </a:solidFill>
              </a:rPr>
              <a:t>It is often used in conjunction with models that exhibit strong smoothing properties, ensuring that sparse feature spaces remain manageable.</a:t>
            </a:r>
          </a:p>
          <a:p>
            <a:r>
              <a:rPr lang="en-US">
                <a:solidFill>
                  <a:schemeClr val="accent5">
                    <a:lumMod val="76000"/>
                  </a:schemeClr>
                </a:solidFill>
              </a:rPr>
              <a:t>One-hot encoding is also widely adopted in artificial neural networks, especially in early architectures like Recurrent Neural Networks (RNNs), to represent words.</a:t>
            </a:r>
            <a:endParaRPr lang="en-US"/>
          </a:p>
          <a:p>
            <a:pPr>
              <a:buSzPts val="2800"/>
            </a:pPr>
            <a:r>
              <a:rPr lang="en-US" dirty="0">
                <a:solidFill>
                  <a:schemeClr val="accent5">
                    <a:lumMod val="76000"/>
                  </a:schemeClr>
                </a:solidFill>
              </a:rPr>
              <a:t>In such cases, the 0/1 entries can be interpreted as binary probabilities indicating word presence, providing a simple yet powerful basis for word representation.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E2121-9AC7-7606-E82C-AEFD8AD6EDCE}"/>
              </a:ext>
            </a:extLst>
          </p:cNvPr>
          <p:cNvSpPr>
            <a:spLocks noGrp="1"/>
          </p:cNvSpPr>
          <p:nvPr>
            <p:ph type="title"/>
          </p:nvPr>
        </p:nvSpPr>
        <p:spPr/>
        <p:txBody>
          <a:bodyPr>
            <a:normAutofit fontScale="90000"/>
          </a:bodyPr>
          <a:lstStyle/>
          <a:p>
            <a:r>
              <a:rPr lang="en-US">
                <a:solidFill>
                  <a:srgbClr val="002060"/>
                </a:solidFill>
              </a:rPr>
              <a:t>Bag of N-grams</a:t>
            </a:r>
          </a:p>
        </p:txBody>
      </p:sp>
      <p:sp>
        <p:nvSpPr>
          <p:cNvPr id="3" name="Text Placeholder 2">
            <a:extLst>
              <a:ext uri="{FF2B5EF4-FFF2-40B4-BE49-F238E27FC236}">
                <a16:creationId xmlns:a16="http://schemas.microsoft.com/office/drawing/2014/main" id="{19C8486D-18B6-00F2-48DA-C5C478EB58AF}"/>
              </a:ext>
            </a:extLst>
          </p:cNvPr>
          <p:cNvSpPr>
            <a:spLocks noGrp="1"/>
          </p:cNvSpPr>
          <p:nvPr>
            <p:ph type="body" idx="1"/>
          </p:nvPr>
        </p:nvSpPr>
        <p:spPr/>
        <p:txBody>
          <a:bodyPr>
            <a:normAutofit/>
          </a:bodyPr>
          <a:lstStyle/>
          <a:p>
            <a:r>
              <a:rPr lang="en-US" dirty="0">
                <a:solidFill>
                  <a:schemeClr val="accent5">
                    <a:lumMod val="76000"/>
                  </a:schemeClr>
                </a:solidFill>
              </a:rPr>
              <a:t>All the representation schemes we have discussed so far treat words or tokens as independent units, with no awareness of phrases or word order.</a:t>
            </a:r>
          </a:p>
          <a:p>
            <a:r>
              <a:rPr lang="en-US" dirty="0">
                <a:solidFill>
                  <a:schemeClr val="accent5">
                    <a:lumMod val="76000"/>
                  </a:schemeClr>
                </a:solidFill>
              </a:rPr>
              <a:t>The bag-of-n-grams (</a:t>
            </a:r>
            <a:r>
              <a:rPr lang="en-US" dirty="0" err="1">
                <a:solidFill>
                  <a:schemeClr val="accent5">
                    <a:lumMod val="76000"/>
                  </a:schemeClr>
                </a:solidFill>
              </a:rPr>
              <a:t>BoN</a:t>
            </a:r>
            <a:r>
              <a:rPr lang="en-US" dirty="0">
                <a:solidFill>
                  <a:schemeClr val="accent5">
                    <a:lumMod val="76000"/>
                  </a:schemeClr>
                </a:solidFill>
              </a:rPr>
              <a:t>) model attempts to address this limitation by breaking text into contiguous sequences of n words or tokens.</a:t>
            </a:r>
          </a:p>
          <a:p>
            <a:r>
              <a:rPr lang="en-US" dirty="0">
                <a:solidFill>
                  <a:schemeClr val="accent5">
                    <a:lumMod val="76000"/>
                  </a:schemeClr>
                </a:solidFill>
              </a:rPr>
              <a:t>These sequences, known as n-grams, help capture local context, that simpler models like bag-of-words or one-hot encodings fail to represent</a:t>
            </a:r>
          </a:p>
          <a:p>
            <a:r>
              <a:rPr lang="en-US" dirty="0">
                <a:solidFill>
                  <a:schemeClr val="accent5">
                    <a:lumMod val="76000"/>
                  </a:schemeClr>
                </a:solidFill>
              </a:rPr>
              <a:t>The corpus vocabulary (V) in this case consists of all unique n-grams found across the entire text collection.</a:t>
            </a:r>
          </a:p>
          <a:p>
            <a:r>
              <a:rPr lang="en-US" dirty="0">
                <a:solidFill>
                  <a:schemeClr val="accent5">
                    <a:lumMod val="76000"/>
                  </a:schemeClr>
                </a:solidFill>
              </a:rPr>
              <a:t>Each document is then represented as a vector of length |V|, where each element records the frequency count of an n-gram in the document, and zero if that n-gram is absent.</a:t>
            </a:r>
          </a:p>
          <a:p>
            <a:endParaRPr lang="en-US"/>
          </a:p>
        </p:txBody>
      </p:sp>
    </p:spTree>
    <p:extLst>
      <p:ext uri="{BB962C8B-B14F-4D97-AF65-F5344CB8AC3E}">
        <p14:creationId xmlns:p14="http://schemas.microsoft.com/office/powerpoint/2010/main" val="2440827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181F3-F4D0-E24C-C4EC-BFF862847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2DC9BA-9C52-FBDA-6925-02A15D9C7F20}"/>
              </a:ext>
            </a:extLst>
          </p:cNvPr>
          <p:cNvSpPr>
            <a:spLocks noGrp="1"/>
          </p:cNvSpPr>
          <p:nvPr>
            <p:ph type="title"/>
          </p:nvPr>
        </p:nvSpPr>
        <p:spPr/>
        <p:txBody>
          <a:bodyPr>
            <a:normAutofit fontScale="90000"/>
          </a:bodyPr>
          <a:lstStyle/>
          <a:p>
            <a:r>
              <a:rPr lang="en-US">
                <a:solidFill>
                  <a:srgbClr val="002060"/>
                </a:solidFill>
              </a:rPr>
              <a:t>Bag of N-grams</a:t>
            </a:r>
          </a:p>
        </p:txBody>
      </p:sp>
      <p:sp>
        <p:nvSpPr>
          <p:cNvPr id="3" name="Text Placeholder 2">
            <a:extLst>
              <a:ext uri="{FF2B5EF4-FFF2-40B4-BE49-F238E27FC236}">
                <a16:creationId xmlns:a16="http://schemas.microsoft.com/office/drawing/2014/main" id="{35DA0CFD-8F4A-D80E-DA48-51F825A40C8A}"/>
              </a:ext>
            </a:extLst>
          </p:cNvPr>
          <p:cNvSpPr>
            <a:spLocks noGrp="1"/>
          </p:cNvSpPr>
          <p:nvPr>
            <p:ph type="body" idx="1"/>
          </p:nvPr>
        </p:nvSpPr>
        <p:spPr>
          <a:xfrm>
            <a:off x="442174" y="817037"/>
            <a:ext cx="8290671" cy="5480732"/>
          </a:xfrm>
        </p:spPr>
        <p:txBody>
          <a:bodyPr>
            <a:normAutofit/>
          </a:bodyPr>
          <a:lstStyle/>
          <a:p>
            <a:r>
              <a:rPr lang="en-US" dirty="0">
                <a:solidFill>
                  <a:schemeClr val="accent5">
                    <a:lumMod val="76000"/>
                  </a:schemeClr>
                </a:solidFill>
              </a:rPr>
              <a:t>The set of all bigrams in the corpus is:</a:t>
            </a:r>
          </a:p>
          <a:p>
            <a:pPr lvl="1">
              <a:buSzPts val="2800"/>
            </a:pPr>
            <a:r>
              <a:rPr lang="en-US" dirty="0">
                <a:solidFill>
                  <a:schemeClr val="accent6">
                    <a:lumMod val="76000"/>
                  </a:schemeClr>
                </a:solidFill>
              </a:rPr>
              <a:t>{ dog bites, bites man, man bites, bites dog, dog eats, eats meat, man eats, eats food }.</a:t>
            </a:r>
          </a:p>
          <a:p>
            <a:r>
              <a:rPr lang="en-US" dirty="0">
                <a:solidFill>
                  <a:schemeClr val="accent5">
                    <a:lumMod val="76000"/>
                  </a:schemeClr>
                </a:solidFill>
              </a:rPr>
              <a:t>Thus, the </a:t>
            </a:r>
            <a:r>
              <a:rPr lang="en-US" dirty="0" err="1">
                <a:solidFill>
                  <a:schemeClr val="accent5">
                    <a:lumMod val="76000"/>
                  </a:schemeClr>
                </a:solidFill>
              </a:rPr>
              <a:t>BoN</a:t>
            </a:r>
            <a:r>
              <a:rPr lang="en-US" dirty="0">
                <a:solidFill>
                  <a:schemeClr val="accent5">
                    <a:lumMod val="76000"/>
                  </a:schemeClr>
                </a:solidFill>
              </a:rPr>
              <a:t> representation consists of an eight-dimensional vector for each document, corresponding to these unique bigrams.</a:t>
            </a:r>
          </a:p>
          <a:p>
            <a:r>
              <a:rPr lang="en-US" dirty="0">
                <a:solidFill>
                  <a:schemeClr val="accent5">
                    <a:lumMod val="76000"/>
                  </a:schemeClr>
                </a:solidFill>
              </a:rPr>
              <a:t>The bigram representations for the first two sentences are:</a:t>
            </a:r>
          </a:p>
          <a:p>
            <a:pPr lvl="1">
              <a:buSzPts val="2800"/>
            </a:pPr>
            <a:r>
              <a:rPr lang="en-US" dirty="0">
                <a:solidFill>
                  <a:schemeClr val="accent6">
                    <a:lumMod val="76000"/>
                  </a:schemeClr>
                </a:solidFill>
              </a:rPr>
              <a:t>D₁: [1, 1, 0, 0, 0, 0, 0, 0]</a:t>
            </a:r>
          </a:p>
          <a:p>
            <a:pPr lvl="1">
              <a:buSzPts val="2800"/>
            </a:pPr>
            <a:r>
              <a:rPr lang="en-US" dirty="0">
                <a:solidFill>
                  <a:schemeClr val="accent6">
                    <a:lumMod val="76000"/>
                  </a:schemeClr>
                </a:solidFill>
              </a:rPr>
              <a:t>D₂: [0, 0, 1, 1, 0, 0, 0, 0]</a:t>
            </a:r>
            <a:endParaRPr lang="en-US">
              <a:solidFill>
                <a:schemeClr val="accent6">
                  <a:lumMod val="76000"/>
                </a:schemeClr>
              </a:solidFill>
            </a:endParaRPr>
          </a:p>
        </p:txBody>
      </p:sp>
      <p:pic>
        <p:nvPicPr>
          <p:cNvPr id="4" name="Picture 3" descr="A screenshot of a phone&#10;&#10;AI-generated content may be incorrect.">
            <a:extLst>
              <a:ext uri="{FF2B5EF4-FFF2-40B4-BE49-F238E27FC236}">
                <a16:creationId xmlns:a16="http://schemas.microsoft.com/office/drawing/2014/main" id="{B25E93F6-4135-FAD7-0DDE-FE557A790AA7}"/>
              </a:ext>
            </a:extLst>
          </p:cNvPr>
          <p:cNvPicPr>
            <a:picLocks noChangeAspect="1"/>
          </p:cNvPicPr>
          <p:nvPr/>
        </p:nvPicPr>
        <p:blipFill>
          <a:blip r:embed="rId2"/>
          <a:stretch>
            <a:fillRect/>
          </a:stretch>
        </p:blipFill>
        <p:spPr>
          <a:xfrm>
            <a:off x="9195254" y="630011"/>
            <a:ext cx="2800349" cy="2159906"/>
          </a:xfrm>
          <a:prstGeom prst="rect">
            <a:avLst/>
          </a:prstGeom>
        </p:spPr>
      </p:pic>
    </p:spTree>
    <p:extLst>
      <p:ext uri="{BB962C8B-B14F-4D97-AF65-F5344CB8AC3E}">
        <p14:creationId xmlns:p14="http://schemas.microsoft.com/office/powerpoint/2010/main" val="3545195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6"/>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Problem of </a:t>
            </a:r>
            <a:r>
              <a:rPr lang="en-US" err="1">
                <a:solidFill>
                  <a:srgbClr val="002060"/>
                </a:solidFill>
              </a:rPr>
              <a:t>BoW</a:t>
            </a:r>
            <a:r>
              <a:rPr lang="en-US">
                <a:solidFill>
                  <a:srgbClr val="002060"/>
                </a:solidFill>
              </a:rPr>
              <a:t> (in general)</a:t>
            </a:r>
          </a:p>
        </p:txBody>
      </p:sp>
      <p:sp>
        <p:nvSpPr>
          <p:cNvPr id="183" name="Google Shape;183;p16"/>
          <p:cNvSpPr txBox="1">
            <a:spLocks noGrp="1"/>
          </p:cNvSpPr>
          <p:nvPr>
            <p:ph type="body" idx="1"/>
          </p:nvPr>
        </p:nvSpPr>
        <p:spPr>
          <a:xfrm>
            <a:off x="442174" y="1069383"/>
            <a:ext cx="11320529" cy="5228386"/>
          </a:xfrm>
          <a:prstGeom prst="rect">
            <a:avLst/>
          </a:prstGeom>
          <a:noFill/>
          <a:ln>
            <a:noFill/>
          </a:ln>
        </p:spPr>
        <p:txBody>
          <a:bodyPr spcFirstLastPara="1" wrap="square" lIns="91425" tIns="45700" rIns="91425" bIns="45700" anchor="t" anchorCtr="0">
            <a:normAutofit/>
          </a:bodyPr>
          <a:lstStyle/>
          <a:p>
            <a:r>
              <a:rPr lang="en-US" dirty="0">
                <a:solidFill>
                  <a:schemeClr val="accent5">
                    <a:lumMod val="76000"/>
                  </a:schemeClr>
                </a:solidFill>
              </a:rPr>
              <a:t>The bag-of-words representations we have discussed so far describe </a:t>
            </a:r>
            <a:r>
              <a:rPr lang="en-US" dirty="0">
                <a:solidFill>
                  <a:srgbClr val="002060"/>
                </a:solidFill>
              </a:rPr>
              <a:t>each document in isolation</a:t>
            </a:r>
            <a:r>
              <a:rPr lang="en-US" dirty="0">
                <a:solidFill>
                  <a:schemeClr val="accent5">
                    <a:lumMod val="76000"/>
                  </a:schemeClr>
                </a:solidFill>
              </a:rPr>
              <a:t>, without considering its relationship to the rest of the corpus.</a:t>
            </a:r>
          </a:p>
          <a:p>
            <a:pPr lvl="1"/>
            <a:r>
              <a:rPr lang="en-US" dirty="0">
                <a:solidFill>
                  <a:schemeClr val="accent6">
                    <a:lumMod val="76000"/>
                  </a:schemeClr>
                </a:solidFill>
              </a:rPr>
              <a:t>A more informative approach is to evaluate the r</a:t>
            </a:r>
            <a:r>
              <a:rPr lang="en-US" dirty="0">
                <a:solidFill>
                  <a:srgbClr val="002060"/>
                </a:solidFill>
              </a:rPr>
              <a:t>elative frequency</a:t>
            </a:r>
            <a:r>
              <a:rPr lang="en-US" dirty="0">
                <a:solidFill>
                  <a:schemeClr val="accent6">
                    <a:lumMod val="76000"/>
                  </a:schemeClr>
                </a:solidFill>
              </a:rPr>
              <a:t> or </a:t>
            </a:r>
            <a:r>
              <a:rPr lang="en-US" dirty="0">
                <a:solidFill>
                  <a:srgbClr val="002060"/>
                </a:solidFill>
              </a:rPr>
              <a:t>rareness of tokens</a:t>
            </a:r>
            <a:r>
              <a:rPr lang="en-US" dirty="0">
                <a:solidFill>
                  <a:schemeClr val="accent6">
                    <a:lumMod val="76000"/>
                  </a:schemeClr>
                </a:solidFill>
              </a:rPr>
              <a:t> in a document compared to their frequency across all documents.</a:t>
            </a:r>
          </a:p>
          <a:p>
            <a:r>
              <a:rPr lang="en-US" dirty="0">
                <a:solidFill>
                  <a:schemeClr val="accent5">
                    <a:lumMod val="76000"/>
                  </a:schemeClr>
                </a:solidFill>
              </a:rPr>
              <a:t>The key insight is that meaningful or discriminative content is often carried by rarer terms, rather than by those that appear frequently everywhere.</a:t>
            </a:r>
          </a:p>
          <a:p>
            <a:pPr lvl="1"/>
            <a:r>
              <a:rPr lang="en-US" dirty="0">
                <a:solidFill>
                  <a:schemeClr val="accent6">
                    <a:lumMod val="76000"/>
                  </a:schemeClr>
                </a:solidFill>
              </a:rPr>
              <a:t>For instance, in a sports corpus, words like “umpire,” “yorker,” and “swing” tend to occur more often in documents about cricket, while common terms such as “field,” “score,” and “play” appear broadly across the corpus and thus contribute less to distinguishing meaning.</a:t>
            </a:r>
            <a:endParaRPr>
              <a:solidFill>
                <a:schemeClr val="accent6">
                  <a:lumMod val="76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01921-2108-543B-C08D-60F84CCCE66B}"/>
              </a:ext>
            </a:extLst>
          </p:cNvPr>
          <p:cNvSpPr>
            <a:spLocks noGrp="1"/>
          </p:cNvSpPr>
          <p:nvPr>
            <p:ph type="title"/>
          </p:nvPr>
        </p:nvSpPr>
        <p:spPr/>
        <p:txBody>
          <a:bodyPr>
            <a:normAutofit fontScale="90000"/>
          </a:bodyPr>
          <a:lstStyle/>
          <a:p>
            <a:r>
              <a:rPr lang="en-US">
                <a:solidFill>
                  <a:srgbClr val="002060"/>
                </a:solidFill>
              </a:rPr>
              <a:t>TF-IDF</a:t>
            </a:r>
          </a:p>
        </p:txBody>
      </p:sp>
      <p:sp>
        <p:nvSpPr>
          <p:cNvPr id="3" name="Text Placeholder 2">
            <a:extLst>
              <a:ext uri="{FF2B5EF4-FFF2-40B4-BE49-F238E27FC236}">
                <a16:creationId xmlns:a16="http://schemas.microsoft.com/office/drawing/2014/main" id="{2D1F968E-0ED8-9D5C-472F-CFC0F5FC9679}"/>
              </a:ext>
            </a:extLst>
          </p:cNvPr>
          <p:cNvSpPr>
            <a:spLocks noGrp="1"/>
          </p:cNvSpPr>
          <p:nvPr>
            <p:ph type="body" idx="1"/>
          </p:nvPr>
        </p:nvSpPr>
        <p:spPr/>
        <p:txBody>
          <a:bodyPr>
            <a:normAutofit/>
          </a:bodyPr>
          <a:lstStyle/>
          <a:p>
            <a:r>
              <a:rPr lang="en-US" dirty="0">
                <a:solidFill>
                  <a:schemeClr val="accent5">
                    <a:lumMod val="76000"/>
                  </a:schemeClr>
                </a:solidFill>
              </a:rPr>
              <a:t>The bag-of-words methods we’ve explored so far treat all words or tokens as equally important, without recognizing that some terms carry more significance than others.</a:t>
            </a:r>
          </a:p>
          <a:p>
            <a:r>
              <a:rPr lang="en-US" dirty="0">
                <a:solidFill>
                  <a:schemeClr val="accent5">
                    <a:lumMod val="76000"/>
                  </a:schemeClr>
                </a:solidFill>
              </a:rPr>
              <a:t>The Term Frequency–Inverse Document Frequency (TF–IDF) model addresses this limitation by quantifying how important a word is within a document relative to its frequency across the entire corpus.</a:t>
            </a:r>
          </a:p>
          <a:p>
            <a:r>
              <a:rPr lang="en-US" dirty="0">
                <a:solidFill>
                  <a:schemeClr val="accent5">
                    <a:lumMod val="76000"/>
                  </a:schemeClr>
                </a:solidFill>
              </a:rPr>
              <a:t>In essence, TF–IDF assigns </a:t>
            </a:r>
            <a:r>
              <a:rPr lang="en-US" dirty="0">
                <a:solidFill>
                  <a:srgbClr val="002060"/>
                </a:solidFill>
              </a:rPr>
              <a:t>higher weights</a:t>
            </a:r>
            <a:r>
              <a:rPr lang="en-US" dirty="0">
                <a:solidFill>
                  <a:schemeClr val="accent5">
                    <a:lumMod val="76000"/>
                  </a:schemeClr>
                </a:solidFill>
              </a:rPr>
              <a:t> to </a:t>
            </a:r>
            <a:r>
              <a:rPr lang="en-US" dirty="0">
                <a:solidFill>
                  <a:srgbClr val="002060"/>
                </a:solidFill>
              </a:rPr>
              <a:t>rare but informative terms</a:t>
            </a:r>
            <a:r>
              <a:rPr lang="en-US" dirty="0">
                <a:solidFill>
                  <a:schemeClr val="accent5">
                    <a:lumMod val="76000"/>
                  </a:schemeClr>
                </a:solidFill>
              </a:rPr>
              <a:t>, while </a:t>
            </a:r>
            <a:r>
              <a:rPr lang="en-US" dirty="0">
                <a:solidFill>
                  <a:srgbClr val="002060"/>
                </a:solidFill>
              </a:rPr>
              <a:t>down-weighting common words</a:t>
            </a:r>
            <a:r>
              <a:rPr lang="en-US" dirty="0">
                <a:solidFill>
                  <a:schemeClr val="accent5">
                    <a:lumMod val="76000"/>
                  </a:schemeClr>
                </a:solidFill>
              </a:rPr>
              <a:t> that appear in many documents.</a:t>
            </a:r>
          </a:p>
          <a:p>
            <a:pPr lvl="1"/>
            <a:r>
              <a:rPr lang="en-US" dirty="0">
                <a:solidFill>
                  <a:schemeClr val="accent6">
                    <a:lumMod val="76000"/>
                  </a:schemeClr>
                </a:solidFill>
              </a:rPr>
              <a:t>This approach is widely used in information retrieval systems to rank and extract relevant documents in response to a text query — and it even formed the basis of early versions of Google’s search algorithm.</a:t>
            </a:r>
          </a:p>
        </p:txBody>
      </p:sp>
    </p:spTree>
    <p:extLst>
      <p:ext uri="{BB962C8B-B14F-4D97-AF65-F5344CB8AC3E}">
        <p14:creationId xmlns:p14="http://schemas.microsoft.com/office/powerpoint/2010/main" val="2891371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6D83-DB4A-43A0-F6FC-9E9F493CF6DC}"/>
              </a:ext>
            </a:extLst>
          </p:cNvPr>
          <p:cNvSpPr>
            <a:spLocks noGrp="1"/>
          </p:cNvSpPr>
          <p:nvPr>
            <p:ph type="title"/>
          </p:nvPr>
        </p:nvSpPr>
        <p:spPr/>
        <p:txBody>
          <a:bodyPr>
            <a:normAutofit fontScale="90000"/>
          </a:bodyPr>
          <a:lstStyle/>
          <a:p>
            <a:r>
              <a:rPr lang="en-US">
                <a:solidFill>
                  <a:srgbClr val="002060"/>
                </a:solidFill>
              </a:rPr>
              <a:t>Intuition behind TF-IDF</a:t>
            </a:r>
          </a:p>
        </p:txBody>
      </p:sp>
      <p:sp>
        <p:nvSpPr>
          <p:cNvPr id="3" name="Text Placeholder 2">
            <a:extLst>
              <a:ext uri="{FF2B5EF4-FFF2-40B4-BE49-F238E27FC236}">
                <a16:creationId xmlns:a16="http://schemas.microsoft.com/office/drawing/2014/main" id="{4A8EC3BB-05C4-3822-38C6-23F236951639}"/>
              </a:ext>
            </a:extLst>
          </p:cNvPr>
          <p:cNvSpPr>
            <a:spLocks noGrp="1"/>
          </p:cNvSpPr>
          <p:nvPr>
            <p:ph type="body" idx="1"/>
          </p:nvPr>
        </p:nvSpPr>
        <p:spPr/>
        <p:txBody>
          <a:bodyPr>
            <a:normAutofit/>
          </a:bodyPr>
          <a:lstStyle/>
          <a:p>
            <a:r>
              <a:rPr lang="en-US" dirty="0">
                <a:solidFill>
                  <a:schemeClr val="accent5">
                    <a:lumMod val="76000"/>
                  </a:schemeClr>
                </a:solidFill>
              </a:rPr>
              <a:t>If a word </a:t>
            </a:r>
            <a:r>
              <a:rPr lang="en-US" i="1" dirty="0">
                <a:solidFill>
                  <a:srgbClr val="002060"/>
                </a:solidFill>
              </a:rPr>
              <a:t>w</a:t>
            </a:r>
            <a:r>
              <a:rPr lang="en-US" dirty="0">
                <a:solidFill>
                  <a:schemeClr val="accent5">
                    <a:lumMod val="76000"/>
                  </a:schemeClr>
                </a:solidFill>
              </a:rPr>
              <a:t> appears frequently in a particular document </a:t>
            </a:r>
            <a:r>
              <a:rPr lang="en-US" i="1" dirty="0">
                <a:solidFill>
                  <a:srgbClr val="002060"/>
                </a:solidFill>
              </a:rPr>
              <a:t>dᵢ</a:t>
            </a:r>
            <a:r>
              <a:rPr lang="en-US" dirty="0">
                <a:solidFill>
                  <a:schemeClr val="accent5">
                    <a:lumMod val="76000"/>
                  </a:schemeClr>
                </a:solidFill>
              </a:rPr>
              <a:t>, but rarely in the other documents </a:t>
            </a:r>
            <a:r>
              <a:rPr lang="en-US" i="1" dirty="0">
                <a:solidFill>
                  <a:srgbClr val="002060"/>
                </a:solidFill>
              </a:rPr>
              <a:t>dⱼ</a:t>
            </a:r>
            <a:r>
              <a:rPr lang="en-US" dirty="0">
                <a:solidFill>
                  <a:schemeClr val="accent5">
                    <a:lumMod val="76000"/>
                  </a:schemeClr>
                </a:solidFill>
              </a:rPr>
              <a:t> within the corpus, then </a:t>
            </a:r>
            <a:r>
              <a:rPr lang="en-US" i="1" dirty="0">
                <a:solidFill>
                  <a:srgbClr val="002060"/>
                </a:solidFill>
              </a:rPr>
              <a:t>w</a:t>
            </a:r>
            <a:r>
              <a:rPr lang="en-US" dirty="0">
                <a:solidFill>
                  <a:schemeClr val="accent5">
                    <a:lumMod val="76000"/>
                  </a:schemeClr>
                </a:solidFill>
              </a:rPr>
              <a:t> is likely to be highly informative or distinctive for </a:t>
            </a:r>
            <a:r>
              <a:rPr lang="en-US" i="1" dirty="0">
                <a:solidFill>
                  <a:srgbClr val="002060"/>
                </a:solidFill>
              </a:rPr>
              <a:t>dᵢ</a:t>
            </a:r>
            <a:r>
              <a:rPr lang="en-US" dirty="0">
                <a:solidFill>
                  <a:schemeClr val="accent5">
                    <a:lumMod val="76000"/>
                  </a:schemeClr>
                </a:solidFill>
              </a:rPr>
              <a:t>.</a:t>
            </a:r>
          </a:p>
          <a:p>
            <a:r>
              <a:rPr lang="en-US" dirty="0">
                <a:solidFill>
                  <a:schemeClr val="accent5">
                    <a:lumMod val="76000"/>
                  </a:schemeClr>
                </a:solidFill>
              </a:rPr>
              <a:t>The importance of such a word should therefore increase with its frequency in </a:t>
            </a:r>
            <a:r>
              <a:rPr lang="en-US" i="1" dirty="0">
                <a:solidFill>
                  <a:srgbClr val="002060"/>
                </a:solidFill>
              </a:rPr>
              <a:t>dᵢ</a:t>
            </a:r>
            <a:r>
              <a:rPr lang="en-US" dirty="0">
                <a:solidFill>
                  <a:schemeClr val="accent5">
                    <a:lumMod val="76000"/>
                  </a:schemeClr>
                </a:solidFill>
              </a:rPr>
              <a:t>, yet decrease with its frequency across the rest of the corpus.</a:t>
            </a:r>
          </a:p>
          <a:p>
            <a:r>
              <a:rPr lang="en-US" dirty="0">
                <a:solidFill>
                  <a:schemeClr val="accent5">
                    <a:lumMod val="76000"/>
                  </a:schemeClr>
                </a:solidFill>
              </a:rPr>
              <a:t>This intuition is formally captured using two measures:</a:t>
            </a:r>
          </a:p>
          <a:p>
            <a:pPr lvl="1">
              <a:buSzPts val="2800"/>
            </a:pPr>
            <a:r>
              <a:rPr lang="en-US" dirty="0">
                <a:solidFill>
                  <a:schemeClr val="accent6">
                    <a:lumMod val="76000"/>
                  </a:schemeClr>
                </a:solidFill>
              </a:rPr>
              <a:t>Term Frequency (TF): how often a word appears in a document.</a:t>
            </a:r>
          </a:p>
          <a:p>
            <a:pPr lvl="1">
              <a:buSzPts val="2800"/>
            </a:pPr>
            <a:r>
              <a:rPr lang="en-US" dirty="0">
                <a:solidFill>
                  <a:schemeClr val="accent6">
                    <a:lumMod val="76000"/>
                  </a:schemeClr>
                </a:solidFill>
              </a:rPr>
              <a:t>Inverse Document Frequency (IDF): how rare the word is across all documents.</a:t>
            </a:r>
          </a:p>
          <a:p>
            <a:r>
              <a:rPr lang="en-US" dirty="0">
                <a:solidFill>
                  <a:schemeClr val="accent5">
                    <a:lumMod val="76000"/>
                  </a:schemeClr>
                </a:solidFill>
              </a:rPr>
              <a:t>By combining these two components, we obtain the TF–IDF score, which effectively balances local importance and global rarity to identify the most meaningful terms.</a:t>
            </a:r>
          </a:p>
        </p:txBody>
      </p:sp>
    </p:spTree>
    <p:extLst>
      <p:ext uri="{BB962C8B-B14F-4D97-AF65-F5344CB8AC3E}">
        <p14:creationId xmlns:p14="http://schemas.microsoft.com/office/powerpoint/2010/main" val="3702814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897B1-0470-3A98-4C21-53E1E853956D}"/>
              </a:ext>
            </a:extLst>
          </p:cNvPr>
          <p:cNvSpPr>
            <a:spLocks noGrp="1"/>
          </p:cNvSpPr>
          <p:nvPr>
            <p:ph type="title"/>
          </p:nvPr>
        </p:nvSpPr>
        <p:spPr/>
        <p:txBody>
          <a:bodyPr>
            <a:normAutofit fontScale="90000"/>
          </a:bodyPr>
          <a:lstStyle/>
          <a:p>
            <a:r>
              <a:rPr lang="en-US">
                <a:solidFill>
                  <a:srgbClr val="002060"/>
                </a:solidFill>
              </a:rPr>
              <a:t>TF (Term Frequency)</a:t>
            </a:r>
          </a:p>
        </p:txBody>
      </p:sp>
      <p:sp>
        <p:nvSpPr>
          <p:cNvPr id="3" name="Text Placeholder 2">
            <a:extLst>
              <a:ext uri="{FF2B5EF4-FFF2-40B4-BE49-F238E27FC236}">
                <a16:creationId xmlns:a16="http://schemas.microsoft.com/office/drawing/2014/main" id="{30946A5A-F3B0-3CF0-3EA2-0F32272B58E2}"/>
              </a:ext>
            </a:extLst>
          </p:cNvPr>
          <p:cNvSpPr>
            <a:spLocks noGrp="1"/>
          </p:cNvSpPr>
          <p:nvPr>
            <p:ph type="body" idx="1"/>
          </p:nvPr>
        </p:nvSpPr>
        <p:spPr/>
        <p:txBody>
          <a:bodyPr/>
          <a:lstStyle/>
          <a:p>
            <a:r>
              <a:rPr lang="en-US">
                <a:solidFill>
                  <a:schemeClr val="accent5">
                    <a:lumMod val="76000"/>
                  </a:schemeClr>
                </a:solidFill>
              </a:rPr>
              <a:t>Measures how often a term or word occurs in each document (horizontally). </a:t>
            </a:r>
          </a:p>
          <a:p>
            <a:r>
              <a:rPr lang="en-US">
                <a:solidFill>
                  <a:schemeClr val="accent5">
                    <a:lumMod val="76000"/>
                  </a:schemeClr>
                </a:solidFill>
              </a:rPr>
              <a:t>Since different documents in the corpus may be of different lengths, a term may occur more often in a longer document as compared to a shorter document. </a:t>
            </a:r>
          </a:p>
          <a:p>
            <a:r>
              <a:rPr lang="en-US">
                <a:solidFill>
                  <a:schemeClr val="accent5">
                    <a:lumMod val="76000"/>
                  </a:schemeClr>
                </a:solidFill>
              </a:rPr>
              <a:t>To normalize these counts, we divide the number of occurrences by the length of the document. </a:t>
            </a:r>
          </a:p>
          <a:p>
            <a:r>
              <a:rPr lang="en-US">
                <a:solidFill>
                  <a:schemeClr val="accent5">
                    <a:lumMod val="76000"/>
                  </a:schemeClr>
                </a:solidFill>
              </a:rPr>
              <a:t>TF of a term t in a document d is defined as:</a:t>
            </a:r>
          </a:p>
          <a:p>
            <a:endParaRPr lang="en-US"/>
          </a:p>
          <a:p>
            <a:pPr marL="50800" indent="0">
              <a:buNone/>
            </a:pPr>
            <a:endParaRPr lang="en-US"/>
          </a:p>
        </p:txBody>
      </p:sp>
      <p:pic>
        <p:nvPicPr>
          <p:cNvPr id="4" name="Picture 3" descr="A black text with a white background&#10;&#10;AI-generated content may be incorrect.">
            <a:extLst>
              <a:ext uri="{FF2B5EF4-FFF2-40B4-BE49-F238E27FC236}">
                <a16:creationId xmlns:a16="http://schemas.microsoft.com/office/drawing/2014/main" id="{55CBCE6A-40BF-CE35-CE95-AE61D48FCF6A}"/>
              </a:ext>
            </a:extLst>
          </p:cNvPr>
          <p:cNvPicPr>
            <a:picLocks noChangeAspect="1"/>
          </p:cNvPicPr>
          <p:nvPr/>
        </p:nvPicPr>
        <p:blipFill>
          <a:blip r:embed="rId2"/>
          <a:stretch>
            <a:fillRect/>
          </a:stretch>
        </p:blipFill>
        <p:spPr>
          <a:xfrm>
            <a:off x="2464254" y="4326164"/>
            <a:ext cx="7834992" cy="1235528"/>
          </a:xfrm>
          <a:prstGeom prst="rect">
            <a:avLst/>
          </a:prstGeom>
        </p:spPr>
      </p:pic>
    </p:spTree>
    <p:extLst>
      <p:ext uri="{BB962C8B-B14F-4D97-AF65-F5344CB8AC3E}">
        <p14:creationId xmlns:p14="http://schemas.microsoft.com/office/powerpoint/2010/main" val="2671003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139B2-408B-72F5-A343-AA7A3512FE91}"/>
              </a:ext>
            </a:extLst>
          </p:cNvPr>
          <p:cNvSpPr>
            <a:spLocks noGrp="1"/>
          </p:cNvSpPr>
          <p:nvPr>
            <p:ph type="title"/>
          </p:nvPr>
        </p:nvSpPr>
        <p:spPr/>
        <p:txBody>
          <a:bodyPr>
            <a:normAutofit fontScale="90000"/>
          </a:bodyPr>
          <a:lstStyle/>
          <a:p>
            <a:r>
              <a:rPr lang="en-US">
                <a:solidFill>
                  <a:srgbClr val="002060"/>
                </a:solidFill>
              </a:rPr>
              <a:t>IDF (Inverse Document Frequency)</a:t>
            </a:r>
          </a:p>
        </p:txBody>
      </p:sp>
      <p:sp>
        <p:nvSpPr>
          <p:cNvPr id="3" name="Text Placeholder 2">
            <a:extLst>
              <a:ext uri="{FF2B5EF4-FFF2-40B4-BE49-F238E27FC236}">
                <a16:creationId xmlns:a16="http://schemas.microsoft.com/office/drawing/2014/main" id="{09CC91A3-14A0-919B-EE21-F596CFAEAF42}"/>
              </a:ext>
            </a:extLst>
          </p:cNvPr>
          <p:cNvSpPr>
            <a:spLocks noGrp="1"/>
          </p:cNvSpPr>
          <p:nvPr>
            <p:ph type="body" idx="1"/>
          </p:nvPr>
        </p:nvSpPr>
        <p:spPr/>
        <p:txBody>
          <a:bodyPr/>
          <a:lstStyle/>
          <a:p>
            <a:r>
              <a:rPr lang="en-US">
                <a:solidFill>
                  <a:schemeClr val="accent5">
                    <a:lumMod val="76000"/>
                  </a:schemeClr>
                </a:solidFill>
              </a:rPr>
              <a:t>Measures the importance of the term across a corpus (vertically). </a:t>
            </a:r>
          </a:p>
          <a:p>
            <a:r>
              <a:rPr lang="en-US">
                <a:solidFill>
                  <a:schemeClr val="accent5">
                    <a:lumMod val="76000"/>
                  </a:schemeClr>
                </a:solidFill>
              </a:rPr>
              <a:t>In computing TF, all terms are given equal importance (weightage).</a:t>
            </a:r>
          </a:p>
          <a:p>
            <a:r>
              <a:rPr lang="en-US">
                <a:solidFill>
                  <a:schemeClr val="accent5">
                    <a:lumMod val="76000"/>
                  </a:schemeClr>
                </a:solidFill>
              </a:rPr>
              <a:t>However, it’s a well-known fact that stop words like is, are, am, etc., are not important, even though they occur frequently. </a:t>
            </a:r>
          </a:p>
          <a:p>
            <a:pPr lvl="1">
              <a:buSzPts val="2800"/>
            </a:pPr>
            <a:r>
              <a:rPr lang="en-US">
                <a:solidFill>
                  <a:schemeClr val="accent6">
                    <a:lumMod val="76000"/>
                  </a:schemeClr>
                </a:solidFill>
              </a:rPr>
              <a:t>To account for such cases, IDF weighs down the terms that are very common across a corpus and weighs up the rare terms. </a:t>
            </a:r>
          </a:p>
          <a:p>
            <a:r>
              <a:rPr lang="en-US">
                <a:solidFill>
                  <a:schemeClr val="accent5">
                    <a:lumMod val="76000"/>
                  </a:schemeClr>
                </a:solidFill>
              </a:rPr>
              <a:t>IDF of a term t is calculated as follows:</a:t>
            </a:r>
          </a:p>
        </p:txBody>
      </p:sp>
      <p:pic>
        <p:nvPicPr>
          <p:cNvPr id="4" name="Picture 3" descr="A black text on a white background&#10;&#10;AI-generated content may be incorrect.">
            <a:extLst>
              <a:ext uri="{FF2B5EF4-FFF2-40B4-BE49-F238E27FC236}">
                <a16:creationId xmlns:a16="http://schemas.microsoft.com/office/drawing/2014/main" id="{A2124BE4-7113-2EB1-1F02-6561989E56C4}"/>
              </a:ext>
            </a:extLst>
          </p:cNvPr>
          <p:cNvPicPr>
            <a:picLocks noChangeAspect="1"/>
          </p:cNvPicPr>
          <p:nvPr/>
        </p:nvPicPr>
        <p:blipFill>
          <a:blip r:embed="rId2"/>
          <a:stretch>
            <a:fillRect/>
          </a:stretch>
        </p:blipFill>
        <p:spPr>
          <a:xfrm>
            <a:off x="1704294" y="4266519"/>
            <a:ext cx="9318624" cy="1490889"/>
          </a:xfrm>
          <a:prstGeom prst="rect">
            <a:avLst/>
          </a:prstGeom>
        </p:spPr>
      </p:pic>
    </p:spTree>
    <p:extLst>
      <p:ext uri="{BB962C8B-B14F-4D97-AF65-F5344CB8AC3E}">
        <p14:creationId xmlns:p14="http://schemas.microsoft.com/office/powerpoint/2010/main" val="1606057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8"/>
          <p:cNvSpPr txBox="1">
            <a:spLocks noGrp="1"/>
          </p:cNvSpPr>
          <p:nvPr>
            <p:ph type="title"/>
          </p:nvPr>
        </p:nvSpPr>
        <p:spPr>
          <a:xfrm>
            <a:off x="43573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TF-IDF</a:t>
            </a:r>
          </a:p>
        </p:txBody>
      </p:sp>
      <p:sp>
        <p:nvSpPr>
          <p:cNvPr id="196" name="Google Shape;196;p18"/>
          <p:cNvSpPr txBox="1">
            <a:spLocks noGrp="1"/>
          </p:cNvSpPr>
          <p:nvPr>
            <p:ph type="body" idx="1"/>
          </p:nvPr>
        </p:nvSpPr>
        <p:spPr>
          <a:xfrm>
            <a:off x="442174" y="1229531"/>
            <a:ext cx="11320529" cy="506823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B0F0"/>
              </a:buClr>
              <a:buSzPts val="2800"/>
              <a:buChar char="•"/>
            </a:pPr>
            <a:r>
              <a:rPr lang="en-US">
                <a:solidFill>
                  <a:schemeClr val="accent5">
                    <a:lumMod val="76000"/>
                  </a:schemeClr>
                </a:solidFill>
              </a:rPr>
              <a:t>TF–IDF is computed on a per-term basis, such that the relevance of a token to a document is measured by </a:t>
            </a:r>
          </a:p>
          <a:p>
            <a:pPr marL="685800" lvl="1" indent="-228600" algn="l" rtl="0">
              <a:lnSpc>
                <a:spcPct val="90000"/>
              </a:lnSpc>
              <a:spcBef>
                <a:spcPts val="500"/>
              </a:spcBef>
              <a:spcAft>
                <a:spcPts val="0"/>
              </a:spcAft>
              <a:buClr>
                <a:srgbClr val="00B050"/>
              </a:buClr>
              <a:buSzPts val="2400"/>
              <a:buChar char="•"/>
            </a:pPr>
            <a:r>
              <a:rPr lang="en-US">
                <a:solidFill>
                  <a:schemeClr val="accent6">
                    <a:lumMod val="76000"/>
                  </a:schemeClr>
                </a:solidFill>
              </a:rPr>
              <a:t>The scaled frequency of the appearance of the term in the document</a:t>
            </a:r>
            <a:endParaRPr>
              <a:solidFill>
                <a:schemeClr val="accent6">
                  <a:lumMod val="76000"/>
                </a:schemeClr>
              </a:solidFill>
            </a:endParaRPr>
          </a:p>
          <a:p>
            <a:pPr marL="685800" lvl="1" indent="-228600" algn="l" rtl="0">
              <a:lnSpc>
                <a:spcPct val="90000"/>
              </a:lnSpc>
              <a:spcBef>
                <a:spcPts val="500"/>
              </a:spcBef>
              <a:spcAft>
                <a:spcPts val="0"/>
              </a:spcAft>
              <a:buClr>
                <a:srgbClr val="00B050"/>
              </a:buClr>
              <a:buSzPts val="2400"/>
              <a:buChar char="•"/>
            </a:pPr>
            <a:r>
              <a:rPr lang="en-US">
                <a:solidFill>
                  <a:schemeClr val="accent6">
                    <a:lumMod val="76000"/>
                  </a:schemeClr>
                </a:solidFill>
              </a:rPr>
              <a:t>Normalized by the inverse of the scaled frequency of the term in the entire corpus</a:t>
            </a:r>
            <a:endParaRPr>
              <a:solidFill>
                <a:schemeClr val="accent6">
                  <a:lumMod val="76000"/>
                </a:schemeClr>
              </a:solidFill>
            </a:endParaRPr>
          </a:p>
        </p:txBody>
      </p:sp>
      <p:pic>
        <p:nvPicPr>
          <p:cNvPr id="197" name="Google Shape;197;p18" descr="TF-IDF: Can It Really Help Your SEO?"/>
          <p:cNvPicPr preferRelativeResize="0"/>
          <p:nvPr/>
        </p:nvPicPr>
        <p:blipFill rotWithShape="1">
          <a:blip r:embed="rId3">
            <a:alphaModFix/>
          </a:blip>
          <a:srcRect/>
          <a:stretch/>
        </p:blipFill>
        <p:spPr>
          <a:xfrm>
            <a:off x="3489877" y="3355106"/>
            <a:ext cx="3838575" cy="2562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5DD57-9DAF-EFE2-AC46-3B54B0F79D8D}"/>
              </a:ext>
            </a:extLst>
          </p:cNvPr>
          <p:cNvSpPr>
            <a:spLocks noGrp="1"/>
          </p:cNvSpPr>
          <p:nvPr>
            <p:ph type="title"/>
          </p:nvPr>
        </p:nvSpPr>
        <p:spPr/>
        <p:txBody>
          <a:bodyPr>
            <a:normAutofit fontScale="90000"/>
          </a:bodyPr>
          <a:lstStyle/>
          <a:p>
            <a:r>
              <a:rPr lang="en-US">
                <a:solidFill>
                  <a:srgbClr val="002060"/>
                </a:solidFill>
              </a:rPr>
              <a:t>What we discussed until now</a:t>
            </a:r>
          </a:p>
        </p:txBody>
      </p:sp>
      <p:sp>
        <p:nvSpPr>
          <p:cNvPr id="3" name="Text Placeholder 2">
            <a:extLst>
              <a:ext uri="{FF2B5EF4-FFF2-40B4-BE49-F238E27FC236}">
                <a16:creationId xmlns:a16="http://schemas.microsoft.com/office/drawing/2014/main" id="{68E844AD-399D-2DAA-AEA7-59E7E77D8F87}"/>
              </a:ext>
            </a:extLst>
          </p:cNvPr>
          <p:cNvSpPr>
            <a:spLocks noGrp="1"/>
          </p:cNvSpPr>
          <p:nvPr>
            <p:ph type="body" idx="1"/>
          </p:nvPr>
        </p:nvSpPr>
        <p:spPr/>
        <p:txBody>
          <a:bodyPr/>
          <a:lstStyle/>
          <a:p>
            <a:r>
              <a:rPr lang="en-US">
                <a:solidFill>
                  <a:schemeClr val="accent5">
                    <a:lumMod val="76000"/>
                  </a:schemeClr>
                </a:solidFill>
              </a:rPr>
              <a:t>They are discrete representations</a:t>
            </a:r>
          </a:p>
          <a:p>
            <a:pPr lvl="1">
              <a:buSzPts val="2800"/>
            </a:pPr>
            <a:r>
              <a:rPr lang="en-US">
                <a:solidFill>
                  <a:schemeClr val="accent6">
                    <a:lumMod val="76000"/>
                  </a:schemeClr>
                </a:solidFill>
              </a:rPr>
              <a:t>They treat language units (words, n-grams, etc.) as atomic units. </a:t>
            </a:r>
          </a:p>
          <a:p>
            <a:pPr lvl="1">
              <a:buSzPts val="2800"/>
            </a:pPr>
            <a:r>
              <a:rPr lang="en-US">
                <a:solidFill>
                  <a:schemeClr val="accent6">
                    <a:lumMod val="76000"/>
                  </a:schemeClr>
                </a:solidFill>
              </a:rPr>
              <a:t>This discreteness hampers their ability to capture relationships between words.</a:t>
            </a:r>
          </a:p>
          <a:p>
            <a:r>
              <a:rPr lang="en-US">
                <a:solidFill>
                  <a:schemeClr val="accent5">
                    <a:lumMod val="76000"/>
                  </a:schemeClr>
                </a:solidFill>
              </a:rPr>
              <a:t>The feature vectors are sparse and high-dimensional representations. </a:t>
            </a:r>
          </a:p>
          <a:p>
            <a:r>
              <a:rPr lang="en-US">
                <a:solidFill>
                  <a:schemeClr val="accent5">
                    <a:lumMod val="76000"/>
                  </a:schemeClr>
                </a:solidFill>
              </a:rPr>
              <a:t>The dimensionality increases with the size of the vocabulary, with most values being zero for any vector. </a:t>
            </a:r>
          </a:p>
          <a:p>
            <a:pPr lvl="1">
              <a:buSzPts val="2800"/>
            </a:pPr>
            <a:r>
              <a:rPr lang="en-US">
                <a:solidFill>
                  <a:schemeClr val="accent6">
                    <a:lumMod val="76000"/>
                  </a:schemeClr>
                </a:solidFill>
              </a:rPr>
              <a:t>This hampers learning capability. Further, high-dimensionality representation makes them computationally inefficient.</a:t>
            </a:r>
          </a:p>
          <a:p>
            <a:r>
              <a:rPr lang="en-US">
                <a:solidFill>
                  <a:schemeClr val="accent5">
                    <a:lumMod val="76000"/>
                  </a:schemeClr>
                </a:solidFill>
              </a:rPr>
              <a:t>They cannot handle Out Of Vocabulary words.</a:t>
            </a:r>
          </a:p>
        </p:txBody>
      </p:sp>
    </p:spTree>
    <p:extLst>
      <p:ext uri="{BB962C8B-B14F-4D97-AF65-F5344CB8AC3E}">
        <p14:creationId xmlns:p14="http://schemas.microsoft.com/office/powerpoint/2010/main" val="2013021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Distributed representation</a:t>
            </a:r>
          </a:p>
        </p:txBody>
      </p:sp>
      <p:sp>
        <p:nvSpPr>
          <p:cNvPr id="203" name="Google Shape;203;p19"/>
          <p:cNvSpPr txBox="1">
            <a:spLocks noGrp="1"/>
          </p:cNvSpPr>
          <p:nvPr>
            <p:ph type="body" idx="1"/>
          </p:nvPr>
        </p:nvSpPr>
        <p:spPr>
          <a:xfrm>
            <a:off x="442174" y="1126209"/>
            <a:ext cx="11320529" cy="5171559"/>
          </a:xfrm>
          <a:prstGeom prst="rect">
            <a:avLst/>
          </a:prstGeom>
          <a:noFill/>
          <a:ln>
            <a:noFill/>
          </a:ln>
        </p:spPr>
        <p:txBody>
          <a:bodyPr spcFirstLastPara="1" wrap="square" lIns="91425" tIns="45700" rIns="91425" bIns="45700" anchor="t" anchorCtr="0">
            <a:normAutofit/>
          </a:bodyPr>
          <a:lstStyle/>
          <a:p>
            <a:r>
              <a:rPr lang="en-US" dirty="0">
                <a:solidFill>
                  <a:schemeClr val="accent5">
                    <a:lumMod val="76000"/>
                  </a:schemeClr>
                </a:solidFill>
              </a:rPr>
              <a:t>The frequency, one-hot, and TF–IDF encoding methods enable us to represent documents as vectors in a shared vector space.</a:t>
            </a:r>
          </a:p>
          <a:p>
            <a:r>
              <a:rPr lang="en-US" dirty="0">
                <a:solidFill>
                  <a:schemeClr val="accent5">
                    <a:lumMod val="76000"/>
                  </a:schemeClr>
                </a:solidFill>
              </a:rPr>
              <a:t>However, these representations describe each document independently, without explicitly modeling relationships or similarities between documents within that space.</a:t>
            </a:r>
          </a:p>
          <a:p>
            <a:r>
              <a:rPr lang="en-US" dirty="0">
                <a:solidFill>
                  <a:schemeClr val="accent5">
                    <a:lumMod val="76000"/>
                  </a:schemeClr>
                </a:solidFill>
              </a:rPr>
              <a:t>Moreover, since each feature (token) acts independently, there is no interaction or cooperation between terms.</a:t>
            </a:r>
          </a:p>
          <a:p>
            <a:r>
              <a:rPr lang="en-US" dirty="0">
                <a:solidFill>
                  <a:schemeClr val="accent5">
                    <a:lumMod val="76000"/>
                  </a:schemeClr>
                </a:solidFill>
              </a:rPr>
              <a:t>As a result, it becomes difficult—or even impossible—to meaningfully compare documents that do not share any common terms, even if they are semantically related.</a:t>
            </a:r>
            <a:endParaRPr dirty="0">
              <a:solidFill>
                <a:schemeClr val="accent5">
                  <a:lumMod val="76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0"/>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Solution: distributed representation</a:t>
            </a:r>
          </a:p>
        </p:txBody>
      </p:sp>
      <p:sp>
        <p:nvSpPr>
          <p:cNvPr id="209" name="Google Shape;209;p20"/>
          <p:cNvSpPr txBox="1">
            <a:spLocks noGrp="1"/>
          </p:cNvSpPr>
          <p:nvPr>
            <p:ph type="body" idx="1"/>
          </p:nvPr>
        </p:nvSpPr>
        <p:spPr>
          <a:xfrm>
            <a:off x="442174" y="1090047"/>
            <a:ext cx="11320529" cy="520772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B0F0"/>
              </a:buClr>
              <a:buSzPts val="2800"/>
              <a:buChar char="•"/>
            </a:pPr>
            <a:r>
              <a:rPr lang="en-US">
                <a:solidFill>
                  <a:schemeClr val="accent5">
                    <a:lumMod val="76000"/>
                  </a:schemeClr>
                </a:solidFill>
              </a:rPr>
              <a:t>When document similarity is important in the context of an application, we instead encode text along a continuous scale with a distributed representation, as shown in the following Figure</a:t>
            </a:r>
            <a:endParaRPr>
              <a:solidFill>
                <a:schemeClr val="accent5">
                  <a:lumMod val="76000"/>
                </a:schemeClr>
              </a:solidFill>
            </a:endParaRPr>
          </a:p>
        </p:txBody>
      </p:sp>
      <p:pic>
        <p:nvPicPr>
          <p:cNvPr id="210" name="Google Shape;210;p20"/>
          <p:cNvPicPr preferRelativeResize="0"/>
          <p:nvPr/>
        </p:nvPicPr>
        <p:blipFill rotWithShape="1">
          <a:blip r:embed="rId3">
            <a:alphaModFix/>
          </a:blip>
          <a:srcRect/>
          <a:stretch/>
        </p:blipFill>
        <p:spPr>
          <a:xfrm>
            <a:off x="1618802" y="2695725"/>
            <a:ext cx="9081043" cy="291147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1"/>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Solution: distributed representation</a:t>
            </a:r>
          </a:p>
        </p:txBody>
      </p:sp>
      <p:sp>
        <p:nvSpPr>
          <p:cNvPr id="216" name="Google Shape;216;p21"/>
          <p:cNvSpPr txBox="1">
            <a:spLocks noGrp="1"/>
          </p:cNvSpPr>
          <p:nvPr>
            <p:ph type="body" idx="1"/>
          </p:nvPr>
        </p:nvSpPr>
        <p:spPr>
          <a:xfrm>
            <a:off x="442174" y="817037"/>
            <a:ext cx="11320529" cy="548073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B0F0"/>
              </a:buClr>
              <a:buSzPts val="2800"/>
              <a:buChar char="•"/>
            </a:pPr>
            <a:r>
              <a:rPr lang="en-US">
                <a:solidFill>
                  <a:schemeClr val="accent5">
                    <a:lumMod val="76000"/>
                  </a:schemeClr>
                </a:solidFill>
              </a:rPr>
              <a:t>This means that the resulting document vector is not a simple mapping from token position to token score</a:t>
            </a:r>
          </a:p>
          <a:p>
            <a:pPr marL="228600" lvl="0" indent="-228600" algn="l" rtl="0">
              <a:lnSpc>
                <a:spcPct val="90000"/>
              </a:lnSpc>
              <a:spcBef>
                <a:spcPts val="1000"/>
              </a:spcBef>
              <a:spcAft>
                <a:spcPts val="0"/>
              </a:spcAft>
              <a:buClr>
                <a:srgbClr val="00B0F0"/>
              </a:buClr>
              <a:buSzPts val="2800"/>
              <a:buChar char="•"/>
            </a:pPr>
            <a:r>
              <a:rPr lang="en-US">
                <a:solidFill>
                  <a:schemeClr val="accent5">
                    <a:lumMod val="76000"/>
                  </a:schemeClr>
                </a:solidFill>
              </a:rPr>
              <a:t>Instead, the document is represented in a feature space that has been embedded to represent word similarity</a:t>
            </a:r>
            <a:endParaRPr>
              <a:solidFill>
                <a:schemeClr val="accent5">
                  <a:lumMod val="76000"/>
                </a:schemeClr>
              </a:solidFill>
            </a:endParaRPr>
          </a:p>
          <a:p>
            <a:pPr marL="228600" lvl="0" indent="-228600" algn="l" rtl="0">
              <a:lnSpc>
                <a:spcPct val="90000"/>
              </a:lnSpc>
              <a:spcBef>
                <a:spcPts val="1000"/>
              </a:spcBef>
              <a:spcAft>
                <a:spcPts val="0"/>
              </a:spcAft>
              <a:buClr>
                <a:srgbClr val="00B0F0"/>
              </a:buClr>
              <a:buSzPts val="2800"/>
              <a:buChar char="•"/>
            </a:pPr>
            <a:r>
              <a:rPr lang="en-US">
                <a:solidFill>
                  <a:schemeClr val="accent5">
                    <a:lumMod val="76000"/>
                  </a:schemeClr>
                </a:solidFill>
              </a:rPr>
              <a:t>The complexity of this space (and the resulting vector length) is the product of how that representation is trained and not directly tied to the document itself</a:t>
            </a:r>
            <a:endParaRPr>
              <a:solidFill>
                <a:schemeClr val="accent5">
                  <a:lumMod val="76000"/>
                </a:schemeClr>
              </a:solidFill>
            </a:endParaRPr>
          </a:p>
          <a:p>
            <a:pPr marL="228600" lvl="0" indent="-50800" algn="l" rtl="0">
              <a:lnSpc>
                <a:spcPct val="90000"/>
              </a:lnSpc>
              <a:spcBef>
                <a:spcPts val="1000"/>
              </a:spcBef>
              <a:spcAft>
                <a:spcPts val="0"/>
              </a:spcAft>
              <a:buClr>
                <a:srgbClr val="00B0F0"/>
              </a:buClr>
              <a:buSzPts val="2800"/>
              <a:buNone/>
            </a:pPr>
            <a:endParaRPr/>
          </a:p>
        </p:txBody>
      </p:sp>
      <p:pic>
        <p:nvPicPr>
          <p:cNvPr id="217" name="Google Shape;217;p21"/>
          <p:cNvPicPr preferRelativeResize="0"/>
          <p:nvPr/>
        </p:nvPicPr>
        <p:blipFill rotWithShape="1">
          <a:blip r:embed="rId3">
            <a:alphaModFix/>
          </a:blip>
          <a:srcRect/>
          <a:stretch/>
        </p:blipFill>
        <p:spPr>
          <a:xfrm>
            <a:off x="2320119" y="4023718"/>
            <a:ext cx="6475863" cy="207623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2"/>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Word2Vec</a:t>
            </a:r>
          </a:p>
        </p:txBody>
      </p:sp>
      <p:sp>
        <p:nvSpPr>
          <p:cNvPr id="223" name="Google Shape;223;p22"/>
          <p:cNvSpPr txBox="1">
            <a:spLocks noGrp="1"/>
          </p:cNvSpPr>
          <p:nvPr>
            <p:ph type="body" idx="1"/>
          </p:nvPr>
        </p:nvSpPr>
        <p:spPr>
          <a:xfrm>
            <a:off x="442174" y="817037"/>
            <a:ext cx="11320529" cy="5480732"/>
          </a:xfrm>
          <a:prstGeom prst="rect">
            <a:avLst/>
          </a:prstGeom>
          <a:noFill/>
          <a:ln>
            <a:noFill/>
          </a:ln>
        </p:spPr>
        <p:txBody>
          <a:bodyPr spcFirstLastPara="1" wrap="square" lIns="91425" tIns="45700" rIns="91425" bIns="45700" anchor="t" anchorCtr="0">
            <a:normAutofit/>
          </a:bodyPr>
          <a:lstStyle/>
          <a:p>
            <a:r>
              <a:rPr lang="en-US" dirty="0">
                <a:solidFill>
                  <a:schemeClr val="accent5">
                    <a:lumMod val="76000"/>
                  </a:schemeClr>
                </a:solidFill>
              </a:rPr>
              <a:t>The Word2Vec algorithm learns these embeddings using one of two architectures:</a:t>
            </a:r>
          </a:p>
          <a:p>
            <a:pPr lvl="1"/>
            <a:r>
              <a:rPr lang="en-US" dirty="0">
                <a:solidFill>
                  <a:schemeClr val="accent6">
                    <a:lumMod val="76000"/>
                  </a:schemeClr>
                </a:solidFill>
              </a:rPr>
              <a:t>Continuous Bag-of-Words (CBOW): predicts a target word from its surrounding context.</a:t>
            </a:r>
          </a:p>
          <a:p>
            <a:pPr lvl="1"/>
            <a:r>
              <a:rPr lang="en-US" dirty="0">
                <a:solidFill>
                  <a:schemeClr val="accent6">
                    <a:lumMod val="76000"/>
                  </a:schemeClr>
                </a:solidFill>
              </a:rPr>
              <a:t>Skip-Gram: predicts surrounding context words from a given target word.</a:t>
            </a:r>
          </a:p>
          <a:p>
            <a:r>
              <a:rPr lang="en-US" dirty="0">
                <a:solidFill>
                  <a:schemeClr val="accent5">
                    <a:lumMod val="76000"/>
                  </a:schemeClr>
                </a:solidFill>
              </a:rPr>
              <a:t>Through this process, words that appear in similar contexts are embedded close to one another in the vector space, capturing semantic and syntactic relationships between them.</a:t>
            </a:r>
          </a:p>
          <a:p>
            <a:r>
              <a:rPr lang="en-US" dirty="0">
                <a:solidFill>
                  <a:schemeClr val="accent5">
                    <a:lumMod val="76000"/>
                  </a:schemeClr>
                </a:solidFill>
              </a:rPr>
              <a:t>We will explore Word2Vec and its underlying mechanisms in greater detail later in this course.</a:t>
            </a:r>
            <a:endParaRPr>
              <a:solidFill>
                <a:schemeClr val="accent5">
                  <a:lumMod val="76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solidFill>
                  <a:srgbClr val="002060"/>
                </a:solidFill>
              </a:rPr>
              <a:t>GloVe</a:t>
            </a:r>
            <a:endParaRPr lang="en-US">
              <a:solidFill>
                <a:srgbClr val="002060"/>
              </a:solidFill>
            </a:endParaRPr>
          </a:p>
        </p:txBody>
      </p:sp>
      <p:sp>
        <p:nvSpPr>
          <p:cNvPr id="3" name="Text Placeholder 2"/>
          <p:cNvSpPr>
            <a:spLocks noGrp="1"/>
          </p:cNvSpPr>
          <p:nvPr>
            <p:ph type="body" idx="1"/>
          </p:nvPr>
        </p:nvSpPr>
        <p:spPr/>
        <p:txBody>
          <a:bodyPr>
            <a:normAutofit lnSpcReduction="10000"/>
          </a:bodyPr>
          <a:lstStyle/>
          <a:p>
            <a:r>
              <a:rPr lang="en-US" dirty="0">
                <a:solidFill>
                  <a:srgbClr val="0070C0"/>
                </a:solidFill>
              </a:rPr>
              <a:t>Word2Vec learns word embeddings by modeling the relationship between target words and their context words.</a:t>
            </a:r>
            <a:endParaRPr lang="en-US" dirty="0"/>
          </a:p>
          <a:p>
            <a:r>
              <a:rPr lang="en-US" dirty="0">
                <a:solidFill>
                  <a:srgbClr val="0070C0"/>
                </a:solidFill>
              </a:rPr>
              <a:t>However, it does not explicitly account for how frequently certain context words appear together.  Frequent co-occurrences simply result in more training examples, without adding new information.</a:t>
            </a:r>
            <a:endParaRPr lang="en-US" dirty="0"/>
          </a:p>
          <a:p>
            <a:pPr lvl="1"/>
            <a:r>
              <a:rPr lang="en-US" dirty="0">
                <a:solidFill>
                  <a:schemeClr val="accent6">
                    <a:lumMod val="76000"/>
                  </a:schemeClr>
                </a:solidFill>
              </a:rPr>
              <a:t>In contrast, </a:t>
            </a:r>
            <a:r>
              <a:rPr lang="en-US" err="1">
                <a:solidFill>
                  <a:schemeClr val="accent6">
                    <a:lumMod val="76000"/>
                  </a:schemeClr>
                </a:solidFill>
              </a:rPr>
              <a:t>GloVe</a:t>
            </a:r>
            <a:r>
              <a:rPr lang="en-US" dirty="0">
                <a:solidFill>
                  <a:schemeClr val="accent6">
                    <a:lumMod val="76000"/>
                  </a:schemeClr>
                </a:solidFill>
              </a:rPr>
              <a:t> (Global Vectors for Word Representation) emphasizes that co-occurrence frequency itself carries meaningful statistical information that should be preserved, not treated as redundant.</a:t>
            </a:r>
            <a:endParaRPr lang="en-US">
              <a:solidFill>
                <a:schemeClr val="accent6">
                  <a:lumMod val="76000"/>
                </a:schemeClr>
              </a:solidFill>
            </a:endParaRPr>
          </a:p>
          <a:p>
            <a:r>
              <a:rPr lang="en-US" dirty="0" err="1">
                <a:solidFill>
                  <a:srgbClr val="0070C0"/>
                </a:solidFill>
              </a:rPr>
              <a:t>GloVe</a:t>
            </a:r>
            <a:r>
              <a:rPr lang="en-US" dirty="0">
                <a:solidFill>
                  <a:srgbClr val="0070C0"/>
                </a:solidFill>
              </a:rPr>
              <a:t> constructs embeddings so that linear relationships between word vectors reflect the probabilities of their co-occurrence within the corpus, leading to a more globally informed representation of meaning.</a:t>
            </a:r>
            <a:endParaRPr lang="en-US" dirty="0"/>
          </a:p>
          <a:p>
            <a:pPr marL="50800" indent="0">
              <a:buNone/>
            </a:pPr>
            <a:br>
              <a:rPr lang="en-US" dirty="0"/>
            </a:br>
            <a:endParaRPr lang="en-US"/>
          </a:p>
        </p:txBody>
      </p:sp>
    </p:spTree>
    <p:extLst>
      <p:ext uri="{BB962C8B-B14F-4D97-AF65-F5344CB8AC3E}">
        <p14:creationId xmlns:p14="http://schemas.microsoft.com/office/powerpoint/2010/main" val="4143513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solidFill>
                  <a:srgbClr val="002060"/>
                </a:solidFill>
              </a:rPr>
              <a:t>FastText</a:t>
            </a:r>
            <a:endParaRPr lang="en-US">
              <a:solidFill>
                <a:srgbClr val="002060"/>
              </a:solidFill>
            </a:endParaRPr>
          </a:p>
        </p:txBody>
      </p:sp>
      <p:sp>
        <p:nvSpPr>
          <p:cNvPr id="3" name="Text Placeholder 2"/>
          <p:cNvSpPr>
            <a:spLocks noGrp="1"/>
          </p:cNvSpPr>
          <p:nvPr>
            <p:ph type="body" idx="1"/>
          </p:nvPr>
        </p:nvSpPr>
        <p:spPr/>
        <p:txBody>
          <a:bodyPr/>
          <a:lstStyle/>
          <a:p>
            <a:r>
              <a:rPr lang="en-US">
                <a:solidFill>
                  <a:schemeClr val="accent5">
                    <a:lumMod val="76000"/>
                  </a:schemeClr>
                </a:solidFill>
              </a:rPr>
              <a:t>The idea is very similar to Word2Vec but with a twist</a:t>
            </a:r>
          </a:p>
          <a:p>
            <a:pPr lvl="1"/>
            <a:r>
              <a:rPr lang="en-US">
                <a:solidFill>
                  <a:schemeClr val="accent6">
                    <a:lumMod val="76000"/>
                  </a:schemeClr>
                </a:solidFill>
              </a:rPr>
              <a:t>Instead of using words to build word embeddings, </a:t>
            </a:r>
            <a:r>
              <a:rPr lang="en-US" b="1" err="1">
                <a:solidFill>
                  <a:schemeClr val="accent6">
                    <a:lumMod val="76000"/>
                  </a:schemeClr>
                </a:solidFill>
              </a:rPr>
              <a:t>FastText</a:t>
            </a:r>
            <a:r>
              <a:rPr lang="en-US" b="1">
                <a:solidFill>
                  <a:schemeClr val="accent6">
                    <a:lumMod val="76000"/>
                  </a:schemeClr>
                </a:solidFill>
              </a:rPr>
              <a:t> goes one level deeper</a:t>
            </a:r>
            <a:endParaRPr lang="en-US">
              <a:solidFill>
                <a:schemeClr val="accent6">
                  <a:lumMod val="76000"/>
                </a:schemeClr>
              </a:solidFill>
            </a:endParaRPr>
          </a:p>
          <a:p>
            <a:pPr lvl="1"/>
            <a:r>
              <a:rPr lang="en-US">
                <a:solidFill>
                  <a:schemeClr val="accent6">
                    <a:lumMod val="76000"/>
                  </a:schemeClr>
                </a:solidFill>
              </a:rPr>
              <a:t>This deeper level consists of part of words and characters</a:t>
            </a:r>
          </a:p>
          <a:p>
            <a:pPr lvl="1"/>
            <a:r>
              <a:rPr lang="en-US">
                <a:solidFill>
                  <a:schemeClr val="accent6">
                    <a:lumMod val="76000"/>
                  </a:schemeClr>
                </a:solidFill>
              </a:rPr>
              <a:t>In a sense, a word becomes its context</a:t>
            </a:r>
          </a:p>
          <a:p>
            <a:pPr lvl="1"/>
            <a:r>
              <a:rPr lang="en-US">
                <a:solidFill>
                  <a:schemeClr val="accent6">
                    <a:lumMod val="76000"/>
                  </a:schemeClr>
                </a:solidFill>
              </a:rPr>
              <a:t>The building blocks are characters instead of words</a:t>
            </a:r>
          </a:p>
          <a:p>
            <a:r>
              <a:rPr lang="en-US">
                <a:solidFill>
                  <a:schemeClr val="accent5">
                    <a:lumMod val="76000"/>
                  </a:schemeClr>
                </a:solidFill>
              </a:rPr>
              <a:t>The word embeddings built by </a:t>
            </a:r>
            <a:r>
              <a:rPr lang="en-US" err="1">
                <a:solidFill>
                  <a:schemeClr val="accent5">
                    <a:lumMod val="76000"/>
                  </a:schemeClr>
                </a:solidFill>
              </a:rPr>
              <a:t>FastText</a:t>
            </a:r>
            <a:r>
              <a:rPr lang="en-US">
                <a:solidFill>
                  <a:schemeClr val="accent5">
                    <a:lumMod val="76000"/>
                  </a:schemeClr>
                </a:solidFill>
              </a:rPr>
              <a:t> look very similar to the ones provided by Word2Vec</a:t>
            </a:r>
          </a:p>
          <a:p>
            <a:endParaRPr lang="en-US"/>
          </a:p>
        </p:txBody>
      </p:sp>
    </p:spTree>
    <p:extLst>
      <p:ext uri="{BB962C8B-B14F-4D97-AF65-F5344CB8AC3E}">
        <p14:creationId xmlns:p14="http://schemas.microsoft.com/office/powerpoint/2010/main" val="494575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3"/>
          <p:cNvSpPr txBox="1">
            <a:spLocks noGrp="1"/>
          </p:cNvSpPr>
          <p:nvPr>
            <p:ph type="title"/>
          </p:nvPr>
        </p:nvSpPr>
        <p:spPr>
          <a:xfrm>
            <a:off x="442175" y="136525"/>
            <a:ext cx="11320529" cy="58469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C00000"/>
              </a:buClr>
              <a:buSzPct val="100000"/>
              <a:buFont typeface="MS PGothic"/>
              <a:buNone/>
            </a:pPr>
            <a:r>
              <a:rPr lang="en-US">
                <a:solidFill>
                  <a:srgbClr val="002060"/>
                </a:solidFill>
              </a:rPr>
              <a:t>Doc2Vec</a:t>
            </a:r>
          </a:p>
        </p:txBody>
      </p:sp>
      <p:sp>
        <p:nvSpPr>
          <p:cNvPr id="229" name="Google Shape;229;p23"/>
          <p:cNvSpPr txBox="1">
            <a:spLocks noGrp="1"/>
          </p:cNvSpPr>
          <p:nvPr>
            <p:ph type="body" idx="1"/>
          </p:nvPr>
        </p:nvSpPr>
        <p:spPr>
          <a:xfrm>
            <a:off x="442174" y="817037"/>
            <a:ext cx="11320529" cy="5480732"/>
          </a:xfrm>
          <a:prstGeom prst="rect">
            <a:avLst/>
          </a:prstGeom>
          <a:noFill/>
          <a:ln>
            <a:noFill/>
          </a:ln>
        </p:spPr>
        <p:txBody>
          <a:bodyPr spcFirstLastPara="1" wrap="square" lIns="91425" tIns="45700" rIns="91425" bIns="45700" anchor="t" anchorCtr="0">
            <a:normAutofit fontScale="92500" lnSpcReduction="10000"/>
          </a:bodyPr>
          <a:lstStyle/>
          <a:p>
            <a:r>
              <a:rPr lang="en-US" dirty="0">
                <a:solidFill>
                  <a:schemeClr val="accent5">
                    <a:lumMod val="76000"/>
                  </a:schemeClr>
                </a:solidFill>
              </a:rPr>
              <a:t>Doc2Vec is an extension of Word2Vec that introduces the concept of a paragraph vector — an unsupervised learning algorithm designed to generate fixed-length feature representations from variable-length documents.</a:t>
            </a:r>
          </a:p>
          <a:p>
            <a:r>
              <a:rPr lang="en-US" dirty="0">
                <a:solidFill>
                  <a:schemeClr val="accent5">
                    <a:lumMod val="76000"/>
                  </a:schemeClr>
                </a:solidFill>
              </a:rPr>
              <a:t>This model captures semantic properties of words and documents, so that words like “red” and “colorful” are embedded closer together than “river” or “governance.”</a:t>
            </a:r>
            <a:endParaRPr dirty="0">
              <a:solidFill>
                <a:schemeClr val="accent5">
                  <a:lumMod val="76000"/>
                </a:schemeClr>
              </a:solidFill>
            </a:endParaRPr>
          </a:p>
          <a:p>
            <a:r>
              <a:rPr lang="en-US" dirty="0">
                <a:solidFill>
                  <a:schemeClr val="accent5">
                    <a:lumMod val="76000"/>
                  </a:schemeClr>
                </a:solidFill>
              </a:rPr>
              <a:t>Additionally, Doc2Vec considers the ordering of words within a local context, similar to an n-gram model, allowing it to encode short-range dependencies.</a:t>
            </a:r>
          </a:p>
          <a:p>
            <a:r>
              <a:rPr lang="en-US">
                <a:solidFill>
                  <a:schemeClr val="accent5">
                    <a:lumMod val="76000"/>
                  </a:schemeClr>
                </a:solidFill>
              </a:rPr>
              <a:t>The resulting document vectors are more effective than traditional bag-of-words or bag-of-n-grams models because they:</a:t>
            </a:r>
            <a:endParaRPr lang="en-US"/>
          </a:p>
          <a:p>
            <a:pPr lvl="1"/>
            <a:r>
              <a:rPr lang="en-US" dirty="0">
                <a:solidFill>
                  <a:schemeClr val="accent6">
                    <a:lumMod val="76000"/>
                  </a:schemeClr>
                </a:solidFill>
              </a:rPr>
              <a:t>Generalize better, capturing deeper semantic meaning</a:t>
            </a:r>
          </a:p>
          <a:p>
            <a:pPr lvl="1"/>
            <a:r>
              <a:rPr lang="en-US" dirty="0">
                <a:solidFill>
                  <a:schemeClr val="accent6">
                    <a:lumMod val="76000"/>
                  </a:schemeClr>
                </a:solidFill>
              </a:rPr>
              <a:t>Have lower dimensionality while maintaining fixed-length representations</a:t>
            </a:r>
            <a:endParaRPr>
              <a:solidFill>
                <a:schemeClr val="accent6">
                  <a:lumMod val="76000"/>
                </a:schemeClr>
              </a:solidFill>
            </a:endParaRPr>
          </a:p>
          <a:p>
            <a:pPr lvl="1"/>
            <a:r>
              <a:rPr lang="en-US" dirty="0">
                <a:solidFill>
                  <a:schemeClr val="accent6">
                    <a:lumMod val="76000"/>
                  </a:schemeClr>
                </a:solidFill>
              </a:rPr>
              <a:t>Can be directly used with standard machine learning algorithms for tasks such as classification, clustering, or similarity search</a:t>
            </a:r>
            <a:endParaRPr dirty="0">
              <a:solidFill>
                <a:schemeClr val="accent6">
                  <a:lumMod val="76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BD530-2086-1AED-3D20-10B4AF6AE25D}"/>
              </a:ext>
            </a:extLst>
          </p:cNvPr>
          <p:cNvSpPr>
            <a:spLocks noGrp="1"/>
          </p:cNvSpPr>
          <p:nvPr>
            <p:ph type="title"/>
          </p:nvPr>
        </p:nvSpPr>
        <p:spPr/>
        <p:txBody>
          <a:bodyPr>
            <a:normAutofit fontScale="90000"/>
          </a:bodyPr>
          <a:lstStyle/>
          <a:p>
            <a:r>
              <a:rPr lang="en-US">
                <a:solidFill>
                  <a:srgbClr val="002060"/>
                </a:solidFill>
              </a:rPr>
              <a:t>___2VEC Family</a:t>
            </a:r>
          </a:p>
        </p:txBody>
      </p:sp>
      <p:pic>
        <p:nvPicPr>
          <p:cNvPr id="4" name="Picture 3" descr="A screenshot of a white grid&#10;&#10;AI-generated content may be incorrect.">
            <a:extLst>
              <a:ext uri="{FF2B5EF4-FFF2-40B4-BE49-F238E27FC236}">
                <a16:creationId xmlns:a16="http://schemas.microsoft.com/office/drawing/2014/main" id="{7CC81320-10AC-3B38-5E7A-5F45C4458511}"/>
              </a:ext>
            </a:extLst>
          </p:cNvPr>
          <p:cNvPicPr>
            <a:picLocks noChangeAspect="1"/>
          </p:cNvPicPr>
          <p:nvPr/>
        </p:nvPicPr>
        <p:blipFill>
          <a:blip r:embed="rId2"/>
          <a:stretch>
            <a:fillRect/>
          </a:stretch>
        </p:blipFill>
        <p:spPr>
          <a:xfrm>
            <a:off x="1409700" y="823913"/>
            <a:ext cx="9372600" cy="5210175"/>
          </a:xfrm>
          <a:prstGeom prst="rect">
            <a:avLst/>
          </a:prstGeom>
        </p:spPr>
      </p:pic>
    </p:spTree>
    <p:extLst>
      <p:ext uri="{BB962C8B-B14F-4D97-AF65-F5344CB8AC3E}">
        <p14:creationId xmlns:p14="http://schemas.microsoft.com/office/powerpoint/2010/main" val="377516123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22</Notes>
  <HiddenSlides>2</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CSE 495B Natural Language Processing</vt:lpstr>
      <vt:lpstr>Text vs Number</vt:lpstr>
      <vt:lpstr>Text vs Number</vt:lpstr>
      <vt:lpstr>Syntax vs Semantics</vt:lpstr>
      <vt:lpstr>Syntax vs Semantics</vt:lpstr>
      <vt:lpstr>How can we convert text to numbers?</vt:lpstr>
      <vt:lpstr>How many ways of conversion?</vt:lpstr>
      <vt:lpstr>A naïve scheme: Bag of words</vt:lpstr>
      <vt:lpstr>Bag of Words (BoW)</vt:lpstr>
      <vt:lpstr>Bag of Words (BoW) – How to do it</vt:lpstr>
      <vt:lpstr>Bag of Words (BoW) – An example</vt:lpstr>
      <vt:lpstr>BoW – Frequency Vectors</vt:lpstr>
      <vt:lpstr>Problems of frequency vectors</vt:lpstr>
      <vt:lpstr>One hot encoding</vt:lpstr>
      <vt:lpstr>Why one-hot encoding?</vt:lpstr>
      <vt:lpstr>Bag of N-grams</vt:lpstr>
      <vt:lpstr>Bag of N-grams</vt:lpstr>
      <vt:lpstr>Problem of BoW (in general)</vt:lpstr>
      <vt:lpstr>TF-IDF</vt:lpstr>
      <vt:lpstr>Intuition behind TF-IDF</vt:lpstr>
      <vt:lpstr>TF (Term Frequency)</vt:lpstr>
      <vt:lpstr>IDF (Inverse Document Frequency)</vt:lpstr>
      <vt:lpstr>TF-IDF</vt:lpstr>
      <vt:lpstr>What we discussed until now</vt:lpstr>
      <vt:lpstr>Distributed representation</vt:lpstr>
      <vt:lpstr>Solution: distributed representation</vt:lpstr>
      <vt:lpstr>Solution: distributed representation</vt:lpstr>
      <vt:lpstr>Word2Vec</vt:lpstr>
      <vt:lpstr>GloVe</vt:lpstr>
      <vt:lpstr>FastText</vt:lpstr>
      <vt:lpstr>Doc2Vec</vt:lpstr>
      <vt:lpstr>___2VEC Family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495 Natural Language Processing</dc:title>
  <dc:creator>Mohammad Khan</dc:creator>
  <cp:lastModifiedBy>Mohammad Khan</cp:lastModifiedBy>
  <cp:revision>167</cp:revision>
  <dcterms:created xsi:type="dcterms:W3CDTF">2021-02-16T03:09:21Z</dcterms:created>
  <dcterms:modified xsi:type="dcterms:W3CDTF">2025-11-04T13:28:36Z</dcterms:modified>
</cp:coreProperties>
</file>