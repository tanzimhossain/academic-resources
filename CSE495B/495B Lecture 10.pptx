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9"/>
  </p:notesMasterIdLst>
  <p:sldIdLst>
    <p:sldId id="256" r:id="rId5"/>
    <p:sldId id="396" r:id="rId6"/>
    <p:sldId id="394" r:id="rId7"/>
    <p:sldId id="395" r:id="rId8"/>
    <p:sldId id="334" r:id="rId9"/>
    <p:sldId id="406" r:id="rId10"/>
    <p:sldId id="407" r:id="rId11"/>
    <p:sldId id="336" r:id="rId12"/>
    <p:sldId id="339" r:id="rId13"/>
    <p:sldId id="340" r:id="rId14"/>
    <p:sldId id="397" r:id="rId15"/>
    <p:sldId id="341" r:id="rId16"/>
    <p:sldId id="398" r:id="rId17"/>
    <p:sldId id="403" r:id="rId18"/>
    <p:sldId id="342" r:id="rId19"/>
    <p:sldId id="399" r:id="rId20"/>
    <p:sldId id="343" r:id="rId21"/>
    <p:sldId id="400" r:id="rId22"/>
    <p:sldId id="345" r:id="rId23"/>
    <p:sldId id="401" r:id="rId24"/>
    <p:sldId id="402" r:id="rId25"/>
    <p:sldId id="404" r:id="rId26"/>
    <p:sldId id="405" r:id="rId27"/>
    <p:sldId id="346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3" roundtripDataSignature="AMtx7miLAPrl4d+V1IstkCCj/PL+6qtY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887D0A-43B4-5A50-45A5-B2FC76DB9E16}" v="12" dt="2025-05-31T14:24:04.123"/>
  </p1510:revLst>
</p1510:revInfo>
</file>

<file path=ppt/tableStyles.xml><?xml version="1.0" encoding="utf-8"?>
<a:tblStyleLst xmlns:a="http://schemas.openxmlformats.org/drawingml/2006/main" def="{E1EA1CD8-9A49-4420-9597-29AC4BAAC592}">
  <a:tblStyle styleId="{E1EA1CD8-9A49-4420-9597-29AC4BAAC5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63" Type="http://customschemas.google.com/relationships/presentationmetadata" Target="metadata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6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64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0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0"/>
          <p:cNvSpPr txBox="1"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2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4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6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6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8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8"/>
          <p:cNvSpPr txBox="1">
            <a:spLocks noGrp="1"/>
          </p:cNvSpPr>
          <p:nvPr>
            <p:ph type="body" idx="1"/>
          </p:nvPr>
        </p:nvSpPr>
        <p:spPr>
          <a:xfrm rot="5400000">
            <a:off x="3727452" y="-1922463"/>
            <a:ext cx="5237162" cy="1132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8"/>
          <p:cNvSpPr txBox="1">
            <a:spLocks noGrp="1"/>
          </p:cNvSpPr>
          <p:nvPr>
            <p:ph type="title"/>
          </p:nvPr>
        </p:nvSpPr>
        <p:spPr>
          <a:xfrm>
            <a:off x="1278733" y="155574"/>
            <a:ext cx="10515600" cy="5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8"/>
          <p:cNvSpPr txBox="1">
            <a:spLocks noGrp="1"/>
          </p:cNvSpPr>
          <p:nvPr>
            <p:ph type="body" idx="1"/>
          </p:nvPr>
        </p:nvSpPr>
        <p:spPr>
          <a:xfrm>
            <a:off x="685800" y="1119188"/>
            <a:ext cx="11320465" cy="523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48135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58" descr="http://www.northsouth.edu/newassets/images/nsu-photo/logo-4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" y="0"/>
            <a:ext cx="495300" cy="396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58"/>
          <p:cNvCxnSpPr/>
          <p:nvPr/>
        </p:nvCxnSpPr>
        <p:spPr>
          <a:xfrm rot="10800000" flipH="1">
            <a:off x="792958" y="54768"/>
            <a:ext cx="11001375" cy="46037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524000" y="2245809"/>
            <a:ext cx="9144000" cy="156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4800" dirty="0"/>
              <a:t>CSE 495 (Natural Language Processing)</a:t>
            </a:r>
            <a:br>
              <a:rPr lang="en-US" sz="4800" dirty="0"/>
            </a:br>
            <a:r>
              <a:rPr lang="en-US" sz="4800" dirty="0"/>
              <a:t>Lecture 10</a:t>
            </a:r>
            <a:endParaRPr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3947050"/>
            <a:ext cx="9144000" cy="572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spcBef>
                <a:spcPts val="0"/>
              </a:spcBef>
            </a:pPr>
            <a:r>
              <a:rPr lang="en-US" sz="2000" dirty="0"/>
              <a:t>Decoder only Transformers</a:t>
            </a:r>
            <a:endParaRPr lang="en-US" dirty="0"/>
          </a:p>
        </p:txBody>
      </p:sp>
      <p:sp>
        <p:nvSpPr>
          <p:cNvPr id="92" name="Google Shape;92;p1"/>
          <p:cNvSpPr/>
          <p:nvPr/>
        </p:nvSpPr>
        <p:spPr>
          <a:xfrm>
            <a:off x="0" y="1"/>
            <a:ext cx="5920619" cy="2130951"/>
          </a:xfrm>
          <a:custGeom>
            <a:avLst/>
            <a:gdLst/>
            <a:ahLst/>
            <a:cxnLst/>
            <a:rect l="l" t="t" r="r" b="b"/>
            <a:pathLst>
              <a:path w="5920619" h="2130951" extrusionOk="0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5097839" y="0"/>
            <a:ext cx="7094160" cy="2130952"/>
          </a:xfrm>
          <a:custGeom>
            <a:avLst/>
            <a:gdLst/>
            <a:ahLst/>
            <a:cxnLst/>
            <a:rect l="l" t="t" r="r" b="b"/>
            <a:pathLst>
              <a:path w="7094160" h="2130952" extrusionOk="0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 flipH="1">
            <a:off x="6149721" y="4682920"/>
            <a:ext cx="4522796" cy="2175080"/>
          </a:xfrm>
          <a:custGeom>
            <a:avLst/>
            <a:gdLst/>
            <a:ahLst/>
            <a:cxnLst/>
            <a:rect l="l" t="t" r="r" b="b"/>
            <a:pathLst>
              <a:path w="4522796" h="2175080" extrusionOk="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266810" y="4682920"/>
            <a:ext cx="5925190" cy="2175080"/>
          </a:xfrm>
          <a:custGeom>
            <a:avLst/>
            <a:gdLst/>
            <a:ahLst/>
            <a:cxnLst/>
            <a:rect l="l" t="t" r="r" b="b"/>
            <a:pathLst>
              <a:path w="5925190" h="2175080" extrusionOk="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0" y="4682920"/>
            <a:ext cx="7114535" cy="2175080"/>
          </a:xfrm>
          <a:custGeom>
            <a:avLst/>
            <a:gdLst/>
            <a:ahLst/>
            <a:cxnLst/>
            <a:rect l="l" t="t" r="r" b="b"/>
            <a:pathLst>
              <a:path w="7114535" h="2175080" extrusionOk="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04035-F71C-D590-E9D4-1B0F320FA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Language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54C0E-8700-06A4-CB6D-4858B4F40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Auto-regressive language generation assumes that the probability distribution of a word sequence can be decomposed into the product of conditional next word distributions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938791-FEA8-C881-A503-C594E829D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130" y="3308202"/>
            <a:ext cx="7657232" cy="205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80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LSTMs can be used for other sequence tasks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776644" y="6424819"/>
            <a:ext cx="4751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http://</a:t>
            </a:r>
            <a:r>
              <a:rPr lang="en-US" b="1" dirty="0" err="1"/>
              <a:t>karpathy.github.io</a:t>
            </a:r>
            <a:r>
              <a:rPr lang="en-US" b="1" dirty="0"/>
              <a:t>/2015/05/21/</a:t>
            </a:r>
            <a:r>
              <a:rPr lang="en-US" b="1" dirty="0" err="1"/>
              <a:t>rnn</a:t>
            </a:r>
            <a:r>
              <a:rPr lang="en-US" b="1" dirty="0"/>
              <a:t>-effectiveness/</a:t>
            </a:r>
          </a:p>
        </p:txBody>
      </p:sp>
      <p:pic>
        <p:nvPicPr>
          <p:cNvPr id="7" name="Picture 6" descr="Screen Shot 2016-04-10 at 7.55.56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4"/>
          <a:stretch/>
        </p:blipFill>
        <p:spPr>
          <a:xfrm>
            <a:off x="2193039" y="2335578"/>
            <a:ext cx="7805923" cy="29948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60191" y="1689246"/>
            <a:ext cx="1544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sequence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9707" y="1873913"/>
            <a:ext cx="1544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6543" y="1760063"/>
            <a:ext cx="1544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named entity 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6168" y="1707831"/>
            <a:ext cx="1544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captioning</a:t>
            </a:r>
          </a:p>
        </p:txBody>
      </p:sp>
    </p:spTree>
    <p:extLst>
      <p:ext uri="{BB962C8B-B14F-4D97-AF65-F5344CB8AC3E}">
        <p14:creationId xmlns:p14="http://schemas.microsoft.com/office/powerpoint/2010/main" val="631591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Character-level language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76644" y="6424819"/>
            <a:ext cx="4751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http://</a:t>
            </a:r>
            <a:r>
              <a:rPr lang="en-US" b="1" dirty="0" err="1"/>
              <a:t>karpathy.github.io</a:t>
            </a:r>
            <a:r>
              <a:rPr lang="en-US" b="1" dirty="0"/>
              <a:t>/2015/05/21/</a:t>
            </a:r>
            <a:r>
              <a:rPr lang="en-US" b="1" dirty="0" err="1"/>
              <a:t>rnn</a:t>
            </a:r>
            <a:r>
              <a:rPr lang="en-US" b="1" dirty="0"/>
              <a:t>-effectiveness/</a:t>
            </a:r>
          </a:p>
        </p:txBody>
      </p:sp>
      <p:pic>
        <p:nvPicPr>
          <p:cNvPr id="4" name="Picture 3" descr="Screen Shot 2016-04-10 at 7.58.3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865" y="1181101"/>
            <a:ext cx="6392353" cy="49641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86218" y="2097941"/>
            <a:ext cx="212458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time: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pick a seed character sequence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generate the next character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then the next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then the next …</a:t>
            </a:r>
          </a:p>
        </p:txBody>
      </p:sp>
    </p:spTree>
    <p:extLst>
      <p:ext uri="{BB962C8B-B14F-4D97-AF65-F5344CB8AC3E}">
        <p14:creationId xmlns:p14="http://schemas.microsoft.com/office/powerpoint/2010/main" val="3519448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AFAD6-E1B0-4254-B56A-556F60B7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Encoder-Decoder Transformer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5A7F5-0A8D-4961-8E77-83FC8AC2A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111" y="1329508"/>
            <a:ext cx="8401778" cy="419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96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B02AA-2FCB-91B7-DE3F-512B9191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Decoder Only</a:t>
            </a:r>
          </a:p>
        </p:txBody>
      </p:sp>
      <p:pic>
        <p:nvPicPr>
          <p:cNvPr id="5" name="Picture 4" descr="A diagram of a program&#10;&#10;Description automatically generated">
            <a:extLst>
              <a:ext uri="{FF2B5EF4-FFF2-40B4-BE49-F238E27FC236}">
                <a16:creationId xmlns:a16="http://schemas.microsoft.com/office/drawing/2014/main" id="{F3CE9AA0-D6BD-6539-D389-A585BEBF2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576" y="933855"/>
            <a:ext cx="9973288" cy="543633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02296FF-E635-08DC-9783-B904B29E297E}"/>
              </a:ext>
            </a:extLst>
          </p:cNvPr>
          <p:cNvSpPr/>
          <p:nvPr/>
        </p:nvSpPr>
        <p:spPr>
          <a:xfrm>
            <a:off x="4577974" y="2609691"/>
            <a:ext cx="1946246" cy="3643772"/>
          </a:xfrm>
          <a:prstGeom prst="rect">
            <a:avLst/>
          </a:prstGeom>
          <a:solidFill>
            <a:schemeClr val="bg1">
              <a:lumMod val="8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AEEE99C-24AC-06FC-06C5-E58444BFB4F0}"/>
              </a:ext>
            </a:extLst>
          </p:cNvPr>
          <p:cNvSpPr/>
          <p:nvPr/>
        </p:nvSpPr>
        <p:spPr>
          <a:xfrm>
            <a:off x="9886674" y="1187765"/>
            <a:ext cx="572869" cy="381913"/>
          </a:xfrm>
          <a:prstGeom prst="ellipse">
            <a:avLst/>
          </a:prstGeom>
          <a:ln/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4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5B996-8FC3-6CB9-1CD9-9BB9AA98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FB631-095F-CBBB-CB86-D671C7AFD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808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GPT: Text generation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59" y="1754317"/>
            <a:ext cx="10058400" cy="35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47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generation using </a:t>
            </a:r>
            <a:r>
              <a:rPr lang="en-US" dirty="0" err="1"/>
              <a:t>GPTx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can we control content generation with an unconditioned language model?</a:t>
            </a:r>
          </a:p>
          <a:p>
            <a:pPr lvl="1"/>
            <a:r>
              <a:rPr lang="en-US" dirty="0"/>
              <a:t>We use different sampling techniques</a:t>
            </a:r>
          </a:p>
        </p:txBody>
      </p:sp>
    </p:spTree>
    <p:extLst>
      <p:ext uri="{BB962C8B-B14F-4D97-AF65-F5344CB8AC3E}">
        <p14:creationId xmlns:p14="http://schemas.microsoft.com/office/powerpoint/2010/main" val="459063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generation: Greedy decoding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3868" y="1023938"/>
            <a:ext cx="11320465" cy="5237162"/>
          </a:xfrm>
        </p:spPr>
        <p:txBody>
          <a:bodyPr/>
          <a:lstStyle/>
          <a:p>
            <a:r>
              <a:rPr lang="en-US" dirty="0"/>
              <a:t>Greedy decoding: Always pick the next token with the </a:t>
            </a:r>
            <a:r>
              <a:rPr lang="en-US" i="1" dirty="0"/>
              <a:t>highest</a:t>
            </a:r>
            <a:r>
              <a:rPr lang="en-US" dirty="0"/>
              <a:t> probability </a:t>
            </a:r>
          </a:p>
          <a:p>
            <a:endParaRPr lang="en-US" dirty="0"/>
          </a:p>
        </p:txBody>
      </p:sp>
      <p:pic>
        <p:nvPicPr>
          <p:cNvPr id="4098" name="Picture 2" descr="greedy se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5969" y="2287350"/>
            <a:ext cx="4647020" cy="3833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198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019EE-2513-1887-000B-07A97C3BB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Problems of Greedy Decoding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A6E3B-4342-3E05-016B-28A065D13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generated words following the context are reasonable for greedy decoding.</a:t>
            </a:r>
          </a:p>
          <a:p>
            <a:r>
              <a:rPr lang="en-US" dirty="0"/>
              <a:t>But the model quickly starts repeating itself! </a:t>
            </a:r>
          </a:p>
          <a:p>
            <a:pPr lvl="1"/>
            <a:r>
              <a:rPr lang="en-US" dirty="0"/>
              <a:t>This is a very common problem in language generation in general and even more so in greedy and beam searches.</a:t>
            </a:r>
          </a:p>
          <a:p>
            <a:r>
              <a:rPr lang="en-US" dirty="0"/>
              <a:t>Another major drawback of greedy decoding is it misses high-probability words hidden behind a low-probability word</a:t>
            </a:r>
          </a:p>
          <a:p>
            <a:r>
              <a:rPr lang="en-US" dirty="0"/>
              <a:t>The word  "has“ with its high conditional probability of  0.9, is hidden behind the word "dog,” which has only the second-highest conditional probability, so that greedy search misses the word sequence  "The", "dog", "has"</a:t>
            </a:r>
          </a:p>
        </p:txBody>
      </p:sp>
    </p:spTree>
    <p:extLst>
      <p:ext uri="{BB962C8B-B14F-4D97-AF65-F5344CB8AC3E}">
        <p14:creationId xmlns:p14="http://schemas.microsoft.com/office/powerpoint/2010/main" val="2964461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generation: Beam search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Beam search reduces the risk of missing hidden high probability word sequences by keeping the most likely </a:t>
            </a:r>
            <a:r>
              <a:rPr lang="en-US" dirty="0" err="1"/>
              <a:t>num_beams</a:t>
            </a:r>
            <a:r>
              <a:rPr lang="en-US" dirty="0"/>
              <a:t> of hypotheses at each time step and eventually choosing the hypothesis that has the overall highest probability. Let's illustrate with </a:t>
            </a:r>
            <a:r>
              <a:rPr lang="en-US" dirty="0" err="1"/>
              <a:t>num_beams</a:t>
            </a:r>
            <a:r>
              <a:rPr lang="en-US" dirty="0"/>
              <a:t>=2:</a:t>
            </a:r>
          </a:p>
        </p:txBody>
      </p:sp>
      <p:pic>
        <p:nvPicPr>
          <p:cNvPr id="5122" name="Picture 2" descr="beam se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094" y="2892445"/>
            <a:ext cx="3809935" cy="3143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8670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8433-8C96-3122-116E-03AA8D49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Beam Decoding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2F4A6-146A-C4BD-7BA6-BD48F8875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Besides the most likely hypothesis ("</a:t>
            </a:r>
            <a:r>
              <a:rPr lang="en-US" dirty="0" err="1"/>
              <a:t>The","nice</a:t>
            </a:r>
            <a:r>
              <a:rPr lang="en-US" dirty="0"/>
              <a:t>"), beam search also keeps track of the other probable sequences ordered by probability </a:t>
            </a:r>
            <a:r>
              <a:rPr lang="en-US" dirty="0" err="1"/>
              <a:t>vaulues</a:t>
            </a:r>
            <a:r>
              <a:rPr lang="en-US" dirty="0"/>
              <a:t> [here second most likely one ("</a:t>
            </a:r>
            <a:r>
              <a:rPr lang="en-US" dirty="0" err="1"/>
              <a:t>The","dog</a:t>
            </a:r>
            <a:r>
              <a:rPr lang="en-US" dirty="0"/>
              <a:t>")]. </a:t>
            </a:r>
          </a:p>
          <a:p>
            <a:r>
              <a:rPr lang="en-US" dirty="0"/>
              <a:t>In the previous example, beam search finds that the word sequence ("</a:t>
            </a:r>
            <a:r>
              <a:rPr lang="en-US" dirty="0" err="1"/>
              <a:t>The","dog","has</a:t>
            </a:r>
            <a:r>
              <a:rPr lang="en-US" dirty="0"/>
              <a:t>"), has a probability of 0.36 </a:t>
            </a:r>
          </a:p>
          <a:p>
            <a:pPr lvl="1"/>
            <a:r>
              <a:rPr lang="en-US" dirty="0"/>
              <a:t>Higher probability than ("</a:t>
            </a:r>
            <a:r>
              <a:rPr lang="en-US" dirty="0" err="1"/>
              <a:t>The","nice","woman</a:t>
            </a:r>
            <a:r>
              <a:rPr lang="en-US" dirty="0"/>
              <a:t>"), which has 0.2 </a:t>
            </a:r>
          </a:p>
          <a:p>
            <a:r>
              <a:rPr lang="en-US" dirty="0"/>
              <a:t>Beam search will almost always find an output sequence with a higher probability than greedy search but is not guaranteed to find the most likely output.</a:t>
            </a:r>
          </a:p>
          <a:p>
            <a:r>
              <a:rPr lang="en-US" dirty="0"/>
              <a:t>While the text generated usually are fluent, the output will eventually include repetitions of identical word sequences.</a:t>
            </a:r>
          </a:p>
          <a:p>
            <a:pPr lvl="1"/>
            <a:r>
              <a:rPr lang="en-US" dirty="0"/>
              <a:t>A simple remedy is introducing n-grams penalties. </a:t>
            </a:r>
          </a:p>
          <a:p>
            <a:pPr lvl="1"/>
            <a:r>
              <a:rPr lang="en-US" dirty="0"/>
              <a:t>The most common n-gram penalty ensures that no n-gram appears twice by manually setting the probability of the following words that could create an already seen n-gram to 0.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09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Beam Decoding vs Greedy Decoding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Greedy Search considers each position in isolation </a:t>
            </a:r>
          </a:p>
          <a:p>
            <a:pPr lvl="1"/>
            <a:r>
              <a:rPr lang="en-US" dirty="0"/>
              <a:t>After identifying the best word for that position, it does not examine what comes before it (</a:t>
            </a:r>
            <a:r>
              <a:rPr lang="en-US" dirty="0" err="1"/>
              <a:t>ie</a:t>
            </a:r>
            <a:r>
              <a:rPr lang="en-US" dirty="0"/>
              <a:t>. in the previous position), or after it. </a:t>
            </a:r>
          </a:p>
          <a:p>
            <a:r>
              <a:rPr lang="en-US" dirty="0"/>
              <a:t>In contrast, Beam Search picks the ’N’ best sequences so far and considers the probabilities of the combination of all of the preceding words along with the word in the current position.</a:t>
            </a:r>
          </a:p>
        </p:txBody>
      </p:sp>
    </p:spTree>
    <p:extLst>
      <p:ext uri="{BB962C8B-B14F-4D97-AF65-F5344CB8AC3E}">
        <p14:creationId xmlns:p14="http://schemas.microsoft.com/office/powerpoint/2010/main" val="4218314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generation: Sampling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its most basic form, sampling means randomly picking the next word  </a:t>
            </a:r>
            <a:r>
              <a:rPr lang="en-US" i="1" dirty="0"/>
              <a:t>w</a:t>
            </a:r>
            <a:r>
              <a:rPr lang="en-US" i="1" baseline="-25000" dirty="0"/>
              <a:t>t</a:t>
            </a:r>
            <a:r>
              <a:rPr lang="en-US" dirty="0"/>
              <a:t>  according to its conditional probability distribution</a:t>
            </a:r>
          </a:p>
        </p:txBody>
      </p:sp>
      <p:pic>
        <p:nvPicPr>
          <p:cNvPr id="6146" name="Picture 2" descr="sampling se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733" y="3573625"/>
            <a:ext cx="896302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955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D6483-1385-C17D-1A6C-3E247FB55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Sampling Decoding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EC369-0583-31E1-9FA7-DE039603F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obvious that language generation using sampling is not deterministic anymore. </a:t>
            </a:r>
          </a:p>
          <a:p>
            <a:r>
              <a:rPr lang="en-US" dirty="0"/>
              <a:t>The word ("car") is sampled from the conditioned probability distribution P(</a:t>
            </a:r>
            <a:r>
              <a:rPr lang="en-US" dirty="0" err="1"/>
              <a:t>w∣"The</a:t>
            </a:r>
            <a:r>
              <a:rPr lang="en-US" dirty="0"/>
              <a:t>"), followed by sampling ("drives") from P(</a:t>
            </a:r>
            <a:r>
              <a:rPr lang="en-US" dirty="0" err="1"/>
              <a:t>w∣"The","car</a:t>
            </a:r>
            <a:r>
              <a:rPr lang="en-US" dirty="0"/>
              <a:t>").</a:t>
            </a:r>
          </a:p>
        </p:txBody>
      </p:sp>
    </p:spTree>
    <p:extLst>
      <p:ext uri="{BB962C8B-B14F-4D97-AF65-F5344CB8AC3E}">
        <p14:creationId xmlns:p14="http://schemas.microsoft.com/office/powerpoint/2010/main" val="1948570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generation: Top-K sampling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Top-K sampling, the K most likely next words are filtered, and the probability mass is redistributed among only those K next words. </a:t>
            </a:r>
          </a:p>
          <a:p>
            <a:r>
              <a:rPr lang="en-US" dirty="0"/>
              <a:t>GPT2 uses this sampling scheme, which was one of the reasons for its success in story generation.</a:t>
            </a:r>
          </a:p>
        </p:txBody>
      </p:sp>
      <p:pic>
        <p:nvPicPr>
          <p:cNvPr id="7170" name="Picture 2" descr="Top K sampl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951" y="3214484"/>
            <a:ext cx="6835064" cy="2983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813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5A3EC-1AFD-78EC-DDB9-89095BA0A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Top-k Sampling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BE59C-65A1-0C8F-03E8-51C0862E0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generated text is very much human-sounding. </a:t>
            </a:r>
          </a:p>
          <a:p>
            <a:r>
              <a:rPr lang="en-US" dirty="0"/>
              <a:t>One concern with Top-K sampling is that it does not dynamically adapt the number of words that are filtered from the next word probability distribution. </a:t>
            </a:r>
          </a:p>
          <a:p>
            <a:pPr lvl="1"/>
            <a:r>
              <a:rPr lang="en-US" dirty="0"/>
              <a:t>This can be problematic as some words might be sampled from a very sharp distribution, whereas others from a much flatter.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821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Top-p (nucleus) sampling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sampling only from the most likely K words, in Top-p sampling chooses from the smallest possible set of words whose cumulative probability exceeds the probability p</a:t>
            </a:r>
          </a:p>
        </p:txBody>
      </p:sp>
      <p:pic>
        <p:nvPicPr>
          <p:cNvPr id="4" name="Picture 2" descr="Top p sampl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354" y="2882673"/>
            <a:ext cx="6518274" cy="283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009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F405-763C-FFAA-861D-01D43538F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Top-p nucleus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1C9F7-7F83-23A1-6440-3173B92E9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probability mass is redistributed after every step. </a:t>
            </a:r>
          </a:p>
          <a:p>
            <a:r>
              <a:rPr lang="en-US" dirty="0"/>
              <a:t>This way, the size of the set of words (the number of words in the set) can dynamically increase and decrease according to the next word's probability distribution.</a:t>
            </a:r>
          </a:p>
          <a:p>
            <a:r>
              <a:rPr lang="en-US" dirty="0"/>
              <a:t>While in theory, Top-p seems more elegant than Top-K, both methods work well in practice. </a:t>
            </a:r>
          </a:p>
          <a:p>
            <a:pPr lvl="1"/>
            <a:r>
              <a:rPr lang="en-US" dirty="0"/>
              <a:t>Top-p can also be combined with Top-K, which can avoid very low-ranked words while allowing for some dynamic selection.</a:t>
            </a:r>
          </a:p>
        </p:txBody>
      </p:sp>
    </p:spTree>
    <p:extLst>
      <p:ext uri="{BB962C8B-B14F-4D97-AF65-F5344CB8AC3E}">
        <p14:creationId xmlns:p14="http://schemas.microsoft.com/office/powerpoint/2010/main" val="1205031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8B07A-F22F-DD92-D58D-80E4DC04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Text decoding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C74C5-DE4A-949D-4EE9-B3D8CFD25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top-p and top-K sampling produce more fluent text than traditional greedy and beam search on open-ended language generation. </a:t>
            </a:r>
          </a:p>
          <a:p>
            <a:r>
              <a:rPr lang="en-US" dirty="0"/>
              <a:t>The main issues with greedy and beam search – they generate repetitive word sequences</a:t>
            </a:r>
          </a:p>
          <a:p>
            <a:r>
              <a:rPr lang="en-US" dirty="0"/>
              <a:t>However, recent research found that this issue is caused by the model (especially how the model is trained) rather than the decoding method</a:t>
            </a:r>
          </a:p>
          <a:p>
            <a:r>
              <a:rPr lang="en-US" dirty="0"/>
              <a:t>Also, there are scenarios where top-K and top-p sampling suffer from generating repetitive word sequences.</a:t>
            </a:r>
          </a:p>
          <a:p>
            <a:r>
              <a:rPr lang="en-US" dirty="0"/>
              <a:t>According to human evaluations, beam search can generate more fluent text than Top-p sampling when adapting the model's training objective.</a:t>
            </a:r>
          </a:p>
        </p:txBody>
      </p:sp>
    </p:spTree>
    <p:extLst>
      <p:ext uri="{BB962C8B-B14F-4D97-AF65-F5344CB8AC3E}">
        <p14:creationId xmlns:p14="http://schemas.microsoft.com/office/powerpoint/2010/main" val="2797062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Temperature parameter in decoding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Temperature is a parameter ranging from 0 to 1, which defines the randomness of decoding responses. </a:t>
            </a:r>
          </a:p>
          <a:p>
            <a:pPr lvl="1"/>
            <a:r>
              <a:rPr lang="en-US" dirty="0"/>
              <a:t>The higher the temperature, the more diverse and creative the output would be. </a:t>
            </a:r>
          </a:p>
          <a:p>
            <a:pPr lvl="1"/>
            <a:r>
              <a:rPr lang="en-US" dirty="0"/>
              <a:t>When the temperature is low, an LLM will deliver more conservative and deterministic results.</a:t>
            </a:r>
          </a:p>
          <a:p>
            <a:r>
              <a:rPr lang="en-US" dirty="0"/>
              <a:t>For example, when the temperature is set to zero, an LLM will produce the same output over and over again when given the same prompt. </a:t>
            </a:r>
          </a:p>
          <a:p>
            <a:r>
              <a:rPr lang="en-US" dirty="0"/>
              <a:t>As the temperature parameter is raised, an LLM becomes more creative and offers more diverse outputs. </a:t>
            </a:r>
          </a:p>
          <a:p>
            <a:r>
              <a:rPr lang="en-US" dirty="0"/>
              <a:t>However, when the temperature gets too high, the output can lose meaning and become erratic or nonsensical. </a:t>
            </a:r>
          </a:p>
        </p:txBody>
      </p:sp>
    </p:spTree>
    <p:extLst>
      <p:ext uri="{BB962C8B-B14F-4D97-AF65-F5344CB8AC3E}">
        <p14:creationId xmlns:p14="http://schemas.microsoft.com/office/powerpoint/2010/main" val="2310993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Temperature and top-p/k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low temperature with a high top-p can lead to coherent text with creative touches </a:t>
            </a:r>
          </a:p>
          <a:p>
            <a:pPr lvl="1"/>
            <a:r>
              <a:rPr lang="en-US" dirty="0"/>
              <a:t>Answers are usually logical and consistent because of the low temperature, but they can still have rich vocabulary and ideas due to the high top-p</a:t>
            </a:r>
          </a:p>
          <a:p>
            <a:pPr lvl="1"/>
            <a:r>
              <a:rPr lang="en-US" dirty="0"/>
              <a:t>This setup is good for educational or informative texts where clarity is crucial, but we also want to keep the reader’s interest</a:t>
            </a:r>
          </a:p>
          <a:p>
            <a:r>
              <a:rPr lang="en-US" dirty="0"/>
              <a:t>On the other hand, a high temperature with a low top-p might generate common words put together in unpredictable ways</a:t>
            </a:r>
          </a:p>
          <a:p>
            <a:pPr lvl="1"/>
            <a:r>
              <a:rPr lang="en-US" dirty="0"/>
              <a:t>This opposite setting often results in texts where sentences may make sense on their own but as a whole seem disconnected or less logical</a:t>
            </a:r>
          </a:p>
          <a:p>
            <a:pPr lvl="1"/>
            <a:r>
              <a:rPr lang="en-US" dirty="0"/>
              <a:t>The high temperature allows more variation in sentence building, while the low top-p limits word choices to the most likely ones</a:t>
            </a:r>
          </a:p>
          <a:p>
            <a:pPr lvl="1"/>
            <a:r>
              <a:rPr lang="en-US" dirty="0"/>
              <a:t>This can be useful in creative settings where we want unexpected results or to spark new ideas with unusual concept combinations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88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adapt X-Decoders to downstream tasks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summarization: We can fine tune </a:t>
            </a:r>
            <a:r>
              <a:rPr lang="en-US" dirty="0" err="1"/>
              <a:t>GPTx</a:t>
            </a:r>
            <a:r>
              <a:rPr lang="en-US" dirty="0"/>
              <a:t> with the text and then start text generation </a:t>
            </a:r>
          </a:p>
          <a:p>
            <a:pPr lvl="1"/>
            <a:r>
              <a:rPr lang="en-US" dirty="0"/>
              <a:t>For example, we can generate 100 tokens with Top-k random sampling with k = 2 which reduces repetition and encourages more abstractive summaries than greedy decoding</a:t>
            </a:r>
          </a:p>
          <a:p>
            <a:pPr lvl="1"/>
            <a:r>
              <a:rPr lang="en-US" dirty="0"/>
              <a:t>We use the first 3 generated sentences in these 100 tokens as the summary</a:t>
            </a:r>
          </a:p>
          <a:p>
            <a:r>
              <a:rPr lang="en-US" dirty="0"/>
              <a:t>Q/A: We can fine-tune the model using questions-answers pairs (separated by special tokens)</a:t>
            </a:r>
          </a:p>
          <a:p>
            <a:pPr lvl="1"/>
            <a:r>
              <a:rPr lang="en-US" dirty="0"/>
              <a:t>Then input the question followed by the separator</a:t>
            </a:r>
          </a:p>
          <a:p>
            <a:pPr lvl="1"/>
            <a:r>
              <a:rPr lang="en-US" dirty="0"/>
              <a:t>The model will generate answers </a:t>
            </a:r>
          </a:p>
        </p:txBody>
      </p:sp>
    </p:spTree>
    <p:extLst>
      <p:ext uri="{BB962C8B-B14F-4D97-AF65-F5344CB8AC3E}">
        <p14:creationId xmlns:p14="http://schemas.microsoft.com/office/powerpoint/2010/main" val="3498220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cd04cee-d56a-427f-9d20-a2ddbaad1b8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8F25371BF2364E9237A48B420CBFE6" ma:contentTypeVersion="10" ma:contentTypeDescription="Create a new document." ma:contentTypeScope="" ma:versionID="11f3563726280dad668e084657328117">
  <xsd:schema xmlns:xsd="http://www.w3.org/2001/XMLSchema" xmlns:xs="http://www.w3.org/2001/XMLSchema" xmlns:p="http://schemas.microsoft.com/office/2006/metadata/properties" xmlns:ns3="acd04cee-d56a-427f-9d20-a2ddbaad1b8a" targetNamespace="http://schemas.microsoft.com/office/2006/metadata/properties" ma:root="true" ma:fieldsID="b1849ebb73de6034d7fc53653df836e2" ns3:_="">
    <xsd:import namespace="acd04cee-d56a-427f-9d20-a2ddbaad1b8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d04cee-d56a-427f-9d20-a2ddbaad1b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E2F72C-99BE-4B21-B918-011E7062C129}">
  <ds:schemaRefs>
    <ds:schemaRef ds:uri="acd04cee-d56a-427f-9d20-a2ddbaad1b8a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F3C78D5-D634-4BF8-A828-2419F0DABF46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acd04cee-d56a-427f-9d20-a2ddbaad1b8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402CA17-E189-455E-A748-56D98F90584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3485</TotalTime>
  <Words>1310</Words>
  <Application>Microsoft Office PowerPoint</Application>
  <PresentationFormat>Widescreen</PresentationFormat>
  <Paragraphs>92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CSE 495 (Natural Language Processing) Lecture 10</vt:lpstr>
      <vt:lpstr>Language Model</vt:lpstr>
      <vt:lpstr>LSTMs can be used for other sequence tasks</vt:lpstr>
      <vt:lpstr>Character-level language model</vt:lpstr>
      <vt:lpstr>Encoder-Decoder Transformer</vt:lpstr>
      <vt:lpstr>Decoder Only</vt:lpstr>
      <vt:lpstr>PowerPoint Presentation</vt:lpstr>
      <vt:lpstr>GPT: Text generation</vt:lpstr>
      <vt:lpstr>Text generation using GPTx</vt:lpstr>
      <vt:lpstr>Text generation: Greedy decoding</vt:lpstr>
      <vt:lpstr>Problems of Greedy Decoding</vt:lpstr>
      <vt:lpstr>Text generation: Beam search</vt:lpstr>
      <vt:lpstr>Beam Decoding</vt:lpstr>
      <vt:lpstr>Beam Decoding vs Greedy Decoding</vt:lpstr>
      <vt:lpstr>Text generation: Sampling</vt:lpstr>
      <vt:lpstr>Sampling Decoding</vt:lpstr>
      <vt:lpstr>Text generation: Top-K sampling</vt:lpstr>
      <vt:lpstr>Top-k Sampling</vt:lpstr>
      <vt:lpstr>Top-p (nucleus) sampling</vt:lpstr>
      <vt:lpstr>Top-p nucleus </vt:lpstr>
      <vt:lpstr>Text decoding conclusion</vt:lpstr>
      <vt:lpstr>Temperature parameter in decoding</vt:lpstr>
      <vt:lpstr>Temperature and top-p/k</vt:lpstr>
      <vt:lpstr>How to adapt X-Decoders to downstream tasks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495 (Natural Language Processing) Lecture 2</dc:title>
  <dc:creator>Mohammad Khan</dc:creator>
  <cp:lastModifiedBy>Mohammad Khan</cp:lastModifiedBy>
  <cp:revision>66</cp:revision>
  <dcterms:created xsi:type="dcterms:W3CDTF">2018-11-03T12:07:21Z</dcterms:created>
  <dcterms:modified xsi:type="dcterms:W3CDTF">2025-12-02T16:10:18Z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0x010100688F25371BF2364E9237A48B420CBFE6</vt:lpwstr>
  </property>
</Properties>
</file>