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17" r:id="rId13"/>
    <p:sldId id="323" r:id="rId14"/>
    <p:sldId id="383" r:id="rId15"/>
    <p:sldId id="385" r:id="rId16"/>
    <p:sldId id="384" r:id="rId17"/>
    <p:sldId id="326" r:id="rId18"/>
    <p:sldId id="318" r:id="rId19"/>
    <p:sldId id="319" r:id="rId20"/>
    <p:sldId id="386" r:id="rId21"/>
    <p:sldId id="321" r:id="rId22"/>
    <p:sldId id="322" r:id="rId23"/>
    <p:sldId id="376" r:id="rId24"/>
    <p:sldId id="377" r:id="rId25"/>
    <p:sldId id="378" r:id="rId26"/>
    <p:sldId id="379" r:id="rId27"/>
    <p:sldId id="380" r:id="rId28"/>
    <p:sldId id="397" r:id="rId29"/>
    <p:sldId id="396" r:id="rId30"/>
    <p:sldId id="381" r:id="rId31"/>
    <p:sldId id="382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4" roundtripDataSignature="AMtx7miLAPrl4d+V1IstkCCj/PL+6qt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4265A-5884-3B7D-8805-FAF922E41327}" v="3" dt="2025-11-10T10:36:43.677"/>
  </p1510:revLst>
</p1510:revInfo>
</file>

<file path=ppt/tableStyles.xml><?xml version="1.0" encoding="utf-8"?>
<a:tblStyleLst xmlns:a="http://schemas.openxmlformats.org/drawingml/2006/main" def="{E1EA1CD8-9A49-4420-9597-29AC4BAAC592}">
  <a:tblStyle styleId="{E1EA1CD8-9A49-4420-9597-29AC4BAAC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74" Type="http://customschemas.google.com/relationships/presentationmetadata" Target="metadata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8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58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4800" dirty="0"/>
              <a:t>CSE 495B(Natural Language Processing)</a:t>
            </a:r>
            <a:br>
              <a:rPr lang="en-US" sz="4800" dirty="0"/>
            </a:br>
            <a:r>
              <a:rPr lang="en-US" sz="4800" dirty="0"/>
              <a:t>Lecture 8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SzPts val="2000"/>
            </a:pPr>
            <a:r>
              <a:rPr lang="en-US" sz="2000"/>
              <a:t>Use Self-Attention to Neural Networks: Attention is all you need</a:t>
            </a:r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DC79-EE7D-8EA4-C86B-FDE49375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Multiple types of context</a:t>
            </a:r>
          </a:p>
        </p:txBody>
      </p:sp>
      <p:pic>
        <p:nvPicPr>
          <p:cNvPr id="4" name="Picture 3" descr="A drawing of a person&amp;#39;s hand&#10;&#10;AI-generated content may be incorrect.">
            <a:extLst>
              <a:ext uri="{FF2B5EF4-FFF2-40B4-BE49-F238E27FC236}">
                <a16:creationId xmlns:a16="http://schemas.microsoft.com/office/drawing/2014/main" id="{2D83D957-925A-0B33-C174-D2974FE0E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117600"/>
            <a:ext cx="8543925" cy="1828800"/>
          </a:xfrm>
          <a:prstGeom prst="rect">
            <a:avLst/>
          </a:prstGeom>
        </p:spPr>
      </p:pic>
      <p:pic>
        <p:nvPicPr>
          <p:cNvPr id="5" name="Picture 4" descr="A group of arrows pointing to different languages&#10;&#10;AI-generated content may be incorrect.">
            <a:extLst>
              <a:ext uri="{FF2B5EF4-FFF2-40B4-BE49-F238E27FC236}">
                <a16:creationId xmlns:a16="http://schemas.microsoft.com/office/drawing/2014/main" id="{A32C8DC1-8B53-323F-0788-06898D5A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233" y="3516539"/>
            <a:ext cx="5288643" cy="275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EBC7-2C2E-1D6D-1184-5741F61D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Attention: Projection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81AB2-49E3-F583-429D-DB766035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4964035" cy="52371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first step in self-attention is to create vectors from the embedding of each word. </a:t>
            </a:r>
          </a:p>
          <a:p>
            <a:r>
              <a:rPr lang="en-US" dirty="0"/>
              <a:t>From each word, create a Query vector, a Key vector, and a Value vector. </a:t>
            </a:r>
            <a:endParaRPr lang="en-US"/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These vectors are created by multiplying the embedding by three matrices that we trained previously.</a:t>
            </a:r>
          </a:p>
          <a:p>
            <a:r>
              <a:rPr lang="en-US" dirty="0"/>
              <a:t>These new vectors are smaller in dimension than the embedding vector. 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Their dimensionality is 64, while the embedding and encoder input/output vectors have dimensionality of 512. 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D2026E-DAE0-9A33-309A-03808E202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597" y="1851467"/>
            <a:ext cx="6201786" cy="394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2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9147-D0EE-3431-5A5D-9456B3AF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Attention: The (concept) weight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9DCF7-C7EE-6340-0A90-FDFAAB4B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436" y="1129084"/>
            <a:ext cx="5407731" cy="5237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second step in self-attention is to calculate a score/weight. </a:t>
            </a:r>
          </a:p>
          <a:p>
            <a:r>
              <a:rPr lang="en-US" dirty="0"/>
              <a:t>Say we’re calculating the self-attention for the first word in this example, “Thinking”. </a:t>
            </a:r>
            <a:endParaRPr lang="en-US"/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We need to score each word of the input sentence against this word. 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The score determines how much focus to place on other parts of the input sentence as we encode a word at a certain position.</a:t>
            </a:r>
          </a:p>
          <a:p>
            <a:r>
              <a:rPr lang="en-US" dirty="0"/>
              <a:t>The score is calculated by taking the dot product of the query vector with the key vector of the respective word. </a:t>
            </a:r>
          </a:p>
          <a:p>
            <a:r>
              <a:rPr lang="en-US" dirty="0"/>
              <a:t>So if we’re processing the self-attention for the word in position #1, the first score would be the dot product of q1 and k1. The second score would be the dot product of q1 and k2.</a:t>
            </a:r>
            <a:endParaRPr lang="en-US"/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3C2FE7CA-9CCC-7A17-9194-128341793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20" y="1504227"/>
            <a:ext cx="6578882" cy="414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5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9885-FA40-729C-7AE7-B1F54628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Attention: Normalizing concept weight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CC8E-E1FB-C223-21CC-5B49A010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4992971" cy="5237162"/>
          </a:xfrm>
        </p:spPr>
        <p:txBody>
          <a:bodyPr>
            <a:normAutofit/>
          </a:bodyPr>
          <a:lstStyle/>
          <a:p>
            <a:r>
              <a:rPr lang="en-US" dirty="0"/>
              <a:t>The third and fourth steps are to divide the scores by the square root of the dimension of the key vectors used. </a:t>
            </a:r>
          </a:p>
          <a:p>
            <a:r>
              <a:rPr lang="en-US" dirty="0"/>
              <a:t>This step ensures more stable gradients. </a:t>
            </a:r>
            <a:endParaRPr lang="en-US"/>
          </a:p>
          <a:p>
            <a:r>
              <a:rPr lang="en-US" dirty="0"/>
              <a:t>Then pass the result through a </a:t>
            </a:r>
            <a:r>
              <a:rPr lang="en-US" err="1"/>
              <a:t>softmax</a:t>
            </a:r>
            <a:r>
              <a:rPr lang="en-US" dirty="0"/>
              <a:t> operation. </a:t>
            </a:r>
          </a:p>
          <a:p>
            <a:r>
              <a:rPr lang="en-US" dirty="0" err="1"/>
              <a:t>Softmax</a:t>
            </a:r>
            <a:r>
              <a:rPr lang="en-US" dirty="0"/>
              <a:t> normalizes the scores so they’re all positive and add up to 1.</a:t>
            </a:r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B330FF6-A351-AD37-829B-A6794EF5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494" y="1928270"/>
            <a:ext cx="5084783" cy="322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F0D5-7428-07A2-0B51-9A1CA837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Attention: New Embedding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C8758-D5C1-4C16-17BE-23B01CD0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4906162" cy="52371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 fifth step is to multiply each value vector by the </a:t>
            </a:r>
            <a:r>
              <a:rPr lang="en-US" err="1"/>
              <a:t>softmax</a:t>
            </a:r>
            <a:r>
              <a:rPr lang="en-US" dirty="0"/>
              <a:t> score (in preparation to sum them up). </a:t>
            </a:r>
            <a:endParaRPr lang="en-US"/>
          </a:p>
          <a:p>
            <a:r>
              <a:rPr lang="en-US" dirty="0"/>
              <a:t>The intuition here is to keep intact the values of the word(s) we want to focus on, and drown-out irrelevant words (by multiplying them by tiny numbers like 0.001, for example).</a:t>
            </a:r>
            <a:endParaRPr lang="en-US"/>
          </a:p>
          <a:p>
            <a:r>
              <a:rPr lang="en-US" dirty="0"/>
              <a:t>The sixth step is to sum up the weighted value vectors. This produces the output of the self-attention layer at this position (for the first word).</a:t>
            </a:r>
          </a:p>
          <a:p>
            <a:pPr marL="11430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AAF46-2EEF-FBC9-6A65-7D5B06651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419" y="1041722"/>
            <a:ext cx="5528074" cy="523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23E8-0DDC-859A-25DA-87424987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Getting Q,K,Vs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2E7E-BB50-20ED-2860-4310263E6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3759842" cy="5237162"/>
          </a:xfrm>
        </p:spPr>
        <p:txBody>
          <a:bodyPr/>
          <a:lstStyle/>
          <a:p>
            <a:r>
              <a:rPr lang="en-US" dirty="0"/>
              <a:t>The first step is to calculate the Query, Key, and Value matrices. </a:t>
            </a:r>
          </a:p>
          <a:p>
            <a:r>
              <a:rPr lang="en-US" dirty="0"/>
              <a:t>We do that by packing our embeddings into a matrix X, and multiplying it by the weight matrices we’ve trained (W</a:t>
            </a:r>
            <a:r>
              <a:rPr lang="en-US" baseline="30000" dirty="0"/>
              <a:t>Q</a:t>
            </a:r>
            <a:r>
              <a:rPr lang="en-US" dirty="0"/>
              <a:t>, W</a:t>
            </a:r>
            <a:r>
              <a:rPr lang="en-US" baseline="30000" dirty="0"/>
              <a:t>K</a:t>
            </a:r>
            <a:r>
              <a:rPr lang="en-US" dirty="0"/>
              <a:t>, W</a:t>
            </a:r>
            <a:r>
              <a:rPr lang="en-US" baseline="30000" dirty="0"/>
              <a:t>V</a:t>
            </a:r>
            <a:r>
              <a:rPr lang="en-US" dirty="0"/>
              <a:t>).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 descr="A screenshot of a math game&#10;&#10;AI-generated content may be incorrect.">
            <a:extLst>
              <a:ext uri="{FF2B5EF4-FFF2-40B4-BE49-F238E27FC236}">
                <a16:creationId xmlns:a16="http://schemas.microsoft.com/office/drawing/2014/main" id="{A329BD8A-CB08-29AD-32D0-082C8AC8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989" y="1118260"/>
            <a:ext cx="5533711" cy="52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8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0B07-1880-1762-DF6E-1D3E41C4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Everything as a Matrix Operation</a:t>
            </a:r>
          </a:p>
        </p:txBody>
      </p:sp>
      <p:pic>
        <p:nvPicPr>
          <p:cNvPr id="5" name="Picture 4" descr="A white background with colorful squares and text&#10;&#10;AI-generated content may be incorrect.">
            <a:extLst>
              <a:ext uri="{FF2B5EF4-FFF2-40B4-BE49-F238E27FC236}">
                <a16:creationId xmlns:a16="http://schemas.microsoft.com/office/drawing/2014/main" id="{E00A261E-128B-1299-EDF6-82A1B5320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8" y="1766887"/>
            <a:ext cx="85058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5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C1E1-BA6B-4AE5-3F08-984C3BF37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Attention is all you need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524E5-59F1-54F6-F35D-D3B1C0A3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74" y="817037"/>
            <a:ext cx="7677939" cy="548073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It is an encoder-decoder architecture</a:t>
            </a:r>
          </a:p>
          <a:p>
            <a:r>
              <a:rPr lang="en-US">
                <a:ea typeface="+mn-lt"/>
                <a:cs typeface="+mn-lt"/>
              </a:rPr>
              <a:t>The input goes through encoder </a:t>
            </a:r>
          </a:p>
          <a:p>
            <a:pPr lvl="1"/>
            <a:r>
              <a:rPr lang="en-US">
                <a:ea typeface="+mn-lt"/>
                <a:cs typeface="+mn-lt"/>
              </a:rPr>
              <a:t>Then through decoder</a:t>
            </a:r>
          </a:p>
          <a:p>
            <a:r>
              <a:rPr lang="en-US">
                <a:ea typeface="+mn-lt"/>
                <a:cs typeface="+mn-lt"/>
              </a:rPr>
              <a:t>On the encoder side</a:t>
            </a:r>
          </a:p>
          <a:p>
            <a:pPr lvl="1"/>
            <a:r>
              <a:rPr lang="en-US">
                <a:ea typeface="+mn-lt"/>
                <a:cs typeface="+mn-lt"/>
              </a:rPr>
              <a:t>Each block has two sublayers</a:t>
            </a:r>
          </a:p>
          <a:p>
            <a:pPr lvl="2"/>
            <a:r>
              <a:rPr lang="en-US" err="1">
                <a:ea typeface="+mn-lt"/>
                <a:cs typeface="+mn-lt"/>
              </a:rPr>
              <a:t>Multihead</a:t>
            </a:r>
            <a:r>
              <a:rPr lang="en-US">
                <a:ea typeface="+mn-lt"/>
                <a:cs typeface="+mn-lt"/>
              </a:rPr>
              <a:t> attention then feedforward</a:t>
            </a:r>
          </a:p>
          <a:p>
            <a:r>
              <a:rPr lang="en-US">
                <a:ea typeface="+mn-lt"/>
                <a:cs typeface="+mn-lt"/>
              </a:rPr>
              <a:t>On the decoder side</a:t>
            </a:r>
          </a:p>
          <a:p>
            <a:pPr lvl="1"/>
            <a:r>
              <a:rPr lang="en-US">
                <a:ea typeface="+mn-lt"/>
                <a:cs typeface="+mn-lt"/>
              </a:rPr>
              <a:t>Each block has three sublayers</a:t>
            </a:r>
          </a:p>
          <a:p>
            <a:pPr lvl="2"/>
            <a:r>
              <a:rPr lang="en-US">
                <a:ea typeface="+mn-lt"/>
                <a:cs typeface="+mn-lt"/>
              </a:rPr>
              <a:t>Two </a:t>
            </a:r>
            <a:r>
              <a:rPr lang="en-US" err="1">
                <a:ea typeface="+mn-lt"/>
                <a:cs typeface="+mn-lt"/>
              </a:rPr>
              <a:t>multihead</a:t>
            </a:r>
            <a:r>
              <a:rPr lang="en-US">
                <a:ea typeface="+mn-lt"/>
                <a:cs typeface="+mn-lt"/>
              </a:rPr>
              <a:t> attention followed by a feedforward layer </a:t>
            </a:r>
          </a:p>
          <a:p>
            <a:pPr lvl="1"/>
            <a:r>
              <a:rPr lang="en-US">
                <a:ea typeface="+mn-lt"/>
                <a:cs typeface="+mn-lt"/>
              </a:rPr>
              <a:t>However, the first MHA layer is similar to the decoder MHA but the second one is different</a:t>
            </a:r>
            <a:endParaRPr lang="en-US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The attention mechanism is a “word to word” operation</a:t>
            </a:r>
          </a:p>
          <a:p>
            <a:pPr lvl="1"/>
            <a:r>
              <a:rPr lang="en-US">
                <a:ea typeface="+mn-lt"/>
                <a:cs typeface="+mn-lt"/>
              </a:rPr>
              <a:t>Token to token operation, but we can think of it at the word level to simplify the explanations </a:t>
            </a:r>
            <a:endParaRPr lang="en-US"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The attention mechanism will find how each word relates to all other words in a sequence, including the word being analyzed</a:t>
            </a:r>
            <a:endParaRPr lang="en-US"/>
          </a:p>
          <a:p>
            <a:endParaRPr lang="en-US">
              <a:cs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3EBF7858-135B-3879-3A55-3498C028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91" y="1282482"/>
            <a:ext cx="3389745" cy="47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7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B17A-E7DA-5B9B-A59E-10A63EA2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Self Attention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F3EC-E793-C7A7-7D9D-879F4E17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Attention is a mechanism that enables neural networks to assign varying levels of importance—or attention—to different elements in a sequence.</a:t>
            </a:r>
            <a:r>
              <a:rPr lang="en-US">
                <a:ea typeface="+mn-lt"/>
                <a:cs typeface="+mn-lt"/>
              </a:rPr>
              <a:t> </a:t>
            </a:r>
            <a:endParaRPr lang="en-US">
              <a:cs typeface="Calibri" panose="020F0502020204030204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Instead of assigning a fixed embedding to each token, the model computes a weighted average of embeddings based on context.</a:t>
            </a:r>
          </a:p>
          <a:p>
            <a:r>
              <a:rPr lang="en-US">
                <a:ea typeface="+mn-lt"/>
                <a:cs typeface="+mn-lt"/>
              </a:rPr>
              <a:t>Given a sequence of token embeddings x</a:t>
            </a:r>
            <a:r>
              <a:rPr lang="en-US" baseline="-25000">
                <a:ea typeface="+mn-lt"/>
                <a:cs typeface="+mn-lt"/>
              </a:rPr>
              <a:t>1</a:t>
            </a:r>
            <a:r>
              <a:rPr lang="en-US">
                <a:ea typeface="+mn-lt"/>
                <a:cs typeface="+mn-lt"/>
              </a:rPr>
              <a:t>, ..., </a:t>
            </a:r>
            <a:r>
              <a:rPr lang="en-US" err="1">
                <a:ea typeface="+mn-lt"/>
                <a:cs typeface="+mn-lt"/>
              </a:rPr>
              <a:t>x</a:t>
            </a:r>
            <a:r>
              <a:rPr lang="en-US" baseline="-25000" err="1">
                <a:ea typeface="+mn-lt"/>
                <a:cs typeface="+mn-lt"/>
              </a:rPr>
              <a:t>n</a:t>
            </a:r>
            <a:r>
              <a:rPr lang="en-US">
                <a:ea typeface="+mn-lt"/>
                <a:cs typeface="+mn-lt"/>
              </a:rPr>
              <a:t>, self-attention generates a sequence of new embeddings </a:t>
            </a:r>
            <a:r>
              <a:rPr lang="en-US" i="1">
                <a:solidFill>
                  <a:srgbClr val="00B050"/>
                </a:solidFill>
                <a:ea typeface="+mn-lt"/>
                <a:cs typeface="+mn-lt"/>
              </a:rPr>
              <a:t>x</a:t>
            </a:r>
            <a:r>
              <a:rPr lang="en-US" i="1" baseline="-25000">
                <a:solidFill>
                  <a:srgbClr val="00B050"/>
                </a:solidFill>
                <a:ea typeface="+mn-lt"/>
                <a:cs typeface="+mn-lt"/>
              </a:rPr>
              <a:t>1</a:t>
            </a:r>
            <a:r>
              <a:rPr lang="en-US" i="1">
                <a:solidFill>
                  <a:srgbClr val="00B050"/>
                </a:solidFill>
                <a:ea typeface="+mn-lt"/>
                <a:cs typeface="+mn-lt"/>
              </a:rPr>
              <a:t>′ , ..., </a:t>
            </a:r>
            <a:r>
              <a:rPr lang="en-US" i="1" err="1">
                <a:solidFill>
                  <a:srgbClr val="00B050"/>
                </a:solidFill>
                <a:ea typeface="+mn-lt"/>
                <a:cs typeface="+mn-lt"/>
              </a:rPr>
              <a:t>x</a:t>
            </a:r>
            <a:r>
              <a:rPr lang="en-US" i="1" baseline="-25000" err="1">
                <a:solidFill>
                  <a:srgbClr val="00B050"/>
                </a:solidFill>
                <a:ea typeface="+mn-lt"/>
                <a:cs typeface="+mn-lt"/>
              </a:rPr>
              <a:t>n</a:t>
            </a:r>
            <a:r>
              <a:rPr lang="en-US" i="1">
                <a:solidFill>
                  <a:srgbClr val="00B050"/>
                </a:solidFill>
                <a:ea typeface="+mn-lt"/>
                <a:cs typeface="+mn-lt"/>
              </a:rPr>
              <a:t>′</a:t>
            </a:r>
            <a:r>
              <a:rPr lang="en-US">
                <a:ea typeface="+mn-lt"/>
                <a:cs typeface="+mn-lt"/>
              </a:rPr>
              <a:t> where each </a:t>
            </a:r>
            <a:r>
              <a:rPr lang="en-US" err="1">
                <a:solidFill>
                  <a:srgbClr val="00B050"/>
                </a:solidFill>
                <a:ea typeface="+mn-lt"/>
                <a:cs typeface="+mn-lt"/>
              </a:rPr>
              <a:t>x′</a:t>
            </a:r>
            <a:r>
              <a:rPr lang="en-US" baseline="-25000" err="1">
                <a:solidFill>
                  <a:srgbClr val="00B050"/>
                </a:solidFill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is a weighted sum of all </a:t>
            </a:r>
            <a:r>
              <a:rPr lang="en-US" err="1">
                <a:ea typeface="+mn-lt"/>
                <a:cs typeface="+mn-lt"/>
              </a:rPr>
              <a:t>x</a:t>
            </a:r>
            <a:r>
              <a:rPr lang="en-US" baseline="-25000" err="1">
                <a:ea typeface="+mn-lt"/>
                <a:cs typeface="+mn-lt"/>
              </a:rPr>
              <a:t>j</a:t>
            </a:r>
            <a:r>
              <a:rPr lang="en-US">
                <a:ea typeface="+mn-lt"/>
                <a:cs typeface="+mn-lt"/>
              </a:rPr>
              <a:t>: </a:t>
            </a:r>
            <a:endParaRPr lang="en-US"/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 coefficients </a:t>
            </a:r>
            <a:r>
              <a:rPr lang="en-US" err="1">
                <a:ea typeface="+mn-lt"/>
                <a:cs typeface="+mn-lt"/>
              </a:rPr>
              <a:t>w</a:t>
            </a:r>
            <a:r>
              <a:rPr lang="en-US" baseline="-25000" err="1">
                <a:ea typeface="+mn-lt"/>
                <a:cs typeface="+mn-lt"/>
              </a:rPr>
              <a:t>ji</a:t>
            </a:r>
            <a:r>
              <a:rPr lang="en-US">
                <a:ea typeface="+mn-lt"/>
                <a:cs typeface="+mn-lt"/>
              </a:rPr>
              <a:t> are called attention weights and are normalized so that ∑</a:t>
            </a:r>
            <a:r>
              <a:rPr lang="en-US" baseline="-25000" err="1">
                <a:ea typeface="+mn-lt"/>
                <a:cs typeface="+mn-lt"/>
              </a:rPr>
              <a:t>j</a:t>
            </a:r>
            <a:r>
              <a:rPr lang="en-US" err="1">
                <a:ea typeface="+mn-lt"/>
                <a:cs typeface="+mn-lt"/>
              </a:rPr>
              <a:t>w</a:t>
            </a:r>
            <a:r>
              <a:rPr lang="en-US" baseline="-25000" err="1">
                <a:ea typeface="+mn-lt"/>
                <a:cs typeface="+mn-lt"/>
              </a:rPr>
              <a:t>ji</a:t>
            </a:r>
            <a:r>
              <a:rPr lang="en-US">
                <a:ea typeface="+mn-lt"/>
                <a:cs typeface="+mn-lt"/>
              </a:rPr>
              <a:t> = 1. </a:t>
            </a:r>
            <a:endParaRPr lang="en-US"/>
          </a:p>
          <a:p>
            <a:endParaRPr lang="en-US">
              <a:cs typeface="Calibri"/>
            </a:endParaRP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5C6ED762-17DC-0AC7-A31A-E3B432E5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603" y="3897360"/>
            <a:ext cx="16002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3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F80F-8891-A02A-EC74-A45F7BE6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latin typeface="MS PGothic"/>
                <a:ea typeface="MS PGothic"/>
              </a:rPr>
              <a:t>Self-dot-product attention</a:t>
            </a:r>
            <a:endParaRPr lang="en-US" sz="4000" b="0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A58D3-CD24-9034-419E-136B97A4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Several methods exist to implement self-attention layers, but scaled dot-product attention is the most widely used approach. It involves four key steps:</a:t>
            </a:r>
          </a:p>
          <a:p>
            <a:r>
              <a:rPr lang="en-US"/>
              <a:t>① Project embeddings into Query, Key, and Value vectors</a:t>
            </a:r>
          </a:p>
          <a:p>
            <a:pPr lvl="1"/>
            <a:r>
              <a:rPr lang="en-US"/>
              <a:t>Each token embedding is projected into three distinct representations: query (Q), key (K), and value (V).</a:t>
            </a:r>
          </a:p>
          <a:p>
            <a:r>
              <a:rPr lang="en-US"/>
              <a:t>② Compute Attention Scores</a:t>
            </a:r>
          </a:p>
          <a:p>
            <a:pPr lvl="1"/>
            <a:r>
              <a:rPr lang="en-US"/>
              <a:t>A similarity function calculates how closely related each query is to each key.</a:t>
            </a:r>
          </a:p>
          <a:p>
            <a:pPr lvl="2"/>
            <a:r>
              <a:rPr lang="en-US"/>
              <a:t>Scaled dot-product attention uses the dot product as the similarity measure, efficiently computed through matrix multiplication.</a:t>
            </a:r>
          </a:p>
          <a:p>
            <a:pPr lvl="2"/>
            <a:r>
              <a:rPr lang="en-US"/>
              <a:t>Tokens with similar queries and keys produce high attention scores, while unrelated tokens yield lower scores.</a:t>
            </a:r>
          </a:p>
          <a:p>
            <a:pPr lvl="2"/>
            <a:r>
              <a:rPr lang="en-US"/>
              <a:t>The result is an 𝑛×𝑛 attention-score matrix for a sequence of 𝑛 tokens.</a:t>
            </a:r>
          </a:p>
          <a:p>
            <a:r>
              <a:rPr lang="en-US"/>
              <a:t>Compute attention scores: Use a similarity function to measure how much each query relates to each key.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For scaled dot-product attention, the similarity is computed using the dot product, efficiently implemented via matrix multiplication.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Tokens with similar queries and keys will have high dot products, indicating strong relevance.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Tokens with unrelated queries and keys will have low or near-zero dot products.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The output is an n × n matrix of attention scores for an input of length 𝑛</a:t>
            </a:r>
          </a:p>
          <a:p>
            <a:pPr marL="11430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8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7910-FAD3-849D-8E80-50E4969D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latin typeface="MS PGothic"/>
                <a:ea typeface="MS PGothic"/>
              </a:rPr>
              <a:t>Self-dot-product attention</a:t>
            </a:r>
            <a:endParaRPr lang="en-US" sz="4000" b="0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372E8-9ABC-21D6-D5EC-F2B7F8AFF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③ Compute Attention Weights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Dot products can produce large numbers, potentially causing unstable training.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To address this, attention scores are divided by a scaling factor (typically sqrt(𝑑</a:t>
            </a:r>
            <a:r>
              <a:rPr lang="en-US" baseline="-25000" dirty="0">
                <a:solidFill>
                  <a:schemeClr val="accent6">
                    <a:lumMod val="76000"/>
                  </a:schemeClr>
                </a:solidFill>
              </a:rPr>
              <a:t>𝑘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)- 𝑑</a:t>
            </a:r>
            <a:r>
              <a:rPr lang="en-US" sz="1500" baseline="-25000" dirty="0">
                <a:solidFill>
                  <a:schemeClr val="accent6">
                    <a:lumMod val="76000"/>
                  </a:schemeClr>
                </a:solidFill>
              </a:rPr>
              <a:t>𝑘 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the dimension of key vectors) to stabilize variance.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Scores are then passed through a </a:t>
            </a:r>
            <a:r>
              <a:rPr lang="en-US" dirty="0" err="1">
                <a:solidFill>
                  <a:schemeClr val="accent6">
                    <a:lumMod val="76000"/>
                  </a:schemeClr>
                </a:solidFill>
              </a:rPr>
              <a:t>softmax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 function, normalizing them so each token’s weights sum to 1.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This produces an  𝑛×𝑛 attention-weights </a:t>
            </a:r>
            <a:r>
              <a:rPr lang="en-US" sz="2200" dirty="0">
                <a:solidFill>
                  <a:schemeClr val="accent6">
                    <a:lumMod val="76000"/>
                  </a:schemeClr>
                </a:solidFill>
              </a:rPr>
              <a:t>matrix 𝑤</a:t>
            </a:r>
            <a:r>
              <a:rPr lang="en-US" sz="1300" baseline="-25000" dirty="0">
                <a:solidFill>
                  <a:schemeClr val="accent6">
                    <a:lumMod val="76000"/>
                  </a:schemeClr>
                </a:solidFill>
              </a:rPr>
              <a:t>𝑗𝑖  </a:t>
            </a:r>
          </a:p>
          <a:p>
            <a:r>
              <a:rPr lang="en-US" dirty="0"/>
              <a:t>④ Update Token Embeddings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Attention weights are used to calculate new embeddings for each token:</a:t>
            </a:r>
          </a:p>
          <a:p>
            <a:pPr lvl="2"/>
            <a:r>
              <a:rPr lang="en-US" dirty="0">
                <a:solidFill>
                  <a:srgbClr val="CC6600"/>
                </a:solidFill>
              </a:rPr>
              <a:t>𝑥</a:t>
            </a:r>
            <a:r>
              <a:rPr lang="en-US" baseline="-25000" dirty="0">
                <a:solidFill>
                  <a:srgbClr val="CC6600"/>
                </a:solidFill>
              </a:rPr>
              <a:t>𝑖</a:t>
            </a:r>
            <a:r>
              <a:rPr lang="en-US" dirty="0">
                <a:solidFill>
                  <a:srgbClr val="CC6600"/>
                </a:solidFill>
              </a:rPr>
              <a:t>′= ∑𝑤</a:t>
            </a:r>
            <a:r>
              <a:rPr lang="en-US" baseline="-25000" dirty="0">
                <a:solidFill>
                  <a:srgbClr val="CC6600"/>
                </a:solidFill>
              </a:rPr>
              <a:t>𝑗𝑖</a:t>
            </a:r>
            <a:r>
              <a:rPr lang="en-US" dirty="0">
                <a:solidFill>
                  <a:srgbClr val="CC6600"/>
                </a:solidFill>
              </a:rPr>
              <a:t>𝑣</a:t>
            </a:r>
            <a:r>
              <a:rPr lang="en-US" baseline="-25000" dirty="0">
                <a:solidFill>
                  <a:srgbClr val="CC6600"/>
                </a:solidFill>
              </a:rPr>
              <a:t>𝑗</a:t>
            </a:r>
            <a:r>
              <a:rPr lang="en-US" dirty="0">
                <a:solidFill>
                  <a:srgbClr val="CC6600"/>
                </a:solidFill>
              </a:rPr>
              <a:t> (𝑗=</a:t>
            </a:r>
            <a:r>
              <a:rPr lang="en-US" i="1" dirty="0">
                <a:solidFill>
                  <a:srgbClr val="CC6600"/>
                </a:solidFill>
              </a:rPr>
              <a:t>1...n</a:t>
            </a:r>
            <a:r>
              <a:rPr lang="en-US" dirty="0">
                <a:solidFill>
                  <a:srgbClr val="CC6600"/>
                </a:solidFill>
              </a:rPr>
              <a:t>)</a:t>
            </a:r>
          </a:p>
          <a:p>
            <a:pPr lvl="1"/>
            <a:r>
              <a:rPr lang="en-US" dirty="0"/>
              <a:t>Thus, each updated embedding captures contextual relationships based on the learned attention weights.</a:t>
            </a:r>
          </a:p>
          <a:p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386647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7196-92A6-AC5A-1323-14E96D82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latin typeface="MS PGothic"/>
                <a:ea typeface="MS PGothic"/>
              </a:rPr>
              <a:t>Key Query Value</a:t>
            </a:r>
            <a:endParaRPr lang="en-US" sz="4000" b="0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0EEE8-BE5A-9788-32B0-72D7F878C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Given an input sequence of length 𝑁, represented as a matrix 𝑋 of shape (𝑁,𝑑), where 𝑑 is the dimensionality of the input embeddings, we compute the query (Q), key (K), and value (V) vectors as follows:</a:t>
            </a:r>
          </a:p>
          <a:p>
            <a:r>
              <a:rPr lang="en-US"/>
              <a:t>Query (Q):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Multiply 𝑋 by a learned query weight matrix 𝑊𝑞  of shape (𝑑,ℎ), where ℎ is the output dimension (typically the dimensionality per attention head).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This results in a query matrix 𝑄 of shape (𝑁,ℎ)):</a:t>
            </a:r>
          </a:p>
          <a:p>
            <a:pPr lvl="2"/>
            <a:r>
              <a:rPr lang="en-US"/>
              <a:t>𝑄 = 𝑋𝑊𝑞</a:t>
            </a:r>
          </a:p>
          <a:p>
            <a:r>
              <a:rPr lang="en-US">
                <a:solidFill>
                  <a:srgbClr val="0070C0"/>
                </a:solidFill>
              </a:rPr>
              <a:t>Key (K):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Multiply 𝑋 by a learned key weight matrix 𝑊𝑘  of shape (𝑑,ℎ)), resulting in a key matrix 𝐾 of shape (𝑁,ℎ):</a:t>
            </a:r>
          </a:p>
          <a:p>
            <a:pPr lvl="2"/>
            <a:r>
              <a:rPr lang="en-US"/>
              <a:t>𝐾=𝑋𝑊𝑘</a:t>
            </a:r>
          </a:p>
          <a:p>
            <a:r>
              <a:rPr lang="en-US"/>
              <a:t>Value (V):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Multiply 𝑋 by a learned value weight matrix 𝑊𝑣 Wv  of shape (𝑑,ℎ) , resulting in a value matrix 𝑉  of shape (𝑁,ℎ) :</a:t>
            </a:r>
          </a:p>
          <a:p>
            <a:pPr lvl="2"/>
            <a:r>
              <a:rPr lang="en-US"/>
              <a:t>𝑉 = 𝑋𝑊𝑣</a:t>
            </a:r>
          </a:p>
          <a:p>
            <a:r>
              <a:rPr lang="en-US"/>
              <a:t>In each resulting matrix, every row corresponds to the respective query, key, or value vector of each token in the input sequence.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2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CB6A-FC2B-E633-9D74-462298AF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Multi-head Attention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1283A-CD56-C3F5-7421-CA1DB695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65" y="2756135"/>
            <a:ext cx="11791226" cy="376688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Transformers use multiple sets of linear projections, each forming an attention head.</a:t>
            </a:r>
          </a:p>
          <a:p>
            <a:r>
              <a:rPr lang="en-US"/>
              <a:t>Why multiple attention heads?</a:t>
            </a:r>
          </a:p>
          <a:p>
            <a:pPr lvl="1"/>
            <a:r>
              <a:rPr lang="en-US"/>
              <a:t>Single-head attention limits the model to focus on just one type of relationship or similarity between tokens.</a:t>
            </a:r>
          </a:p>
          <a:p>
            <a:pPr lvl="1"/>
            <a:r>
              <a:rPr lang="en-US"/>
              <a:t>Multi-head attention allows the model to capture multiple relationships simultaneously, making the representation richer and more nuanced.</a:t>
            </a:r>
          </a:p>
          <a:p>
            <a:r>
              <a:rPr lang="en-US"/>
              <a:t>For example:</a:t>
            </a:r>
          </a:p>
          <a:p>
            <a:pPr lvl="1"/>
            <a:r>
              <a:rPr lang="en-US"/>
              <a:t>One attention head might capture subject-verb interactions.</a:t>
            </a:r>
          </a:p>
          <a:p>
            <a:pPr lvl="1"/>
            <a:r>
              <a:rPr lang="en-US"/>
              <a:t>Another head could focus on finding related adjectives or descriptive words.</a:t>
            </a:r>
          </a:p>
          <a:p>
            <a:pPr lvl="1"/>
            <a:r>
              <a:rPr lang="en-US"/>
              <a:t>Yet another might identify long-range dependencies within sentences.</a:t>
            </a:r>
          </a:p>
          <a:p>
            <a:r>
              <a:rPr lang="en-US"/>
              <a:t>These relationships aren't manually defined by humans—instead, the Transformer learns them entirely from data, improving its generalization and interpretative power.</a:t>
            </a:r>
          </a:p>
          <a:p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>
              <a:cs typeface="Calibri"/>
            </a:endParaRPr>
          </a:p>
        </p:txBody>
      </p:sp>
      <p:pic>
        <p:nvPicPr>
          <p:cNvPr id="4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3E5ED75E-7776-718E-A2C4-FCF77761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677" y="760746"/>
            <a:ext cx="4813110" cy="189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8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1631-3A23-02F9-858F-4E8A4511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The Encoder Stack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9B0C6-1E9E-1FCE-2281-02A84DD8D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74" y="817037"/>
            <a:ext cx="8731125" cy="548073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A Transformer encoder typically consists of N=6 identical layers, each following the same structural pattern.</a:t>
            </a:r>
          </a:p>
          <a:p>
            <a:r>
              <a:rPr lang="en-US"/>
              <a:t>Components of Each Layer:</a:t>
            </a:r>
          </a:p>
          <a:p>
            <a:pPr lvl="1"/>
            <a:r>
              <a:rPr lang="en-US"/>
              <a:t>Each encoder layer has two main sublayers:</a:t>
            </a:r>
          </a:p>
          <a:p>
            <a:pPr lvl="2"/>
            <a:r>
              <a:rPr lang="en-US"/>
              <a:t>Multi-head self-attention: allows tokens to attend to each other.</a:t>
            </a:r>
          </a:p>
          <a:p>
            <a:pPr lvl="2"/>
            <a:r>
              <a:rPr lang="en-US"/>
              <a:t>Position-wise feedforward neural network: applies transformations individually to each token's embedding.</a:t>
            </a:r>
          </a:p>
          <a:p>
            <a:r>
              <a:rPr lang="en-US"/>
              <a:t>Residual Connections and Layer Normalization:</a:t>
            </a:r>
          </a:p>
          <a:p>
            <a:pPr lvl="1"/>
            <a:r>
              <a:rPr lang="en-US"/>
              <a:t>Residual (skip) connections surround each sublayer:</a:t>
            </a:r>
          </a:p>
          <a:p>
            <a:pPr lvl="2"/>
            <a:r>
              <a:rPr lang="en-US"/>
              <a:t>These connections add the original input (x) to the sublayer's output before applying normalization.</a:t>
            </a:r>
          </a:p>
          <a:p>
            <a:pPr lvl="2"/>
            <a:r>
              <a:rPr lang="en-US"/>
              <a:t>The output after residual connection and normalization is:</a:t>
            </a:r>
          </a:p>
          <a:p>
            <a:pPr lvl="3"/>
            <a:r>
              <a:rPr lang="en-US" err="1"/>
              <a:t>LayerNorm</a:t>
            </a:r>
            <a:r>
              <a:rPr lang="en-US"/>
              <a:t>(</a:t>
            </a:r>
            <a:r>
              <a:rPr lang="en-US" err="1"/>
              <a:t>x+Sublayer</a:t>
            </a:r>
            <a:r>
              <a:rPr lang="en-US"/>
              <a:t>(x))</a:t>
            </a:r>
          </a:p>
          <a:p>
            <a:r>
              <a:rPr lang="en-US"/>
              <a:t>Layer Differences Despite Identical Structure:</a:t>
            </a:r>
          </a:p>
          <a:p>
            <a:pPr lvl="1"/>
            <a:r>
              <a:rPr lang="en-US"/>
              <a:t>Although all layers share an identical structure, each encoder layer learns different representations:</a:t>
            </a:r>
          </a:p>
          <a:p>
            <a:pPr lvl="2"/>
            <a:r>
              <a:rPr lang="en-US"/>
              <a:t>Layers differ because they have separate learned parameters (weights).</a:t>
            </a:r>
          </a:p>
          <a:p>
            <a:pPr lvl="2"/>
            <a:r>
              <a:rPr lang="en-US"/>
              <a:t>Each subsequent layer further enriches embeddings by integrating additional context from other tokens.</a:t>
            </a:r>
          </a:p>
          <a:p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>
              <a:cs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352C8FCF-B6C1-0B2B-2D11-41D09181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99" y="1500003"/>
            <a:ext cx="258940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6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00CD-A539-2535-5973-42C9AE9D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/>
              <a:t>Building Contextual Representations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03E1B-D81A-7A6D-87D2-D23591246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Each of the multi-head attention layers (layers 1 through 6) performs the same underlying operations, but each layer learns distinct relationships.</a:t>
            </a:r>
          </a:p>
          <a:p>
            <a:r>
              <a:rPr lang="en-US"/>
              <a:t>Why don't layers learn identical things?</a:t>
            </a:r>
          </a:p>
          <a:p>
            <a:pPr lvl="1"/>
            <a:r>
              <a:rPr lang="en-US"/>
              <a:t>Each layer progressively enriches token embeddings by adding increasingly nuanced contextual knowledge.</a:t>
            </a:r>
          </a:p>
          <a:p>
            <a:pPr lvl="1"/>
            <a:r>
              <a:rPr lang="en-US"/>
              <a:t>You can think of each layer as searching for different relationships between tokens—similar to how we discover various associations among letters and words when solving a crossword puzzle.</a:t>
            </a:r>
          </a:p>
          <a:p>
            <a:r>
              <a:rPr lang="en-US"/>
              <a:t>Consistent dimensionality:</a:t>
            </a:r>
          </a:p>
          <a:p>
            <a:pPr lvl="1"/>
            <a:r>
              <a:rPr lang="en-US"/>
              <a:t>Every sublayer (attention and feedforward layers) produces outputs of constant dimension 𝑑 𝑚𝑜𝑑𝑒𝑙</a:t>
            </a:r>
          </a:p>
          <a:p>
            <a:pPr lvl="1"/>
            <a:r>
              <a:rPr lang="en-US"/>
              <a:t>Residual connections and embeddings also maintain this dimension, creating uniformity and stability.</a:t>
            </a:r>
          </a:p>
          <a:p>
            <a:r>
              <a:rPr lang="en-US"/>
              <a:t>Choosing 𝑑 𝑚𝑜𝑑𝑒𝑙:</a:t>
            </a:r>
          </a:p>
          <a:p>
            <a:pPr lvl="1"/>
            <a:r>
              <a:rPr lang="en-US"/>
              <a:t>In the original Transformer architecture, 𝑑 𝑚𝑜𝑑𝑒𝑙=512, but it can be adjusted based on the task or resources.</a:t>
            </a:r>
          </a:p>
          <a:p>
            <a:pPr lvl="1"/>
            <a:r>
              <a:rPr lang="en-US"/>
              <a:t>The choice of 𝑑 𝑚𝑜𝑑𝑒𝑙is crucial because it significantly impacts model performance and capability.</a:t>
            </a:r>
          </a:p>
          <a:p>
            <a:r>
              <a:rPr lang="en-US"/>
              <a:t>Scalability:</a:t>
            </a:r>
          </a:p>
          <a:p>
            <a:pPr lvl="1"/>
            <a:r>
              <a:rPr lang="en-US"/>
              <a:t>Transformers can scale by adding more layers, limited only by computational resources. More layers often lead to richer, more powerful representations.</a:t>
            </a:r>
          </a:p>
          <a:p>
            <a:endParaRPr lang="en-US"/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661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A070-2DB4-EB25-9014-A28AA07E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CBB0F-C93F-133A-3121-BBA2269E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Input Embedding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14F2-80D8-0E34-6A60-CAEEFC5E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74" y="817037"/>
            <a:ext cx="8919820" cy="548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The input embedding sublayer converts the input tokens to vectors of dimension </a:t>
            </a:r>
            <a:r>
              <a:rPr lang="en-US" sz="2400" i="1" err="1">
                <a:ea typeface="+mn-lt"/>
                <a:cs typeface="+mn-lt"/>
              </a:rPr>
              <a:t>d</a:t>
            </a:r>
            <a:r>
              <a:rPr lang="en-US" sz="2400" i="1" baseline="-25000" err="1">
                <a:ea typeface="+mn-lt"/>
                <a:cs typeface="+mn-lt"/>
              </a:rPr>
              <a:t>model</a:t>
            </a:r>
            <a:r>
              <a:rPr lang="en-US" sz="2400">
                <a:ea typeface="+mn-lt"/>
                <a:cs typeface="+mn-lt"/>
              </a:rPr>
              <a:t> using learned </a:t>
            </a:r>
            <a:r>
              <a:rPr lang="en-US" sz="2400" err="1">
                <a:ea typeface="+mn-lt"/>
                <a:cs typeface="+mn-lt"/>
              </a:rPr>
              <a:t>embeddings</a:t>
            </a:r>
            <a:r>
              <a:rPr lang="en-US" sz="2400">
                <a:ea typeface="+mn-lt"/>
                <a:cs typeface="+mn-lt"/>
              </a:rPr>
              <a:t> from another model (transformer/word2vec/one-hot model)</a:t>
            </a:r>
          </a:p>
          <a:p>
            <a:r>
              <a:rPr lang="en-US" sz="2400">
                <a:ea typeface="+mn-lt"/>
                <a:cs typeface="+mn-lt"/>
              </a:rPr>
              <a:t>The embedding sublayer works on the tokens that the transformer will find </a:t>
            </a:r>
            <a:r>
              <a:rPr lang="en-US" sz="2400" err="1">
                <a:ea typeface="+mn-lt"/>
                <a:cs typeface="+mn-lt"/>
              </a:rPr>
              <a:t>embeddings</a:t>
            </a:r>
            <a:r>
              <a:rPr lang="en-US" sz="2400">
                <a:ea typeface="+mn-lt"/>
                <a:cs typeface="+mn-lt"/>
              </a:rPr>
              <a:t> </a:t>
            </a:r>
          </a:p>
          <a:p>
            <a:pPr lvl="1"/>
            <a:r>
              <a:rPr lang="en-US" sz="2000">
                <a:ea typeface="+mn-lt"/>
                <a:cs typeface="+mn-lt"/>
              </a:rPr>
              <a:t>Tokenizer could be BPE, word piece, and sentence piece etc. </a:t>
            </a:r>
            <a:endParaRPr lang="en-US" sz="2000">
              <a:cs typeface="Calibri" panose="020F0502020204030204"/>
            </a:endParaRPr>
          </a:p>
          <a:p>
            <a:r>
              <a:rPr lang="en-US" sz="2400">
                <a:ea typeface="+mn-lt"/>
                <a:cs typeface="+mn-lt"/>
              </a:rPr>
              <a:t>A tokenizer provides an integer representation that will be used for the embedding process. For example: </a:t>
            </a:r>
            <a:endParaRPr lang="en-US" sz="2400">
              <a:cs typeface="Calibri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A79DAAA-E53B-45C8-2B22-98E50B724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807" y="4554162"/>
            <a:ext cx="7372554" cy="847116"/>
          </a:xfrm>
          <a:prstGeom prst="rect">
            <a:avLst/>
          </a:prstGeom>
        </p:spPr>
      </p:pic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8D5DFEBA-E1B3-3374-4AC4-6CBDAFCA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001" y="2529092"/>
            <a:ext cx="19716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84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281A-38EF-A5D9-CD0E-EE6904F3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685B-1B83-CD2B-5E73-0CDF6579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The self-attention calculation method does not consider position of the tokens</a:t>
            </a:r>
          </a:p>
          <a:p>
            <a:pPr lvl="1"/>
            <a:r>
              <a:rPr lang="en-US">
                <a:ea typeface="+mn-lt"/>
                <a:cs typeface="+mn-lt"/>
              </a:rPr>
              <a:t>Therefore it does not have any idea of the relative word/token orders </a:t>
            </a:r>
          </a:p>
          <a:p>
            <a:r>
              <a:rPr lang="en-US">
                <a:ea typeface="+mn-lt"/>
                <a:cs typeface="+mn-lt"/>
              </a:rPr>
              <a:t>Positional </a:t>
            </a:r>
            <a:r>
              <a:rPr lang="en-US" err="1">
                <a:ea typeface="+mn-lt"/>
                <a:cs typeface="+mn-lt"/>
              </a:rPr>
              <a:t>embeddings</a:t>
            </a:r>
            <a:r>
              <a:rPr lang="en-US">
                <a:ea typeface="+mn-lt"/>
                <a:cs typeface="+mn-lt"/>
              </a:rPr>
              <a:t> takes care of this shortcoming</a:t>
            </a:r>
          </a:p>
          <a:p>
            <a:pPr lvl="1"/>
            <a:r>
              <a:rPr lang="en-US">
                <a:ea typeface="+mn-lt"/>
                <a:cs typeface="+mn-lt"/>
              </a:rPr>
              <a:t>The most basic embedding is simple: augment the token embeddings with a position-dependent pattern of values arranged in a vector</a:t>
            </a:r>
          </a:p>
          <a:p>
            <a:pPr lvl="2"/>
            <a:r>
              <a:rPr lang="en-US">
                <a:ea typeface="+mn-lt"/>
                <a:cs typeface="+mn-lt"/>
              </a:rPr>
              <a:t>If the pattern is characteristic for each position, the attention heads and feed-forward layers in each stack can learn to incorporate positional information into their transformations</a:t>
            </a:r>
            <a:endParaRPr lang="en-US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It is possible to learn the pattern, especially when the pretraining dataset is sufficiently large</a:t>
            </a:r>
          </a:p>
          <a:p>
            <a:pPr lvl="1"/>
            <a:r>
              <a:rPr lang="en-US">
                <a:ea typeface="+mn-lt"/>
                <a:cs typeface="+mn-lt"/>
              </a:rPr>
              <a:t>This works exactly the same way as the token embeddings, but using the position index instead of the token ID as input</a:t>
            </a:r>
          </a:p>
          <a:p>
            <a:r>
              <a:rPr lang="en-US">
                <a:ea typeface="+mn-lt"/>
                <a:cs typeface="+mn-lt"/>
              </a:rPr>
              <a:t>Absolute positional representations: Transformer models can use static patterns consisting of modulated sine and cosine signals to encode the positions of the tokens. </a:t>
            </a:r>
          </a:p>
          <a:p>
            <a:pPr lvl="1"/>
            <a:r>
              <a:rPr lang="en-US">
                <a:ea typeface="+mn-lt"/>
                <a:cs typeface="+mn-lt"/>
              </a:rPr>
              <a:t>This works especially well if the dataset is relatively small.</a:t>
            </a:r>
          </a:p>
        </p:txBody>
      </p:sp>
    </p:spTree>
    <p:extLst>
      <p:ext uri="{BB962C8B-B14F-4D97-AF65-F5344CB8AC3E}">
        <p14:creationId xmlns:p14="http://schemas.microsoft.com/office/powerpoint/2010/main" val="3312408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9DEA-68C0-D25E-71BD-E0639F4D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MS PGothic"/>
                <a:ea typeface="MS PGothic"/>
              </a:rPr>
              <a:t>Positional Encoding</a:t>
            </a:r>
            <a:endParaRPr lang="en-US"/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2CC248F1-B0FE-1C2B-F444-E7FF30D5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206" y="1585305"/>
            <a:ext cx="6487650" cy="44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73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281A-38EF-A5D9-CD0E-EE6904F3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Relative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685B-1B83-CD2B-5E73-0CDF6579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Although absolute positions are important, the neighboring tokens are most important</a:t>
            </a:r>
          </a:p>
          <a:p>
            <a:r>
              <a:rPr lang="en-US">
                <a:ea typeface="+mn-lt"/>
                <a:cs typeface="+mn-lt"/>
              </a:rPr>
              <a:t>Relative positional representations follow this intuition and encode the relative positions between tokens</a:t>
            </a:r>
          </a:p>
          <a:p>
            <a:r>
              <a:rPr lang="en-US">
                <a:ea typeface="+mn-lt"/>
                <a:cs typeface="+mn-lt"/>
              </a:rPr>
              <a:t>This cannot be done by just introducing a new relative embedding layer at the beginning since the relative embedding changes for each token depending on where from the sequence we are attending to it </a:t>
            </a:r>
          </a:p>
          <a:p>
            <a:r>
              <a:rPr lang="en-US">
                <a:ea typeface="+mn-lt"/>
                <a:cs typeface="+mn-lt"/>
              </a:rPr>
              <a:t>Instead, the attention mechanism itself is modified with additional terms that consider the relative position between tokens </a:t>
            </a:r>
          </a:p>
          <a:p>
            <a:r>
              <a:rPr lang="en-US">
                <a:ea typeface="+mn-lt"/>
                <a:cs typeface="+mn-lt"/>
              </a:rPr>
              <a:t>Models such as </a:t>
            </a:r>
            <a:r>
              <a:rPr lang="en-US" err="1">
                <a:ea typeface="+mn-lt"/>
                <a:cs typeface="+mn-lt"/>
              </a:rPr>
              <a:t>DeBERTa</a:t>
            </a:r>
            <a:r>
              <a:rPr lang="en-US">
                <a:ea typeface="+mn-lt"/>
                <a:cs typeface="+mn-lt"/>
              </a:rPr>
              <a:t> use such representations 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6041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Layer Normalization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8439539" cy="5237162"/>
          </a:xfrm>
        </p:spPr>
        <p:txBody>
          <a:bodyPr/>
          <a:lstStyle/>
          <a:p>
            <a:r>
              <a:rPr lang="en-US"/>
              <a:t>All sublayers (attention and feedforward) of the Transformer is followed by Post-Layer Normalization</a:t>
            </a:r>
          </a:p>
          <a:p>
            <a:r>
              <a:rPr lang="en-US"/>
              <a:t>The Post-LN contains an add function and a layer normalization process</a:t>
            </a:r>
          </a:p>
          <a:p>
            <a:r>
              <a:rPr lang="en-US"/>
              <a:t>The add function processes the residual connections that come from the input of the sublayer and are normalized</a:t>
            </a:r>
          </a:p>
          <a:p>
            <a:pPr lvl="1"/>
            <a:r>
              <a:rPr lang="en-US"/>
              <a:t>The goal of the residual connections is to make sure critical information is not lost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492" y="1041697"/>
            <a:ext cx="2644369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43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Position-wise Feedforward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119188"/>
            <a:ext cx="8038322" cy="52371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FFNs in the encoder and decoder are fully connected</a:t>
            </a:r>
          </a:p>
          <a:p>
            <a:r>
              <a:rPr lang="en-US" dirty="0"/>
              <a:t>The FFN is a position-wise network</a:t>
            </a:r>
          </a:p>
          <a:p>
            <a:pPr lvl="1"/>
            <a:r>
              <a:rPr lang="en-US"/>
              <a:t>Each</a:t>
            </a:r>
            <a:r>
              <a:rPr lang="en-US" dirty="0"/>
              <a:t> position in the input sequence is processed independently but identically</a:t>
            </a:r>
          </a:p>
          <a:p>
            <a:pPr lvl="1"/>
            <a:r>
              <a:rPr lang="en-US" dirty="0"/>
              <a:t>In other words </a:t>
            </a:r>
            <a:r>
              <a:rPr lang="en-US"/>
              <a:t>all tokens within a sublayer are transformed using the same set of weights</a:t>
            </a:r>
          </a:p>
          <a:p>
            <a:pPr lvl="1"/>
            <a:r>
              <a:rPr lang="en-US"/>
              <a:t>The term "position-wise" emphasizes that the linear layer operates on a 3D tensor, where the token dimension is the last one.</a:t>
            </a:r>
            <a:endParaRPr lang="en-US" dirty="0"/>
          </a:p>
          <a:p>
            <a:r>
              <a:rPr lang="en-US"/>
              <a:t>The FFN is a two stage network with </a:t>
            </a:r>
            <a:r>
              <a:rPr lang="en-US" err="1"/>
              <a:t>ReLU</a:t>
            </a:r>
            <a:r>
              <a:rPr lang="en-US"/>
              <a:t> activation function</a:t>
            </a:r>
          </a:p>
          <a:p>
            <a:r>
              <a:rPr lang="en-US" dirty="0"/>
              <a:t>The input and output of the FFN layers for original Transformer is </a:t>
            </a:r>
            <a:r>
              <a:rPr lang="en-US" dirty="0" err="1"/>
              <a:t>dmodel</a:t>
            </a:r>
            <a:r>
              <a:rPr lang="en-US" dirty="0"/>
              <a:t> = 512, but the inner layer is larger with </a:t>
            </a:r>
            <a:r>
              <a:rPr lang="en-US" dirty="0" err="1"/>
              <a:t>dff</a:t>
            </a:r>
            <a:r>
              <a:rPr lang="en-US" dirty="0"/>
              <a:t> =2048</a:t>
            </a:r>
          </a:p>
          <a:p>
            <a:r>
              <a:rPr lang="en-US" dirty="0"/>
              <a:t>The output of the FFN goes to a LN module</a:t>
            </a:r>
          </a:p>
          <a:p>
            <a:r>
              <a:rPr lang="en-US"/>
              <a:t>Then the normalized output is sent to the next layer of the encoder stack and the multi-head attention layer of the decoder stack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973" y="1780673"/>
            <a:ext cx="2591025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67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Decoder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8476861" cy="5237162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 structure of the decoder layer remains the same similar to the encoder for all the N = 6 layers of the original Transformer model </a:t>
            </a:r>
          </a:p>
          <a:p>
            <a:r>
              <a:rPr lang="en-US"/>
              <a:t>Each layer contains three sublayers: </a:t>
            </a:r>
          </a:p>
          <a:p>
            <a:pPr lvl="1"/>
            <a:r>
              <a:rPr lang="en-US"/>
              <a:t>A multi-headed masked attention mechanism</a:t>
            </a:r>
          </a:p>
          <a:p>
            <a:pPr lvl="1"/>
            <a:r>
              <a:rPr lang="en-US"/>
              <a:t>A multi-headed attention mechanism</a:t>
            </a:r>
          </a:p>
          <a:p>
            <a:pPr lvl="1"/>
            <a:r>
              <a:rPr lang="en-US"/>
              <a:t>A fully connected position-wise feedforward network.</a:t>
            </a:r>
          </a:p>
          <a:p>
            <a:r>
              <a:rPr lang="en-US"/>
              <a:t>The decoder has a different sublayer (than encoder), which is the masked multi-head attention mechanism</a:t>
            </a:r>
          </a:p>
          <a:p>
            <a:r>
              <a:rPr lang="en-US"/>
              <a:t>In this sublayer; inputs are partially masked so that the Transformer can predict the next token on its own without looking into the rest of the sequence</a:t>
            </a:r>
          </a:p>
          <a:p>
            <a:r>
              <a:rPr lang="en-US"/>
              <a:t>Similar to the encoder, residual connection, Sublayer(x), surrounds each of the three main sublayers to ensure proper flow of gradients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3EBF7858-135B-3879-3A55-3498C028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828" y="1427584"/>
            <a:ext cx="2976303" cy="413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06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Decoder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7133253" cy="5237162"/>
          </a:xfrm>
        </p:spPr>
        <p:txBody>
          <a:bodyPr>
            <a:normAutofit lnSpcReduction="10000"/>
          </a:bodyPr>
          <a:lstStyle/>
          <a:p>
            <a:r>
              <a:rPr lang="en-US"/>
              <a:t>The output embedding sublayer is only present at the bottom level of the stack, like for the encoder stack</a:t>
            </a:r>
          </a:p>
          <a:p>
            <a:r>
              <a:rPr lang="en-US"/>
              <a:t>The output of every sublayer of the decoder stack has a constant dimension, </a:t>
            </a:r>
            <a:r>
              <a:rPr lang="en-US" err="1"/>
              <a:t>d</a:t>
            </a:r>
            <a:r>
              <a:rPr lang="en-US" baseline="-25000" err="1"/>
              <a:t>model</a:t>
            </a:r>
            <a:r>
              <a:rPr lang="en-US"/>
              <a:t>, like in the encoder stack, including the embedding layer and the output of the residual connections.</a:t>
            </a:r>
          </a:p>
          <a:p>
            <a:r>
              <a:rPr lang="en-US"/>
              <a:t>We can see that the design is symmetrical: decoder decodes a sequence from the encoded information</a:t>
            </a:r>
          </a:p>
          <a:p>
            <a:r>
              <a:rPr lang="en-US"/>
              <a:t>The structure of each sublayer and function of the decoder is similar to the encoder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3EBF7858-135B-3879-3A55-3498C028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91" y="1282482"/>
            <a:ext cx="3389745" cy="47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64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854D-448C-B639-6F63-700CC583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 Attention (Co-attention)</a:t>
            </a:r>
          </a:p>
        </p:txBody>
      </p:sp>
      <p:pic>
        <p:nvPicPr>
          <p:cNvPr id="3" name="Picture 2" descr="A diagram of a step-by-step process&#10;&#10;AI-generated content may be incorrect.">
            <a:extLst>
              <a:ext uri="{FF2B5EF4-FFF2-40B4-BE49-F238E27FC236}">
                <a16:creationId xmlns:a16="http://schemas.microsoft.com/office/drawing/2014/main" id="{635C49C9-C23C-AD99-1DC9-A58A78E9B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05" y="963757"/>
            <a:ext cx="9369135" cy="527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55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0AF0-0C5B-C415-950E-848BD6A9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Cross Attention (Co-attention)</a:t>
            </a:r>
            <a:endParaRPr lang="en-US" sz="4000" b="0" dirty="0">
              <a:solidFill>
                <a:srgbClr val="000000"/>
              </a:solidFill>
            </a:endParaRPr>
          </a:p>
        </p:txBody>
      </p:sp>
      <p:pic>
        <p:nvPicPr>
          <p:cNvPr id="4" name="Picture 3" descr="(Image by author)">
            <a:extLst>
              <a:ext uri="{FF2B5EF4-FFF2-40B4-BE49-F238E27FC236}">
                <a16:creationId xmlns:a16="http://schemas.microsoft.com/office/drawing/2014/main" id="{B4E343B2-F32E-800C-B34F-62C744B9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124" y="1418596"/>
            <a:ext cx="7485752" cy="482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59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Output Embedding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output embedding layer and position encoding function are the same as in the encoder stack</a:t>
            </a:r>
          </a:p>
          <a:p>
            <a:r>
              <a:rPr lang="en-US"/>
              <a:t>The output is a translation (or </a:t>
            </a:r>
            <a:r>
              <a:rPr lang="en-US" err="1"/>
              <a:t>seq-seq</a:t>
            </a:r>
            <a:r>
              <a:rPr lang="en-US"/>
              <a:t> transformation) we need to learn</a:t>
            </a:r>
          </a:p>
          <a:p>
            <a:r>
              <a:rPr lang="en-US"/>
              <a:t>For example for an English to French translation</a:t>
            </a:r>
          </a:p>
          <a:p>
            <a:pPr lvl="1"/>
            <a:r>
              <a:rPr lang="en-US"/>
              <a:t>Input = The black cat sat on the couch and the brown dog slept on the rug</a:t>
            </a:r>
          </a:p>
          <a:p>
            <a:pPr lvl="1"/>
            <a:r>
              <a:rPr lang="en-US"/>
              <a:t>Output = </a:t>
            </a:r>
            <a:r>
              <a:rPr lang="fr-FR"/>
              <a:t>Le chat noir était assis sur le canapé et le chien marron dormait sur le tapis</a:t>
            </a:r>
            <a:endParaRPr lang="en-US"/>
          </a:p>
          <a:p>
            <a:r>
              <a:rPr lang="en-US"/>
              <a:t>The output words/tokens go through the word embedding layer and then the positional encoding function, like in the first layer of the encoder stack</a:t>
            </a:r>
          </a:p>
        </p:txBody>
      </p:sp>
    </p:spTree>
    <p:extLst>
      <p:ext uri="{BB962C8B-B14F-4D97-AF65-F5344CB8AC3E}">
        <p14:creationId xmlns:p14="http://schemas.microsoft.com/office/powerpoint/2010/main" val="585732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Masked multi-head attention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of the self-attention sub-layer in the decoder stack is modified to prevent positions from attending to subsequent positions. </a:t>
            </a:r>
          </a:p>
          <a:p>
            <a:r>
              <a:rPr lang="en-US"/>
              <a:t>This masking, combined with fact that the output </a:t>
            </a:r>
            <a:r>
              <a:rPr lang="en-US" err="1"/>
              <a:t>embeddings</a:t>
            </a:r>
            <a:r>
              <a:rPr lang="en-US"/>
              <a:t> are offset by one position, ensures that the predictions for position </a:t>
            </a:r>
            <a:r>
              <a:rPr lang="en-US" i="1" err="1"/>
              <a:t>i</a:t>
            </a:r>
            <a:r>
              <a:rPr lang="en-US"/>
              <a:t> can depend only on the known outputs at positions less than </a:t>
            </a:r>
            <a:r>
              <a:rPr lang="en-US" i="1" err="1"/>
              <a:t>i</a:t>
            </a:r>
            <a:r>
              <a:rPr lang="en-US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03" y="3551947"/>
            <a:ext cx="2865368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4" ma:contentTypeDescription="Create a new document." ma:contentTypeScope="" ma:versionID="2a9e69bc7b9d3c4cf6a41faca233a91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66afc55c35dc6a8b593a412c64b4fad1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CFFD75-337E-449A-963B-A49E23A97AB0}">
  <ds:schemaRefs>
    <ds:schemaRef ds:uri="acd04cee-d56a-427f-9d20-a2ddbaad1b8a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DAA9972B-6597-47DF-98A5-3D2A2224A2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7F3BA4-DDD0-494F-9AA9-1D0970C5F1D8}">
  <ds:schemaRefs>
    <ds:schemaRef ds:uri="acd04cee-d56a-427f-9d20-a2ddbaad1b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CSE 495B(Natural Language Processing) Lecture 8</vt:lpstr>
      <vt:lpstr>Multiple types of context</vt:lpstr>
      <vt:lpstr>Self Attention: Projection</vt:lpstr>
      <vt:lpstr>Self Attention: The (concept) weight</vt:lpstr>
      <vt:lpstr>Self Attention: Normalizing concept weight</vt:lpstr>
      <vt:lpstr>Self Attention: New Embedding</vt:lpstr>
      <vt:lpstr>Getting Q,K,Vs</vt:lpstr>
      <vt:lpstr>Everything as a Matrix Operation</vt:lpstr>
      <vt:lpstr>Attention is all you need</vt:lpstr>
      <vt:lpstr>Self Attention</vt:lpstr>
      <vt:lpstr>Self-dot-product attention</vt:lpstr>
      <vt:lpstr>Self-dot-product attention</vt:lpstr>
      <vt:lpstr>Key Query Value</vt:lpstr>
      <vt:lpstr>Multi-head Attention</vt:lpstr>
      <vt:lpstr>The Encoder Stack</vt:lpstr>
      <vt:lpstr>Building Contextual Representations</vt:lpstr>
      <vt:lpstr>Input Embedding</vt:lpstr>
      <vt:lpstr>Positional Encoding</vt:lpstr>
      <vt:lpstr>Positional Encoding</vt:lpstr>
      <vt:lpstr>Relative Positional Encoding</vt:lpstr>
      <vt:lpstr>Layer Normalization</vt:lpstr>
      <vt:lpstr>Position-wise Feedforward layer</vt:lpstr>
      <vt:lpstr>Decoder Layer</vt:lpstr>
      <vt:lpstr>Decoder Layer</vt:lpstr>
      <vt:lpstr>Cross Attention (Co-attention)</vt:lpstr>
      <vt:lpstr>Cross Attention (Co-attention)</vt:lpstr>
      <vt:lpstr>Output Embedding</vt:lpstr>
      <vt:lpstr>Masked multi-head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495 (Natural Language Processing) Lecture 9</dc:title>
  <dc:creator>Mohammad Khan</dc:creator>
  <cp:revision>168</cp:revision>
  <dcterms:created xsi:type="dcterms:W3CDTF">2018-11-03T12:07:21Z</dcterms:created>
  <dcterms:modified xsi:type="dcterms:W3CDTF">2025-11-10T10:37:14Z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0x010100688F25371BF2364E9237A48B420CBFE6</vt:lpwstr>
  </property>
</Properties>
</file>