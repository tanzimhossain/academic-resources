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621" r:id="rId3"/>
    <p:sldId id="624" r:id="rId4"/>
    <p:sldId id="625" r:id="rId5"/>
    <p:sldId id="627" r:id="rId6"/>
    <p:sldId id="318" r:id="rId7"/>
    <p:sldId id="670" r:id="rId8"/>
    <p:sldId id="307" r:id="rId9"/>
    <p:sldId id="308" r:id="rId10"/>
    <p:sldId id="701" r:id="rId11"/>
    <p:sldId id="305" r:id="rId12"/>
    <p:sldId id="310" r:id="rId13"/>
    <p:sldId id="311" r:id="rId14"/>
    <p:sldId id="687" r:id="rId15"/>
    <p:sldId id="685" r:id="rId16"/>
    <p:sldId id="686" r:id="rId17"/>
    <p:sldId id="688" r:id="rId18"/>
    <p:sldId id="689" r:id="rId19"/>
    <p:sldId id="702" r:id="rId20"/>
    <p:sldId id="699" r:id="rId21"/>
    <p:sldId id="660" r:id="rId22"/>
    <p:sldId id="334" r:id="rId23"/>
    <p:sldId id="338" r:id="rId24"/>
    <p:sldId id="339" r:id="rId25"/>
    <p:sldId id="341" r:id="rId26"/>
    <p:sldId id="330" r:id="rId27"/>
    <p:sldId id="342" r:id="rId28"/>
    <p:sldId id="698" r:id="rId29"/>
    <p:sldId id="662" r:id="rId30"/>
    <p:sldId id="690" r:id="rId31"/>
    <p:sldId id="691" r:id="rId32"/>
    <p:sldId id="692" r:id="rId33"/>
    <p:sldId id="693" r:id="rId34"/>
    <p:sldId id="694" r:id="rId35"/>
    <p:sldId id="695" r:id="rId36"/>
    <p:sldId id="696" r:id="rId37"/>
    <p:sldId id="697" r:id="rId38"/>
    <p:sldId id="700" r:id="rId39"/>
    <p:sldId id="663" r:id="rId40"/>
    <p:sldId id="664" r:id="rId41"/>
    <p:sldId id="672" r:id="rId42"/>
    <p:sldId id="675" r:id="rId43"/>
    <p:sldId id="676" r:id="rId44"/>
    <p:sldId id="677" r:id="rId45"/>
    <p:sldId id="678" r:id="rId46"/>
    <p:sldId id="673" r:id="rId47"/>
    <p:sldId id="679" r:id="rId48"/>
    <p:sldId id="680" r:id="rId49"/>
    <p:sldId id="681" r:id="rId50"/>
    <p:sldId id="682" r:id="rId51"/>
    <p:sldId id="683" r:id="rId5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iLAPrl4d+V1IstkCCj/PL+6qt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F9B22-C3EB-C5BF-DE51-46285ED4ABCF}" v="78" dt="2025-09-24T08:41:53.886"/>
    <p1510:client id="{69A0CA9E-5271-6044-7B4F-8BFDCD5BCE01}" v="146" dt="2025-09-22T08:42:56.230"/>
    <p1510:client id="{77E9C696-B9AF-A0AD-9E27-B594D6A02AD7}" v="6" dt="2025-09-22T20:53:49.004"/>
  </p1510:revLst>
</p1510:revInfo>
</file>

<file path=ppt/tableStyles.xml><?xml version="1.0" encoding="utf-8"?>
<a:tblStyleLst xmlns:a="http://schemas.openxmlformats.org/drawingml/2006/main" def="{E1EA1CD8-9A49-4420-9597-29AC4BAAC592}">
  <a:tblStyle styleId="{E1EA1CD8-9A49-4420-9597-29AC4BAAC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Khan" userId="S::mohammad.khan02@northsouth.edu::66e9fb8e-4ed6-4e1e-bddc-ac99ec076f45" providerId="AD" clId="Web-{D2EFF113-E6E8-4062-9EBE-2238439C8FA9}"/>
    <pc:docChg chg="addSld delSld modSld">
      <pc:chgData name="Mohammad Khan" userId="S::mohammad.khan02@northsouth.edu::66e9fb8e-4ed6-4e1e-bddc-ac99ec076f45" providerId="AD" clId="Web-{D2EFF113-E6E8-4062-9EBE-2238439C8FA9}" dt="2025-09-22T07:08:35.384" v="661" actId="20577"/>
      <pc:docMkLst>
        <pc:docMk/>
      </pc:docMkLst>
      <pc:sldChg chg="add del">
        <pc:chgData name="Mohammad Khan" userId="S::mohammad.khan02@northsouth.edu::66e9fb8e-4ed6-4e1e-bddc-ac99ec076f45" providerId="AD" clId="Web-{D2EFF113-E6E8-4062-9EBE-2238439C8FA9}" dt="2025-09-22T06:02:32.565" v="515"/>
        <pc:sldMkLst>
          <pc:docMk/>
          <pc:sldMk cId="234316774" sldId="305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2:32.362" v="512"/>
        <pc:sldMkLst>
          <pc:docMk/>
          <pc:sldMk cId="54249585" sldId="307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2:32.424" v="513"/>
        <pc:sldMkLst>
          <pc:docMk/>
          <pc:sldMk cId="938807217" sldId="308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2:32.612" v="516"/>
        <pc:sldMkLst>
          <pc:docMk/>
          <pc:sldMk cId="1374112941" sldId="310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2:32.674" v="517"/>
        <pc:sldMkLst>
          <pc:docMk/>
          <pc:sldMk cId="2233285381" sldId="311"/>
        </pc:sldMkLst>
      </pc:sldChg>
      <pc:sldChg chg="modSp">
        <pc:chgData name="Mohammad Khan" userId="S::mohammad.khan02@northsouth.edu::66e9fb8e-4ed6-4e1e-bddc-ac99ec076f45" providerId="AD" clId="Web-{D2EFF113-E6E8-4062-9EBE-2238439C8FA9}" dt="2025-09-22T07:08:35.384" v="661" actId="20577"/>
        <pc:sldMkLst>
          <pc:docMk/>
          <pc:sldMk cId="2272289528" sldId="318"/>
        </pc:sldMkLst>
        <pc:spChg chg="mod">
          <ac:chgData name="Mohammad Khan" userId="S::mohammad.khan02@northsouth.edu::66e9fb8e-4ed6-4e1e-bddc-ac99ec076f45" providerId="AD" clId="Web-{D2EFF113-E6E8-4062-9EBE-2238439C8FA9}" dt="2025-09-22T07:08:35.384" v="661" actId="20577"/>
          <ac:spMkLst>
            <pc:docMk/>
            <pc:sldMk cId="2272289528" sldId="318"/>
            <ac:spMk id="3" creationId="{652353E0-5BC0-C02A-905A-40B6C7A5A377}"/>
          </ac:spMkLst>
        </pc:spChg>
      </pc:sldChg>
      <pc:sldChg chg="add del">
        <pc:chgData name="Mohammad Khan" userId="S::mohammad.khan02@northsouth.edu::66e9fb8e-4ed6-4e1e-bddc-ac99ec076f45" providerId="AD" clId="Web-{D2EFF113-E6E8-4062-9EBE-2238439C8FA9}" dt="2025-09-22T06:06:47.337" v="534"/>
        <pc:sldMkLst>
          <pc:docMk/>
          <pc:sldMk cId="4287943518" sldId="330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6:47.103" v="530"/>
        <pc:sldMkLst>
          <pc:docMk/>
          <pc:sldMk cId="2474647719" sldId="334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6:47.165" v="531"/>
        <pc:sldMkLst>
          <pc:docMk/>
          <pc:sldMk cId="1678350330" sldId="338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6:47.212" v="532"/>
        <pc:sldMkLst>
          <pc:docMk/>
          <pc:sldMk cId="9911000" sldId="339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6:47.290" v="533"/>
        <pc:sldMkLst>
          <pc:docMk/>
          <pc:sldMk cId="561848264" sldId="341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6:47.415" v="535"/>
        <pc:sldMkLst>
          <pc:docMk/>
          <pc:sldMk cId="2952369759" sldId="342"/>
        </pc:sldMkLst>
      </pc:sldChg>
      <pc:sldChg chg="delAnim">
        <pc:chgData name="Mohammad Khan" userId="S::mohammad.khan02@northsouth.edu::66e9fb8e-4ed6-4e1e-bddc-ac99ec076f45" providerId="AD" clId="Web-{D2EFF113-E6E8-4062-9EBE-2238439C8FA9}" dt="2025-09-22T03:32:27.710" v="12"/>
        <pc:sldMkLst>
          <pc:docMk/>
          <pc:sldMk cId="76804330" sldId="621"/>
        </pc:sldMkLst>
      </pc:sldChg>
      <pc:sldChg chg="delAnim">
        <pc:chgData name="Mohammad Khan" userId="S::mohammad.khan02@northsouth.edu::66e9fb8e-4ed6-4e1e-bddc-ac99ec076f45" providerId="AD" clId="Web-{D2EFF113-E6E8-4062-9EBE-2238439C8FA9}" dt="2025-09-22T03:32:40.258" v="26"/>
        <pc:sldMkLst>
          <pc:docMk/>
          <pc:sldMk cId="1846870397" sldId="624"/>
        </pc:sldMkLst>
      </pc:sldChg>
      <pc:sldChg chg="delAnim">
        <pc:chgData name="Mohammad Khan" userId="S::mohammad.khan02@northsouth.edu::66e9fb8e-4ed6-4e1e-bddc-ac99ec076f45" providerId="AD" clId="Web-{D2EFF113-E6E8-4062-9EBE-2238439C8FA9}" dt="2025-09-22T03:32:50.727" v="34"/>
        <pc:sldMkLst>
          <pc:docMk/>
          <pc:sldMk cId="2951988357" sldId="625"/>
        </pc:sldMkLst>
      </pc:sldChg>
      <pc:sldChg chg="delAnim">
        <pc:chgData name="Mohammad Khan" userId="S::mohammad.khan02@northsouth.edu::66e9fb8e-4ed6-4e1e-bddc-ac99ec076f45" providerId="AD" clId="Web-{D2EFF113-E6E8-4062-9EBE-2238439C8FA9}" dt="2025-09-22T03:32:59.540" v="42"/>
        <pc:sldMkLst>
          <pc:docMk/>
          <pc:sldMk cId="4000128985" sldId="627"/>
        </pc:sldMkLst>
      </pc:sldChg>
      <pc:sldChg chg="add del">
        <pc:chgData name="Mohammad Khan" userId="S::mohammad.khan02@northsouth.edu::66e9fb8e-4ed6-4e1e-bddc-ac99ec076f45" providerId="AD" clId="Web-{D2EFF113-E6E8-4062-9EBE-2238439C8FA9}" dt="2025-09-22T06:05:09.551" v="523"/>
        <pc:sldMkLst>
          <pc:docMk/>
          <pc:sldMk cId="3188595064" sldId="660"/>
        </pc:sldMkLst>
      </pc:sldChg>
      <pc:sldChg chg="modSp new">
        <pc:chgData name="Mohammad Khan" userId="S::mohammad.khan02@northsouth.edu::66e9fb8e-4ed6-4e1e-bddc-ac99ec076f45" providerId="AD" clId="Web-{D2EFF113-E6E8-4062-9EBE-2238439C8FA9}" dt="2025-09-22T03:42:23.598" v="221" actId="20577"/>
        <pc:sldMkLst>
          <pc:docMk/>
          <pc:sldMk cId="1126517177" sldId="694"/>
        </pc:sldMkLst>
        <pc:spChg chg="mod">
          <ac:chgData name="Mohammad Khan" userId="S::mohammad.khan02@northsouth.edu::66e9fb8e-4ed6-4e1e-bddc-ac99ec076f45" providerId="AD" clId="Web-{D2EFF113-E6E8-4062-9EBE-2238439C8FA9}" dt="2025-09-22T03:42:14.848" v="208" actId="20577"/>
          <ac:spMkLst>
            <pc:docMk/>
            <pc:sldMk cId="1126517177" sldId="694"/>
            <ac:spMk id="2" creationId="{01A76DAF-945C-1ED9-DA5F-9B2D5D4D166C}"/>
          </ac:spMkLst>
        </pc:spChg>
        <pc:spChg chg="mod">
          <ac:chgData name="Mohammad Khan" userId="S::mohammad.khan02@northsouth.edu::66e9fb8e-4ed6-4e1e-bddc-ac99ec076f45" providerId="AD" clId="Web-{D2EFF113-E6E8-4062-9EBE-2238439C8FA9}" dt="2025-09-22T03:42:23.598" v="221" actId="20577"/>
          <ac:spMkLst>
            <pc:docMk/>
            <pc:sldMk cId="1126517177" sldId="694"/>
            <ac:spMk id="3" creationId="{26CE25F8-41B2-FD60-8BEF-FD8FC53B2423}"/>
          </ac:spMkLst>
        </pc:spChg>
      </pc:sldChg>
      <pc:sldChg chg="modSp add replId">
        <pc:chgData name="Mohammad Khan" userId="S::mohammad.khan02@northsouth.edu::66e9fb8e-4ed6-4e1e-bddc-ac99ec076f45" providerId="AD" clId="Web-{D2EFF113-E6E8-4062-9EBE-2238439C8FA9}" dt="2025-09-22T05:44:10.386" v="322" actId="20577"/>
        <pc:sldMkLst>
          <pc:docMk/>
          <pc:sldMk cId="2129062074" sldId="695"/>
        </pc:sldMkLst>
        <pc:spChg chg="mod">
          <ac:chgData name="Mohammad Khan" userId="S::mohammad.khan02@northsouth.edu::66e9fb8e-4ed6-4e1e-bddc-ac99ec076f45" providerId="AD" clId="Web-{D2EFF113-E6E8-4062-9EBE-2238439C8FA9}" dt="2025-09-22T03:41:39.941" v="206" actId="20577"/>
          <ac:spMkLst>
            <pc:docMk/>
            <pc:sldMk cId="2129062074" sldId="695"/>
            <ac:spMk id="2" creationId="{A188686F-4829-077F-FBB0-ED4F17C1E201}"/>
          </ac:spMkLst>
        </pc:spChg>
        <pc:spChg chg="mod">
          <ac:chgData name="Mohammad Khan" userId="S::mohammad.khan02@northsouth.edu::66e9fb8e-4ed6-4e1e-bddc-ac99ec076f45" providerId="AD" clId="Web-{D2EFF113-E6E8-4062-9EBE-2238439C8FA9}" dt="2025-09-22T05:44:10.386" v="322" actId="20577"/>
          <ac:spMkLst>
            <pc:docMk/>
            <pc:sldMk cId="2129062074" sldId="695"/>
            <ac:spMk id="3" creationId="{D5D4D13B-25D4-C6BB-6710-4CA12D083995}"/>
          </ac:spMkLst>
        </pc:spChg>
      </pc:sldChg>
      <pc:sldChg chg="modSp new">
        <pc:chgData name="Mohammad Khan" userId="S::mohammad.khan02@northsouth.edu::66e9fb8e-4ed6-4e1e-bddc-ac99ec076f45" providerId="AD" clId="Web-{D2EFF113-E6E8-4062-9EBE-2238439C8FA9}" dt="2025-09-22T05:56:16.224" v="416" actId="20577"/>
        <pc:sldMkLst>
          <pc:docMk/>
          <pc:sldMk cId="2470407831" sldId="696"/>
        </pc:sldMkLst>
        <pc:spChg chg="mod">
          <ac:chgData name="Mohammad Khan" userId="S::mohammad.khan02@northsouth.edu::66e9fb8e-4ed6-4e1e-bddc-ac99ec076f45" providerId="AD" clId="Web-{D2EFF113-E6E8-4062-9EBE-2238439C8FA9}" dt="2025-09-22T05:50:19.426" v="334" actId="20577"/>
          <ac:spMkLst>
            <pc:docMk/>
            <pc:sldMk cId="2470407831" sldId="696"/>
            <ac:spMk id="2" creationId="{5F9C69D1-BEDF-1697-EC8D-A44FCAF6ABBA}"/>
          </ac:spMkLst>
        </pc:spChg>
        <pc:spChg chg="mod">
          <ac:chgData name="Mohammad Khan" userId="S::mohammad.khan02@northsouth.edu::66e9fb8e-4ed6-4e1e-bddc-ac99ec076f45" providerId="AD" clId="Web-{D2EFF113-E6E8-4062-9EBE-2238439C8FA9}" dt="2025-09-22T05:56:16.224" v="416" actId="20577"/>
          <ac:spMkLst>
            <pc:docMk/>
            <pc:sldMk cId="2470407831" sldId="696"/>
            <ac:spMk id="3" creationId="{DA13E97D-58B4-CCE5-283E-1957120308EF}"/>
          </ac:spMkLst>
        </pc:spChg>
      </pc:sldChg>
      <pc:sldChg chg="modSp new">
        <pc:chgData name="Mohammad Khan" userId="S::mohammad.khan02@northsouth.edu::66e9fb8e-4ed6-4e1e-bddc-ac99ec076f45" providerId="AD" clId="Web-{D2EFF113-E6E8-4062-9EBE-2238439C8FA9}" dt="2025-09-22T05:59:24.278" v="499" actId="20577"/>
        <pc:sldMkLst>
          <pc:docMk/>
          <pc:sldMk cId="997509977" sldId="697"/>
        </pc:sldMkLst>
        <pc:spChg chg="mod">
          <ac:chgData name="Mohammad Khan" userId="S::mohammad.khan02@northsouth.edu::66e9fb8e-4ed6-4e1e-bddc-ac99ec076f45" providerId="AD" clId="Web-{D2EFF113-E6E8-4062-9EBE-2238439C8FA9}" dt="2025-09-22T05:56:32.849" v="426" actId="20577"/>
          <ac:spMkLst>
            <pc:docMk/>
            <pc:sldMk cId="997509977" sldId="697"/>
            <ac:spMk id="2" creationId="{2504BEF3-8445-1366-1AAD-EC3BCE1A49D2}"/>
          </ac:spMkLst>
        </pc:spChg>
        <pc:spChg chg="mod">
          <ac:chgData name="Mohammad Khan" userId="S::mohammad.khan02@northsouth.edu::66e9fb8e-4ed6-4e1e-bddc-ac99ec076f45" providerId="AD" clId="Web-{D2EFF113-E6E8-4062-9EBE-2238439C8FA9}" dt="2025-09-22T05:59:24.278" v="499" actId="20577"/>
          <ac:spMkLst>
            <pc:docMk/>
            <pc:sldMk cId="997509977" sldId="697"/>
            <ac:spMk id="3" creationId="{684BBB46-8F17-62BC-3E2C-926DFC61AE1A}"/>
          </ac:spMkLst>
        </pc:spChg>
      </pc:sldChg>
      <pc:sldChg chg="new">
        <pc:chgData name="Mohammad Khan" userId="S::mohammad.khan02@northsouth.edu::66e9fb8e-4ed6-4e1e-bddc-ac99ec076f45" providerId="AD" clId="Web-{D2EFF113-E6E8-4062-9EBE-2238439C8FA9}" dt="2025-09-22T06:06:53.993" v="536"/>
        <pc:sldMkLst>
          <pc:docMk/>
          <pc:sldMk cId="914556553" sldId="698"/>
        </pc:sldMkLst>
      </pc:sldChg>
      <pc:sldChg chg="new">
        <pc:chgData name="Mohammad Khan" userId="S::mohammad.khan02@northsouth.edu::66e9fb8e-4ed6-4e1e-bddc-ac99ec076f45" providerId="AD" clId="Web-{D2EFF113-E6E8-4062-9EBE-2238439C8FA9}" dt="2025-09-22T06:06:59.166" v="537"/>
        <pc:sldMkLst>
          <pc:docMk/>
          <pc:sldMk cId="3271981333" sldId="699"/>
        </pc:sldMkLst>
      </pc:sldChg>
      <pc:sldChg chg="modSp add replId">
        <pc:chgData name="Mohammad Khan" userId="S::mohammad.khan02@northsouth.edu::66e9fb8e-4ed6-4e1e-bddc-ac99ec076f45" providerId="AD" clId="Web-{D2EFF113-E6E8-4062-9EBE-2238439C8FA9}" dt="2025-09-22T06:12:24.170" v="602" actId="20577"/>
        <pc:sldMkLst>
          <pc:docMk/>
          <pc:sldMk cId="440476572" sldId="700"/>
        </pc:sldMkLst>
        <pc:spChg chg="mod">
          <ac:chgData name="Mohammad Khan" userId="S::mohammad.khan02@northsouth.edu::66e9fb8e-4ed6-4e1e-bddc-ac99ec076f45" providerId="AD" clId="Web-{D2EFF113-E6E8-4062-9EBE-2238439C8FA9}" dt="2025-09-22T06:12:24.170" v="602" actId="20577"/>
          <ac:spMkLst>
            <pc:docMk/>
            <pc:sldMk cId="440476572" sldId="700"/>
            <ac:spMk id="3" creationId="{C4C38B5D-204E-C72D-DF64-2B3783CE5B1F}"/>
          </ac:spMkLst>
        </pc:spChg>
      </pc:sldChg>
    </pc:docChg>
  </pc:docChgLst>
  <pc:docChgLst>
    <pc:chgData name="Mohammad Khan" userId="S::mohammad.khan02@northsouth.edu::66e9fb8e-4ed6-4e1e-bddc-ac99ec076f45" providerId="AD" clId="Web-{3EBF9B22-C3EB-C5BF-DE51-46285ED4ABCF}"/>
    <pc:docChg chg="addSld delSld modSld">
      <pc:chgData name="Mohammad Khan" userId="S::mohammad.khan02@northsouth.edu::66e9fb8e-4ed6-4e1e-bddc-ac99ec076f45" providerId="AD" clId="Web-{3EBF9B22-C3EB-C5BF-DE51-46285ED4ABCF}" dt="2025-09-24T08:41:53.886" v="66" actId="20577"/>
      <pc:docMkLst>
        <pc:docMk/>
      </pc:docMkLst>
      <pc:sldChg chg="del">
        <pc:chgData name="Mohammad Khan" userId="S::mohammad.khan02@northsouth.edu::66e9fb8e-4ed6-4e1e-bddc-ac99ec076f45" providerId="AD" clId="Web-{3EBF9B22-C3EB-C5BF-DE51-46285ED4ABCF}" dt="2025-09-24T07:03:53.778" v="6"/>
        <pc:sldMkLst>
          <pc:docMk/>
          <pc:sldMk cId="1296799866" sldId="658"/>
        </pc:sldMkLst>
      </pc:sldChg>
      <pc:sldChg chg="modSp add del">
        <pc:chgData name="Mohammad Khan" userId="S::mohammad.khan02@northsouth.edu::66e9fb8e-4ed6-4e1e-bddc-ac99ec076f45" providerId="AD" clId="Web-{3EBF9B22-C3EB-C5BF-DE51-46285ED4ABCF}" dt="2025-09-24T07:08:40.719" v="49" actId="20577"/>
        <pc:sldMkLst>
          <pc:docMk/>
          <pc:sldMk cId="4026749427" sldId="662"/>
        </pc:sldMkLst>
        <pc:spChg chg="mod">
          <ac:chgData name="Mohammad Khan" userId="S::mohammad.khan02@northsouth.edu::66e9fb8e-4ed6-4e1e-bddc-ac99ec076f45" providerId="AD" clId="Web-{3EBF9B22-C3EB-C5BF-DE51-46285ED4ABCF}" dt="2025-09-24T07:08:40.719" v="49" actId="20577"/>
          <ac:spMkLst>
            <pc:docMk/>
            <pc:sldMk cId="4026749427" sldId="662"/>
            <ac:spMk id="3" creationId="{9FE0B0B0-6779-CD16-522B-335E65EA5123}"/>
          </ac:spMkLst>
        </pc:spChg>
      </pc:sldChg>
      <pc:sldChg chg="add del">
        <pc:chgData name="Mohammad Khan" userId="S::mohammad.khan02@northsouth.edu::66e9fb8e-4ed6-4e1e-bddc-ac99ec076f45" providerId="AD" clId="Web-{3EBF9B22-C3EB-C5BF-DE51-46285ED4ABCF}" dt="2025-09-24T07:06:53.234" v="29"/>
        <pc:sldMkLst>
          <pc:docMk/>
          <pc:sldMk cId="2096561844" sldId="663"/>
        </pc:sldMkLst>
      </pc:sldChg>
      <pc:sldChg chg="add del">
        <pc:chgData name="Mohammad Khan" userId="S::mohammad.khan02@northsouth.edu::66e9fb8e-4ed6-4e1e-bddc-ac99ec076f45" providerId="AD" clId="Web-{3EBF9B22-C3EB-C5BF-DE51-46285ED4ABCF}" dt="2025-09-24T07:06:53.265" v="30"/>
        <pc:sldMkLst>
          <pc:docMk/>
          <pc:sldMk cId="84014327" sldId="664"/>
        </pc:sldMkLst>
      </pc:sldChg>
      <pc:sldChg chg="del">
        <pc:chgData name="Mohammad Khan" userId="S::mohammad.khan02@northsouth.edu::66e9fb8e-4ed6-4e1e-bddc-ac99ec076f45" providerId="AD" clId="Web-{3EBF9B22-C3EB-C5BF-DE51-46285ED4ABCF}" dt="2025-09-24T07:03:56.060" v="7"/>
        <pc:sldMkLst>
          <pc:docMk/>
          <pc:sldMk cId="3860651382" sldId="665"/>
        </pc:sldMkLst>
      </pc:sldChg>
      <pc:sldChg chg="del">
        <pc:chgData name="Mohammad Khan" userId="S::mohammad.khan02@northsouth.edu::66e9fb8e-4ed6-4e1e-bddc-ac99ec076f45" providerId="AD" clId="Web-{3EBF9B22-C3EB-C5BF-DE51-46285ED4ABCF}" dt="2025-09-24T07:07:51.172" v="45"/>
        <pc:sldMkLst>
          <pc:docMk/>
          <pc:sldMk cId="3771150392" sldId="666"/>
        </pc:sldMkLst>
      </pc:sldChg>
      <pc:sldChg chg="del">
        <pc:chgData name="Mohammad Khan" userId="S::mohammad.khan02@northsouth.edu::66e9fb8e-4ed6-4e1e-bddc-ac99ec076f45" providerId="AD" clId="Web-{3EBF9B22-C3EB-C5BF-DE51-46285ED4ABCF}" dt="2025-09-24T07:06:16.671" v="24"/>
        <pc:sldMkLst>
          <pc:docMk/>
          <pc:sldMk cId="1118670590" sldId="667"/>
        </pc:sldMkLst>
      </pc:sldChg>
      <pc:sldChg chg="add del">
        <pc:chgData name="Mohammad Khan" userId="S::mohammad.khan02@northsouth.edu::66e9fb8e-4ed6-4e1e-bddc-ac99ec076f45" providerId="AD" clId="Web-{3EBF9B22-C3EB-C5BF-DE51-46285ED4ABCF}" dt="2025-09-24T07:03:13.637" v="3"/>
        <pc:sldMkLst>
          <pc:docMk/>
          <pc:sldMk cId="2377606753" sldId="668"/>
        </pc:sldMkLst>
      </pc:sldChg>
      <pc:sldChg chg="del">
        <pc:chgData name="Mohammad Khan" userId="S::mohammad.khan02@northsouth.edu::66e9fb8e-4ed6-4e1e-bddc-ac99ec076f45" providerId="AD" clId="Web-{3EBF9B22-C3EB-C5BF-DE51-46285ED4ABCF}" dt="2025-09-24T07:03:13.637" v="2"/>
        <pc:sldMkLst>
          <pc:docMk/>
          <pc:sldMk cId="1883771504" sldId="671"/>
        </pc:sldMkLst>
      </pc:sldChg>
      <pc:sldChg chg="modSp">
        <pc:chgData name="Mohammad Khan" userId="S::mohammad.khan02@northsouth.edu::66e9fb8e-4ed6-4e1e-bddc-ac99ec076f45" providerId="AD" clId="Web-{3EBF9B22-C3EB-C5BF-DE51-46285ED4ABCF}" dt="2025-09-24T08:37:50.149" v="54" actId="20577"/>
        <pc:sldMkLst>
          <pc:docMk/>
          <pc:sldMk cId="1516891467" sldId="677"/>
        </pc:sldMkLst>
        <pc:spChg chg="mod">
          <ac:chgData name="Mohammad Khan" userId="S::mohammad.khan02@northsouth.edu::66e9fb8e-4ed6-4e1e-bddc-ac99ec076f45" providerId="AD" clId="Web-{3EBF9B22-C3EB-C5BF-DE51-46285ED4ABCF}" dt="2025-09-24T08:37:50.149" v="54" actId="20577"/>
          <ac:spMkLst>
            <pc:docMk/>
            <pc:sldMk cId="1516891467" sldId="677"/>
            <ac:spMk id="3" creationId="{515E3092-88F1-57C9-3569-67826F90AA1D}"/>
          </ac:spMkLst>
        </pc:spChg>
      </pc:sldChg>
      <pc:sldChg chg="modSp">
        <pc:chgData name="Mohammad Khan" userId="S::mohammad.khan02@northsouth.edu::66e9fb8e-4ed6-4e1e-bddc-ac99ec076f45" providerId="AD" clId="Web-{3EBF9B22-C3EB-C5BF-DE51-46285ED4ABCF}" dt="2025-09-24T08:38:45.384" v="63" actId="20577"/>
        <pc:sldMkLst>
          <pc:docMk/>
          <pc:sldMk cId="4024618139" sldId="678"/>
        </pc:sldMkLst>
        <pc:spChg chg="mod">
          <ac:chgData name="Mohammad Khan" userId="S::mohammad.khan02@northsouth.edu::66e9fb8e-4ed6-4e1e-bddc-ac99ec076f45" providerId="AD" clId="Web-{3EBF9B22-C3EB-C5BF-DE51-46285ED4ABCF}" dt="2025-09-24T08:38:45.384" v="63" actId="20577"/>
          <ac:spMkLst>
            <pc:docMk/>
            <pc:sldMk cId="4024618139" sldId="678"/>
            <ac:spMk id="3" creationId="{65F8BB20-775D-2E55-E5D8-929079F5107E}"/>
          </ac:spMkLst>
        </pc:spChg>
      </pc:sldChg>
      <pc:sldChg chg="modSp">
        <pc:chgData name="Mohammad Khan" userId="S::mohammad.khan02@northsouth.edu::66e9fb8e-4ed6-4e1e-bddc-ac99ec076f45" providerId="AD" clId="Web-{3EBF9B22-C3EB-C5BF-DE51-46285ED4ABCF}" dt="2025-09-24T08:41:53.886" v="66" actId="20577"/>
        <pc:sldMkLst>
          <pc:docMk/>
          <pc:sldMk cId="1189013215" sldId="680"/>
        </pc:sldMkLst>
        <pc:spChg chg="mod">
          <ac:chgData name="Mohammad Khan" userId="S::mohammad.khan02@northsouth.edu::66e9fb8e-4ed6-4e1e-bddc-ac99ec076f45" providerId="AD" clId="Web-{3EBF9B22-C3EB-C5BF-DE51-46285ED4ABCF}" dt="2025-09-24T08:41:53.886" v="66" actId="20577"/>
          <ac:spMkLst>
            <pc:docMk/>
            <pc:sldMk cId="1189013215" sldId="680"/>
            <ac:spMk id="3" creationId="{6690B17E-D1FD-4E62-0630-98196A264DCC}"/>
          </ac:spMkLst>
        </pc:spChg>
      </pc:sldChg>
      <pc:sldChg chg="modSp add del">
        <pc:chgData name="Mohammad Khan" userId="S::mohammad.khan02@northsouth.edu::66e9fb8e-4ed6-4e1e-bddc-ac99ec076f45" providerId="AD" clId="Web-{3EBF9B22-C3EB-C5BF-DE51-46285ED4ABCF}" dt="2025-09-24T07:07:37.875" v="44" actId="20577"/>
        <pc:sldMkLst>
          <pc:docMk/>
          <pc:sldMk cId="440476572" sldId="700"/>
        </pc:sldMkLst>
        <pc:spChg chg="mod">
          <ac:chgData name="Mohammad Khan" userId="S::mohammad.khan02@northsouth.edu::66e9fb8e-4ed6-4e1e-bddc-ac99ec076f45" providerId="AD" clId="Web-{3EBF9B22-C3EB-C5BF-DE51-46285ED4ABCF}" dt="2025-09-24T07:07:37.875" v="44" actId="20577"/>
          <ac:spMkLst>
            <pc:docMk/>
            <pc:sldMk cId="440476572" sldId="700"/>
            <ac:spMk id="2" creationId="{D13E3749-D875-3251-8783-48E42D9FDE3D}"/>
          </ac:spMkLst>
        </pc:spChg>
        <pc:spChg chg="mod">
          <ac:chgData name="Mohammad Khan" userId="S::mohammad.khan02@northsouth.edu::66e9fb8e-4ed6-4e1e-bddc-ac99ec076f45" providerId="AD" clId="Web-{3EBF9B22-C3EB-C5BF-DE51-46285ED4ABCF}" dt="2025-09-24T07:07:21.984" v="36" actId="20577"/>
          <ac:spMkLst>
            <pc:docMk/>
            <pc:sldMk cId="440476572" sldId="700"/>
            <ac:spMk id="3" creationId="{C4C38B5D-204E-C72D-DF64-2B3783CE5B1F}"/>
          </ac:spMkLst>
        </pc:spChg>
      </pc:sldChg>
    </pc:docChg>
  </pc:docChgLst>
  <pc:docChgLst>
    <pc:chgData name="Mohammad Khan" userId="S::mohammad.khan02@northsouth.edu::66e9fb8e-4ed6-4e1e-bddc-ac99ec076f45" providerId="AD" clId="Web-{69A0CA9E-5271-6044-7B4F-8BFDCD5BCE01}"/>
    <pc:docChg chg="modSld">
      <pc:chgData name="Mohammad Khan" userId="S::mohammad.khan02@northsouth.edu::66e9fb8e-4ed6-4e1e-bddc-ac99ec076f45" providerId="AD" clId="Web-{69A0CA9E-5271-6044-7B4F-8BFDCD5BCE01}" dt="2025-09-22T08:42:56.230" v="165" actId="20577"/>
      <pc:docMkLst>
        <pc:docMk/>
      </pc:docMkLst>
      <pc:sldChg chg="modSp">
        <pc:chgData name="Mohammad Khan" userId="S::mohammad.khan02@northsouth.edu::66e9fb8e-4ed6-4e1e-bddc-ac99ec076f45" providerId="AD" clId="Web-{69A0CA9E-5271-6044-7B4F-8BFDCD5BCE01}" dt="2025-09-22T08:35:20.303" v="116" actId="20577"/>
        <pc:sldMkLst>
          <pc:docMk/>
          <pc:sldMk cId="2233285381" sldId="311"/>
        </pc:sldMkLst>
        <pc:spChg chg="mod">
          <ac:chgData name="Mohammad Khan" userId="S::mohammad.khan02@northsouth.edu::66e9fb8e-4ed6-4e1e-bddc-ac99ec076f45" providerId="AD" clId="Web-{69A0CA9E-5271-6044-7B4F-8BFDCD5BCE01}" dt="2025-09-22T08:35:20.303" v="116" actId="20577"/>
          <ac:spMkLst>
            <pc:docMk/>
            <pc:sldMk cId="2233285381" sldId="311"/>
            <ac:spMk id="3" creationId="{00000000-0000-0000-0000-000000000000}"/>
          </ac:spMkLst>
        </pc:spChg>
      </pc:sldChg>
      <pc:sldChg chg="modSp">
        <pc:chgData name="Mohammad Khan" userId="S::mohammad.khan02@northsouth.edu::66e9fb8e-4ed6-4e1e-bddc-ac99ec076f45" providerId="AD" clId="Web-{69A0CA9E-5271-6044-7B4F-8BFDCD5BCE01}" dt="2025-09-22T08:42:56.230" v="165" actId="20577"/>
        <pc:sldMkLst>
          <pc:docMk/>
          <pc:sldMk cId="4287943518" sldId="330"/>
        </pc:sldMkLst>
        <pc:spChg chg="mod">
          <ac:chgData name="Mohammad Khan" userId="S::mohammad.khan02@northsouth.edu::66e9fb8e-4ed6-4e1e-bddc-ac99ec076f45" providerId="AD" clId="Web-{69A0CA9E-5271-6044-7B4F-8BFDCD5BCE01}" dt="2025-09-22T08:42:56.230" v="165" actId="20577"/>
          <ac:spMkLst>
            <pc:docMk/>
            <pc:sldMk cId="4287943518" sldId="330"/>
            <ac:spMk id="3" creationId="{695B1F35-60C5-BA9B-0E0E-F020D18E7572}"/>
          </ac:spMkLst>
        </pc:spChg>
      </pc:sldChg>
      <pc:sldChg chg="modSp">
        <pc:chgData name="Mohammad Khan" userId="S::mohammad.khan02@northsouth.edu::66e9fb8e-4ed6-4e1e-bddc-ac99ec076f45" providerId="AD" clId="Web-{69A0CA9E-5271-6044-7B4F-8BFDCD5BCE01}" dt="2025-09-22T08:41:27.017" v="145" actId="20577"/>
        <pc:sldMkLst>
          <pc:docMk/>
          <pc:sldMk cId="561848264" sldId="341"/>
        </pc:sldMkLst>
        <pc:spChg chg="mod">
          <ac:chgData name="Mohammad Khan" userId="S::mohammad.khan02@northsouth.edu::66e9fb8e-4ed6-4e1e-bddc-ac99ec076f45" providerId="AD" clId="Web-{69A0CA9E-5271-6044-7B4F-8BFDCD5BCE01}" dt="2025-09-22T08:41:27.017" v="145" actId="20577"/>
          <ac:spMkLst>
            <pc:docMk/>
            <pc:sldMk cId="561848264" sldId="341"/>
            <ac:spMk id="3" creationId="{FCC0E734-4D2F-92C6-4B58-CB8BB5A03742}"/>
          </ac:spMkLst>
        </pc:spChg>
      </pc:sldChg>
      <pc:sldChg chg="modSp">
        <pc:chgData name="Mohammad Khan" userId="S::mohammad.khan02@northsouth.edu::66e9fb8e-4ed6-4e1e-bddc-ac99ec076f45" providerId="AD" clId="Web-{69A0CA9E-5271-6044-7B4F-8BFDCD5BCE01}" dt="2025-09-22T08:17:19.685" v="77" actId="20577"/>
        <pc:sldMkLst>
          <pc:docMk/>
          <pc:sldMk cId="2952369759" sldId="342"/>
        </pc:sldMkLst>
        <pc:spChg chg="mod">
          <ac:chgData name="Mohammad Khan" userId="S::mohammad.khan02@northsouth.edu::66e9fb8e-4ed6-4e1e-bddc-ac99ec076f45" providerId="AD" clId="Web-{69A0CA9E-5271-6044-7B4F-8BFDCD5BCE01}" dt="2025-09-22T08:17:19.685" v="77" actId="20577"/>
          <ac:spMkLst>
            <pc:docMk/>
            <pc:sldMk cId="2952369759" sldId="342"/>
            <ac:spMk id="3" creationId="{CEAA32C9-EB84-74E6-5481-76D1D8C26403}"/>
          </ac:spMkLst>
        </pc:spChg>
      </pc:sldChg>
      <pc:sldChg chg="modSp">
        <pc:chgData name="Mohammad Khan" userId="S::mohammad.khan02@northsouth.edu::66e9fb8e-4ed6-4e1e-bddc-ac99ec076f45" providerId="AD" clId="Web-{69A0CA9E-5271-6044-7B4F-8BFDCD5BCE01}" dt="2025-09-22T08:25:39.662" v="106" actId="20577"/>
        <pc:sldMkLst>
          <pc:docMk/>
          <pc:sldMk cId="505949454" sldId="670"/>
        </pc:sldMkLst>
        <pc:spChg chg="mod">
          <ac:chgData name="Mohammad Khan" userId="S::mohammad.khan02@northsouth.edu::66e9fb8e-4ed6-4e1e-bddc-ac99ec076f45" providerId="AD" clId="Web-{69A0CA9E-5271-6044-7B4F-8BFDCD5BCE01}" dt="2025-09-22T08:25:39.662" v="106" actId="20577"/>
          <ac:spMkLst>
            <pc:docMk/>
            <pc:sldMk cId="505949454" sldId="670"/>
            <ac:spMk id="2" creationId="{C5EBDEA4-7525-83DC-E5BA-F3B9FF252C32}"/>
          </ac:spMkLst>
        </pc:spChg>
        <pc:spChg chg="mod">
          <ac:chgData name="Mohammad Khan" userId="S::mohammad.khan02@northsouth.edu::66e9fb8e-4ed6-4e1e-bddc-ac99ec076f45" providerId="AD" clId="Web-{69A0CA9E-5271-6044-7B4F-8BFDCD5BCE01}" dt="2025-09-22T08:25:20.489" v="93" actId="20577"/>
          <ac:spMkLst>
            <pc:docMk/>
            <pc:sldMk cId="505949454" sldId="670"/>
            <ac:spMk id="3" creationId="{ED174965-0294-F735-14FE-582D77DD900C}"/>
          </ac:spMkLst>
        </pc:spChg>
      </pc:sldChg>
      <pc:sldChg chg="modSp">
        <pc:chgData name="Mohammad Khan" userId="S::mohammad.khan02@northsouth.edu::66e9fb8e-4ed6-4e1e-bddc-ac99ec076f45" providerId="AD" clId="Web-{69A0CA9E-5271-6044-7B4F-8BFDCD5BCE01}" dt="2025-09-22T08:35:44.272" v="119" actId="20577"/>
        <pc:sldMkLst>
          <pc:docMk/>
          <pc:sldMk cId="3699600643" sldId="685"/>
        </pc:sldMkLst>
        <pc:spChg chg="mod">
          <ac:chgData name="Mohammad Khan" userId="S::mohammad.khan02@northsouth.edu::66e9fb8e-4ed6-4e1e-bddc-ac99ec076f45" providerId="AD" clId="Web-{69A0CA9E-5271-6044-7B4F-8BFDCD5BCE01}" dt="2025-09-22T08:35:44.272" v="119" actId="20577"/>
          <ac:spMkLst>
            <pc:docMk/>
            <pc:sldMk cId="3699600643" sldId="685"/>
            <ac:spMk id="2" creationId="{5F4CAB8F-E016-BD6B-A85C-8E1689CA85D0}"/>
          </ac:spMkLst>
        </pc:spChg>
      </pc:sldChg>
    </pc:docChg>
  </pc:docChgLst>
  <pc:docChgLst>
    <pc:chgData name="Mohammad Khan" userId="S::mohammad.khan02@northsouth.edu::66e9fb8e-4ed6-4e1e-bddc-ac99ec076f45" providerId="AD" clId="Web-{357A33A2-E3E1-8974-CEA9-950635693028}"/>
    <pc:docChg chg="addSld delSld modSld">
      <pc:chgData name="Mohammad Khan" userId="S::mohammad.khan02@northsouth.edu::66e9fb8e-4ed6-4e1e-bddc-ac99ec076f45" providerId="AD" clId="Web-{357A33A2-E3E1-8974-CEA9-950635693028}" dt="2025-09-22T08:09:51.076" v="487" actId="20577"/>
      <pc:docMkLst>
        <pc:docMk/>
      </pc:docMkLst>
      <pc:sldChg chg="modSp">
        <pc:chgData name="Mohammad Khan" userId="S::mohammad.khan02@northsouth.edu::66e9fb8e-4ed6-4e1e-bddc-ac99ec076f45" providerId="AD" clId="Web-{357A33A2-E3E1-8974-CEA9-950635693028}" dt="2025-09-22T07:42:20.845" v="330" actId="20577"/>
        <pc:sldMkLst>
          <pc:docMk/>
          <pc:sldMk cId="234316774" sldId="305"/>
        </pc:sldMkLst>
        <pc:spChg chg="mod">
          <ac:chgData name="Mohammad Khan" userId="S::mohammad.khan02@northsouth.edu::66e9fb8e-4ed6-4e1e-bddc-ac99ec076f45" providerId="AD" clId="Web-{357A33A2-E3E1-8974-CEA9-950635693028}" dt="2025-09-22T07:42:20.845" v="330" actId="20577"/>
          <ac:spMkLst>
            <pc:docMk/>
            <pc:sldMk cId="234316774" sldId="305"/>
            <ac:spMk id="3" creationId="{00000000-0000-0000-0000-000000000000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7:41:16.219" v="328" actId="20577"/>
        <pc:sldMkLst>
          <pc:docMk/>
          <pc:sldMk cId="938807217" sldId="308"/>
        </pc:sldMkLst>
        <pc:spChg chg="mod">
          <ac:chgData name="Mohammad Khan" userId="S::mohammad.khan02@northsouth.edu::66e9fb8e-4ed6-4e1e-bddc-ac99ec076f45" providerId="AD" clId="Web-{357A33A2-E3E1-8974-CEA9-950635693028}" dt="2025-09-22T07:41:16.219" v="328" actId="20577"/>
          <ac:spMkLst>
            <pc:docMk/>
            <pc:sldMk cId="938807217" sldId="308"/>
            <ac:spMk id="3" creationId="{00000000-0000-0000-0000-000000000000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7:25:08.548" v="271" actId="20577"/>
        <pc:sldMkLst>
          <pc:docMk/>
          <pc:sldMk cId="1374112941" sldId="310"/>
        </pc:sldMkLst>
        <pc:spChg chg="mod">
          <ac:chgData name="Mohammad Khan" userId="S::mohammad.khan02@northsouth.edu::66e9fb8e-4ed6-4e1e-bddc-ac99ec076f45" providerId="AD" clId="Web-{357A33A2-E3E1-8974-CEA9-950635693028}" dt="2025-09-22T07:25:08.548" v="271" actId="20577"/>
          <ac:spMkLst>
            <pc:docMk/>
            <pc:sldMk cId="1374112941" sldId="310"/>
            <ac:spMk id="3" creationId="{00000000-0000-0000-0000-000000000000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7:28:06.230" v="318" actId="20577"/>
        <pc:sldMkLst>
          <pc:docMk/>
          <pc:sldMk cId="2233285381" sldId="311"/>
        </pc:sldMkLst>
        <pc:spChg chg="mod">
          <ac:chgData name="Mohammad Khan" userId="S::mohammad.khan02@northsouth.edu::66e9fb8e-4ed6-4e1e-bddc-ac99ec076f45" providerId="AD" clId="Web-{357A33A2-E3E1-8974-CEA9-950635693028}" dt="2025-09-22T07:28:06.230" v="318" actId="20577"/>
          <ac:spMkLst>
            <pc:docMk/>
            <pc:sldMk cId="2233285381" sldId="311"/>
            <ac:spMk id="3" creationId="{00000000-0000-0000-0000-000000000000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8:09:51.076" v="487" actId="20577"/>
        <pc:sldMkLst>
          <pc:docMk/>
          <pc:sldMk cId="4287943518" sldId="330"/>
        </pc:sldMkLst>
        <pc:spChg chg="mod">
          <ac:chgData name="Mohammad Khan" userId="S::mohammad.khan02@northsouth.edu::66e9fb8e-4ed6-4e1e-bddc-ac99ec076f45" providerId="AD" clId="Web-{357A33A2-E3E1-8974-CEA9-950635693028}" dt="2025-09-22T08:09:51.076" v="487" actId="20577"/>
          <ac:spMkLst>
            <pc:docMk/>
            <pc:sldMk cId="4287943518" sldId="330"/>
            <ac:spMk id="3" creationId="{695B1F35-60C5-BA9B-0E0E-F020D18E7572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8:08:06.855" v="483" actId="20577"/>
        <pc:sldMkLst>
          <pc:docMk/>
          <pc:sldMk cId="561848264" sldId="341"/>
        </pc:sldMkLst>
        <pc:spChg chg="mod">
          <ac:chgData name="Mohammad Khan" userId="S::mohammad.khan02@northsouth.edu::66e9fb8e-4ed6-4e1e-bddc-ac99ec076f45" providerId="AD" clId="Web-{357A33A2-E3E1-8974-CEA9-950635693028}" dt="2025-09-22T08:08:06.855" v="483" actId="20577"/>
          <ac:spMkLst>
            <pc:docMk/>
            <pc:sldMk cId="561848264" sldId="341"/>
            <ac:spMk id="3" creationId="{FCC0E734-4D2F-92C6-4B58-CB8BB5A03742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8:09:18.076" v="486" actId="20577"/>
        <pc:sldMkLst>
          <pc:docMk/>
          <pc:sldMk cId="2952369759" sldId="342"/>
        </pc:sldMkLst>
        <pc:spChg chg="mod">
          <ac:chgData name="Mohammad Khan" userId="S::mohammad.khan02@northsouth.edu::66e9fb8e-4ed6-4e1e-bddc-ac99ec076f45" providerId="AD" clId="Web-{357A33A2-E3E1-8974-CEA9-950635693028}" dt="2025-09-22T08:09:18.076" v="486" actId="20577"/>
          <ac:spMkLst>
            <pc:docMk/>
            <pc:sldMk cId="2952369759" sldId="342"/>
            <ac:spMk id="3" creationId="{CEAA32C9-EB84-74E6-5481-76D1D8C26403}"/>
          </ac:spMkLst>
        </pc:spChg>
      </pc:sldChg>
      <pc:sldChg chg="modSp">
        <pc:chgData name="Mohammad Khan" userId="S::mohammad.khan02@northsouth.edu::66e9fb8e-4ed6-4e1e-bddc-ac99ec076f45" providerId="AD" clId="Web-{357A33A2-E3E1-8974-CEA9-950635693028}" dt="2025-09-22T07:10:06.069" v="2" actId="20577"/>
        <pc:sldMkLst>
          <pc:docMk/>
          <pc:sldMk cId="505949454" sldId="670"/>
        </pc:sldMkLst>
        <pc:spChg chg="mod">
          <ac:chgData name="Mohammad Khan" userId="S::mohammad.khan02@northsouth.edu::66e9fb8e-4ed6-4e1e-bddc-ac99ec076f45" providerId="AD" clId="Web-{357A33A2-E3E1-8974-CEA9-950635693028}" dt="2025-09-22T07:10:06.069" v="2" actId="20577"/>
          <ac:spMkLst>
            <pc:docMk/>
            <pc:sldMk cId="505949454" sldId="670"/>
            <ac:spMk id="2" creationId="{C5EBDEA4-7525-83DC-E5BA-F3B9FF252C32}"/>
          </ac:spMkLst>
        </pc:spChg>
      </pc:sldChg>
      <pc:sldChg chg="modSp add replId">
        <pc:chgData name="Mohammad Khan" userId="S::mohammad.khan02@northsouth.edu::66e9fb8e-4ed6-4e1e-bddc-ac99ec076f45" providerId="AD" clId="Web-{357A33A2-E3E1-8974-CEA9-950635693028}" dt="2025-09-22T07:18:14.371" v="95" actId="20577"/>
        <pc:sldMkLst>
          <pc:docMk/>
          <pc:sldMk cId="1820076599" sldId="701"/>
        </pc:sldMkLst>
        <pc:spChg chg="mod">
          <ac:chgData name="Mohammad Khan" userId="S::mohammad.khan02@northsouth.edu::66e9fb8e-4ed6-4e1e-bddc-ac99ec076f45" providerId="AD" clId="Web-{357A33A2-E3E1-8974-CEA9-950635693028}" dt="2025-09-22T07:18:14.371" v="95" actId="20577"/>
          <ac:spMkLst>
            <pc:docMk/>
            <pc:sldMk cId="1820076599" sldId="701"/>
            <ac:spMk id="3" creationId="{7424BA6C-D58D-DF97-E221-E8D0F77E51FF}"/>
          </ac:spMkLst>
        </pc:spChg>
      </pc:sldChg>
      <pc:sldChg chg="modSp new">
        <pc:chgData name="Mohammad Khan" userId="S::mohammad.khan02@northsouth.edu::66e9fb8e-4ed6-4e1e-bddc-ac99ec076f45" providerId="AD" clId="Web-{357A33A2-E3E1-8974-CEA9-950635693028}" dt="2025-09-22T07:56:33.626" v="438" actId="20577"/>
        <pc:sldMkLst>
          <pc:docMk/>
          <pc:sldMk cId="531156981" sldId="702"/>
        </pc:sldMkLst>
        <pc:spChg chg="mod">
          <ac:chgData name="Mohammad Khan" userId="S::mohammad.khan02@northsouth.edu::66e9fb8e-4ed6-4e1e-bddc-ac99ec076f45" providerId="AD" clId="Web-{357A33A2-E3E1-8974-CEA9-950635693028}" dt="2025-09-22T07:47:32.723" v="344" actId="20577"/>
          <ac:spMkLst>
            <pc:docMk/>
            <pc:sldMk cId="531156981" sldId="702"/>
            <ac:spMk id="2" creationId="{8482785E-C762-189E-607E-DA52D6BF2EA1}"/>
          </ac:spMkLst>
        </pc:spChg>
        <pc:spChg chg="mod">
          <ac:chgData name="Mohammad Khan" userId="S::mohammad.khan02@northsouth.edu::66e9fb8e-4ed6-4e1e-bddc-ac99ec076f45" providerId="AD" clId="Web-{357A33A2-E3E1-8974-CEA9-950635693028}" dt="2025-09-22T07:56:33.626" v="438" actId="20577"/>
          <ac:spMkLst>
            <pc:docMk/>
            <pc:sldMk cId="531156981" sldId="702"/>
            <ac:spMk id="3" creationId="{9F2E63D1-7E87-5837-680B-562DDB2015DF}"/>
          </ac:spMkLst>
        </pc:spChg>
      </pc:sldChg>
    </pc:docChg>
  </pc:docChgLst>
  <pc:docChgLst>
    <pc:chgData name="Mohammad Khan" userId="S::mohammad.khan02@northsouth.edu::66e9fb8e-4ed6-4e1e-bddc-ac99ec076f45" providerId="AD" clId="Web-{CD01C97B-4F38-2DAD-C006-6C3D62B585C8}"/>
    <pc:docChg chg="addSld delSld modSld sldOrd">
      <pc:chgData name="Mohammad Khan" userId="S::mohammad.khan02@northsouth.edu::66e9fb8e-4ed6-4e1e-bddc-ac99ec076f45" providerId="AD" clId="Web-{CD01C97B-4F38-2DAD-C006-6C3D62B585C8}" dt="2025-09-21T21:42:50.906" v="367"/>
      <pc:docMkLst>
        <pc:docMk/>
      </pc:docMkLst>
      <pc:sldChg chg="add del">
        <pc:chgData name="Mohammad Khan" userId="S::mohammad.khan02@northsouth.edu::66e9fb8e-4ed6-4e1e-bddc-ac99ec076f45" providerId="AD" clId="Web-{CD01C97B-4F38-2DAD-C006-6C3D62B585C8}" dt="2025-09-21T21:39:29.220" v="363"/>
        <pc:sldMkLst>
          <pc:docMk/>
          <pc:sldMk cId="54249585" sldId="307"/>
        </pc:sldMkLst>
      </pc:sldChg>
      <pc:sldChg chg="modSp">
        <pc:chgData name="Mohammad Khan" userId="S::mohammad.khan02@northsouth.edu::66e9fb8e-4ed6-4e1e-bddc-ac99ec076f45" providerId="AD" clId="Web-{CD01C97B-4F38-2DAD-C006-6C3D62B585C8}" dt="2025-09-21T21:42:37.622" v="366" actId="20577"/>
        <pc:sldMkLst>
          <pc:docMk/>
          <pc:sldMk cId="1115847478" sldId="672"/>
        </pc:sldMkLst>
        <pc:spChg chg="mod">
          <ac:chgData name="Mohammad Khan" userId="S::mohammad.khan02@northsouth.edu::66e9fb8e-4ed6-4e1e-bddc-ac99ec076f45" providerId="AD" clId="Web-{CD01C97B-4F38-2DAD-C006-6C3D62B585C8}" dt="2025-09-21T21:42:37.622" v="366" actId="20577"/>
          <ac:spMkLst>
            <pc:docMk/>
            <pc:sldMk cId="1115847478" sldId="672"/>
            <ac:spMk id="2" creationId="{AE7456B5-388A-C5AE-11FC-90A857011C7E}"/>
          </ac:spMkLst>
        </pc:spChg>
      </pc:sldChg>
      <pc:sldChg chg="addSp delSp modSp new">
        <pc:chgData name="Mohammad Khan" userId="S::mohammad.khan02@northsouth.edu::66e9fb8e-4ed6-4e1e-bddc-ac99ec076f45" providerId="AD" clId="Web-{CD01C97B-4F38-2DAD-C006-6C3D62B585C8}" dt="2025-09-21T21:23:00.258" v="8" actId="1076"/>
        <pc:sldMkLst>
          <pc:docMk/>
          <pc:sldMk cId="4030372503" sldId="688"/>
        </pc:sldMkLst>
        <pc:spChg chg="mod">
          <ac:chgData name="Mohammad Khan" userId="S::mohammad.khan02@northsouth.edu::66e9fb8e-4ed6-4e1e-bddc-ac99ec076f45" providerId="AD" clId="Web-{CD01C97B-4F38-2DAD-C006-6C3D62B585C8}" dt="2025-09-21T21:22:49.304" v="4" actId="20577"/>
          <ac:spMkLst>
            <pc:docMk/>
            <pc:sldMk cId="4030372503" sldId="688"/>
            <ac:spMk id="2" creationId="{2215FCCF-A302-2E93-8C7A-DACF8C3B0CFC}"/>
          </ac:spMkLst>
        </pc:spChg>
        <pc:picChg chg="add mod">
          <ac:chgData name="Mohammad Khan" userId="S::mohammad.khan02@northsouth.edu::66e9fb8e-4ed6-4e1e-bddc-ac99ec076f45" providerId="AD" clId="Web-{CD01C97B-4F38-2DAD-C006-6C3D62B585C8}" dt="2025-09-21T21:23:00.258" v="8" actId="1076"/>
          <ac:picMkLst>
            <pc:docMk/>
            <pc:sldMk cId="4030372503" sldId="688"/>
            <ac:picMk id="4" creationId="{15C2A2B0-2619-9314-8FF3-689D1D25D81B}"/>
          </ac:picMkLst>
        </pc:picChg>
      </pc:sldChg>
      <pc:sldChg chg="modSp new">
        <pc:chgData name="Mohammad Khan" userId="S::mohammad.khan02@northsouth.edu::66e9fb8e-4ed6-4e1e-bddc-ac99ec076f45" providerId="AD" clId="Web-{CD01C97B-4F38-2DAD-C006-6C3D62B585C8}" dt="2025-09-21T21:28:18.631" v="95" actId="20577"/>
        <pc:sldMkLst>
          <pc:docMk/>
          <pc:sldMk cId="1631590243" sldId="689"/>
        </pc:sldMkLst>
        <pc:spChg chg="mod">
          <ac:chgData name="Mohammad Khan" userId="S::mohammad.khan02@northsouth.edu::66e9fb8e-4ed6-4e1e-bddc-ac99ec076f45" providerId="AD" clId="Web-{CD01C97B-4F38-2DAD-C006-6C3D62B585C8}" dt="2025-09-21T21:25:22.047" v="16" actId="20577"/>
          <ac:spMkLst>
            <pc:docMk/>
            <pc:sldMk cId="1631590243" sldId="689"/>
            <ac:spMk id="2" creationId="{F86D19DE-1DB1-FCBB-BA6E-69E011793729}"/>
          </ac:spMkLst>
        </pc:spChg>
        <pc:spChg chg="mod">
          <ac:chgData name="Mohammad Khan" userId="S::mohammad.khan02@northsouth.edu::66e9fb8e-4ed6-4e1e-bddc-ac99ec076f45" providerId="AD" clId="Web-{CD01C97B-4F38-2DAD-C006-6C3D62B585C8}" dt="2025-09-21T21:28:18.631" v="95" actId="20577"/>
          <ac:spMkLst>
            <pc:docMk/>
            <pc:sldMk cId="1631590243" sldId="689"/>
            <ac:spMk id="3" creationId="{7B0B41B8-D26D-9BD7-6DDD-8D24BA7B2A7F}"/>
          </ac:spMkLst>
        </pc:spChg>
      </pc:sldChg>
      <pc:sldChg chg="modSp new">
        <pc:chgData name="Mohammad Khan" userId="S::mohammad.khan02@northsouth.edu::66e9fb8e-4ed6-4e1e-bddc-ac99ec076f45" providerId="AD" clId="Web-{CD01C97B-4F38-2DAD-C006-6C3D62B585C8}" dt="2025-09-21T21:32:26.444" v="177" actId="20577"/>
        <pc:sldMkLst>
          <pc:docMk/>
          <pc:sldMk cId="1524408780" sldId="690"/>
        </pc:sldMkLst>
        <pc:spChg chg="mod">
          <ac:chgData name="Mohammad Khan" userId="S::mohammad.khan02@northsouth.edu::66e9fb8e-4ed6-4e1e-bddc-ac99ec076f45" providerId="AD" clId="Web-{CD01C97B-4F38-2DAD-C006-6C3D62B585C8}" dt="2025-09-21T21:30:22.232" v="107" actId="20577"/>
          <ac:spMkLst>
            <pc:docMk/>
            <pc:sldMk cId="1524408780" sldId="690"/>
            <ac:spMk id="2" creationId="{01F76D8E-363B-6C90-264F-10A2305E13E1}"/>
          </ac:spMkLst>
        </pc:spChg>
        <pc:spChg chg="mod">
          <ac:chgData name="Mohammad Khan" userId="S::mohammad.khan02@northsouth.edu::66e9fb8e-4ed6-4e1e-bddc-ac99ec076f45" providerId="AD" clId="Web-{CD01C97B-4F38-2DAD-C006-6C3D62B585C8}" dt="2025-09-21T21:32:26.444" v="177" actId="20577"/>
          <ac:spMkLst>
            <pc:docMk/>
            <pc:sldMk cId="1524408780" sldId="690"/>
            <ac:spMk id="3" creationId="{907AB54B-319E-B01A-C23D-5A3D4E23C138}"/>
          </ac:spMkLst>
        </pc:spChg>
      </pc:sldChg>
      <pc:sldChg chg="modSp add replId">
        <pc:chgData name="Mohammad Khan" userId="S::mohammad.khan02@northsouth.edu::66e9fb8e-4ed6-4e1e-bddc-ac99ec076f45" providerId="AD" clId="Web-{CD01C97B-4F38-2DAD-C006-6C3D62B585C8}" dt="2025-09-21T21:34:31.497" v="214" actId="20577"/>
        <pc:sldMkLst>
          <pc:docMk/>
          <pc:sldMk cId="1135714760" sldId="691"/>
        </pc:sldMkLst>
        <pc:spChg chg="mod">
          <ac:chgData name="Mohammad Khan" userId="S::mohammad.khan02@northsouth.edu::66e9fb8e-4ed6-4e1e-bddc-ac99ec076f45" providerId="AD" clId="Web-{CD01C97B-4F38-2DAD-C006-6C3D62B585C8}" dt="2025-09-21T21:34:31.497" v="214" actId="20577"/>
          <ac:spMkLst>
            <pc:docMk/>
            <pc:sldMk cId="1135714760" sldId="691"/>
            <ac:spMk id="3" creationId="{CB6A9300-3436-1C52-9B5C-D63D56B459E3}"/>
          </ac:spMkLst>
        </pc:spChg>
      </pc:sldChg>
      <pc:sldChg chg="modSp new">
        <pc:chgData name="Mohammad Khan" userId="S::mohammad.khan02@northsouth.edu::66e9fb8e-4ed6-4e1e-bddc-ac99ec076f45" providerId="AD" clId="Web-{CD01C97B-4F38-2DAD-C006-6C3D62B585C8}" dt="2025-09-21T21:35:59.969" v="280" actId="20577"/>
        <pc:sldMkLst>
          <pc:docMk/>
          <pc:sldMk cId="1916842448" sldId="692"/>
        </pc:sldMkLst>
        <pc:spChg chg="mod">
          <ac:chgData name="Mohammad Khan" userId="S::mohammad.khan02@northsouth.edu::66e9fb8e-4ed6-4e1e-bddc-ac99ec076f45" providerId="AD" clId="Web-{CD01C97B-4F38-2DAD-C006-6C3D62B585C8}" dt="2025-09-21T21:34:40.201" v="225" actId="20577"/>
          <ac:spMkLst>
            <pc:docMk/>
            <pc:sldMk cId="1916842448" sldId="692"/>
            <ac:spMk id="2" creationId="{29840DB3-5CBB-8E0B-29B9-D350A6CBB6A7}"/>
          </ac:spMkLst>
        </pc:spChg>
        <pc:spChg chg="mod">
          <ac:chgData name="Mohammad Khan" userId="S::mohammad.khan02@northsouth.edu::66e9fb8e-4ed6-4e1e-bddc-ac99ec076f45" providerId="AD" clId="Web-{CD01C97B-4F38-2DAD-C006-6C3D62B585C8}" dt="2025-09-21T21:35:59.969" v="280" actId="20577"/>
          <ac:spMkLst>
            <pc:docMk/>
            <pc:sldMk cId="1916842448" sldId="692"/>
            <ac:spMk id="3" creationId="{AC275065-780B-F1FB-D91E-924CA1E34D1F}"/>
          </ac:spMkLst>
        </pc:spChg>
      </pc:sldChg>
      <pc:sldChg chg="modSp new">
        <pc:chgData name="Mohammad Khan" userId="S::mohammad.khan02@northsouth.edu::66e9fb8e-4ed6-4e1e-bddc-ac99ec076f45" providerId="AD" clId="Web-{CD01C97B-4F38-2DAD-C006-6C3D62B585C8}" dt="2025-09-21T21:37:14.753" v="336" actId="20577"/>
        <pc:sldMkLst>
          <pc:docMk/>
          <pc:sldMk cId="2957087392" sldId="693"/>
        </pc:sldMkLst>
        <pc:spChg chg="mod">
          <ac:chgData name="Mohammad Khan" userId="S::mohammad.khan02@northsouth.edu::66e9fb8e-4ed6-4e1e-bddc-ac99ec076f45" providerId="AD" clId="Web-{CD01C97B-4F38-2DAD-C006-6C3D62B585C8}" dt="2025-09-21T21:36:21.501" v="287" actId="20577"/>
          <ac:spMkLst>
            <pc:docMk/>
            <pc:sldMk cId="2957087392" sldId="693"/>
            <ac:spMk id="2" creationId="{1F87FC6B-3082-1758-98FC-D835759C9990}"/>
          </ac:spMkLst>
        </pc:spChg>
        <pc:spChg chg="mod">
          <ac:chgData name="Mohammad Khan" userId="S::mohammad.khan02@northsouth.edu::66e9fb8e-4ed6-4e1e-bddc-ac99ec076f45" providerId="AD" clId="Web-{CD01C97B-4F38-2DAD-C006-6C3D62B585C8}" dt="2025-09-21T21:37:14.753" v="336" actId="20577"/>
          <ac:spMkLst>
            <pc:docMk/>
            <pc:sldMk cId="2957087392" sldId="693"/>
            <ac:spMk id="3" creationId="{4966A070-BAC0-122C-BB77-F8DE64316264}"/>
          </ac:spMkLst>
        </pc:spChg>
      </pc:sldChg>
    </pc:docChg>
  </pc:docChgLst>
  <pc:docChgLst>
    <pc:chgData name="Mohammad Khan" userId="S::mohammad.khan02@northsouth.edu::66e9fb8e-4ed6-4e1e-bddc-ac99ec076f45" providerId="AD" clId="Web-{77E9C696-B9AF-A0AD-9E27-B594D6A02AD7}"/>
    <pc:docChg chg="modSld">
      <pc:chgData name="Mohammad Khan" userId="S::mohammad.khan02@northsouth.edu::66e9fb8e-4ed6-4e1e-bddc-ac99ec076f45" providerId="AD" clId="Web-{77E9C696-B9AF-A0AD-9E27-B594D6A02AD7}" dt="2025-09-22T20:53:47.675" v="4" actId="20577"/>
      <pc:docMkLst>
        <pc:docMk/>
      </pc:docMkLst>
      <pc:sldChg chg="modSp">
        <pc:chgData name="Mohammad Khan" userId="S::mohammad.khan02@northsouth.edu::66e9fb8e-4ed6-4e1e-bddc-ac99ec076f45" providerId="AD" clId="Web-{77E9C696-B9AF-A0AD-9E27-B594D6A02AD7}" dt="2025-09-22T20:53:47.675" v="4" actId="20577"/>
        <pc:sldMkLst>
          <pc:docMk/>
          <pc:sldMk cId="1516891467" sldId="677"/>
        </pc:sldMkLst>
        <pc:spChg chg="mod">
          <ac:chgData name="Mohammad Khan" userId="S::mohammad.khan02@northsouth.edu::66e9fb8e-4ed6-4e1e-bddc-ac99ec076f45" providerId="AD" clId="Web-{77E9C696-B9AF-A0AD-9E27-B594D6A02AD7}" dt="2025-09-22T20:53:47.675" v="4" actId="20577"/>
          <ac:spMkLst>
            <pc:docMk/>
            <pc:sldMk cId="1516891467" sldId="677"/>
            <ac:spMk id="3" creationId="{515E3092-88F1-57C9-3569-67826F90AA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8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58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499809"/>
            <a:ext cx="9144000" cy="1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buSzPct val="100000"/>
            </a:pPr>
            <a:r>
              <a:rPr lang="en-US" sz="4800"/>
              <a:t>CSE495B (Natural Language Processing)</a:t>
            </a:r>
            <a:br>
              <a:rPr lang="en-US" sz="4800"/>
            </a:br>
            <a:r>
              <a:rPr lang="en-US" sz="4800"/>
              <a:t>Lecture 1 &amp; 2</a:t>
            </a:r>
            <a:endParaRPr lang="en-US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194453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sz="2000"/>
              <a:t>Overview of the NLP Tasks &amp; Related Problems</a:t>
            </a:r>
            <a:endParaRPr lang="en-US"/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/>
              <a:t>Course Name: Natural Language Processing – (CSE495B)</a:t>
            </a:r>
            <a:endParaRPr lang="en-US"/>
          </a:p>
          <a:p>
            <a:pPr lvl="1"/>
            <a:r>
              <a:rPr lang="en-IN"/>
              <a:t>An undergraduate-level course – supposed to be more conceptual than theory</a:t>
            </a:r>
          </a:p>
          <a:p>
            <a:r>
              <a:rPr lang="en-IN"/>
              <a:t>2 lectures every week (3 hours)</a:t>
            </a:r>
          </a:p>
          <a:p>
            <a:r>
              <a:rPr lang="en-IN"/>
              <a:t>Canvas home page</a:t>
            </a:r>
          </a:p>
          <a:p>
            <a:pPr lvl="1"/>
            <a:r>
              <a:rPr lang="en-IN">
                <a:solidFill>
                  <a:srgbClr val="0070C0"/>
                </a:solidFill>
              </a:rPr>
              <a:t>Tutorials</a:t>
            </a:r>
          </a:p>
          <a:p>
            <a:pPr lvl="1"/>
            <a:r>
              <a:rPr lang="en-IN">
                <a:solidFill>
                  <a:srgbClr val="0070C0"/>
                </a:solidFill>
              </a:rPr>
              <a:t>Project Ideas</a:t>
            </a:r>
          </a:p>
          <a:p>
            <a:pPr lvl="1"/>
            <a:r>
              <a:rPr lang="en-IN">
                <a:solidFill>
                  <a:srgbClr val="0070C0"/>
                </a:solidFill>
              </a:rPr>
              <a:t>Important breakthroughs</a:t>
            </a:r>
          </a:p>
          <a:p>
            <a:pPr lvl="1"/>
            <a:r>
              <a:rPr lang="en-IN">
                <a:solidFill>
                  <a:srgbClr val="0070C0"/>
                </a:solidFill>
              </a:rPr>
              <a:t>Research Ideas</a:t>
            </a:r>
          </a:p>
          <a:p>
            <a:pPr lvl="1"/>
            <a:r>
              <a:rPr lang="en-IN">
                <a:solidFill>
                  <a:srgbClr val="0070C0"/>
                </a:solidFill>
              </a:rPr>
              <a:t>Lectures</a:t>
            </a:r>
          </a:p>
          <a:p>
            <a:r>
              <a:rPr lang="en-IN"/>
              <a:t>Canvas Announcements</a:t>
            </a:r>
          </a:p>
          <a:p>
            <a:pPr lvl="1"/>
            <a:r>
              <a:rPr lang="en-IN"/>
              <a:t>Quiz/Mid announcements</a:t>
            </a:r>
          </a:p>
          <a:p>
            <a:pPr lvl="1"/>
            <a:r>
              <a:rPr lang="en-IN"/>
              <a:t>Syllabus</a:t>
            </a:r>
          </a:p>
          <a:p>
            <a:pPr lvl="1"/>
            <a:r>
              <a:rPr lang="en-IN"/>
              <a:t>Grade updates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80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87"/>
    </mc:Choice>
    <mc:Fallback xmlns="">
      <p:transition spd="slow" advTm="10608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Workload and Grading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84" y="1040791"/>
            <a:ext cx="11737560" cy="555608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N"/>
              <a:t>2 class tests (theory + programming) worth 15%</a:t>
            </a:r>
            <a:endParaRPr lang="en-US"/>
          </a:p>
          <a:p>
            <a:pPr lvl="1"/>
            <a:r>
              <a:rPr lang="en-IN"/>
              <a:t>Theory part: Why does it work? </a:t>
            </a:r>
            <a:endParaRPr lang="en-GB"/>
          </a:p>
          <a:p>
            <a:pPr lvl="1"/>
            <a:r>
              <a:rPr lang="en-GB"/>
              <a:t>Practical part: Usage of NN algos, analysis of results, metrics</a:t>
            </a:r>
            <a:endParaRPr lang="en-GB">
              <a:cs typeface="Calibri"/>
            </a:endParaRPr>
          </a:p>
          <a:p>
            <a:pPr lvl="1"/>
            <a:r>
              <a:rPr lang="en-IN"/>
              <a:t>Best 1 out of 2</a:t>
            </a:r>
            <a:endParaRPr lang="en-IN">
              <a:cs typeface="Calibri"/>
            </a:endParaRPr>
          </a:p>
          <a:p>
            <a:r>
              <a:rPr lang="en-IN"/>
              <a:t>Project worth 20% ~ 30%</a:t>
            </a:r>
          </a:p>
          <a:p>
            <a:pPr lvl="1"/>
            <a:r>
              <a:rPr lang="en-IN"/>
              <a:t>Pick a project based on your works/idea – </a:t>
            </a:r>
            <a:r>
              <a:rPr lang="en-IN" b="1">
                <a:solidFill>
                  <a:srgbClr val="FF0000"/>
                </a:solidFill>
              </a:rPr>
              <a:t>must not be from blogs/</a:t>
            </a:r>
            <a:r>
              <a:rPr lang="en-IN" b="1" err="1">
                <a:solidFill>
                  <a:srgbClr val="FF0000"/>
                </a:solidFill>
              </a:rPr>
              <a:t>kaggle</a:t>
            </a:r>
            <a:r>
              <a:rPr lang="en-IN" b="1">
                <a:solidFill>
                  <a:srgbClr val="FF0000"/>
                </a:solidFill>
              </a:rPr>
              <a:t>/etc.</a:t>
            </a:r>
            <a:endParaRPr lang="en-GB" b="1">
              <a:solidFill>
                <a:srgbClr val="FF0000"/>
              </a:solidFill>
            </a:endParaRPr>
          </a:p>
          <a:p>
            <a:pPr lvl="2"/>
            <a:r>
              <a:rPr lang="en-GB">
                <a:solidFill>
                  <a:srgbClr val="FF0000"/>
                </a:solidFill>
              </a:rPr>
              <a:t>You can find ideas from canvas posts</a:t>
            </a:r>
          </a:p>
          <a:p>
            <a:pPr lvl="1"/>
            <a:r>
              <a:rPr lang="en-GB"/>
              <a:t>Programming part: Implement/use NN algos, analysis of results</a:t>
            </a:r>
            <a:endParaRPr lang="en-IN"/>
          </a:p>
          <a:p>
            <a:pPr lvl="1"/>
            <a:r>
              <a:rPr lang="en-IN"/>
              <a:t>Must submit a paper format report</a:t>
            </a:r>
          </a:p>
          <a:p>
            <a:r>
              <a:rPr lang="en-IN"/>
              <a:t>Mid &amp; Final exams worth 50% ~ 60%</a:t>
            </a:r>
          </a:p>
          <a:p>
            <a:pPr lvl="1"/>
            <a:r>
              <a:rPr lang="en-IN"/>
              <a:t>Mid &amp; Final will be worth 25% ~ 30% each (total 50% ~ 60%)</a:t>
            </a:r>
          </a:p>
          <a:p>
            <a:pPr lvl="1"/>
            <a:r>
              <a:rPr lang="en-IN"/>
              <a:t>They will have 3/4 questions (no choice – must answer all)</a:t>
            </a:r>
          </a:p>
          <a:p>
            <a:pPr lvl="1"/>
            <a:r>
              <a:rPr lang="en-IN"/>
              <a:t>Questions will be part theory part practical concepts </a:t>
            </a:r>
          </a:p>
          <a:p>
            <a:r>
              <a:rPr lang="en-IN"/>
              <a:t>Attendance – 5%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68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643"/>
    </mc:Choice>
    <mc:Fallback xmlns="">
      <p:transition spd="slow" advTm="1256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Reference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>
            <a:normAutofit/>
          </a:bodyPr>
          <a:lstStyle/>
          <a:p>
            <a:r>
              <a:rPr lang="en-US"/>
              <a:t>Course slides and notebooks will be sourced from previous iterations of this course and relevant slides/materials from me/other researchers/blogs</a:t>
            </a:r>
          </a:p>
          <a:p>
            <a:r>
              <a:rPr lang="en-GB"/>
              <a:t>No fixed textbook</a:t>
            </a:r>
          </a:p>
          <a:p>
            <a:pPr lvl="1"/>
            <a:r>
              <a:rPr lang="en-US"/>
              <a:t>But you can read this free one</a:t>
            </a:r>
          </a:p>
          <a:p>
            <a:pPr lvl="2"/>
            <a:r>
              <a:rPr lang="en-US"/>
              <a:t>Speech and Language Processing (https://web.stanford.edu/~jurafsky/slp3/)</a:t>
            </a:r>
          </a:p>
          <a:p>
            <a:r>
              <a:rPr lang="en-GB"/>
              <a:t>Different books vary in terms of </a:t>
            </a:r>
          </a:p>
          <a:p>
            <a:pPr lvl="1"/>
            <a:r>
              <a:rPr lang="en-GB"/>
              <a:t>Set of topics covered </a:t>
            </a:r>
          </a:p>
          <a:p>
            <a:pPr lvl="1"/>
            <a:r>
              <a:rPr lang="en-GB"/>
              <a:t>Flavour (e.g., classical statistics, deep learning, probabilistic/Bayesian, theory)</a:t>
            </a:r>
          </a:p>
          <a:p>
            <a:pPr lvl="1"/>
            <a:r>
              <a:rPr lang="en-GB"/>
              <a:t>Terminology and notation (beware of this especially)</a:t>
            </a:r>
          </a:p>
          <a:p>
            <a:pPr lvl="1">
              <a:buFont typeface="Arial" panose="05000000000000000000" pitchFamily="2" charset="2"/>
              <a:buChar char="•"/>
            </a:pPr>
            <a:endParaRPr lang="en-GB"/>
          </a:p>
          <a:p>
            <a:pPr marL="0" indent="0">
              <a:buNone/>
            </a:pP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198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133"/>
    </mc:Choice>
    <mc:Fallback xmlns="">
      <p:transition spd="slow" advTm="961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Course Goals..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>
            <a:normAutofit/>
          </a:bodyPr>
          <a:lstStyle/>
          <a:p>
            <a:r>
              <a:rPr lang="en-IN"/>
              <a:t>Introduction to the foundations of Modern NLP</a:t>
            </a:r>
            <a:endParaRPr lang="en-US"/>
          </a:p>
          <a:p>
            <a:r>
              <a:rPr lang="en-IN"/>
              <a:t>Focus on developing the ability to </a:t>
            </a:r>
          </a:p>
          <a:p>
            <a:pPr lvl="1"/>
            <a:r>
              <a:rPr lang="en-IN">
                <a:solidFill>
                  <a:srgbClr val="FF0000"/>
                </a:solidFill>
              </a:rPr>
              <a:t>Use NLP based solutions for novel problem solving</a:t>
            </a:r>
          </a:p>
          <a:p>
            <a:pPr lvl="1"/>
            <a:r>
              <a:rPr lang="en-IN"/>
              <a:t>Work on NLP projects at jobs/research</a:t>
            </a:r>
          </a:p>
          <a:p>
            <a:pPr lvl="1"/>
            <a:r>
              <a:rPr lang="en-IN"/>
              <a:t>Be able to pick the right NLP solution for the problem</a:t>
            </a:r>
          </a:p>
          <a:p>
            <a:pPr lvl="1"/>
            <a:r>
              <a:rPr lang="en-IN"/>
              <a:t>Being able to find computational complexities of different NLP methods</a:t>
            </a:r>
          </a:p>
          <a:p>
            <a:pPr lvl="1"/>
            <a:r>
              <a:rPr lang="en-IN"/>
              <a:t>Evaluate alternate solutions</a:t>
            </a:r>
          </a:p>
          <a:p>
            <a:pPr lvl="1"/>
            <a:r>
              <a:rPr lang="en-IN"/>
              <a:t>Being able to understand the training complexities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1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390"/>
    </mc:Choice>
    <mc:Fallback xmlns="">
      <p:transition spd="slow" advTm="1203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5674-1C9E-5B97-12C7-9115E42C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NLP?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353E0-5BC0-C02A-905A-40B6C7A5A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NLP is a branch of Artificial Intelligence (AI) that enables computers to understand, interpret, and generate human language.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It combines </a:t>
            </a:r>
            <a:r>
              <a:rPr lang="en-US">
                <a:solidFill>
                  <a:srgbClr val="C00000"/>
                </a:solidFill>
              </a:rPr>
              <a:t>linguistics 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(the study of language) and </a:t>
            </a:r>
            <a:r>
              <a:rPr lang="en-US">
                <a:solidFill>
                  <a:srgbClr val="C00000"/>
                </a:solidFill>
              </a:rPr>
              <a:t>computer science/AI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(machine learning, deep learning) to process text and speech in a way that is meaningful and useful.</a:t>
            </a:r>
          </a:p>
          <a:p>
            <a:r>
              <a:rPr lang="en-US"/>
              <a:t>However, the scope of </a:t>
            </a:r>
            <a:r>
              <a:rPr lang="en-US">
                <a:solidFill>
                  <a:srgbClr val="C00000"/>
                </a:solidFill>
              </a:rPr>
              <a:t>modern NLP</a:t>
            </a:r>
            <a:r>
              <a:rPr lang="en-US"/>
              <a:t> also includes </a:t>
            </a:r>
          </a:p>
          <a:p>
            <a:pPr lvl="1"/>
            <a:r>
              <a:rPr lang="en-US"/>
              <a:t>Understanding, generating, and interacting with human language across text, speech, and multimodal data</a:t>
            </a:r>
          </a:p>
          <a:p>
            <a:pPr lvl="1"/>
            <a:r>
              <a:rPr lang="en-US"/>
              <a:t>Applications spans almost every domain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Daily life - chatbots, translation to critical sectors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Healthcare, finance, education, national security.</a:t>
            </a:r>
          </a:p>
          <a:p>
            <a:r>
              <a:rPr lang="en-US"/>
              <a:t>With the rise of deep learning and large language models (LLMs), its scope includes:</a:t>
            </a:r>
          </a:p>
          <a:p>
            <a:pPr lvl="1"/>
            <a:r>
              <a:rPr lang="en-US"/>
              <a:t>Core Language Understanding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Text classification, sentiment/emotion analysis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Named Entity Recognition (NER), Part-of-Speech (POS) tagging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Question answering and information retrieval</a:t>
            </a:r>
          </a:p>
          <a:p>
            <a:pPr lvl="1"/>
            <a:r>
              <a:rPr lang="en-US"/>
              <a:t>Language Generation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Machine translation (e.g., Bangla ↔ English, Google Translate)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Text summarization (extractive and abstractive)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Conversational AI (chatbots, virtual assistants)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Creative generation (stories, essays, code, poetry)</a:t>
            </a:r>
          </a:p>
        </p:txBody>
      </p:sp>
    </p:spTree>
    <p:extLst>
      <p:ext uri="{BB962C8B-B14F-4D97-AF65-F5344CB8AC3E}">
        <p14:creationId xmlns:p14="http://schemas.microsoft.com/office/powerpoint/2010/main" val="227228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DEA4-7525-83DC-E5BA-F3B9FF25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NLP Scopes (Cont.)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74965-0294-F735-14FE-582D77DD9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Speech &amp; Multimodality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Speech recognition (ASR, e.g., Siri, Google Assistant)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Text-to-speech synthesis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Multimodal NLP: combining text with images, audio, or video (e.g., image captioning, video Q&amp;A)</a:t>
            </a:r>
          </a:p>
          <a:p>
            <a:r>
              <a:rPr lang="en-US"/>
              <a:t>Advanced Applications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Healthcare: clinical note processing, disease prediction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Finance: fraud detection, document analysis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Legal &amp; policy: contract review, compliance checking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Education: personalized tutors, automatic grading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Low-resource languages: enabling AI in underrepresented languages like Bangla</a:t>
            </a:r>
          </a:p>
          <a:p>
            <a:pPr lvl="2"/>
            <a:endParaRPr lang="en-US">
              <a:solidFill>
                <a:schemeClr val="accent6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94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is NLP Challenging?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23" y="1408743"/>
            <a:ext cx="11320529" cy="3351905"/>
          </a:xfrm>
        </p:spPr>
        <p:txBody>
          <a:bodyPr/>
          <a:lstStyle/>
          <a:p>
            <a:r>
              <a:rPr lang="en-US"/>
              <a:t>What makes NLP a challenging problem domain? </a:t>
            </a:r>
          </a:p>
          <a:p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ambiguity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creativity</a:t>
            </a:r>
            <a:r>
              <a:rPr lang="en-US"/>
              <a:t> of human language are just two of the characteristics that make NLP a demanding area to work in</a:t>
            </a:r>
          </a:p>
        </p:txBody>
      </p:sp>
    </p:spTree>
    <p:extLst>
      <p:ext uri="{BB962C8B-B14F-4D97-AF65-F5344CB8AC3E}">
        <p14:creationId xmlns:p14="http://schemas.microsoft.com/office/powerpoint/2010/main" val="5424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Ambiguity is the uncertainty in meaning </a:t>
            </a:r>
          </a:p>
          <a:p>
            <a:r>
              <a:rPr lang="en-US"/>
              <a:t>Most human languages are inherently ambiguous </a:t>
            </a:r>
          </a:p>
          <a:p>
            <a:r>
              <a:rPr lang="en-US"/>
              <a:t>Consider this sentence: "I saw the man with the telescope."</a:t>
            </a:r>
          </a:p>
          <a:p>
            <a:pPr lvl="1"/>
            <a:r>
              <a:rPr lang="en-US"/>
              <a:t>Interpretation 1: I used a telescope to see the man.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Interpretation 2: I saw a man who was holding a telescope.</a:t>
            </a:r>
          </a:p>
          <a:p>
            <a:r>
              <a:rPr lang="en-US"/>
              <a:t>When it comes to figurative language—i.e., idioms—the ambiguity only increases</a:t>
            </a:r>
          </a:p>
          <a:p>
            <a:pPr lvl="1"/>
            <a:r>
              <a:rPr lang="en-US"/>
              <a:t>“This phone is as fast as a Ferrari.”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Question: “How fast is the phone?”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Answer: It depends on how fast you think a Ferrari is — the comparison only makes sense if you know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93880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36ED-AFCC-692D-A6C8-2CC98947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F048-8CC4-94E8-A518-16349E22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4BA6C-D58D-DF97-E221-E8D0F77E5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Lexical Ambiguity (a single word has multiple meanings)</a:t>
            </a:r>
          </a:p>
          <a:p>
            <a:pPr lvl="1"/>
            <a:r>
              <a:rPr lang="en-US"/>
              <a:t>"The fisherman went to the bank."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Could mean riverbank or financial bank.</a:t>
            </a:r>
          </a:p>
          <a:p>
            <a:r>
              <a:rPr lang="en-US"/>
              <a:t>Syntactic (Structural) Ambiguity</a:t>
            </a:r>
          </a:p>
          <a:p>
            <a:pPr lvl="1"/>
            <a:r>
              <a:rPr lang="en-US">
                <a:solidFill>
                  <a:srgbClr val="0070C0"/>
                </a:solidFill>
              </a:rPr>
              <a:t>"Visiting relatives can be annoying."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Could mean relatives who visit are annoying 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OR the act of visiting relatives is annoying.</a:t>
            </a:r>
            <a:endParaRPr lang="en-US"/>
          </a:p>
          <a:p>
            <a:r>
              <a:rPr lang="en-US"/>
              <a:t>Semantic Ambiguity</a:t>
            </a:r>
          </a:p>
          <a:p>
            <a:pPr lvl="1"/>
            <a:r>
              <a:rPr lang="en-US"/>
              <a:t>"He fed her dog biscuits."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Did he feed her dog some biscuits?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Or did he feed her some dog biscuits?</a:t>
            </a:r>
          </a:p>
          <a:p>
            <a:r>
              <a:rPr lang="en-US"/>
              <a:t>Pragmatic Ambiguity (depends on context / speaker intent)</a:t>
            </a:r>
          </a:p>
          <a:p>
            <a:pPr lvl="1"/>
            <a:r>
              <a:rPr lang="en-US"/>
              <a:t>"Can you pass the salt?"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Literal: Do you have the ability to pass it?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Pragmatic: Please pass me the salt.</a:t>
            </a:r>
          </a:p>
        </p:txBody>
      </p:sp>
    </p:spTree>
    <p:extLst>
      <p:ext uri="{BB962C8B-B14F-4D97-AF65-F5344CB8AC3E}">
        <p14:creationId xmlns:p14="http://schemas.microsoft.com/office/powerpoint/2010/main" val="182007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Common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Shared facts and assumptions most humans naturally know.</a:t>
            </a:r>
          </a:p>
          <a:p>
            <a:r>
              <a:rPr lang="en-US"/>
              <a:t>Rarely stated explicitly in conversation, but essential for understanding meaning.</a:t>
            </a:r>
          </a:p>
          <a:p>
            <a:pPr lvl="1"/>
            <a:r>
              <a:rPr lang="en-US"/>
              <a:t>The sun rises in the east - universally accepted fact.</a:t>
            </a:r>
          </a:p>
          <a:p>
            <a:pPr lvl="1"/>
            <a:r>
              <a:rPr lang="en-US"/>
              <a:t>A cat chased a mouse vs. A mouse chased a cat - both grammatically correct, but only one is realistic.</a:t>
            </a:r>
          </a:p>
          <a:p>
            <a:pPr lvl="1"/>
            <a:r>
              <a:rPr lang="en-US"/>
              <a:t>She put ice in the oven - odd because we know ice melts with heat.</a:t>
            </a:r>
          </a:p>
          <a:p>
            <a:pPr lvl="1"/>
            <a:r>
              <a:rPr lang="en-US"/>
              <a:t>He is running for president - he wants to be elected as president not running literally. </a:t>
            </a:r>
          </a:p>
          <a:p>
            <a:r>
              <a:rPr lang="en-US"/>
              <a:t>Why It Matters</a:t>
            </a:r>
          </a:p>
          <a:p>
            <a:pPr lvl="1"/>
            <a:r>
              <a:rPr lang="en-US"/>
              <a:t>Humans easily use world knowledge to interpret context.</a:t>
            </a:r>
          </a:p>
          <a:p>
            <a:pPr lvl="1"/>
            <a:r>
              <a:rPr lang="en-US"/>
              <a:t>Computers struggle without explicit encoding of this background knowledge.</a:t>
            </a:r>
          </a:p>
          <a:p>
            <a:r>
              <a:rPr lang="en-US"/>
              <a:t>NLP Challenge</a:t>
            </a:r>
          </a:p>
          <a:p>
            <a:pPr lvl="1"/>
            <a:r>
              <a:rPr lang="en-US"/>
              <a:t>How to represent common knowledge in computational models so LLMs can reason like humans.</a:t>
            </a:r>
          </a:p>
        </p:txBody>
      </p:sp>
    </p:spTree>
    <p:extLst>
      <p:ext uri="{BB962C8B-B14F-4D97-AF65-F5344CB8AC3E}">
        <p14:creationId xmlns:p14="http://schemas.microsoft.com/office/powerpoint/2010/main" val="23431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Creativity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Language is not only about grammar and structure.</a:t>
            </a:r>
          </a:p>
          <a:p>
            <a:r>
              <a:rPr lang="en-US"/>
              <a:t>It also carries creativity, style, and expression.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Poetry: “Shall I compare thee to a summer’s day?” – metaphor and rhythm.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Jokes &amp; Wordplay: “I told my computer I needed a break, and it froze.”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Dialect &amp; Style: “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Gonna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” vs. “Going to” → same meaning, different tone.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Storytelling &amp; Genres: Novels, rap lyrics, folk tales – each with unique flair.</a:t>
            </a:r>
          </a:p>
          <a:p>
            <a:r>
              <a:rPr lang="en-US"/>
              <a:t>NLP Challenge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Capturing creativity, nuance, and cultural variation is far harder than following grammar rules.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Making machines understand and generate creativity is a core challenge for NLP and AI research.</a:t>
            </a:r>
          </a:p>
        </p:txBody>
      </p:sp>
    </p:spTree>
    <p:extLst>
      <p:ext uri="{BB962C8B-B14F-4D97-AF65-F5344CB8AC3E}">
        <p14:creationId xmlns:p14="http://schemas.microsoft.com/office/powerpoint/2010/main" val="1374112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Diversity Across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Most languages lack direct vocabulary or structural correspondence.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The German word “Schadenfreude” (pleasure at others’ misfortune) has no single-word equivalent in English.</a:t>
            </a:r>
          </a:p>
          <a:p>
            <a:pPr lvl="1"/>
            <a:r>
              <a:rPr lang="en-US"/>
              <a:t>Example: In Japanese, “</a:t>
            </a:r>
            <a:r>
              <a:rPr lang="ja-JP" altLang="en-US"/>
              <a:t>いただきます</a:t>
            </a:r>
            <a:r>
              <a:rPr lang="en-US"/>
              <a:t>” conveys gratitude before eating—no direct English counterpart.</a:t>
            </a:r>
          </a:p>
          <a:p>
            <a:r>
              <a:rPr lang="en-US"/>
              <a:t>A model trained for </a:t>
            </a:r>
            <a:r>
              <a:rPr lang="en-US">
                <a:solidFill>
                  <a:srgbClr val="C00000"/>
                </a:solidFill>
              </a:rPr>
              <a:t>English sentiment analysis</a:t>
            </a:r>
            <a:r>
              <a:rPr lang="en-US"/>
              <a:t> may fail in Arabic or Bangla due to differences in grammar, idioms, and cultural context.</a:t>
            </a:r>
          </a:p>
          <a:p>
            <a:pPr lvl="1"/>
            <a:r>
              <a:rPr lang="en-US"/>
              <a:t>Machine translation often struggles with metaphors, humor, or culturally loaded terms.</a:t>
            </a:r>
          </a:p>
          <a:p>
            <a:r>
              <a:rPr lang="en-US"/>
              <a:t>What can we do?</a:t>
            </a:r>
          </a:p>
          <a:p>
            <a:pPr lvl="1"/>
            <a:r>
              <a:rPr lang="en-US"/>
              <a:t>Language-Agnostic Systems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Hard to design; requires universal representations across languages.</a:t>
            </a:r>
          </a:p>
          <a:p>
            <a:pPr lvl="1"/>
            <a:r>
              <a:rPr lang="en-US"/>
              <a:t>Language-Specific Systems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More accurate but time-consuming and resource-intensive to build separately for each language.</a:t>
            </a:r>
          </a:p>
        </p:txBody>
      </p:sp>
    </p:spTree>
    <p:extLst>
      <p:ext uri="{BB962C8B-B14F-4D97-AF65-F5344CB8AC3E}">
        <p14:creationId xmlns:p14="http://schemas.microsoft.com/office/powerpoint/2010/main" val="2233285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1C25-A958-C358-7335-9AAC1368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LM Models: Transformer</a:t>
            </a:r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5189822A-83F6-743A-79D4-9E74EA1D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4" y="1034451"/>
            <a:ext cx="7197307" cy="5019137"/>
          </a:xfrm>
          <a:prstGeom prst="rect">
            <a:avLst/>
          </a:prstGeom>
        </p:spPr>
      </p:pic>
      <p:pic>
        <p:nvPicPr>
          <p:cNvPr id="5" name="Picture 4" descr="LLMs and Transformers from Scratch: the Decoder | Towards Data Science">
            <a:extLst>
              <a:ext uri="{FF2B5EF4-FFF2-40B4-BE49-F238E27FC236}">
                <a16:creationId xmlns:a16="http://schemas.microsoft.com/office/drawing/2014/main" id="{87765A8D-3AD4-40A9-D5E9-9A3690B2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13" y="1143089"/>
            <a:ext cx="3198064" cy="480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5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AB8F-E016-BD6B-A85C-8E1689C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an LM?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09ED2-5377-5095-8995-42F3085A3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Large Language Models (LLMs) are AI systems trained on massive text datasets to understand, generate, and reason with human language.</a:t>
            </a:r>
          </a:p>
          <a:p>
            <a:r>
              <a:rPr lang="en-US"/>
              <a:t>LM models are built using transformer architecture.</a:t>
            </a:r>
          </a:p>
          <a:p>
            <a:r>
              <a:rPr lang="en-US"/>
              <a:t>Capabilities: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Context understanding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Text generation (translation, summarization, Q&amp;A, coding)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Examples: GPT-4, Gemini,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LLaMA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3, Mistral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00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1E1B-649F-1A2F-61B1-DC84A0C5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LM: Encoder and Decoders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F8D4F-18AC-822E-7DF1-60602F3B5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Encoder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Reads &amp; processes input text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Captures meaning and context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Produces embeddings (internal representations)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BERT (understanding tasks)</a:t>
            </a:r>
          </a:p>
          <a:p>
            <a:r>
              <a:rPr lang="en-US"/>
              <a:t>Decoder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Uses embeddings or previous tokens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Generates output text step by step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Predicts next word until completion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GPT (generation tasks)</a:t>
            </a:r>
          </a:p>
          <a:p>
            <a:r>
              <a:rPr lang="en-US"/>
              <a:t>Architectures: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Encoder-only → BERT (understanding)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Decoder-only → GPT (generation)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Encoder–Decoder → T5, BART (translation, summarization)</a:t>
            </a:r>
          </a:p>
        </p:txBody>
      </p:sp>
      <p:pic>
        <p:nvPicPr>
          <p:cNvPr id="5" name="Picture 4" descr="LLMs and Transformers from Scratch: the Decoder | Towards Data Science">
            <a:extLst>
              <a:ext uri="{FF2B5EF4-FFF2-40B4-BE49-F238E27FC236}">
                <a16:creationId xmlns:a16="http://schemas.microsoft.com/office/drawing/2014/main" id="{38714D13-9392-9FDA-C31D-AAE65B8CB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515" y="1114334"/>
            <a:ext cx="3198064" cy="480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16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FCCF-A302-2E93-8C7A-DACF8C3B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LM evolution</a:t>
            </a:r>
          </a:p>
        </p:txBody>
      </p:sp>
      <p:pic>
        <p:nvPicPr>
          <p:cNvPr id="4" name="Picture 3" descr="A diagram of a tree&#10;&#10;AI-generated content may be incorrect.">
            <a:extLst>
              <a:ext uri="{FF2B5EF4-FFF2-40B4-BE49-F238E27FC236}">
                <a16:creationId xmlns:a16="http://schemas.microsoft.com/office/drawing/2014/main" id="{15C2A2B0-2619-9314-8FF3-689D1D25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12" y="680357"/>
            <a:ext cx="7578562" cy="586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72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19DE-1DB1-FCBB-BA6E-69E01179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Self-Attention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41B8-D26D-9BD7-6DDD-8D24BA7B2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 mechanism that lets each word look at all other words in a sentence to understand context.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Each word is turned into three vectors: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Query (Q) – what am I looking for?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Key (K) – what information do I have?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Value (V) – the actual content.</a:t>
            </a:r>
          </a:p>
          <a:p>
            <a:pPr lvl="3"/>
            <a:r>
              <a:rPr lang="en-US"/>
              <a:t>Attention score = similarity(Q, K).</a:t>
            </a:r>
          </a:p>
          <a:p>
            <a:pPr lvl="2"/>
            <a:r>
              <a:rPr lang="en-US" b="1">
                <a:solidFill>
                  <a:srgbClr val="1563D6"/>
                </a:solidFill>
              </a:rPr>
              <a:t>Weighted sum of V’s = new representation.</a:t>
            </a:r>
          </a:p>
          <a:p>
            <a:r>
              <a:rPr lang="en-US"/>
              <a:t>Why it matters: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Captures long-range dependencies.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Handles context better than RNNs/CNNs.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Core of Transformers &amp; LLMs.</a:t>
            </a:r>
          </a:p>
        </p:txBody>
      </p:sp>
    </p:spTree>
    <p:extLst>
      <p:ext uri="{BB962C8B-B14F-4D97-AF65-F5344CB8AC3E}">
        <p14:creationId xmlns:p14="http://schemas.microsoft.com/office/powerpoint/2010/main" val="163159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785E-C762-189E-607E-DA52D6BF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Flash Attention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E63D1-7E87-5837-680B-562DDB20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An optimized algorithm for computing attention in Transformers.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Doesn’t change the math of self-attention — only the implementation is more efficient.</a:t>
            </a:r>
          </a:p>
          <a:p>
            <a:r>
              <a:rPr lang="en-US"/>
              <a:t>Reduces memory usage and increases speed without changing model outputs.</a:t>
            </a:r>
          </a:p>
          <a:p>
            <a:r>
              <a:rPr lang="en-US"/>
              <a:t>Uses tiling and on-chip memory to avoid storing the full attention matrix.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Computes attention in blocks/chunks instead of storing the full attention matrix.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Avoids redundant memory reads/writes → more efficient GPU usage.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Preserves exact attention values (not approximation).</a:t>
            </a:r>
          </a:p>
          <a:p>
            <a:r>
              <a:rPr lang="en-US"/>
              <a:t>Benefits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2–4× faster training &amp; inference for LLMs.</a:t>
            </a:r>
          </a:p>
          <a:p>
            <a:pPr lvl="1"/>
            <a:r>
              <a:rPr lang="en-US"/>
              <a:t>Handles longer context windows (tens of thousands of tokens).</a:t>
            </a:r>
          </a:p>
          <a:p>
            <a:pPr lvl="1"/>
            <a:r>
              <a:rPr lang="en-US"/>
              <a:t>Enables training of larger models on the same hardware budget.</a:t>
            </a:r>
          </a:p>
          <a:p>
            <a:r>
              <a:rPr lang="en-US"/>
              <a:t>Applications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Widely used in modern LLMs (e.g., GPT-4,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LLaMA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2/3, Mistral).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Critical for efficient fine-tuning and deployment of large models.</a:t>
            </a:r>
          </a:p>
        </p:txBody>
      </p:sp>
    </p:spTree>
    <p:extLst>
      <p:ext uri="{BB962C8B-B14F-4D97-AF65-F5344CB8AC3E}">
        <p14:creationId xmlns:p14="http://schemas.microsoft.com/office/powerpoint/2010/main" val="53115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0066-210B-6529-540E-E1B2279F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504D8-08D9-6B0D-88EF-DCC69235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81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BC65-0686-57EE-DEEF-CBBE7107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Language Model Training</a:t>
            </a:r>
          </a:p>
        </p:txBody>
      </p:sp>
      <p:pic>
        <p:nvPicPr>
          <p:cNvPr id="3" name="Picture 2" descr="A diagram of a data model&#10;&#10;AI-generated content may be incorrect.">
            <a:extLst>
              <a:ext uri="{FF2B5EF4-FFF2-40B4-BE49-F238E27FC236}">
                <a16:creationId xmlns:a16="http://schemas.microsoft.com/office/drawing/2014/main" id="{61347F87-1626-E65E-0C18-61BA62709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73" y="2254648"/>
            <a:ext cx="11134530" cy="249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95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Supervised Learning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Machine learning algorithms can be grouped into three primary paradigms: supervised learning, unsupervised learning, and reinforcement learning</a:t>
            </a:r>
          </a:p>
          <a:p>
            <a:r>
              <a:rPr lang="en-US"/>
              <a:t>In supervised learning, the goal is to learn the mapping function from input to output given a large number of examples in the form of input-output pairs</a:t>
            </a:r>
          </a:p>
          <a:p>
            <a:pPr lvl="1"/>
            <a:r>
              <a:rPr lang="en-US"/>
              <a:t>The input-output pairs are known as training data, and the outputs are specifically known as labels or ground truth</a:t>
            </a:r>
          </a:p>
          <a:p>
            <a:r>
              <a:rPr lang="en-US"/>
              <a:t>An example of a supervised learning problem related to language is learning to classify email messages as spam or non-spam given thousands of examples in both categories </a:t>
            </a:r>
          </a:p>
        </p:txBody>
      </p:sp>
    </p:spTree>
    <p:extLst>
      <p:ext uri="{BB962C8B-B14F-4D97-AF65-F5344CB8AC3E}">
        <p14:creationId xmlns:p14="http://schemas.microsoft.com/office/powerpoint/2010/main" val="2474647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Unsupervised NLP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Unsupervised learning refers to a set of machine learning methods that aim to find hidden patterns in given input data without any reference output</a:t>
            </a:r>
          </a:p>
          <a:p>
            <a:r>
              <a:rPr lang="en-US"/>
              <a:t>Unsupervised learning works with large collections of unlabeled data </a:t>
            </a:r>
          </a:p>
          <a:p>
            <a:r>
              <a:rPr lang="en-US"/>
              <a:t>In NLP, an example of such a task is to identify latent topics in a large collection of textual data without any knowledge of these topics</a:t>
            </a:r>
          </a:p>
          <a:p>
            <a:pPr lvl="1"/>
            <a:r>
              <a:rPr lang="en-US"/>
              <a:t>This is known as topic modeling</a:t>
            </a:r>
          </a:p>
        </p:txBody>
      </p:sp>
    </p:spTree>
    <p:extLst>
      <p:ext uri="{BB962C8B-B14F-4D97-AF65-F5344CB8AC3E}">
        <p14:creationId xmlns:p14="http://schemas.microsoft.com/office/powerpoint/2010/main" val="167835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Self-Supervised Learning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SSL aims to learn meaningful representations of input data without using human annotations</a:t>
            </a:r>
          </a:p>
          <a:p>
            <a:r>
              <a:rPr lang="en-US"/>
              <a:t>It creates auxiliary tasks solely using input data and forces deep networks to learn highly effective latent features by solving these auxiliary tasks </a:t>
            </a:r>
          </a:p>
          <a:p>
            <a:r>
              <a:rPr lang="en-US"/>
              <a:t>In NLP, various auxiliary tasks have been proposed for SSL, such as next token prediction in GPT, masked token prediction in BERT, text de-noising in BART, contrastive learning, and so on </a:t>
            </a:r>
          </a:p>
          <a:p>
            <a:r>
              <a:rPr lang="en-US"/>
              <a:t>These models have achieved substantial success in learning language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9911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E43-0164-E80E-3C62-E4F9A643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Reinforcement Learning for NLP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0E734-4D2F-92C6-4B58-CB8BB5A03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Reinforcement Learning is a key paradigm in AI where an agent learns by interacting with an environment.</a:t>
            </a:r>
          </a:p>
          <a:p>
            <a:r>
              <a:rPr lang="en-US"/>
              <a:t>The agent takes actions, receives feedback in the form of rewards or penalties, and gradually improves its behavior.</a:t>
            </a:r>
          </a:p>
          <a:p>
            <a:pPr lvl="1"/>
            <a:r>
              <a:rPr lang="en-US"/>
              <a:t>Learn a policy (a decision-making strategy) that maximizes cumulative rewards over time.</a:t>
            </a:r>
          </a:p>
          <a:p>
            <a:r>
              <a:rPr lang="en-US"/>
              <a:t>Core Components</a:t>
            </a:r>
          </a:p>
          <a:p>
            <a:pPr lvl="1"/>
            <a:r>
              <a:rPr lang="en-US"/>
              <a:t>Agent - the learner/decision-maker.</a:t>
            </a:r>
          </a:p>
          <a:p>
            <a:pPr lvl="1"/>
            <a:r>
              <a:rPr lang="en-US"/>
              <a:t>Environment - the system in which the agent acts and receives feedback.</a:t>
            </a:r>
          </a:p>
          <a:p>
            <a:pPr lvl="1"/>
            <a:r>
              <a:rPr lang="en-US"/>
              <a:t>Actions - choices available to the agent at each step.</a:t>
            </a:r>
          </a:p>
          <a:p>
            <a:pPr lvl="1"/>
            <a:r>
              <a:rPr lang="en-US"/>
              <a:t>Rewards - signals of success or failure that guide learning.</a:t>
            </a:r>
          </a:p>
          <a:p>
            <a:pPr lvl="1"/>
            <a:r>
              <a:rPr lang="en-US"/>
              <a:t>Policy - the agent’s rule for selecting actions given its state.</a:t>
            </a:r>
          </a:p>
          <a:p>
            <a:r>
              <a:rPr lang="en-US"/>
              <a:t>Importance of RL in NLP</a:t>
            </a:r>
          </a:p>
          <a:p>
            <a:pPr lvl="1"/>
            <a:r>
              <a:rPr lang="en-US"/>
              <a:t>Enables models to explore novel responses rather than always imitating training data.</a:t>
            </a:r>
          </a:p>
          <a:p>
            <a:pPr lvl="1"/>
            <a:r>
              <a:rPr lang="en-US"/>
              <a:t>Techniques like RLHF (Reinforcement Learning from Human Feedback) make LLMs (e.g., ChatGPT, Claude) more helpful, safe, and aligned with human expectations.</a:t>
            </a:r>
          </a:p>
        </p:txBody>
      </p:sp>
    </p:spTree>
    <p:extLst>
      <p:ext uri="{BB962C8B-B14F-4D97-AF65-F5344CB8AC3E}">
        <p14:creationId xmlns:p14="http://schemas.microsoft.com/office/powerpoint/2010/main" val="561848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EB00-5278-7B19-A45B-B40948E4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Contrastive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B1F35-60C5-BA9B-0E0E-F020D18E7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 representation learning technique that teaches models to distinguish between similar (positive) and dissimilar (negative) data pairs.</a:t>
            </a:r>
          </a:p>
          <a:p>
            <a:r>
              <a:rPr lang="en-US"/>
              <a:t>Core Idea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Positive pairs - pulled closer together in the embedding space.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Negative pairs - pushed farther apart.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Encourages the model to structure the embedding space based on meaningful similarities and differences.</a:t>
            </a:r>
          </a:p>
          <a:p>
            <a:r>
              <a:rPr lang="en-US"/>
              <a:t>How does it work?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Frames learning as a discrimination task rather than direct classification.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Helps capture essential features and relationships in data.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Widely used in self-supervised learning, e.g.,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SimCLR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, CLIP.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43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59AE-462A-970A-D889-B1F33AF9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Contrastive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A32C9-EB84-74E6-5481-76D1D8C26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Supervised</a:t>
            </a:r>
          </a:p>
          <a:p>
            <a:pPr lvl="1"/>
            <a:r>
              <a:rPr lang="en-US"/>
              <a:t>Labels guide training by explicitly defining positive and negative pairs.</a:t>
            </a:r>
          </a:p>
          <a:p>
            <a:pPr lvl="1"/>
            <a:r>
              <a:rPr lang="en-US"/>
              <a:t>The challenge is to use computational resources efficiently while ensuring fast convergence.</a:t>
            </a:r>
          </a:p>
          <a:p>
            <a:pPr lvl="1"/>
            <a:r>
              <a:rPr lang="en-US"/>
              <a:t>Hard pairs/triplets (examples the model struggles with) are especially valuable, as they drive stronger improvements in representation quality.</a:t>
            </a:r>
          </a:p>
          <a:p>
            <a:r>
              <a:rPr lang="en-US"/>
              <a:t>Unsupervised</a:t>
            </a:r>
          </a:p>
          <a:p>
            <a:pPr lvl="1"/>
            <a:r>
              <a:rPr lang="en-US"/>
              <a:t>Works without labels by leveraging inherent data properties to create pseudo-labels.</a:t>
            </a:r>
          </a:p>
          <a:p>
            <a:pPr lvl="1"/>
            <a:r>
              <a:rPr lang="en-US"/>
              <a:t>Example: </a:t>
            </a:r>
            <a:r>
              <a:rPr lang="en-US" err="1"/>
              <a:t>SimCLR</a:t>
            </a:r>
            <a:endParaRPr lang="en-US"/>
          </a:p>
          <a:p>
            <a:pPr lvl="2"/>
            <a:r>
              <a:rPr lang="en-US"/>
              <a:t>Generates positive pairs by applying random transformations (e.g., cropping, color jitter) to the same image.</a:t>
            </a:r>
          </a:p>
          <a:p>
            <a:pPr lvl="2"/>
            <a:r>
              <a:rPr lang="en-US"/>
              <a:t>Negatives are other samples in the batch.</a:t>
            </a:r>
          </a:p>
          <a:p>
            <a:r>
              <a:rPr lang="en-US"/>
              <a:t>Enables powerful self-supervised learning when labeled data is scarce.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69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A35F-7AD7-DC25-482E-7D89CFC5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34782-3F07-1560-7030-B2B9A11EA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6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A5B7-D0BC-E968-C58B-7F786964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can we train an LLM?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0B0B0-6779-CD16-522B-335E65EA5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an LLM requires expensive hardware (i.e., many expensive GPUs with a lot of memory) and fancy training techniques (e.g., fully-sharded data parallel training). </a:t>
            </a:r>
          </a:p>
          <a:p>
            <a:r>
              <a:rPr lang="en-US" dirty="0"/>
              <a:t>These models are usually trained in two phases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Pretraining 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Finetuning (multi-steps)</a:t>
            </a:r>
          </a:p>
          <a:p>
            <a:pPr lvl="2"/>
            <a:r>
              <a:rPr lang="en-US" dirty="0"/>
              <a:t>Where the former phase is (much) more expensive</a:t>
            </a:r>
          </a:p>
          <a:p>
            <a:r>
              <a:rPr lang="en-US" dirty="0"/>
              <a:t>Given that high-quality pretrained LLMs are readily available online, most AI practitioners can simply download a pretrained model and focus upon adapting this model (via finetuning) to their desired task.</a:t>
            </a:r>
          </a:p>
        </p:txBody>
      </p:sp>
    </p:spTree>
    <p:extLst>
      <p:ext uri="{BB962C8B-B14F-4D97-AF65-F5344CB8AC3E}">
        <p14:creationId xmlns:p14="http://schemas.microsoft.com/office/powerpoint/2010/main" val="4026749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6D8E-363B-6C90-264F-10A2305E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AB54B-319E-B01A-C23D-5A3D4E23C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Massive Data Collection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Diverse sources: books, web, code, scientific papers, speech, images.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Multilingual, multi-domain, cleaned &amp; deduplicated.</a:t>
            </a:r>
          </a:p>
          <a:p>
            <a:r>
              <a:rPr lang="en-US"/>
              <a:t>Tokenization &amp; Representation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Break data into tokens (words,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subwords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, pixels, audio chunks).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Convert into embeddings for model input.</a:t>
            </a:r>
          </a:p>
          <a:p>
            <a:r>
              <a:rPr lang="en-US"/>
              <a:t>Pretraining (Core Stage)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Train on self-supervised objectives: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Next-token prediction (decoders).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Masked-token prediction (encoders).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Multimodal tasks (image–text pairs, speech–text).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Requires huge computation resources (GPUs/TPUs, distributed clusters).</a:t>
            </a:r>
          </a:p>
        </p:txBody>
      </p:sp>
    </p:spTree>
    <p:extLst>
      <p:ext uri="{BB962C8B-B14F-4D97-AF65-F5344CB8AC3E}">
        <p14:creationId xmlns:p14="http://schemas.microsoft.com/office/powerpoint/2010/main" val="1524408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4523-11FD-9270-04A7-4FE51B86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53FB-DCF0-5248-88D6-76A86C59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Training 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A9300-3436-1C52-9B5C-D63D56B45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Adaptation / Fine-tuning</a:t>
            </a:r>
          </a:p>
          <a:p>
            <a:pPr lvl="1"/>
            <a:r>
              <a:rPr lang="en-US"/>
              <a:t>General → Domain-specific (e.g., healthcare, law, code).</a:t>
            </a:r>
          </a:p>
          <a:p>
            <a:pPr lvl="1"/>
            <a:r>
              <a:rPr lang="en-US"/>
              <a:t>Parameter-efficient tuning (</a:t>
            </a:r>
            <a:r>
              <a:rPr lang="en-US" err="1"/>
              <a:t>LoRA</a:t>
            </a:r>
            <a:r>
              <a:rPr lang="en-US"/>
              <a:t>, adapters, </a:t>
            </a:r>
            <a:r>
              <a:rPr lang="en-US" err="1"/>
              <a:t>QLoRA</a:t>
            </a:r>
            <a:r>
              <a:rPr lang="en-US"/>
              <a:t>).</a:t>
            </a:r>
          </a:p>
          <a:p>
            <a:r>
              <a:rPr lang="en-US"/>
              <a:t>Alignment</a:t>
            </a:r>
          </a:p>
          <a:p>
            <a:pPr lvl="1"/>
            <a:r>
              <a:rPr lang="en-US"/>
              <a:t>Human feedback (RLHF, DPO, safety filters).</a:t>
            </a:r>
          </a:p>
          <a:p>
            <a:pPr lvl="1"/>
            <a:r>
              <a:rPr lang="en-US"/>
              <a:t>Bias, fairness, factuality, safety checks.</a:t>
            </a:r>
          </a:p>
          <a:p>
            <a:r>
              <a:rPr lang="en-US"/>
              <a:t>Deployment &amp; Scaling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Model compression (quantization, pruning).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Efficient inference (speculative decoding,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FlashAttention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APIs, cloud, or edge deployment.</a:t>
            </a:r>
          </a:p>
        </p:txBody>
      </p:sp>
    </p:spTree>
    <p:extLst>
      <p:ext uri="{BB962C8B-B14F-4D97-AF65-F5344CB8AC3E}">
        <p14:creationId xmlns:p14="http://schemas.microsoft.com/office/powerpoint/2010/main" val="1135714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0DB3-5CBB-8E0B-29B9-D350A6CB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Encoder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75065-780B-F1FB-D91E-924CA1E34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Learn deep representations of input text.</a:t>
            </a:r>
          </a:p>
          <a:p>
            <a:r>
              <a:rPr lang="en-US"/>
              <a:t>Use Masked Language Modeling (MLM) training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Hide some words in the sentence.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Train model to predict missing words from context.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“The cat sat on the [MASK].” → “mat”</a:t>
            </a:r>
          </a:p>
          <a:p>
            <a:r>
              <a:rPr lang="en-US"/>
              <a:t>Key Models: BERT, </a:t>
            </a:r>
            <a:r>
              <a:rPr lang="en-US" err="1"/>
              <a:t>RoBERTa</a:t>
            </a:r>
          </a:p>
          <a:p>
            <a:r>
              <a:rPr lang="en-US"/>
              <a:t>Use Cases: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Text classification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Named Entity Recognition (NER)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1916842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FC6B-3082-1758-98FC-D835759C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Decoder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6A070-BAC0-122C-BB77-F8DE64316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Learn to generate text step by step.</a:t>
            </a:r>
          </a:p>
          <a:p>
            <a:r>
              <a:rPr lang="en-US"/>
              <a:t>Uses Causal / Autoregressive Language Modeling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Predict next word given all previous words.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“The cat sat on the” → “mat”</a:t>
            </a:r>
          </a:p>
          <a:p>
            <a:r>
              <a:rPr lang="en-US"/>
              <a:t>Key Models: GPT, </a:t>
            </a:r>
            <a:r>
              <a:rPr lang="en-US" err="1"/>
              <a:t>LLaMA</a:t>
            </a:r>
          </a:p>
          <a:p>
            <a:r>
              <a:rPr lang="en-US"/>
              <a:t>Use Cases: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Text generation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Machine translation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Summarization, Q&amp;A</a:t>
            </a:r>
          </a:p>
        </p:txBody>
      </p:sp>
    </p:spTree>
    <p:extLst>
      <p:ext uri="{BB962C8B-B14F-4D97-AF65-F5344CB8AC3E}">
        <p14:creationId xmlns:p14="http://schemas.microsoft.com/office/powerpoint/2010/main" val="2957087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6DAF-945C-1ED9-DA5F-9B2D5D4D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Foundation LLM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E25F8-41B2-FD60-8BEF-FD8FC53B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A large-scale AI model trained on vast, diverse datasets (text, images, code, etc.) that serves as a general-purpose base for a wide range of downstream tasks.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Pretrained at scale: billions of parameters, trillions of tokens.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Versatile: can be adapted to many domains (translation, reasoning, summarization, coding).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Multi-modal potential: can handle text, images, audio, or combinations.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Reusable: forms the foundation for fine-tuning and domain adaptation.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Text: GPT-4, </a:t>
            </a:r>
            <a:r>
              <a:rPr lang="en-US" err="1">
                <a:solidFill>
                  <a:srgbClr val="7030A0"/>
                </a:solidFill>
              </a:rPr>
              <a:t>LLaMA</a:t>
            </a:r>
            <a:r>
              <a:rPr lang="en-US">
                <a:solidFill>
                  <a:srgbClr val="7030A0"/>
                </a:solidFill>
              </a:rPr>
              <a:t> 3, Claude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Vision: CLIP, DINOv2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Multimodal: Gemini, GPT-4o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Why Important?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Reduces the need to train new models from scratch.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Democratizes access to advanced AI by enabling fine-tuning for specific tasks.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Drives progress across industries (healthcare, finance, education, etc.).</a:t>
            </a:r>
          </a:p>
        </p:txBody>
      </p:sp>
    </p:spTree>
    <p:extLst>
      <p:ext uri="{BB962C8B-B14F-4D97-AF65-F5344CB8AC3E}">
        <p14:creationId xmlns:p14="http://schemas.microsoft.com/office/powerpoint/2010/main" val="1126517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0DEB-B4E1-45B8-BA2B-DA168A3BF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686F-4829-077F-FBB0-ED4F17C1E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Task specific LLM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4D13B-25D4-C6BB-6710-4CA12D083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Specialized LLMs created by fine-tuning a foundation model on task-focused data.</a:t>
            </a:r>
          </a:p>
          <a:p>
            <a:r>
              <a:rPr lang="en-US"/>
              <a:t>Adapt the model’s general abilities to excel at a specific application.</a:t>
            </a:r>
          </a:p>
          <a:p>
            <a:r>
              <a:rPr lang="en-US"/>
              <a:t>The are built using foundation LLMs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Start with Foundation Model (e.g., GPT-4,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LLaMA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3).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Fine-tune / Align on curated datasets.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Supervised fine-tuning (SFT).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Parameter-efficient tuning (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LoRA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, Adapters, 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QLoRA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RLHF / instruction tuning.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Deploy as a domain-optimized task model.</a:t>
            </a:r>
          </a:p>
          <a:p>
            <a:r>
              <a:rPr lang="en-US"/>
              <a:t>Examples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Med-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PaLM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- healthcare / clinical question answering.</a:t>
            </a:r>
          </a:p>
          <a:p>
            <a:pPr lvl="1"/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LawGPT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 - legal document drafting.</a:t>
            </a:r>
          </a:p>
          <a:p>
            <a:pPr lvl="1"/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FinBERT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 - financial sentiment analysis.</a:t>
            </a:r>
          </a:p>
          <a:p>
            <a:r>
              <a:rPr lang="en-US"/>
              <a:t>Benefits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Higher accuracy in target tasks.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Efficiency: avoids retraining from scratch.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Reliability: aligns outputs with domain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129062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69D1-BEDF-1697-EC8D-A44FCAF6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Instruction fine-tuning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3E97D-58B4-CCE5-283E-19571203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 technique to adapt foundation models by training them on datasets of instructions and responses.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Makes models follow human instructions reliably.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Improves usability for non-technical users.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Reduces irrelevant or hallucinated outputs.</a:t>
            </a:r>
          </a:p>
          <a:p>
            <a:r>
              <a:rPr lang="en-US"/>
              <a:t>Better Alignment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Aligns model behavior with human intent.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Produces safer, more task-relevant answers.</a:t>
            </a:r>
          </a:p>
          <a:p>
            <a:r>
              <a:rPr lang="en-US"/>
              <a:t>Efficiency for Smaller Models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Even “small” LLMs (&lt;2B parameters) can compete with GPT-3.5 or LLaMA-2 when fine-tuned on domain data.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Example: FLAN-T5 Large excelled at meeting summarization despite being much smaller</a:t>
            </a:r>
          </a:p>
          <a:p>
            <a:r>
              <a:rPr lang="en-US"/>
              <a:t>Foundation for Assistants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Forms the backbone of conversational AI (ChatGPT-style systems).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Enables cost-effective domain-specific deployments.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07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BEF3-8445-1366-1AAD-EC3BCE1A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Preference Fine-Tuning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BBB46-8F17-62BC-3E2C-926DFC61A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 process to adapt LLMs so their outputs match human preferences (helpfulness, safety, tone).</a:t>
            </a:r>
          </a:p>
          <a:p>
            <a:r>
              <a:rPr lang="en-US"/>
              <a:t>Moves beyond raw accuracy and focuses on alignment with user expectations.</a:t>
            </a:r>
          </a:p>
          <a:p>
            <a:r>
              <a:rPr lang="en-US"/>
              <a:t>How to fine tune for preference</a:t>
            </a:r>
          </a:p>
          <a:p>
            <a:pPr lvl="1"/>
            <a:r>
              <a:rPr lang="en-US">
                <a:solidFill>
                  <a:schemeClr val="accent6">
                    <a:lumMod val="49000"/>
                  </a:schemeClr>
                </a:solidFill>
              </a:rPr>
              <a:t>Human Feedback: Collect comparisons of model responses (“</a:t>
            </a:r>
            <a:r>
              <a:rPr lang="en-US" err="1">
                <a:solidFill>
                  <a:schemeClr val="accent6">
                    <a:lumMod val="49000"/>
                  </a:schemeClr>
                </a:solidFill>
              </a:rPr>
              <a:t>preferred”vs</a:t>
            </a:r>
            <a:r>
              <a:rPr lang="en-US">
                <a:solidFill>
                  <a:schemeClr val="accent6">
                    <a:lumMod val="49000"/>
                  </a:schemeClr>
                </a:solidFill>
              </a:rPr>
              <a:t> “not preferred”).</a:t>
            </a:r>
          </a:p>
          <a:p>
            <a:pPr lvl="1"/>
            <a:r>
              <a:rPr lang="en-US">
                <a:solidFill>
                  <a:schemeClr val="accent6">
                    <a:lumMod val="49000"/>
                  </a:schemeClr>
                </a:solidFill>
              </a:rPr>
              <a:t>Reward Model: Train a smaller model to predict these preferences.</a:t>
            </a:r>
          </a:p>
          <a:p>
            <a:pPr lvl="1"/>
            <a:r>
              <a:rPr lang="en-US">
                <a:solidFill>
                  <a:schemeClr val="accent6">
                    <a:lumMod val="49000"/>
                  </a:schemeClr>
                </a:solidFill>
              </a:rPr>
              <a:t>Fine-Tuning: Update the base LLM with methods such as: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RLHF – Reinforcement Learning from Human Feedback.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DPO – Direct Preference Optimization.</a:t>
            </a:r>
          </a:p>
          <a:p>
            <a:pPr lvl="2"/>
            <a:r>
              <a:rPr lang="en-US" err="1">
                <a:solidFill>
                  <a:srgbClr val="7030A0"/>
                </a:solidFill>
              </a:rPr>
              <a:t>LiPO</a:t>
            </a:r>
            <a:r>
              <a:rPr lang="en-US">
                <a:solidFill>
                  <a:srgbClr val="7030A0"/>
                </a:solidFill>
              </a:rPr>
              <a:t> &amp; others – advanced ranking-based methods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09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C4DE-CE5B-BB31-1BA4-EC08049F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3749-D875-3251-8783-48E42D9F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Alignment: In general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38B5D-204E-C72D-DF64-2B3783CE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Traditional Alignment Criteria</a:t>
            </a:r>
          </a:p>
          <a:p>
            <a:pPr lvl="1"/>
            <a:r>
              <a:rPr lang="en-US" dirty="0"/>
              <a:t>Helpfulness</a:t>
            </a:r>
          </a:p>
          <a:p>
            <a:pPr lvl="1"/>
            <a:r>
              <a:rPr lang="en-US" dirty="0"/>
              <a:t>Harmlessness</a:t>
            </a:r>
          </a:p>
          <a:p>
            <a:pPr lvl="1"/>
            <a:r>
              <a:rPr lang="en-US" dirty="0"/>
              <a:t>Instruction-following ability</a:t>
            </a:r>
          </a:p>
          <a:p>
            <a:pPr lvl="1"/>
            <a:r>
              <a:rPr lang="en-US" dirty="0"/>
              <a:t>Other safety &amp; usability goals</a:t>
            </a:r>
          </a:p>
          <a:p>
            <a:r>
              <a:rPr lang="en-US" dirty="0"/>
              <a:t>Two-Stage Fine-Tuning Process</a:t>
            </a:r>
          </a:p>
          <a:p>
            <a:pPr lvl="1"/>
            <a:r>
              <a:rPr lang="en-US" dirty="0"/>
              <a:t>Supervised Fine-Tuning (SFT):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Train the model on curated, high-quality reference responses.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Uses a next-token prediction objective.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Teaches the LLM to mimic the style, tone, and format of desired outputs.</a:t>
            </a:r>
          </a:p>
          <a:p>
            <a:pPr lvl="1"/>
            <a:r>
              <a:rPr lang="en-US" dirty="0"/>
              <a:t>Reinforcement Learning from Human Feedback (RLHF):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Collect human feedback on the model’s responses.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Train a reward model that scores outputs.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Fine-tune the LLM so it optimizes for outputs humans prefer.</a:t>
            </a:r>
          </a:p>
          <a:p>
            <a:r>
              <a:rPr lang="en-US" dirty="0"/>
              <a:t>Key Difference:</a:t>
            </a:r>
          </a:p>
          <a:p>
            <a:pPr lvl="1"/>
            <a:r>
              <a:rPr lang="en-US" dirty="0"/>
              <a:t>SFT - Mimic good examples.</a:t>
            </a:r>
          </a:p>
          <a:p>
            <a:pPr lvl="1"/>
            <a:r>
              <a:rPr lang="en-US" dirty="0"/>
              <a:t>RLHF - Learn from human preferences.</a:t>
            </a:r>
          </a:p>
        </p:txBody>
      </p:sp>
    </p:spTree>
    <p:extLst>
      <p:ext uri="{BB962C8B-B14F-4D97-AF65-F5344CB8AC3E}">
        <p14:creationId xmlns:p14="http://schemas.microsoft.com/office/powerpoint/2010/main" val="440476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9360-2A22-3193-F3A6-77E44096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Fine Tuning: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6D6D-D5D4-61B1-B60E-0F21CFFE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size of the model does not change during finetuning! </a:t>
            </a:r>
          </a:p>
          <a:p>
            <a:r>
              <a:rPr lang="en-US"/>
              <a:t>As a result, finetuning an LLM — though cheaper than pretraining — is not easy. </a:t>
            </a:r>
          </a:p>
          <a:p>
            <a:r>
              <a:rPr lang="en-US"/>
              <a:t>We still need training techniques and hardware than can handle such a model. </a:t>
            </a:r>
          </a:p>
          <a:p>
            <a:r>
              <a:rPr lang="en-US"/>
              <a:t>Plus, and every finetuning run creates an entirely separate “copy” of the LLM that we must store, maintain, and deploy — this can quickly become both complicated and expensive!</a:t>
            </a:r>
          </a:p>
        </p:txBody>
      </p:sp>
    </p:spTree>
    <p:extLst>
      <p:ext uri="{BB962C8B-B14F-4D97-AF65-F5344CB8AC3E}">
        <p14:creationId xmlns:p14="http://schemas.microsoft.com/office/powerpoint/2010/main" val="2096561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AFDC-2C93-71E4-E866-8E7536F8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So, how to fine tune?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5845-AC0A-C41A-6441-366C5528A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Parameter Efficient Fine Tuning </a:t>
            </a:r>
            <a:r>
              <a:rPr lang="en-US">
                <a:solidFill>
                  <a:srgbClr val="C00000"/>
                </a:solidFill>
              </a:rPr>
              <a:t>(PEFT)</a:t>
            </a:r>
          </a:p>
          <a:p>
            <a:r>
              <a:rPr lang="en-US"/>
              <a:t>Instead of training the full model end-to-end, parameter-efficient finetuning leaves pretrained model weights fixed and only adapts a small number of task-specific parameters during finetuning</a:t>
            </a:r>
          </a:p>
          <a:p>
            <a:r>
              <a:rPr lang="en-US"/>
              <a:t>PEFT  drastically reduces memory overhead, simplifies the storage/deployment process, and make it possible to finetune LLMs with more accessible hardware. </a:t>
            </a:r>
          </a:p>
          <a:p>
            <a:r>
              <a:rPr lang="en-US"/>
              <a:t>Later we will discuss: Prefix tuning, adaptive layers, </a:t>
            </a:r>
            <a:r>
              <a:rPr lang="en-US" err="1"/>
              <a:t>LoRA</a:t>
            </a:r>
            <a:r>
              <a:rPr lang="en-US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84014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56B5-388A-C5AE-11FC-90A85701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using LLM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14618-9661-3A63-4946-6B1D1286F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Decoding and Interpreting LLMs: decoding LLMs is one of the most exciting topics in NLP right now.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Traditionally, decoding was treated as just “choosing the next word,” but modern research shows how we decode directly affects reasoning, truthfulness, and creativity of large language models.</a:t>
            </a:r>
          </a:p>
          <a:p>
            <a:r>
              <a:rPr lang="en-US"/>
              <a:t>Why decoding is important?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Training gives the model knowledge, but decoding decides how that knowledge is expressed.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A poor decoding method can make even a powerful LLM look dumb (nonsensical, repetitive, hallucinating).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Decoding is where we balance creativity vs. accuracy, diversity vs. reliability.</a:t>
            </a:r>
          </a:p>
        </p:txBody>
      </p:sp>
    </p:spTree>
    <p:extLst>
      <p:ext uri="{BB962C8B-B14F-4D97-AF65-F5344CB8AC3E}">
        <p14:creationId xmlns:p14="http://schemas.microsoft.com/office/powerpoint/2010/main" val="11158474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D374-C42A-138F-1B66-AE1117A6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F163-1A8D-43AB-4834-D04CB302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687DF-AD84-4041-C912-27FCAE054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>
                <a:solidFill>
                  <a:srgbClr val="C00000"/>
                </a:solidFill>
              </a:rPr>
              <a:t>Greedy search</a:t>
            </a:r>
            <a:r>
              <a:rPr lang="en-US"/>
              <a:t> picks the most likely next token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Fast, but repetitive.</a:t>
            </a:r>
          </a:p>
          <a:p>
            <a:r>
              <a:rPr lang="en-US">
                <a:solidFill>
                  <a:srgbClr val="C00000"/>
                </a:solidFill>
              </a:rPr>
              <a:t>Beam search</a:t>
            </a:r>
            <a:r>
              <a:rPr lang="en-US"/>
              <a:t> explores multiple candidate sequences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Better fluency but can still lack diversity.</a:t>
            </a:r>
          </a:p>
          <a:p>
            <a:r>
              <a:rPr lang="en-US">
                <a:solidFill>
                  <a:srgbClr val="C00000"/>
                </a:solidFill>
              </a:rPr>
              <a:t>Sampling methods</a:t>
            </a:r>
            <a:r>
              <a:rPr lang="en-US"/>
              <a:t>:</a:t>
            </a:r>
          </a:p>
          <a:p>
            <a:pPr lvl="1"/>
            <a:r>
              <a:rPr lang="en-US"/>
              <a:t>Top-k sampling (choose among the top k tokens).</a:t>
            </a:r>
          </a:p>
          <a:p>
            <a:pPr lvl="1"/>
            <a:r>
              <a:rPr lang="en-US"/>
              <a:t>Nucleus sampling (top-p)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Sample from tokens whose cumulative probability ≥ p.</a:t>
            </a:r>
          </a:p>
          <a:p>
            <a:pPr lvl="1"/>
            <a:r>
              <a:rPr lang="en-US"/>
              <a:t>These are useful but limited when models are very large and tasks are complex.</a:t>
            </a:r>
          </a:p>
          <a:p>
            <a:r>
              <a:rPr lang="en-US">
                <a:solidFill>
                  <a:srgbClr val="C00000"/>
                </a:solidFill>
              </a:rPr>
              <a:t>Advanced Decoding</a:t>
            </a:r>
            <a:r>
              <a:rPr lang="en-US"/>
              <a:t> Strategies</a:t>
            </a:r>
          </a:p>
          <a:p>
            <a:pPr lvl="1"/>
            <a:r>
              <a:rPr lang="en-US"/>
              <a:t>Reasoning-Aware Decoding: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Chain-of-Thought (generate reasoning steps)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Self-Consistency (vote across multiple reasoning paths)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Tree/Graph-of-Thoughts (explore structured reasoning)</a:t>
            </a:r>
          </a:p>
          <a:p>
            <a:pPr lvl="1"/>
            <a:r>
              <a:rPr lang="en-US"/>
              <a:t>Constrained/Responsible Decoding: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Disallow unsafe outputs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Require citations or factual grounding</a:t>
            </a:r>
          </a:p>
        </p:txBody>
      </p:sp>
    </p:spTree>
    <p:extLst>
      <p:ext uri="{BB962C8B-B14F-4D97-AF65-F5344CB8AC3E}">
        <p14:creationId xmlns:p14="http://schemas.microsoft.com/office/powerpoint/2010/main" val="3011433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F3D6-4145-F697-0BCB-D192D610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5A4F-A132-1862-2E05-D868A3CA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BFF5-BDB8-0FC6-DEE6-B5CFFDF59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Multimodal Decoding</a:t>
            </a:r>
          </a:p>
          <a:p>
            <a:pPr lvl="1"/>
            <a:r>
              <a:rPr lang="en-US"/>
              <a:t>Decoding is no longer limited to plain text.</a:t>
            </a:r>
          </a:p>
          <a:p>
            <a:pPr lvl="1"/>
            <a:r>
              <a:rPr lang="en-US"/>
              <a:t>Models can output text + images + code + actions.</a:t>
            </a:r>
          </a:p>
          <a:p>
            <a:pPr lvl="1"/>
            <a:r>
              <a:rPr lang="en-US"/>
              <a:t>Examples: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Describe an image and then answer questions about it.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Generate code that runs, not just text snippets.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Control robots or IoT devices by decoding into action sequences.</a:t>
            </a:r>
          </a:p>
          <a:p>
            <a:r>
              <a:rPr lang="en-US"/>
              <a:t>Programmatic Decoding</a:t>
            </a:r>
          </a:p>
          <a:p>
            <a:pPr lvl="1"/>
            <a:r>
              <a:rPr lang="en-US"/>
              <a:t>Instead of free-form text, models generate structured programs (Python, SQL, JSON).</a:t>
            </a:r>
          </a:p>
          <a:p>
            <a:pPr lvl="1"/>
            <a:r>
              <a:rPr lang="en-US"/>
              <a:t>These outputs can be executed to get reliable results.</a:t>
            </a:r>
          </a:p>
          <a:p>
            <a:pPr lvl="1"/>
            <a:r>
              <a:rPr lang="en-US"/>
              <a:t>Example: “What’s the average temperature last week?” </a:t>
            </a:r>
            <a:r>
              <a:rPr lang="en-US">
                <a:solidFill>
                  <a:srgbClr val="C00000"/>
                </a:solidFill>
              </a:rPr>
              <a:t>→</a:t>
            </a:r>
            <a:r>
              <a:rPr lang="en-US"/>
              <a:t> </a:t>
            </a:r>
            <a:r>
              <a:rPr lang="en-US">
                <a:solidFill>
                  <a:srgbClr val="FFC000"/>
                </a:solidFill>
              </a:rPr>
              <a:t>LLM decodes into SQL</a:t>
            </a:r>
            <a:r>
              <a:rPr lang="en-US"/>
              <a:t> </a:t>
            </a:r>
            <a:r>
              <a:rPr lang="en-US">
                <a:solidFill>
                  <a:srgbClr val="C00000"/>
                </a:solidFill>
              </a:rPr>
              <a:t>→</a:t>
            </a:r>
            <a:r>
              <a:rPr lang="en-US"/>
              <a:t> </a:t>
            </a:r>
            <a:r>
              <a:rPr lang="en-US">
                <a:solidFill>
                  <a:srgbClr val="FFC000"/>
                </a:solidFill>
              </a:rPr>
              <a:t>runs on database</a:t>
            </a:r>
            <a:r>
              <a:rPr lang="en-US">
                <a:highlight>
                  <a:srgbClr val="C0C0C0"/>
                </a:highlight>
              </a:rPr>
              <a:t> </a:t>
            </a:r>
            <a:r>
              <a:rPr lang="en-US">
                <a:solidFill>
                  <a:srgbClr val="C00000"/>
                </a:solidFill>
              </a:rPr>
              <a:t>→</a:t>
            </a:r>
            <a:r>
              <a:rPr lang="en-US"/>
              <a:t> </a:t>
            </a:r>
            <a:r>
              <a:rPr lang="en-US">
                <a:solidFill>
                  <a:srgbClr val="FFC000"/>
                </a:solidFill>
              </a:rPr>
              <a:t>returns exact value</a:t>
            </a:r>
            <a:r>
              <a:rPr lang="en-US"/>
              <a:t>.</a:t>
            </a:r>
          </a:p>
          <a:p>
            <a:pPr lvl="1"/>
            <a:r>
              <a:rPr lang="en-US"/>
              <a:t>This moves decoding closer to symbolic reasoning + factual precision.</a:t>
            </a:r>
          </a:p>
          <a:p>
            <a:r>
              <a:rPr lang="en-US"/>
              <a:t>Efficiency-Oriented Decoding</a:t>
            </a:r>
          </a:p>
          <a:p>
            <a:pPr lvl="1"/>
            <a:r>
              <a:rPr lang="en-US"/>
              <a:t>Speculative decoding: Model drafts multiple tokens in parallel, then verifies them quickly. Speeds up inference by 2–4x.</a:t>
            </a:r>
          </a:p>
          <a:p>
            <a:pPr lvl="1"/>
            <a:r>
              <a:rPr lang="en-US"/>
              <a:t>Early exit decoding: Stop computations once the model is “confident enough,” reducing latency.</a:t>
            </a:r>
          </a:p>
          <a:p>
            <a:pPr lvl="1"/>
            <a:r>
              <a:rPr lang="en-US"/>
              <a:t>Parallel decoding: Break away from left-to-right bottleneck, predict chunks of tokens at once.</a:t>
            </a:r>
          </a:p>
          <a:p>
            <a:pPr lvl="1"/>
            <a:r>
              <a:rPr lang="en-US"/>
              <a:t>Goal: Make LLM decoding fast, cheap, and deployable on edge devices.</a:t>
            </a:r>
          </a:p>
        </p:txBody>
      </p:sp>
    </p:spTree>
    <p:extLst>
      <p:ext uri="{BB962C8B-B14F-4D97-AF65-F5344CB8AC3E}">
        <p14:creationId xmlns:p14="http://schemas.microsoft.com/office/powerpoint/2010/main" val="720205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FA38-F3D7-2568-0037-0A8899A3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Topics in modern NLP: Decoding</a:t>
            </a:r>
            <a:endParaRPr lang="en-US" sz="4000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E3092-88F1-57C9-3569-67826F90A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Controllable Decoding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Adding constraints so the model respects logic, structure, or rules.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Examples: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Generating SQL queries that are always valid.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Forcing step-by-step reasoning chains.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Used in code generation, math solvers, legal/medical NLP.</a:t>
            </a:r>
          </a:p>
          <a:p>
            <a:r>
              <a:rPr lang="en-US" dirty="0"/>
              <a:t>Alignment-Aware Decoding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Models are fine-tuned with human feedback (RLHF, DPO), but decoding still matters.</a:t>
            </a:r>
          </a:p>
          <a:p>
            <a:pPr lvl="1"/>
            <a:r>
              <a:rPr lang="en-US" dirty="0"/>
              <a:t>New strategies (e.g., constrained beam search, value-guided decoding) ensure outputs align with human intent, not just probability.</a:t>
            </a:r>
          </a:p>
          <a:p>
            <a:r>
              <a:rPr lang="en-US" dirty="0"/>
              <a:t>Reasoning-Oriented Decoding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Instead of producing answers directly, decoding can enforce deliberation.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Chain-of-thought (</a:t>
            </a:r>
            <a:r>
              <a:rPr lang="en-US" err="1">
                <a:solidFill>
                  <a:schemeClr val="accent6">
                    <a:lumMod val="76000"/>
                  </a:schemeClr>
                </a:solidFill>
              </a:rPr>
              <a:t>CoT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) decoding: model generates intermediate reasoning steps before the final answer.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Tree-of-thoughts and graph-of-thoughts: explore multiple reasoning paths, then pick the best.</a:t>
            </a:r>
          </a:p>
        </p:txBody>
      </p:sp>
    </p:spTree>
    <p:extLst>
      <p:ext uri="{BB962C8B-B14F-4D97-AF65-F5344CB8AC3E}">
        <p14:creationId xmlns:p14="http://schemas.microsoft.com/office/powerpoint/2010/main" val="15168914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E89F-C0D3-698C-4CE4-53BA57E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4721-EC08-491B-604A-1C6284D4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Topics in modern NLP: Decoding</a:t>
            </a:r>
            <a:endParaRPr lang="en-US" sz="4000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8BB20-775D-2E55-E5D8-929079F51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Energy- and Efficiency-Aware Decoding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For deployment on phones/IoT, decoding must be lightweight.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Research explores speculative decoding (draft + verify tokens in parallel) and early exit decoding (stop generating when confident).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Dramatically reduces cost without sacrificing quality.</a:t>
            </a:r>
          </a:p>
          <a:p>
            <a:r>
              <a:rPr lang="en-US" dirty="0"/>
              <a:t>Safe &amp; Trustworthy Decoding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Guardrails at decoding time prevent toxic or biased content.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Example: blocking unsafe tokens, or re-ranking outputs by factuality.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Frontier: “factual decoding” guided by retrieval from trusted sources.</a:t>
            </a:r>
          </a:p>
        </p:txBody>
      </p:sp>
    </p:spTree>
    <p:extLst>
      <p:ext uri="{BB962C8B-B14F-4D97-AF65-F5344CB8AC3E}">
        <p14:creationId xmlns:p14="http://schemas.microsoft.com/office/powerpoint/2010/main" val="4024618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2F64-FB45-2B23-9BC4-32E2ADFF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B222-9C72-280F-0E92-CC38F48D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C8D3C-80A1-6212-22A5-B210B533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Deep Semantic Reasoning: Beyond Surface-Level Understanding</a:t>
            </a:r>
          </a:p>
          <a:p>
            <a:r>
              <a:rPr lang="en-US"/>
              <a:t>Equips models with ability to reason about language in a more human-like manner. </a:t>
            </a:r>
          </a:p>
          <a:p>
            <a:r>
              <a:rPr lang="en-US"/>
              <a:t>Emphasizes capturing implicit meaning, causal relationships, common-sense knowledge, and abstract concepts. </a:t>
            </a:r>
          </a:p>
          <a:p>
            <a:r>
              <a:rPr lang="en-US"/>
              <a:t>The central challenges include handling sarcasm, metaphor, figurative expressions, and intricate logical structures embedded in text.</a:t>
            </a:r>
          </a:p>
        </p:txBody>
      </p:sp>
    </p:spTree>
    <p:extLst>
      <p:ext uri="{BB962C8B-B14F-4D97-AF65-F5344CB8AC3E}">
        <p14:creationId xmlns:p14="http://schemas.microsoft.com/office/powerpoint/2010/main" val="1097146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42ED-3F5F-9B64-C4CB-3A70F37E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Topics in modern NLP: Reasoning</a:t>
            </a:r>
            <a:endParaRPr lang="en-US" sz="4000" b="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5751-587E-A341-7795-4ABE08B06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536" y="673490"/>
            <a:ext cx="11320465" cy="5237162"/>
          </a:xfrm>
        </p:spPr>
        <p:txBody>
          <a:bodyPr/>
          <a:lstStyle/>
          <a:p>
            <a:r>
              <a:rPr lang="en-US"/>
              <a:t>Factual question-answering like "What is the capital of France?" does not require reasoning. </a:t>
            </a:r>
          </a:p>
          <a:p>
            <a:r>
              <a:rPr lang="en-US"/>
              <a:t>However, question like "If a train is moving at 60 mph and travels for 3 hours, how far does it go?" requires some simple reasoning. </a:t>
            </a:r>
          </a:p>
          <a:p>
            <a:r>
              <a:rPr lang="en-US"/>
              <a:t>For instance, it requires recognizing the relationship between distance, speed, and time before arriving at the answer.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6BA4466A-542F-40F4-6ED1-21D859D5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397" y="3296817"/>
            <a:ext cx="5351433" cy="30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82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432D-29A5-8B6D-1D59-116D7CA1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2985-D856-6693-FC70-069F4814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0B17E-D1FD-4E62-0630-98196A264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Reasoning models are designed to be good at complex tasks such as solving puzzles, advanced math problems, and challenging coding tasks.</a:t>
            </a:r>
          </a:p>
          <a:p>
            <a:r>
              <a:rPr lang="en-US" dirty="0"/>
              <a:t>However, they are not necessary for simpler tasks like summarization, translation, or knowledge-based question answering. </a:t>
            </a:r>
          </a:p>
          <a:p>
            <a:r>
              <a:rPr lang="en-US" dirty="0"/>
              <a:t>Using reasoning models for everything can be inefficient and expensive.</a:t>
            </a:r>
          </a:p>
          <a:p>
            <a:pPr lvl="1"/>
            <a:r>
              <a:rPr lang="en-US"/>
              <a:t>Reasoning models are typically more expensive, more verbose, and sometimes more prone to errors due to "overthinking."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13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F70B-1D9A-FE8B-E3D9-C240FE1E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DeepSeek training for Reasoning</a:t>
            </a:r>
          </a:p>
        </p:txBody>
      </p:sp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984923C7-BFED-AFAB-910F-5108D0D04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158" y="1204732"/>
            <a:ext cx="6449684" cy="44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85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D876-545B-9561-4B20-468B50FE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Topics in modern NLP: Modality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DA6CC-FE5E-D3D8-A686-B1C7B8713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Multimodal LLM: an AI model that goes beyond text, combining language + vision + audio + more, making interactions more natural and powerful.</a:t>
            </a:r>
          </a:p>
          <a:p>
            <a:r>
              <a:rPr lang="en-US"/>
              <a:t>"Modality" refers to a type of data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Text (like in traditional LLMs), sound, images, videos, and more.</a:t>
            </a:r>
          </a:p>
          <a:p>
            <a:r>
              <a:rPr lang="en-US"/>
              <a:t>Why It Matters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Closer to human-like understanding (we don’t use just text, we use vision, hearing, context).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Enables richer applications: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AI tutors that see and hear students.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Healthcare assistants analyzing medical images + patient history.</a:t>
            </a:r>
          </a:p>
          <a:p>
            <a:pPr lvl="2"/>
            <a:r>
              <a:rPr lang="en-US">
                <a:solidFill>
                  <a:srgbClr val="7030A0"/>
                </a:solidFill>
              </a:rPr>
              <a:t>Robots understanding both instructions (text) and their environment (vision/audio).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114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76E4-C0A6-99EC-B22B-57B59EE3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to train a multimodal Model?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DC1DE-3D39-7B12-0784-800532F5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88" y="640429"/>
            <a:ext cx="9601198" cy="557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344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7.9|6.4|10.4|15.5|13.2|13.1|1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0.1|8.2|16.7|14.5|17|13|12.6|10.1|1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8.1|7|6|3.8|25.1|1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0.4|4.1|6|5|42|10.6|22.9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CSE495B (Natural Language Processing) Lecture 1 &amp; 2</vt:lpstr>
      <vt:lpstr>Course Logistics</vt:lpstr>
      <vt:lpstr>Workload and Grading Policy</vt:lpstr>
      <vt:lpstr>Reference materials</vt:lpstr>
      <vt:lpstr>Course Goals..</vt:lpstr>
      <vt:lpstr>What is NLP?</vt:lpstr>
      <vt:lpstr>NLP Scopes (Cont.)</vt:lpstr>
      <vt:lpstr>Why is NLP Challenging?</vt:lpstr>
      <vt:lpstr>Ambiguity</vt:lpstr>
      <vt:lpstr>Ambiguity</vt:lpstr>
      <vt:lpstr>Common Knowledge</vt:lpstr>
      <vt:lpstr>Creativity</vt:lpstr>
      <vt:lpstr>Diversity Across Languages</vt:lpstr>
      <vt:lpstr>LM Models: Transformer</vt:lpstr>
      <vt:lpstr>What is an LM?</vt:lpstr>
      <vt:lpstr>LM: Encoder and Decoders</vt:lpstr>
      <vt:lpstr>LM evolution</vt:lpstr>
      <vt:lpstr>Self-Attention</vt:lpstr>
      <vt:lpstr>Flash Attention</vt:lpstr>
      <vt:lpstr>PowerPoint Presentation</vt:lpstr>
      <vt:lpstr>Language Model Training</vt:lpstr>
      <vt:lpstr>Supervised Learning in NLP</vt:lpstr>
      <vt:lpstr>Unsupervised NLP Learning</vt:lpstr>
      <vt:lpstr>Self-Supervised Learning in NLP</vt:lpstr>
      <vt:lpstr>Reinforcement Learning for NLP</vt:lpstr>
      <vt:lpstr>Contrastive Learning</vt:lpstr>
      <vt:lpstr>Contrastive Learning</vt:lpstr>
      <vt:lpstr>PowerPoint Presentation</vt:lpstr>
      <vt:lpstr>How can we train an LLM? </vt:lpstr>
      <vt:lpstr>Training LMs</vt:lpstr>
      <vt:lpstr>Training LMs</vt:lpstr>
      <vt:lpstr>Encoder Training</vt:lpstr>
      <vt:lpstr>Decoder Training</vt:lpstr>
      <vt:lpstr>Foundation LLM</vt:lpstr>
      <vt:lpstr>Task specific LLM</vt:lpstr>
      <vt:lpstr>Instruction fine-tuning</vt:lpstr>
      <vt:lpstr>Preference Fine-Tuning</vt:lpstr>
      <vt:lpstr>LLM Alignment: In general</vt:lpstr>
      <vt:lpstr>Fine Tuning: Issues</vt:lpstr>
      <vt:lpstr>So, how to fine tune?</vt:lpstr>
      <vt:lpstr>Topics in modern NLP: using LLM</vt:lpstr>
      <vt:lpstr>Topics in modern NLP: Decoding</vt:lpstr>
      <vt:lpstr>Topics in modern NLP: Decoding</vt:lpstr>
      <vt:lpstr>Topics in modern NLP: Decoding</vt:lpstr>
      <vt:lpstr>Topics in modern NLP: Decoding</vt:lpstr>
      <vt:lpstr>Topics in modern NLP: Reasoning</vt:lpstr>
      <vt:lpstr>Topics in modern NLP: Reasoning</vt:lpstr>
      <vt:lpstr>Topics in modern NLP: Reasoning</vt:lpstr>
      <vt:lpstr>DeepSeek training for Reasoning</vt:lpstr>
      <vt:lpstr>Topics in modern NLP: Modality</vt:lpstr>
      <vt:lpstr>How to train a multimodal Model?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495 (Natural Language Processing) Lecture 2</dc:title>
  <dc:creator>Mohammad Khan</dc:creator>
  <cp:revision>37</cp:revision>
  <dcterms:created xsi:type="dcterms:W3CDTF">2018-11-03T12:07:21Z</dcterms:created>
  <dcterms:modified xsi:type="dcterms:W3CDTF">2025-09-24T08:42:03Z</dcterms:modified>
</cp:coreProperties>
</file>