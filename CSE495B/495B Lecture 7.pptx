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25"/>
  </p:notesMasterIdLst>
  <p:sldIdLst>
    <p:sldId id="256" r:id="rId5"/>
    <p:sldId id="347" r:id="rId6"/>
    <p:sldId id="348" r:id="rId7"/>
    <p:sldId id="349" r:id="rId8"/>
    <p:sldId id="350" r:id="rId9"/>
    <p:sldId id="351" r:id="rId10"/>
    <p:sldId id="352" r:id="rId11"/>
    <p:sldId id="353" r:id="rId12"/>
    <p:sldId id="355" r:id="rId13"/>
    <p:sldId id="395" r:id="rId14"/>
    <p:sldId id="396" r:id="rId15"/>
    <p:sldId id="397" r:id="rId16"/>
    <p:sldId id="398" r:id="rId17"/>
    <p:sldId id="399" r:id="rId18"/>
    <p:sldId id="402" r:id="rId19"/>
    <p:sldId id="405" r:id="rId20"/>
    <p:sldId id="407" r:id="rId21"/>
    <p:sldId id="408" r:id="rId22"/>
    <p:sldId id="409" r:id="rId23"/>
    <p:sldId id="411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4" roundtripDataSignature="AMtx7miLAPrl4d+V1IstkCCj/PL+6qtY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00"/>
    <a:srgbClr val="99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B3214A-6A35-D336-5B35-D6451BAE5DB6}" v="3" dt="2025-11-09T17:50:55.321"/>
  </p1510:revLst>
</p1510:revInfo>
</file>

<file path=ppt/tableStyles.xml><?xml version="1.0" encoding="utf-8"?>
<a:tblStyleLst xmlns:a="http://schemas.openxmlformats.org/drawingml/2006/main" def="{E1EA1CD8-9A49-4420-9597-29AC4BAAC592}">
  <a:tblStyle styleId="{E1EA1CD8-9A49-4420-9597-29AC4BAAC59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40" autoAdjust="0"/>
    <p:restoredTop sz="94694"/>
  </p:normalViewPr>
  <p:slideViewPr>
    <p:cSldViewPr snapToGrid="0">
      <p:cViewPr varScale="1">
        <p:scale>
          <a:sx n="92" d="100"/>
          <a:sy n="92" d="100"/>
        </p:scale>
        <p:origin x="52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6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75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74" Type="http://customschemas.google.com/relationships/presentationmetadata" Target="metadata"/><Relationship Id="rId79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78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7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5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0"/>
          <p:cNvSpPr txBox="1">
            <a:spLocks noGrp="1"/>
          </p:cNvSpPr>
          <p:nvPr>
            <p:ph type="title"/>
          </p:nvPr>
        </p:nvSpPr>
        <p:spPr>
          <a:xfrm>
            <a:off x="1278733" y="155574"/>
            <a:ext cx="10515600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0"/>
          <p:cNvSpPr txBox="1">
            <a:spLocks noGrp="1"/>
          </p:cNvSpPr>
          <p:nvPr>
            <p:ph type="body" idx="1"/>
          </p:nvPr>
        </p:nvSpPr>
        <p:spPr>
          <a:xfrm>
            <a:off x="685800" y="1119188"/>
            <a:ext cx="11320465" cy="5237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6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6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2"/>
          <p:cNvSpPr txBox="1">
            <a:spLocks noGrp="1"/>
          </p:cNvSpPr>
          <p:nvPr>
            <p:ph type="title"/>
          </p:nvPr>
        </p:nvSpPr>
        <p:spPr>
          <a:xfrm>
            <a:off x="1278733" y="155574"/>
            <a:ext cx="10515600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6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6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6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6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6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4"/>
          <p:cNvSpPr txBox="1">
            <a:spLocks noGrp="1"/>
          </p:cNvSpPr>
          <p:nvPr>
            <p:ph type="title"/>
          </p:nvPr>
        </p:nvSpPr>
        <p:spPr>
          <a:xfrm>
            <a:off x="1278733" y="155574"/>
            <a:ext cx="10515600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6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6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6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6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6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6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6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6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6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6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6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6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6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6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6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8"/>
          <p:cNvSpPr txBox="1">
            <a:spLocks noGrp="1"/>
          </p:cNvSpPr>
          <p:nvPr>
            <p:ph type="title"/>
          </p:nvPr>
        </p:nvSpPr>
        <p:spPr>
          <a:xfrm>
            <a:off x="1278733" y="155574"/>
            <a:ext cx="10515600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8"/>
          <p:cNvSpPr txBox="1">
            <a:spLocks noGrp="1"/>
          </p:cNvSpPr>
          <p:nvPr>
            <p:ph type="body" idx="1"/>
          </p:nvPr>
        </p:nvSpPr>
        <p:spPr>
          <a:xfrm rot="5400000">
            <a:off x="3727452" y="-1922463"/>
            <a:ext cx="5237162" cy="11320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6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6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6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6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6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6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6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8"/>
          <p:cNvSpPr txBox="1">
            <a:spLocks noGrp="1"/>
          </p:cNvSpPr>
          <p:nvPr>
            <p:ph type="title"/>
          </p:nvPr>
        </p:nvSpPr>
        <p:spPr>
          <a:xfrm>
            <a:off x="1278733" y="155574"/>
            <a:ext cx="10515600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  <a:defRPr sz="44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8"/>
          <p:cNvSpPr txBox="1">
            <a:spLocks noGrp="1"/>
          </p:cNvSpPr>
          <p:nvPr>
            <p:ph type="body" idx="1"/>
          </p:nvPr>
        </p:nvSpPr>
        <p:spPr>
          <a:xfrm>
            <a:off x="685800" y="1119188"/>
            <a:ext cx="11320465" cy="5237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" name="Google Shape;15;p58" descr="http://www.northsouth.edu/newassets/images/nsu-photo/logo-4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" y="0"/>
            <a:ext cx="495300" cy="3962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Google Shape;16;p58"/>
          <p:cNvCxnSpPr/>
          <p:nvPr/>
        </p:nvCxnSpPr>
        <p:spPr>
          <a:xfrm rot="10800000" flipH="1">
            <a:off x="792958" y="54768"/>
            <a:ext cx="11001375" cy="4603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1524000" y="2245809"/>
            <a:ext cx="9144000" cy="1864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algn="l">
              <a:buSzPct val="100000"/>
            </a:pPr>
            <a:r>
              <a:rPr lang="en-US" sz="4800" dirty="0"/>
              <a:t>CSE 495B (Natural Language Processing)</a:t>
            </a:r>
            <a:br>
              <a:rPr lang="en-US" sz="4800" dirty="0"/>
            </a:br>
            <a:r>
              <a:rPr lang="en-US" sz="4800" dirty="0"/>
              <a:t>Lecture 7</a:t>
            </a:r>
            <a:endParaRPr dirty="0"/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1524000" y="4110336"/>
            <a:ext cx="9144000" cy="572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>
              <a:spcBef>
                <a:spcPts val="0"/>
              </a:spcBef>
              <a:buSzPts val="2000"/>
            </a:pPr>
            <a:r>
              <a:rPr lang="en-US" sz="2000" dirty="0"/>
              <a:t>Self Attention Intro</a:t>
            </a:r>
            <a:endParaRPr dirty="0"/>
          </a:p>
        </p:txBody>
      </p:sp>
      <p:sp>
        <p:nvSpPr>
          <p:cNvPr id="92" name="Google Shape;92;p1"/>
          <p:cNvSpPr/>
          <p:nvPr/>
        </p:nvSpPr>
        <p:spPr>
          <a:xfrm>
            <a:off x="0" y="1"/>
            <a:ext cx="5920619" cy="2130951"/>
          </a:xfrm>
          <a:custGeom>
            <a:avLst/>
            <a:gdLst/>
            <a:ahLst/>
            <a:cxnLst/>
            <a:rect l="l" t="t" r="r" b="b"/>
            <a:pathLst>
              <a:path w="5920619" h="2130951" extrusionOk="0">
                <a:moveTo>
                  <a:pt x="0" y="0"/>
                </a:moveTo>
                <a:lnTo>
                  <a:pt x="3191370" y="0"/>
                </a:lnTo>
                <a:lnTo>
                  <a:pt x="3346315" y="0"/>
                </a:lnTo>
                <a:lnTo>
                  <a:pt x="5920619" y="0"/>
                </a:lnTo>
                <a:lnTo>
                  <a:pt x="4936971" y="2130951"/>
                </a:lnTo>
                <a:lnTo>
                  <a:pt x="0" y="2130951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5097839" y="0"/>
            <a:ext cx="7094160" cy="2130952"/>
          </a:xfrm>
          <a:custGeom>
            <a:avLst/>
            <a:gdLst/>
            <a:ahLst/>
            <a:cxnLst/>
            <a:rect l="l" t="t" r="r" b="b"/>
            <a:pathLst>
              <a:path w="7094160" h="2130952" extrusionOk="0">
                <a:moveTo>
                  <a:pt x="4417853" y="0"/>
                </a:moveTo>
                <a:lnTo>
                  <a:pt x="7094160" y="0"/>
                </a:lnTo>
                <a:lnTo>
                  <a:pt x="7094160" y="2130552"/>
                </a:lnTo>
                <a:lnTo>
                  <a:pt x="5920619" y="2130552"/>
                </a:lnTo>
                <a:lnTo>
                  <a:pt x="5920619" y="2130952"/>
                </a:lnTo>
                <a:lnTo>
                  <a:pt x="2729249" y="2130952"/>
                </a:lnTo>
                <a:lnTo>
                  <a:pt x="2574304" y="2130952"/>
                </a:lnTo>
                <a:lnTo>
                  <a:pt x="0" y="2130952"/>
                </a:lnTo>
                <a:lnTo>
                  <a:pt x="983648" y="1"/>
                </a:lnTo>
                <a:lnTo>
                  <a:pt x="4417853" y="1"/>
                </a:lnTo>
                <a:close/>
              </a:path>
            </a:pathLst>
          </a:custGeom>
          <a:solidFill>
            <a:srgbClr val="7F7F7F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 flipH="1">
            <a:off x="6149721" y="4682920"/>
            <a:ext cx="4522796" cy="2175080"/>
          </a:xfrm>
          <a:custGeom>
            <a:avLst/>
            <a:gdLst/>
            <a:ahLst/>
            <a:cxnLst/>
            <a:rect l="l" t="t" r="r" b="b"/>
            <a:pathLst>
              <a:path w="4522796" h="2175080" extrusionOk="0">
                <a:moveTo>
                  <a:pt x="3515449" y="0"/>
                </a:moveTo>
                <a:lnTo>
                  <a:pt x="0" y="0"/>
                </a:lnTo>
                <a:lnTo>
                  <a:pt x="0" y="2175080"/>
                </a:lnTo>
                <a:lnTo>
                  <a:pt x="4522796" y="217508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6266810" y="4682920"/>
            <a:ext cx="5925190" cy="2175080"/>
          </a:xfrm>
          <a:custGeom>
            <a:avLst/>
            <a:gdLst/>
            <a:ahLst/>
            <a:cxnLst/>
            <a:rect l="l" t="t" r="r" b="b"/>
            <a:pathLst>
              <a:path w="5925190" h="2175080" extrusionOk="0">
                <a:moveTo>
                  <a:pt x="1007347" y="0"/>
                </a:moveTo>
                <a:lnTo>
                  <a:pt x="5925190" y="0"/>
                </a:lnTo>
                <a:lnTo>
                  <a:pt x="5925190" y="2175080"/>
                </a:lnTo>
                <a:lnTo>
                  <a:pt x="0" y="217508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0" y="4682920"/>
            <a:ext cx="7114535" cy="2175080"/>
          </a:xfrm>
          <a:custGeom>
            <a:avLst/>
            <a:gdLst/>
            <a:ahLst/>
            <a:cxnLst/>
            <a:rect l="l" t="t" r="r" b="b"/>
            <a:pathLst>
              <a:path w="7114535" h="2175080" extrusionOk="0">
                <a:moveTo>
                  <a:pt x="0" y="0"/>
                </a:moveTo>
                <a:lnTo>
                  <a:pt x="1189345" y="0"/>
                </a:lnTo>
                <a:lnTo>
                  <a:pt x="7114535" y="0"/>
                </a:lnTo>
                <a:lnTo>
                  <a:pt x="6107188" y="2175080"/>
                </a:lnTo>
                <a:lnTo>
                  <a:pt x="1189345" y="2175080"/>
                </a:lnTo>
                <a:lnTo>
                  <a:pt x="0" y="2175080"/>
                </a:lnTo>
                <a:close/>
              </a:path>
            </a:pathLst>
          </a:custGeom>
          <a:solidFill>
            <a:srgbClr val="7F7F7F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2EDB0-F6FC-DDAB-B084-04376C207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Word Embedding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64DD502-CC78-A525-B6ED-192FB2F807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1128713"/>
            <a:ext cx="8763000" cy="460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1832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EBEB6-0B8D-C5C3-7130-29BD6F0EF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Embedding is Fixed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EAC8D08-0423-78C2-6928-31630A8B1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63" y="2466975"/>
            <a:ext cx="11877675" cy="192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8330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EBEB6-0B8D-C5C3-7130-29BD6F0EF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Embedding is Fixed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BD67B40-8368-8F0C-BA11-ACBB70B27F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63" y="2543175"/>
            <a:ext cx="11877675" cy="177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9195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EBEB6-0B8D-C5C3-7130-29BD6F0EF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Embedding is Fixed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FEB7B9E7-F51D-6E15-E5F9-118CB7D029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" y="2395538"/>
            <a:ext cx="11925300" cy="2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5482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EBEB6-0B8D-C5C3-7130-29BD6F0EF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Attention adds more Context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B0D3FBA5-9820-7D07-66E8-3531F552B5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1490663"/>
            <a:ext cx="11811000" cy="3876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2538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EBEB6-0B8D-C5C3-7130-29BD6F0EF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Attention adds more Context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A046E5A2-2003-09C7-094D-821C33DB11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88" y="1495425"/>
            <a:ext cx="11934825" cy="386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5999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EBEB6-0B8D-C5C3-7130-29BD6F0EF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Attention adds more Context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694C3D09-271F-D84C-C535-C647308059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88" y="1233488"/>
            <a:ext cx="11858625" cy="439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378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EBEB6-0B8D-C5C3-7130-29BD6F0EF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Self Attention Illustration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8DD59DC7-424A-C00B-5AC2-6F8BEDD13D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09600"/>
            <a:ext cx="11277600" cy="563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0814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EBEB6-0B8D-C5C3-7130-29BD6F0EF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Self Attention Illustration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AE62F7AC-E875-F094-0B1B-4C9FBE47E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3147" y="1234440"/>
            <a:ext cx="5552844" cy="5181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5791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EBEB6-0B8D-C5C3-7130-29BD6F0EF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Self Attention Illustration</a:t>
            </a: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3938D822-25C1-A063-4A30-37706F52FC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9388" y="1388064"/>
            <a:ext cx="8133224" cy="4911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2649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EBEB6-0B8D-C5C3-7130-29BD6F0EF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Self Attention Illustration</a:t>
            </a: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53B24F14-0888-00BB-AB68-F55F29DFFE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9993" y="1408450"/>
            <a:ext cx="5556971" cy="4945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0862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EBEB6-0B8D-C5C3-7130-29BD6F0EF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Self Attention Illustration</a:t>
            </a:r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F68E3A8A-98CB-BCD5-93BA-105B8727E7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5083" y="1188290"/>
            <a:ext cx="7847474" cy="4946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23876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EBEB6-0B8D-C5C3-7130-29BD6F0EF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Self Attention Illustration</a:t>
            </a:r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E9A52997-C3D8-713E-FBD8-9BD971E7A0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568" y="1156452"/>
            <a:ext cx="8856777" cy="5245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90514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EBEB6-0B8D-C5C3-7130-29BD6F0EF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Self Attention Illustration</a:t>
            </a:r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C18DDD59-59A0-5018-FB2B-D940AB69D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0712" y="1077875"/>
            <a:ext cx="9565091" cy="5115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07004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EBEB6-0B8D-C5C3-7130-29BD6F0EF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Self Attention Illustration</a:t>
            </a:r>
          </a:p>
        </p:txBody>
      </p:sp>
      <p:pic>
        <p:nvPicPr>
          <p:cNvPr id="21506" name="Picture 2">
            <a:extLst>
              <a:ext uri="{FF2B5EF4-FFF2-40B4-BE49-F238E27FC236}">
                <a16:creationId xmlns:a16="http://schemas.microsoft.com/office/drawing/2014/main" id="{E0123D30-C143-A717-EE81-EF95C08FEC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6414" y="1188534"/>
            <a:ext cx="9483176" cy="5332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54465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EBEB6-0B8D-C5C3-7130-29BD6F0EF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Self Attention Illustration</a:t>
            </a:r>
          </a:p>
        </p:txBody>
      </p:sp>
      <p:pic>
        <p:nvPicPr>
          <p:cNvPr id="23554" name="Picture 2">
            <a:extLst>
              <a:ext uri="{FF2B5EF4-FFF2-40B4-BE49-F238E27FC236}">
                <a16:creationId xmlns:a16="http://schemas.microsoft.com/office/drawing/2014/main" id="{2D5E3FF5-2297-6B8A-AF66-3BDAB1FA25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733" y="889731"/>
            <a:ext cx="5861165" cy="548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36222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EBEB6-0B8D-C5C3-7130-29BD6F0EF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Self Attention Illustration</a:t>
            </a:r>
          </a:p>
        </p:txBody>
      </p:sp>
      <p:pic>
        <p:nvPicPr>
          <p:cNvPr id="24578" name="Picture 2">
            <a:extLst>
              <a:ext uri="{FF2B5EF4-FFF2-40B4-BE49-F238E27FC236}">
                <a16:creationId xmlns:a16="http://schemas.microsoft.com/office/drawing/2014/main" id="{7D3822D9-8327-C7F1-3985-7F93E84A80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3955" y="956529"/>
            <a:ext cx="6404090" cy="5531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69072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EBEB6-0B8D-C5C3-7130-29BD6F0EF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Self Attention Illustration</a:t>
            </a:r>
          </a:p>
        </p:txBody>
      </p:sp>
      <p:pic>
        <p:nvPicPr>
          <p:cNvPr id="25602" name="Picture 2">
            <a:extLst>
              <a:ext uri="{FF2B5EF4-FFF2-40B4-BE49-F238E27FC236}">
                <a16:creationId xmlns:a16="http://schemas.microsoft.com/office/drawing/2014/main" id="{09BC0AC1-ADAB-E097-45BE-CBB3924F0A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0408" y="973051"/>
            <a:ext cx="8082395" cy="5388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32914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EBEB6-0B8D-C5C3-7130-29BD6F0EF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Self Attention Illustration</a:t>
            </a:r>
          </a:p>
        </p:txBody>
      </p:sp>
      <p:pic>
        <p:nvPicPr>
          <p:cNvPr id="27650" name="Picture 2">
            <a:extLst>
              <a:ext uri="{FF2B5EF4-FFF2-40B4-BE49-F238E27FC236}">
                <a16:creationId xmlns:a16="http://schemas.microsoft.com/office/drawing/2014/main" id="{CCDFA378-55E5-0B42-1B89-1AF55AE7E2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673" y="731128"/>
            <a:ext cx="10222662" cy="5787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9551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88F25371BF2364E9237A48B420CBFE6" ma:contentTypeVersion="14" ma:contentTypeDescription="Create a new document." ma:contentTypeScope="" ma:versionID="2a9e69bc7b9d3c4cf6a41faca233a91e">
  <xsd:schema xmlns:xsd="http://www.w3.org/2001/XMLSchema" xmlns:xs="http://www.w3.org/2001/XMLSchema" xmlns:p="http://schemas.microsoft.com/office/2006/metadata/properties" xmlns:ns3="acd04cee-d56a-427f-9d20-a2ddbaad1b8a" targetNamespace="http://schemas.microsoft.com/office/2006/metadata/properties" ma:root="true" ma:fieldsID="66afc55c35dc6a8b593a412c64b4fad1" ns3:_="">
    <xsd:import namespace="acd04cee-d56a-427f-9d20-a2ddbaad1b8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d04cee-d56a-427f-9d20-a2ddbaad1b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cd04cee-d56a-427f-9d20-a2ddbaad1b8a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27F3BA4-DDD0-494F-9AA9-1D0970C5F1D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cd04cee-d56a-427f-9d20-a2ddbaad1b8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6CFFD75-337E-449A-963B-A49E23A97AB0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acd04cee-d56a-427f-9d20-a2ddbaad1b8a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DAA9972B-6597-47DF-98A5-3D2A2224A2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1293</TotalTime>
  <Words>96</Words>
  <Application>Microsoft Office PowerPoint</Application>
  <PresentationFormat>Widescreen</PresentationFormat>
  <Paragraphs>29</Paragraphs>
  <Slides>20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CSE 495B (Natural Language Processing) Lecture 7</vt:lpstr>
      <vt:lpstr>Word Embedding</vt:lpstr>
      <vt:lpstr>Embedding is Fixed</vt:lpstr>
      <vt:lpstr>Embedding is Fixed</vt:lpstr>
      <vt:lpstr>Embedding is Fixed</vt:lpstr>
      <vt:lpstr>Attention adds more Context</vt:lpstr>
      <vt:lpstr>Attention adds more Context</vt:lpstr>
      <vt:lpstr>Attention adds more Context</vt:lpstr>
      <vt:lpstr>Self Attention Illustration</vt:lpstr>
      <vt:lpstr>Self Attention Illustration</vt:lpstr>
      <vt:lpstr>Self Attention Illustration</vt:lpstr>
      <vt:lpstr>Self Attention Illustration</vt:lpstr>
      <vt:lpstr>Self Attention Illustration</vt:lpstr>
      <vt:lpstr>Self Attention Illustration</vt:lpstr>
      <vt:lpstr>Self Attention Illustration</vt:lpstr>
      <vt:lpstr>Self Attention Illustration</vt:lpstr>
      <vt:lpstr>Self Attention Illustration</vt:lpstr>
      <vt:lpstr>Self Attention Illustration</vt:lpstr>
      <vt:lpstr>Self Attention Illustration</vt:lpstr>
      <vt:lpstr>Self Attention Illustration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495 (Natural Language Processing) Lecture 9</dc:title>
  <dc:creator>Mohammad Khan</dc:creator>
  <cp:lastModifiedBy>Mohammad Khan</cp:lastModifiedBy>
  <cp:revision>101</cp:revision>
  <dcterms:created xsi:type="dcterms:W3CDTF">2018-11-03T12:07:21Z</dcterms:created>
  <dcterms:modified xsi:type="dcterms:W3CDTF">2025-11-10T10:37:48Z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0x010100688F25371BF2364E9237A48B420CBFE6</vt:lpwstr>
  </property>
</Properties>
</file>