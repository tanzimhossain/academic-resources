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sldIdLst>
    <p:sldId id="256" r:id="rId5"/>
    <p:sldId id="596" r:id="rId6"/>
    <p:sldId id="597" r:id="rId7"/>
    <p:sldId id="595" r:id="rId8"/>
    <p:sldId id="552" r:id="rId9"/>
    <p:sldId id="553" r:id="rId10"/>
    <p:sldId id="558" r:id="rId11"/>
    <p:sldId id="554" r:id="rId12"/>
    <p:sldId id="559" r:id="rId13"/>
    <p:sldId id="605" r:id="rId14"/>
    <p:sldId id="606" r:id="rId15"/>
    <p:sldId id="604" r:id="rId16"/>
    <p:sldId id="561" r:id="rId17"/>
    <p:sldId id="607" r:id="rId18"/>
    <p:sldId id="598" r:id="rId19"/>
    <p:sldId id="608" r:id="rId20"/>
    <p:sldId id="609" r:id="rId21"/>
    <p:sldId id="568" r:id="rId22"/>
    <p:sldId id="570" r:id="rId23"/>
    <p:sldId id="573" r:id="rId24"/>
    <p:sldId id="574" r:id="rId25"/>
    <p:sldId id="599" r:id="rId26"/>
    <p:sldId id="575" r:id="rId27"/>
    <p:sldId id="577" r:id="rId28"/>
    <p:sldId id="600" r:id="rId29"/>
    <p:sldId id="579" r:id="rId30"/>
    <p:sldId id="580" r:id="rId31"/>
    <p:sldId id="581" r:id="rId32"/>
    <p:sldId id="601" r:id="rId33"/>
    <p:sldId id="591" r:id="rId34"/>
    <p:sldId id="593" r:id="rId35"/>
    <p:sldId id="592" r:id="rId36"/>
    <p:sldId id="594" r:id="rId37"/>
    <p:sldId id="586" r:id="rId38"/>
    <p:sldId id="588" r:id="rId39"/>
    <p:sldId id="611" r:id="rId40"/>
    <p:sldId id="61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10465-404D-0DE1-299D-45E20F2F50C0}" v="7" dt="2025-12-12T13:22:01.285"/>
    <p1510:client id="{AD25EC3B-18B3-55D2-47F8-29C6CB84CBB5}" v="98" dt="2025-12-13T08:43:39.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42" autoAdjust="0"/>
    <p:restoredTop sz="95142" autoAdjust="0"/>
  </p:normalViewPr>
  <p:slideViewPr>
    <p:cSldViewPr snapToGrid="0">
      <p:cViewPr varScale="1">
        <p:scale>
          <a:sx n="82" d="100"/>
          <a:sy n="82" d="100"/>
        </p:scale>
        <p:origin x="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Khan" userId="S::mohammad.khan02@northsouth.edu::66e9fb8e-4ed6-4e1e-bddc-ac99ec076f45" providerId="AD" clId="Web-{AD25EC3B-18B3-55D2-47F8-29C6CB84CBB5}"/>
    <pc:docChg chg="addSld delSld modSld sldOrd">
      <pc:chgData name="Mohammad Khan" userId="S::mohammad.khan02@northsouth.edu::66e9fb8e-4ed6-4e1e-bddc-ac99ec076f45" providerId="AD" clId="Web-{AD25EC3B-18B3-55D2-47F8-29C6CB84CBB5}" dt="2025-12-13T08:43:39.074" v="106"/>
      <pc:docMkLst>
        <pc:docMk/>
      </pc:docMkLst>
      <pc:sldChg chg="modSp new ord">
        <pc:chgData name="Mohammad Khan" userId="S::mohammad.khan02@northsouth.edu::66e9fb8e-4ed6-4e1e-bddc-ac99ec076f45" providerId="AD" clId="Web-{AD25EC3B-18B3-55D2-47F8-29C6CB84CBB5}" dt="2025-12-13T08:40:05.622" v="99"/>
        <pc:sldMkLst>
          <pc:docMk/>
          <pc:sldMk cId="1665846662" sldId="611"/>
        </pc:sldMkLst>
        <pc:spChg chg="mod">
          <ac:chgData name="Mohammad Khan" userId="S::mohammad.khan02@northsouth.edu::66e9fb8e-4ed6-4e1e-bddc-ac99ec076f45" providerId="AD" clId="Web-{AD25EC3B-18B3-55D2-47F8-29C6CB84CBB5}" dt="2025-12-13T08:35:36.178" v="9" actId="20577"/>
          <ac:spMkLst>
            <pc:docMk/>
            <pc:sldMk cId="1665846662" sldId="611"/>
            <ac:spMk id="2" creationId="{92A00DAA-65EB-6B6F-2DA5-D11AF2B31444}"/>
          </ac:spMkLst>
        </pc:spChg>
        <pc:spChg chg="mod">
          <ac:chgData name="Mohammad Khan" userId="S::mohammad.khan02@northsouth.edu::66e9fb8e-4ed6-4e1e-bddc-ac99ec076f45" providerId="AD" clId="Web-{AD25EC3B-18B3-55D2-47F8-29C6CB84CBB5}" dt="2025-12-13T08:38:02.350" v="69" actId="20577"/>
          <ac:spMkLst>
            <pc:docMk/>
            <pc:sldMk cId="1665846662" sldId="611"/>
            <ac:spMk id="3" creationId="{53A94CE5-8C39-1804-EE1A-C7FCA551936B}"/>
          </ac:spMkLst>
        </pc:spChg>
      </pc:sldChg>
      <pc:sldChg chg="modSp new del">
        <pc:chgData name="Mohammad Khan" userId="S::mohammad.khan02@northsouth.edu::66e9fb8e-4ed6-4e1e-bddc-ac99ec076f45" providerId="AD" clId="Web-{AD25EC3B-18B3-55D2-47F8-29C6CB84CBB5}" dt="2025-12-13T08:43:39.074" v="106"/>
        <pc:sldMkLst>
          <pc:docMk/>
          <pc:sldMk cId="3161004165" sldId="612"/>
        </pc:sldMkLst>
        <pc:spChg chg="mod">
          <ac:chgData name="Mohammad Khan" userId="S::mohammad.khan02@northsouth.edu::66e9fb8e-4ed6-4e1e-bddc-ac99ec076f45" providerId="AD" clId="Web-{AD25EC3B-18B3-55D2-47F8-29C6CB84CBB5}" dt="2025-12-13T08:43:34.028" v="105" actId="20577"/>
          <ac:spMkLst>
            <pc:docMk/>
            <pc:sldMk cId="3161004165" sldId="612"/>
            <ac:spMk id="2" creationId="{93E94004-4B3A-A11B-E223-202736F3F0BC}"/>
          </ac:spMkLst>
        </pc:spChg>
        <pc:spChg chg="mod">
          <ac:chgData name="Mohammad Khan" userId="S::mohammad.khan02@northsouth.edu::66e9fb8e-4ed6-4e1e-bddc-ac99ec076f45" providerId="AD" clId="Web-{AD25EC3B-18B3-55D2-47F8-29C6CB84CBB5}" dt="2025-12-13T08:38:59.197" v="98" actId="20577"/>
          <ac:spMkLst>
            <pc:docMk/>
            <pc:sldMk cId="3161004165" sldId="612"/>
            <ac:spMk id="3" creationId="{B51A7552-515A-887A-4EF4-11AB24B75E61}"/>
          </ac:spMkLst>
        </pc:spChg>
      </pc:sldChg>
    </pc:docChg>
  </pc:docChgLst>
  <pc:docChgLst>
    <pc:chgData name="Mohammad Khan" userId="S::mohammad.khan02@northsouth.edu::66e9fb8e-4ed6-4e1e-bddc-ac99ec076f45" providerId="AD" clId="Web-{A7F10465-404D-0DE1-299D-45E20F2F50C0}"/>
    <pc:docChg chg="modSld">
      <pc:chgData name="Mohammad Khan" userId="S::mohammad.khan02@northsouth.edu::66e9fb8e-4ed6-4e1e-bddc-ac99ec076f45" providerId="AD" clId="Web-{A7F10465-404D-0DE1-299D-45E20F2F50C0}" dt="2025-12-12T13:22:01.285" v="6" actId="20577"/>
      <pc:docMkLst>
        <pc:docMk/>
      </pc:docMkLst>
      <pc:sldChg chg="modSp">
        <pc:chgData name="Mohammad Khan" userId="S::mohammad.khan02@northsouth.edu::66e9fb8e-4ed6-4e1e-bddc-ac99ec076f45" providerId="AD" clId="Web-{A7F10465-404D-0DE1-299D-45E20F2F50C0}" dt="2025-12-12T13:22:01.285" v="6" actId="20577"/>
        <pc:sldMkLst>
          <pc:docMk/>
          <pc:sldMk cId="87035521" sldId="608"/>
        </pc:sldMkLst>
        <pc:spChg chg="mod">
          <ac:chgData name="Mohammad Khan" userId="S::mohammad.khan02@northsouth.edu::66e9fb8e-4ed6-4e1e-bddc-ac99ec076f45" providerId="AD" clId="Web-{A7F10465-404D-0DE1-299D-45E20F2F50C0}" dt="2025-12-12T13:22:01.285" v="6" actId="20577"/>
          <ac:spMkLst>
            <pc:docMk/>
            <pc:sldMk cId="87035521" sldId="608"/>
            <ac:spMk id="3" creationId="{959CE753-AD8E-EB1B-5163-62A4431552F6}"/>
          </ac:spMkLst>
        </pc:spChg>
      </pc:sldChg>
    </pc:docChg>
  </pc:docChgLst>
  <pc:docChgLst>
    <pc:chgData name="Mohammad Khan" userId="S::mohammad.khan02@northsouth.edu::66e9fb8e-4ed6-4e1e-bddc-ac99ec076f45" providerId="AD" clId="Web-{C0A94927-31CD-B567-304D-743ACF19798D}"/>
    <pc:docChg chg="modSld">
      <pc:chgData name="Mohammad Khan" userId="S::mohammad.khan02@northsouth.edu::66e9fb8e-4ed6-4e1e-bddc-ac99ec076f45" providerId="AD" clId="Web-{C0A94927-31CD-B567-304D-743ACF19798D}" dt="2025-12-09T18:50:39.728" v="104" actId="20577"/>
      <pc:docMkLst>
        <pc:docMk/>
      </pc:docMkLst>
      <pc:sldChg chg="modSp">
        <pc:chgData name="Mohammad Khan" userId="S::mohammad.khan02@northsouth.edu::66e9fb8e-4ed6-4e1e-bddc-ac99ec076f45" providerId="AD" clId="Web-{C0A94927-31CD-B567-304D-743ACF19798D}" dt="2025-12-09T18:50:39.728" v="104" actId="20577"/>
        <pc:sldMkLst>
          <pc:docMk/>
          <pc:sldMk cId="2006043614" sldId="256"/>
        </pc:sldMkLst>
        <pc:spChg chg="mod">
          <ac:chgData name="Mohammad Khan" userId="S::mohammad.khan02@northsouth.edu::66e9fb8e-4ed6-4e1e-bddc-ac99ec076f45" providerId="AD" clId="Web-{C0A94927-31CD-B567-304D-743ACF19798D}" dt="2025-12-09T18:50:39.728" v="104" actId="20577"/>
          <ac:spMkLst>
            <pc:docMk/>
            <pc:sldMk cId="2006043614" sldId="256"/>
            <ac:spMk id="2" creationId="{73F5810A-8FFF-4688-B886-2760516D3FEF}"/>
          </ac:spMkLst>
        </pc:spChg>
      </pc:sldChg>
      <pc:sldChg chg="modSp">
        <pc:chgData name="Mohammad Khan" userId="S::mohammad.khan02@northsouth.edu::66e9fb8e-4ed6-4e1e-bddc-ac99ec076f45" providerId="AD" clId="Web-{C0A94927-31CD-B567-304D-743ACF19798D}" dt="2025-12-09T18:41:38.158" v="88" actId="20577"/>
        <pc:sldMkLst>
          <pc:docMk/>
          <pc:sldMk cId="4018786642" sldId="552"/>
        </pc:sldMkLst>
        <pc:spChg chg="mod">
          <ac:chgData name="Mohammad Khan" userId="S::mohammad.khan02@northsouth.edu::66e9fb8e-4ed6-4e1e-bddc-ac99ec076f45" providerId="AD" clId="Web-{C0A94927-31CD-B567-304D-743ACF19798D}" dt="2025-12-09T18:41:38.158" v="88" actId="20577"/>
          <ac:spMkLst>
            <pc:docMk/>
            <pc:sldMk cId="4018786642" sldId="552"/>
            <ac:spMk id="3" creationId="{00000000-0000-0000-0000-000000000000}"/>
          </ac:spMkLst>
        </pc:spChg>
      </pc:sldChg>
      <pc:sldChg chg="modSp">
        <pc:chgData name="Mohammad Khan" userId="S::mohammad.khan02@northsouth.edu::66e9fb8e-4ed6-4e1e-bddc-ac99ec076f45" providerId="AD" clId="Web-{C0A94927-31CD-B567-304D-743ACF19798D}" dt="2025-12-09T18:46:21.937" v="102" actId="20577"/>
        <pc:sldMkLst>
          <pc:docMk/>
          <pc:sldMk cId="2818228578" sldId="553"/>
        </pc:sldMkLst>
        <pc:spChg chg="mod">
          <ac:chgData name="Mohammad Khan" userId="S::mohammad.khan02@northsouth.edu::66e9fb8e-4ed6-4e1e-bddc-ac99ec076f45" providerId="AD" clId="Web-{C0A94927-31CD-B567-304D-743ACF19798D}" dt="2025-12-09T18:46:21.937" v="102" actId="20577"/>
          <ac:spMkLst>
            <pc:docMk/>
            <pc:sldMk cId="2818228578" sldId="553"/>
            <ac:spMk id="3" creationId="{CA9A8E23-BE29-4AC6-F115-CE772C4BF7A2}"/>
          </ac:spMkLst>
        </pc:spChg>
      </pc:sldChg>
      <pc:sldChg chg="modSp">
        <pc:chgData name="Mohammad Khan" userId="S::mohammad.khan02@northsouth.edu::66e9fb8e-4ed6-4e1e-bddc-ac99ec076f45" providerId="AD" clId="Web-{C0A94927-31CD-B567-304D-743ACF19798D}" dt="2025-12-09T18:49:08.334" v="103" actId="20577"/>
        <pc:sldMkLst>
          <pc:docMk/>
          <pc:sldMk cId="4261226372" sldId="554"/>
        </pc:sldMkLst>
        <pc:spChg chg="mod">
          <ac:chgData name="Mohammad Khan" userId="S::mohammad.khan02@northsouth.edu::66e9fb8e-4ed6-4e1e-bddc-ac99ec076f45" providerId="AD" clId="Web-{C0A94927-31CD-B567-304D-743ACF19798D}" dt="2025-12-09T18:49:08.334" v="103" actId="20577"/>
          <ac:spMkLst>
            <pc:docMk/>
            <pc:sldMk cId="4261226372" sldId="554"/>
            <ac:spMk id="3" creationId="{1DB89E70-D739-80A8-91C2-83F17F2A25E7}"/>
          </ac:spMkLst>
        </pc:spChg>
      </pc:sldChg>
      <pc:sldChg chg="modSp">
        <pc:chgData name="Mohammad Khan" userId="S::mohammad.khan02@northsouth.edu::66e9fb8e-4ed6-4e1e-bddc-ac99ec076f45" providerId="AD" clId="Web-{C0A94927-31CD-B567-304D-743ACF19798D}" dt="2025-12-09T18:11:10.222" v="4" actId="20577"/>
        <pc:sldMkLst>
          <pc:docMk/>
          <pc:sldMk cId="680675094" sldId="596"/>
        </pc:sldMkLst>
        <pc:spChg chg="mod">
          <ac:chgData name="Mohammad Khan" userId="S::mohammad.khan02@northsouth.edu::66e9fb8e-4ed6-4e1e-bddc-ac99ec076f45" providerId="AD" clId="Web-{C0A94927-31CD-B567-304D-743ACF19798D}" dt="2025-12-09T18:11:10.222" v="4" actId="20577"/>
          <ac:spMkLst>
            <pc:docMk/>
            <pc:sldMk cId="680675094" sldId="596"/>
            <ac:spMk id="3" creationId="{C1E1BAFB-E137-0123-9686-8414388016C5}"/>
          </ac:spMkLst>
        </pc:spChg>
      </pc:sldChg>
      <pc:sldChg chg="modSp">
        <pc:chgData name="Mohammad Khan" userId="S::mohammad.khan02@northsouth.edu::66e9fb8e-4ed6-4e1e-bddc-ac99ec076f45" providerId="AD" clId="Web-{C0A94927-31CD-B567-304D-743ACF19798D}" dt="2025-12-09T18:12:15.227" v="15" actId="20577"/>
        <pc:sldMkLst>
          <pc:docMk/>
          <pc:sldMk cId="3630235956" sldId="597"/>
        </pc:sldMkLst>
        <pc:spChg chg="mod">
          <ac:chgData name="Mohammad Khan" userId="S::mohammad.khan02@northsouth.edu::66e9fb8e-4ed6-4e1e-bddc-ac99ec076f45" providerId="AD" clId="Web-{C0A94927-31CD-B567-304D-743ACF19798D}" dt="2025-12-09T18:12:15.227" v="15" actId="20577"/>
          <ac:spMkLst>
            <pc:docMk/>
            <pc:sldMk cId="3630235956" sldId="597"/>
            <ac:spMk id="3" creationId="{4601A3E3-8BF6-4C7E-0FF5-E9CF5D2967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E1B55-A0A7-4C9C-88C1-3A5C6A402407}"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77780-F0EF-4B5F-9EE7-60A58DD1AAE9}" type="slidenum">
              <a:rPr lang="en-US" smtClean="0"/>
              <a:t>‹#›</a:t>
            </a:fld>
            <a:endParaRPr lang="en-US"/>
          </a:p>
        </p:txBody>
      </p:sp>
    </p:spTree>
    <p:extLst>
      <p:ext uri="{BB962C8B-B14F-4D97-AF65-F5344CB8AC3E}">
        <p14:creationId xmlns:p14="http://schemas.microsoft.com/office/powerpoint/2010/main" val="3135660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E797-E484-44ED-A239-64277FE0E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AEF780-7320-4B43-AAED-F0481B3001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3ADA29-9491-4859-9181-7FF16AB45094}"/>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288494A5-A287-4BC2-9628-CAEB7FA73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5AB12C-11BE-4545-8970-4F65D76F7F9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249716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AC73-49A8-4235-8E54-344D7AE6B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EFA66-1949-4BAC-90F3-260B28EA302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DD6C3-C8F1-44C4-BE29-A7E192ECD1E2}"/>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89368F96-8A2D-4D15-B72A-1BE3C6FBA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846B5-195C-4BDB-A0AF-D52035E08D10}"/>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4126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80A0-ED64-48E0-B9C8-569F34825C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9C18A2-E1D6-46C9-8CCF-84419AC38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929E5A-CABA-487F-AE98-B2464FC903D2}"/>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92972CFD-82A6-4E60-9FAC-3680A8275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C1E37-CA26-4C91-BC94-19E402DAE734}"/>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899176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D90AE-3661-46FF-922D-ABDF43758B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B7F269-6879-4ADA-9D67-9E61D80B23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9A5392-70F7-40A0-9BEE-B9444E872E6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6528DA-CEFD-432F-AA8E-973376EC91FC}"/>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6" name="Footer Placeholder 5">
            <a:extLst>
              <a:ext uri="{FF2B5EF4-FFF2-40B4-BE49-F238E27FC236}">
                <a16:creationId xmlns:a16="http://schemas.microsoft.com/office/drawing/2014/main" id="{DDF3101E-6DA9-4BB5-9C62-2B1B274438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B6AD3F-0FA4-4FCD-8CF4-4BDCE7465A37}"/>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303462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3579-C57E-4CAA-AE08-EB0A27A3F1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EF1D69-90B6-45FB-94AB-78DB03F3A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3ABE15-19F6-4503-9F69-560255ABA2F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1814A9-0046-41AA-B0C8-B67727100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0253427-75E0-4324-B2A0-9259E9FCCF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1802DE-660F-4CF9-9FB9-B17917E999B2}"/>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8" name="Footer Placeholder 7">
            <a:extLst>
              <a:ext uri="{FF2B5EF4-FFF2-40B4-BE49-F238E27FC236}">
                <a16:creationId xmlns:a16="http://schemas.microsoft.com/office/drawing/2014/main" id="{89DEBBB8-E47D-430F-9694-B04E4DF2B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CDFF6-B435-4DE5-8E43-DA133CB9B27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01727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C802-82B9-430F-AF07-4FF6DC33FB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20E669-09D2-43F6-AB7B-3AF5C3460FD0}"/>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4" name="Footer Placeholder 3">
            <a:extLst>
              <a:ext uri="{FF2B5EF4-FFF2-40B4-BE49-F238E27FC236}">
                <a16:creationId xmlns:a16="http://schemas.microsoft.com/office/drawing/2014/main" id="{E932034F-8122-4D3C-9EE0-617A3CB140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EE3B17-ABDA-424E-B102-D92D2E37331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61444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70F9B-27B6-443F-B7CA-4AA7FA889B52}"/>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3" name="Footer Placeholder 2">
            <a:extLst>
              <a:ext uri="{FF2B5EF4-FFF2-40B4-BE49-F238E27FC236}">
                <a16:creationId xmlns:a16="http://schemas.microsoft.com/office/drawing/2014/main" id="{5E737043-2389-4029-A3C5-07CF5B37E4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FDFBE5-75A1-478E-A662-031990DD4C4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56764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C8C0-3C08-4F40-B4CC-4CAACC3DC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A038F9-DD32-4429-9398-92DA6F738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061104-CDD8-4454-9187-784049A2F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D227858-962C-47B3-B661-436602064850}"/>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6" name="Footer Placeholder 5">
            <a:extLst>
              <a:ext uri="{FF2B5EF4-FFF2-40B4-BE49-F238E27FC236}">
                <a16:creationId xmlns:a16="http://schemas.microsoft.com/office/drawing/2014/main" id="{B7EDB0A0-7EEA-4508-8126-531639554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EBA5E-D2E0-4970-BD47-4AF19F431C5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15518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0DDF-7003-4C1A-BB44-664272A19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9AFDAF-27B1-41D4-96EE-1D6D1809E2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13798E-E3BF-427A-93E2-A4CB842E9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D8CE11-06D0-4C84-88D7-842A952C2D23}"/>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6" name="Footer Placeholder 5">
            <a:extLst>
              <a:ext uri="{FF2B5EF4-FFF2-40B4-BE49-F238E27FC236}">
                <a16:creationId xmlns:a16="http://schemas.microsoft.com/office/drawing/2014/main" id="{F026E090-6FA5-4A71-A070-BD7C0FA49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F01E9-BA6C-4C44-976B-36BBE214EFF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77497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DC4A-48E1-4894-AB0F-ECF189B6A8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3A79AF-2F79-4289-82BE-ACF7331CB9D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A497E-6F32-4A3E-9631-9FEF4E3FF680}"/>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D09CB876-23CE-485F-91A5-93B0D7B5E6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C3A67-2B2D-4782-A5FC-1558D36268D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11992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C65FEE-76CC-4626-9E2D-08E2AE5AA4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0FEE0C-F39F-4476-BD95-0A51C00639E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ECEB6-F803-4EE6-BD88-E0B64245F356}"/>
              </a:ext>
            </a:extLst>
          </p:cNvPr>
          <p:cNvSpPr>
            <a:spLocks noGrp="1"/>
          </p:cNvSpPr>
          <p:nvPr>
            <p:ph type="dt" sz="half" idx="10"/>
          </p:nvPr>
        </p:nvSpPr>
        <p:spPr/>
        <p:txBody>
          <a:body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0CC1313F-8991-4909-8B90-68DAAE9B2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8196E-9AEE-4266-A151-D305A5D8CA66}"/>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223010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C6DC07-5C6F-43AF-978F-0F0AF8314292}"/>
              </a:ext>
            </a:extLst>
          </p:cNvPr>
          <p:cNvSpPr>
            <a:spLocks noGrp="1"/>
          </p:cNvSpPr>
          <p:nvPr>
            <p:ph type="title"/>
          </p:nvPr>
        </p:nvSpPr>
        <p:spPr>
          <a:xfrm>
            <a:off x="1278733" y="155574"/>
            <a:ext cx="10515600" cy="5254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B28E598-D0A2-47D2-BE89-F4EA0A3D2BAA}"/>
              </a:ext>
            </a:extLst>
          </p:cNvPr>
          <p:cNvSpPr>
            <a:spLocks noGrp="1"/>
          </p:cNvSpPr>
          <p:nvPr>
            <p:ph type="body" idx="1"/>
          </p:nvPr>
        </p:nvSpPr>
        <p:spPr>
          <a:xfrm>
            <a:off x="685800" y="1119188"/>
            <a:ext cx="11320465" cy="52371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2A1382D-D076-4FF0-AD6E-A6E4C421B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3FEE21-E937-4C45-8E3F-E4D607BF6CD6}" type="datetimeFigureOut">
              <a:rPr lang="en-US" smtClean="0"/>
              <a:t>12/13/2025</a:t>
            </a:fld>
            <a:endParaRPr lang="en-US"/>
          </a:p>
        </p:txBody>
      </p:sp>
      <p:sp>
        <p:nvSpPr>
          <p:cNvPr id="5" name="Footer Placeholder 4">
            <a:extLst>
              <a:ext uri="{FF2B5EF4-FFF2-40B4-BE49-F238E27FC236}">
                <a16:creationId xmlns:a16="http://schemas.microsoft.com/office/drawing/2014/main" id="{F2F9047A-B6F8-4C3E-B8BF-24884C78A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E5F2E0-67EC-4657-BD17-E180039DBF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86C32C-9D72-4B82-AE06-40FB0010D583}" type="slidenum">
              <a:rPr lang="en-US" smtClean="0"/>
              <a:t>‹#›</a:t>
            </a:fld>
            <a:endParaRPr lang="en-US"/>
          </a:p>
        </p:txBody>
      </p:sp>
      <p:pic>
        <p:nvPicPr>
          <p:cNvPr id="1026" name="Picture 2" descr="http://www.northsouth.edu/newassets/images/nsu-photo/logo-4.png">
            <a:extLst>
              <a:ext uri="{FF2B5EF4-FFF2-40B4-BE49-F238E27FC236}">
                <a16:creationId xmlns:a16="http://schemas.microsoft.com/office/drawing/2014/main" id="{BC78909E-CBD6-46C2-8213-EF399003A3B7}"/>
              </a:ext>
            </a:extLst>
          </p:cNvPr>
          <p:cNvPicPr>
            <a:picLocks noChangeAspect="1" noChangeArrowheads="1"/>
          </p:cNvPicPr>
          <p:nvPr userDrawn="1"/>
        </p:nvPicPr>
        <p:blipFill>
          <a:blip r:embed="rId13" cstate="hqprint">
            <a:extLst>
              <a:ext uri="{28A0092B-C50C-407E-A947-70E740481C1C}">
                <a14:useLocalDpi xmlns:a14="http://schemas.microsoft.com/office/drawing/2010/main" val="0"/>
              </a:ext>
            </a:extLst>
          </a:blip>
          <a:srcRect/>
          <a:stretch>
            <a:fillRect/>
          </a:stretch>
        </p:blipFill>
        <p:spPr bwMode="auto">
          <a:xfrm>
            <a:off x="1" y="0"/>
            <a:ext cx="495300" cy="39624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8F36E5F5-5DCD-4E9C-8D7C-D19E489A294C}"/>
              </a:ext>
            </a:extLst>
          </p:cNvPr>
          <p:cNvCxnSpPr>
            <a:cxnSpLocks/>
          </p:cNvCxnSpPr>
          <p:nvPr userDrawn="1"/>
        </p:nvCxnSpPr>
        <p:spPr>
          <a:xfrm flipV="1">
            <a:off x="792958" y="54768"/>
            <a:ext cx="11001375" cy="4603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888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b="1" kern="1200" cap="none" spc="0">
          <a:ln w="0"/>
          <a:solidFill>
            <a:srgbClr val="002060"/>
          </a:solidFill>
          <a:effectLst>
            <a:outerShdw blurRad="38100" dist="25400" dir="5400000" algn="ctr" rotWithShape="0">
              <a:srgbClr val="6E747A">
                <a:alpha val="43000"/>
              </a:srgbClr>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5810A-8FFF-4688-B886-2760516D3FEF}"/>
              </a:ext>
            </a:extLst>
          </p:cNvPr>
          <p:cNvSpPr>
            <a:spLocks noGrp="1"/>
          </p:cNvSpPr>
          <p:nvPr>
            <p:ph type="ctrTitle"/>
          </p:nvPr>
        </p:nvSpPr>
        <p:spPr>
          <a:xfrm>
            <a:off x="1524000" y="2245809"/>
            <a:ext cx="9144000" cy="1564716"/>
          </a:xfrm>
        </p:spPr>
        <p:txBody>
          <a:bodyPr>
            <a:normAutofit/>
          </a:bodyPr>
          <a:lstStyle/>
          <a:p>
            <a:pPr algn="l"/>
            <a:r>
              <a:rPr lang="en-US" sz="4800" dirty="0"/>
              <a:t>CSE 495B</a:t>
            </a:r>
            <a:br>
              <a:rPr lang="en-US" sz="4800" dirty="0"/>
            </a:br>
            <a:r>
              <a:rPr lang="en-US" sz="4800" dirty="0"/>
              <a:t>Lecture 12</a:t>
            </a:r>
          </a:p>
        </p:txBody>
      </p:sp>
      <p:sp>
        <p:nvSpPr>
          <p:cNvPr id="3" name="Subtitle 2">
            <a:extLst>
              <a:ext uri="{FF2B5EF4-FFF2-40B4-BE49-F238E27FC236}">
                <a16:creationId xmlns:a16="http://schemas.microsoft.com/office/drawing/2014/main" id="{6FE02420-0B57-4C8C-9661-7D4661E7B635}"/>
              </a:ext>
            </a:extLst>
          </p:cNvPr>
          <p:cNvSpPr>
            <a:spLocks noGrp="1"/>
          </p:cNvSpPr>
          <p:nvPr>
            <p:ph type="subTitle" idx="1"/>
          </p:nvPr>
        </p:nvSpPr>
        <p:spPr>
          <a:xfrm>
            <a:off x="1524000" y="3947050"/>
            <a:ext cx="9144000" cy="572583"/>
          </a:xfrm>
        </p:spPr>
        <p:txBody>
          <a:bodyPr vert="horz" lIns="91440" tIns="45720" rIns="91440" bIns="45720" rtlCol="0" anchor="t">
            <a:normAutofit/>
          </a:bodyPr>
          <a:lstStyle/>
          <a:p>
            <a:pPr algn="l"/>
            <a:r>
              <a:rPr lang="en-US" sz="2000" dirty="0"/>
              <a:t>Efficient Fine-tuning techniques</a:t>
            </a:r>
          </a:p>
        </p:txBody>
      </p:sp>
      <p:sp>
        <p:nvSpPr>
          <p:cNvPr id="8"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04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2BCAF-DC20-3EDE-07CC-5932B2F0441D}"/>
              </a:ext>
            </a:extLst>
          </p:cNvPr>
          <p:cNvSpPr>
            <a:spLocks noGrp="1"/>
          </p:cNvSpPr>
          <p:nvPr>
            <p:ph type="title"/>
          </p:nvPr>
        </p:nvSpPr>
        <p:spPr/>
        <p:txBody>
          <a:bodyPr>
            <a:normAutofit fontScale="90000"/>
          </a:bodyPr>
          <a:lstStyle/>
          <a:p>
            <a:r>
              <a:rPr lang="en-US" dirty="0">
                <a:ea typeface="Calibri Light"/>
                <a:cs typeface="Calibri Light"/>
              </a:rPr>
              <a:t>LLM preparation steps</a:t>
            </a:r>
            <a:endParaRPr lang="en-US" dirty="0"/>
          </a:p>
        </p:txBody>
      </p:sp>
      <p:sp>
        <p:nvSpPr>
          <p:cNvPr id="3" name="Content Placeholder 2">
            <a:extLst>
              <a:ext uri="{FF2B5EF4-FFF2-40B4-BE49-F238E27FC236}">
                <a16:creationId xmlns:a16="http://schemas.microsoft.com/office/drawing/2014/main" id="{C1E1BAFB-E137-0123-9686-8414388016C5}"/>
              </a:ext>
            </a:extLst>
          </p:cNvPr>
          <p:cNvSpPr>
            <a:spLocks noGrp="1"/>
          </p:cNvSpPr>
          <p:nvPr>
            <p:ph idx="1"/>
          </p:nvPr>
        </p:nvSpPr>
        <p:spPr>
          <a:xfrm>
            <a:off x="685800" y="4365969"/>
            <a:ext cx="11320465" cy="1990381"/>
          </a:xfrm>
        </p:spPr>
        <p:txBody>
          <a:bodyPr vert="horz" lIns="91440" tIns="45720" rIns="91440" bIns="45720" rtlCol="0" anchor="t">
            <a:normAutofit lnSpcReduction="10000"/>
          </a:bodyPr>
          <a:lstStyle/>
          <a:p>
            <a:r>
              <a:rPr lang="en-US" dirty="0">
                <a:ea typeface="+mn-lt"/>
                <a:cs typeface="+mn-lt"/>
              </a:rPr>
              <a:t>Pretraining: All language models are pretrained using some form of a self-supervised learning objective. </a:t>
            </a:r>
          </a:p>
          <a:p>
            <a:r>
              <a:rPr lang="en-US" dirty="0">
                <a:ea typeface="+mn-lt"/>
                <a:cs typeface="+mn-lt"/>
              </a:rPr>
              <a:t>Generative language models are usually pretrained using a next token prediction objective, while encoder-only and encoder-decoder models commonly use a Cloze task</a:t>
            </a:r>
            <a:endParaRPr lang="en-US">
              <a:ea typeface="Calibri"/>
              <a:cs typeface="Calibri"/>
            </a:endParaRPr>
          </a:p>
        </p:txBody>
      </p:sp>
      <p:pic>
        <p:nvPicPr>
          <p:cNvPr id="4" name="Picture 3" descr="A diagram of a diagram&#10;&#10;AI-generated content may be incorrect.">
            <a:extLst>
              <a:ext uri="{FF2B5EF4-FFF2-40B4-BE49-F238E27FC236}">
                <a16:creationId xmlns:a16="http://schemas.microsoft.com/office/drawing/2014/main" id="{AB725AB9-AEAC-A488-5226-DC5C31BAA9F5}"/>
              </a:ext>
            </a:extLst>
          </p:cNvPr>
          <p:cNvPicPr>
            <a:picLocks noChangeAspect="1"/>
          </p:cNvPicPr>
          <p:nvPr/>
        </p:nvPicPr>
        <p:blipFill>
          <a:blip r:embed="rId2"/>
          <a:stretch>
            <a:fillRect/>
          </a:stretch>
        </p:blipFill>
        <p:spPr>
          <a:xfrm>
            <a:off x="1064246" y="783811"/>
            <a:ext cx="10924898" cy="2783508"/>
          </a:xfrm>
          <a:prstGeom prst="rect">
            <a:avLst/>
          </a:prstGeom>
        </p:spPr>
      </p:pic>
    </p:spTree>
    <p:extLst>
      <p:ext uri="{BB962C8B-B14F-4D97-AF65-F5344CB8AC3E}">
        <p14:creationId xmlns:p14="http://schemas.microsoft.com/office/powerpoint/2010/main" val="68067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3015-FE14-546D-EEC4-6CE109CA2AE7}"/>
              </a:ext>
            </a:extLst>
          </p:cNvPr>
          <p:cNvSpPr>
            <a:spLocks noGrp="1"/>
          </p:cNvSpPr>
          <p:nvPr>
            <p:ph type="title"/>
          </p:nvPr>
        </p:nvSpPr>
        <p:spPr/>
        <p:txBody>
          <a:bodyPr>
            <a:normAutofit fontScale="90000"/>
          </a:bodyPr>
          <a:lstStyle/>
          <a:p>
            <a:r>
              <a:rPr lang="en-US" dirty="0">
                <a:ea typeface="Calibri Light"/>
                <a:cs typeface="Calibri Light"/>
              </a:rPr>
              <a:t>LLM preparation steps</a:t>
            </a:r>
            <a:endParaRPr lang="en-US" dirty="0"/>
          </a:p>
        </p:txBody>
      </p:sp>
      <p:sp>
        <p:nvSpPr>
          <p:cNvPr id="3" name="Content Placeholder 2">
            <a:extLst>
              <a:ext uri="{FF2B5EF4-FFF2-40B4-BE49-F238E27FC236}">
                <a16:creationId xmlns:a16="http://schemas.microsoft.com/office/drawing/2014/main" id="{4601A3E3-8BF6-4C7E-0FF5-E9CF5D29672D}"/>
              </a:ext>
            </a:extLst>
          </p:cNvPr>
          <p:cNvSpPr>
            <a:spLocks noGrp="1"/>
          </p:cNvSpPr>
          <p:nvPr>
            <p:ph idx="1"/>
          </p:nvPr>
        </p:nvSpPr>
        <p:spPr/>
        <p:txBody>
          <a:bodyPr vert="horz" lIns="91440" tIns="45720" rIns="91440" bIns="45720" rtlCol="0" anchor="t">
            <a:normAutofit/>
          </a:bodyPr>
          <a:lstStyle/>
          <a:p>
            <a:r>
              <a:rPr lang="en-US" dirty="0">
                <a:ea typeface="Calibri"/>
                <a:cs typeface="Calibri"/>
              </a:rPr>
              <a:t>Alignment: The alignment process, which is only applicable to generative LLMs, refers to the process of finetuning a language model such that its output aligns with the expectations of human users. </a:t>
            </a:r>
            <a:endParaRPr lang="en-US"/>
          </a:p>
          <a:p>
            <a:pPr lvl="1">
              <a:buFont typeface="Arial"/>
              <a:buChar char="•"/>
            </a:pPr>
            <a:r>
              <a:rPr lang="en-US" dirty="0">
                <a:solidFill>
                  <a:schemeClr val="accent6">
                    <a:lumMod val="76000"/>
                  </a:schemeClr>
                </a:solidFill>
                <a:ea typeface="Calibri"/>
                <a:cs typeface="Calibri"/>
              </a:rPr>
              <a:t>To perform alignment, we first define several criteria (e.g., helpfulness, harmlessness, the ability to follow instructions, etc.) that we want to instill within the model. </a:t>
            </a:r>
            <a:endParaRPr lang="en-US">
              <a:solidFill>
                <a:schemeClr val="accent6">
                  <a:lumMod val="76000"/>
                </a:schemeClr>
              </a:solidFill>
              <a:ea typeface="Calibri"/>
              <a:cs typeface="Calibri"/>
            </a:endParaRPr>
          </a:p>
          <a:p>
            <a:r>
              <a:rPr lang="en-US" dirty="0">
                <a:ea typeface="+mn-lt"/>
                <a:cs typeface="+mn-lt"/>
              </a:rPr>
              <a:t>Finetuning. After pretraining and alignment (i.e., an optional step for generative LLMs), we have a generic foundation model that can be used as a starting point for solving many tasks. </a:t>
            </a:r>
          </a:p>
          <a:p>
            <a:pPr lvl="1"/>
            <a:r>
              <a:rPr lang="en-US" dirty="0">
                <a:solidFill>
                  <a:schemeClr val="accent6">
                    <a:lumMod val="76000"/>
                  </a:schemeClr>
                </a:solidFill>
                <a:ea typeface="+mn-lt"/>
                <a:cs typeface="+mn-lt"/>
              </a:rPr>
              <a:t>To solve a task, however, we must adapt the language model to this task, usually via finetuning (i.e., further training on data from a task).  </a:t>
            </a:r>
            <a:endParaRPr lang="en-US">
              <a:solidFill>
                <a:schemeClr val="accent6">
                  <a:lumMod val="76000"/>
                </a:schemeClr>
              </a:solidFill>
              <a:ea typeface="Calibri"/>
              <a:cs typeface="Calibri"/>
            </a:endParaRPr>
          </a:p>
        </p:txBody>
      </p:sp>
    </p:spTree>
    <p:extLst>
      <p:ext uri="{BB962C8B-B14F-4D97-AF65-F5344CB8AC3E}">
        <p14:creationId xmlns:p14="http://schemas.microsoft.com/office/powerpoint/2010/main" val="363023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308C-79C9-1049-7E3D-96266D1F4A9A}"/>
              </a:ext>
            </a:extLst>
          </p:cNvPr>
          <p:cNvSpPr>
            <a:spLocks noGrp="1"/>
          </p:cNvSpPr>
          <p:nvPr>
            <p:ph type="title"/>
          </p:nvPr>
        </p:nvSpPr>
        <p:spPr/>
        <p:txBody>
          <a:bodyPr>
            <a:normAutofit fontScale="90000"/>
          </a:bodyPr>
          <a:lstStyle/>
          <a:p>
            <a:r>
              <a:rPr lang="en-US" dirty="0">
                <a:ea typeface="Calibri Light"/>
                <a:cs typeface="Calibri Light"/>
              </a:rPr>
              <a:t>Fine tuning process</a:t>
            </a:r>
            <a:endParaRPr lang="en-US" dirty="0"/>
          </a:p>
        </p:txBody>
      </p:sp>
      <p:pic>
        <p:nvPicPr>
          <p:cNvPr id="5" name="Picture 4" descr="A diagram of a data processing process&#10;&#10;AI-generated content may be incorrect.">
            <a:extLst>
              <a:ext uri="{FF2B5EF4-FFF2-40B4-BE49-F238E27FC236}">
                <a16:creationId xmlns:a16="http://schemas.microsoft.com/office/drawing/2014/main" id="{D37AE8CD-5CA1-FD4C-8753-9E3A360FA0A8}"/>
              </a:ext>
            </a:extLst>
          </p:cNvPr>
          <p:cNvPicPr>
            <a:picLocks noChangeAspect="1"/>
          </p:cNvPicPr>
          <p:nvPr/>
        </p:nvPicPr>
        <p:blipFill>
          <a:blip r:embed="rId2"/>
          <a:stretch>
            <a:fillRect/>
          </a:stretch>
        </p:blipFill>
        <p:spPr>
          <a:xfrm>
            <a:off x="1444902" y="975967"/>
            <a:ext cx="9567241" cy="5270499"/>
          </a:xfrm>
          <a:prstGeom prst="rect">
            <a:avLst/>
          </a:prstGeom>
        </p:spPr>
      </p:pic>
    </p:spTree>
    <p:extLst>
      <p:ext uri="{BB962C8B-B14F-4D97-AF65-F5344CB8AC3E}">
        <p14:creationId xmlns:p14="http://schemas.microsoft.com/office/powerpoint/2010/main" val="3480579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Calibri Light"/>
                <a:cs typeface="Calibri Light"/>
              </a:rPr>
              <a:t>Fine tuning LLMs</a:t>
            </a:r>
            <a:endParaRPr lang="en-US" dirty="0"/>
          </a:p>
        </p:txBody>
      </p:sp>
      <p:sp>
        <p:nvSpPr>
          <p:cNvPr id="3" name="Content Placeholder 2"/>
          <p:cNvSpPr>
            <a:spLocks noGrp="1"/>
          </p:cNvSpPr>
          <p:nvPr>
            <p:ph idx="1"/>
          </p:nvPr>
        </p:nvSpPr>
        <p:spPr/>
        <p:txBody>
          <a:bodyPr vert="horz" lIns="91440" tIns="45720" rIns="91440" bIns="45720" rtlCol="0" anchor="t">
            <a:normAutofit/>
          </a:bodyPr>
          <a:lstStyle/>
          <a:p>
            <a:r>
              <a:rPr lang="en-US" dirty="0">
                <a:solidFill>
                  <a:srgbClr val="C00000"/>
                </a:solidFill>
                <a:ea typeface="+mn-lt"/>
                <a:cs typeface="+mn-lt"/>
              </a:rPr>
              <a:t>How can we train a specialized LLM over our own data? </a:t>
            </a:r>
          </a:p>
          <a:p>
            <a:r>
              <a:rPr lang="en-US" dirty="0">
                <a:ea typeface="+mn-lt"/>
                <a:cs typeface="+mn-lt"/>
              </a:rPr>
              <a:t>LLMs are powered by massive models with many parameters.</a:t>
            </a:r>
          </a:p>
          <a:p>
            <a:r>
              <a:rPr lang="en-US" dirty="0">
                <a:ea typeface="+mn-lt"/>
                <a:cs typeface="+mn-lt"/>
              </a:rPr>
              <a:t>Training such an LLM requires expensive hardware (i.e., many expensive GPUs with a lot of memory) and fancy training techniques (e.g., fully-sharded data parallel training). </a:t>
            </a:r>
            <a:endParaRPr lang="en-US">
              <a:ea typeface="+mn-lt"/>
              <a:cs typeface="+mn-lt"/>
            </a:endParaRPr>
          </a:p>
          <a:p>
            <a:r>
              <a:rPr lang="en-US" dirty="0">
                <a:ea typeface="+mn-lt"/>
                <a:cs typeface="+mn-lt"/>
              </a:rPr>
              <a:t>To reduce the complexity, these models are usually trained in two phases — </a:t>
            </a:r>
            <a:r>
              <a:rPr lang="en-US" dirty="0">
                <a:solidFill>
                  <a:srgbClr val="C00000"/>
                </a:solidFill>
                <a:ea typeface="+mn-lt"/>
                <a:cs typeface="+mn-lt"/>
              </a:rPr>
              <a:t>pretraining</a:t>
            </a:r>
            <a:r>
              <a:rPr lang="en-US" dirty="0">
                <a:ea typeface="+mn-lt"/>
                <a:cs typeface="+mn-lt"/>
              </a:rPr>
              <a:t> and </a:t>
            </a:r>
            <a:r>
              <a:rPr lang="en-US" dirty="0">
                <a:solidFill>
                  <a:srgbClr val="C00000"/>
                </a:solidFill>
                <a:ea typeface="+mn-lt"/>
                <a:cs typeface="+mn-lt"/>
              </a:rPr>
              <a:t>finetuning </a:t>
            </a:r>
            <a:r>
              <a:rPr lang="en-US" dirty="0">
                <a:ea typeface="+mn-lt"/>
                <a:cs typeface="+mn-lt"/>
              </a:rPr>
              <a:t>— the pretraining phase being more </a:t>
            </a:r>
            <a:r>
              <a:rPr lang="en-US">
                <a:ea typeface="+mn-lt"/>
                <a:cs typeface="+mn-lt"/>
              </a:rPr>
              <a:t>expensive while finetuning is cheaper (and more frequent). </a:t>
            </a:r>
          </a:p>
          <a:p>
            <a:r>
              <a:rPr lang="en-US" dirty="0">
                <a:ea typeface="+mn-lt"/>
                <a:cs typeface="+mn-lt"/>
              </a:rPr>
              <a:t>Given that high-quality pretrained LLMs are readily available online, most AI practitioners can simply download a pretrained model and focus upon adapting this model (via finetuning) to their desired task.</a:t>
            </a:r>
            <a:endParaRPr lang="en-US">
              <a:ea typeface="Calibri"/>
              <a:cs typeface="Calibri"/>
            </a:endParaRPr>
          </a:p>
        </p:txBody>
      </p:sp>
    </p:spTree>
    <p:extLst>
      <p:ext uri="{BB962C8B-B14F-4D97-AF65-F5344CB8AC3E}">
        <p14:creationId xmlns:p14="http://schemas.microsoft.com/office/powerpoint/2010/main" val="401878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25C8A-26EF-5B56-01C6-51F75CBDA896}"/>
              </a:ext>
            </a:extLst>
          </p:cNvPr>
          <p:cNvSpPr>
            <a:spLocks noGrp="1"/>
          </p:cNvSpPr>
          <p:nvPr>
            <p:ph type="title"/>
          </p:nvPr>
        </p:nvSpPr>
        <p:spPr/>
        <p:txBody>
          <a:bodyPr>
            <a:normAutofit fontScale="90000"/>
          </a:bodyPr>
          <a:lstStyle/>
          <a:p>
            <a:r>
              <a:rPr lang="en-US" dirty="0">
                <a:ea typeface="Calibri Light"/>
                <a:cs typeface="Calibri Light"/>
              </a:rPr>
              <a:t>Fine tuning LLMs</a:t>
            </a:r>
            <a:endParaRPr lang="en-US" dirty="0"/>
          </a:p>
        </p:txBody>
      </p:sp>
      <p:sp>
        <p:nvSpPr>
          <p:cNvPr id="3" name="Content Placeholder 2">
            <a:extLst>
              <a:ext uri="{FF2B5EF4-FFF2-40B4-BE49-F238E27FC236}">
                <a16:creationId xmlns:a16="http://schemas.microsoft.com/office/drawing/2014/main" id="{CA9A8E23-BE29-4AC6-F115-CE772C4BF7A2}"/>
              </a:ext>
            </a:extLst>
          </p:cNvPr>
          <p:cNvSpPr>
            <a:spLocks noGrp="1"/>
          </p:cNvSpPr>
          <p:nvPr>
            <p:ph idx="1"/>
          </p:nvPr>
        </p:nvSpPr>
        <p:spPr/>
        <p:txBody>
          <a:bodyPr vert="horz" lIns="91440" tIns="45720" rIns="91440" bIns="45720" rtlCol="0" anchor="t">
            <a:normAutofit/>
          </a:bodyPr>
          <a:lstStyle/>
          <a:p>
            <a:r>
              <a:rPr lang="en-US" dirty="0">
                <a:ea typeface="+mn-lt"/>
                <a:cs typeface="+mn-lt"/>
              </a:rPr>
              <a:t>Fine-tuning enormous language models is prohibitively expensive in terms of the hardware required and the storage/switching cost for hosting independent instances for different tasks.</a:t>
            </a:r>
          </a:p>
          <a:p>
            <a:r>
              <a:rPr lang="en-US" dirty="0">
                <a:solidFill>
                  <a:srgbClr val="C00000"/>
                </a:solidFill>
                <a:ea typeface="+mn-lt"/>
                <a:cs typeface="+mn-lt"/>
              </a:rPr>
              <a:t>The size of the model does not change during finetuning!</a:t>
            </a:r>
            <a:r>
              <a:rPr lang="en-US" dirty="0">
                <a:ea typeface="+mn-lt"/>
                <a:cs typeface="+mn-lt"/>
              </a:rPr>
              <a:t> </a:t>
            </a:r>
          </a:p>
          <a:p>
            <a:r>
              <a:rPr lang="en-US" dirty="0">
                <a:ea typeface="+mn-lt"/>
                <a:cs typeface="+mn-lt"/>
              </a:rPr>
              <a:t>As a result, finetuning an LLM — though cheaper than pretraining — is not easy. </a:t>
            </a:r>
          </a:p>
          <a:p>
            <a:r>
              <a:rPr lang="en-US" dirty="0">
                <a:ea typeface="+mn-lt"/>
                <a:cs typeface="+mn-lt"/>
              </a:rPr>
              <a:t>We still need training techniques and hardware than can handle such a model. </a:t>
            </a:r>
            <a:endParaRPr lang="en-US">
              <a:ea typeface="+mn-lt"/>
              <a:cs typeface="+mn-lt"/>
            </a:endParaRPr>
          </a:p>
          <a:p>
            <a:pPr lvl="1"/>
            <a:r>
              <a:rPr lang="en-US" dirty="0">
                <a:solidFill>
                  <a:schemeClr val="accent6">
                    <a:lumMod val="76000"/>
                  </a:schemeClr>
                </a:solidFill>
                <a:ea typeface="+mn-lt"/>
                <a:cs typeface="+mn-lt"/>
              </a:rPr>
              <a:t>And every finetuning run creates an entirely separate “copy” of the LLM that we must store, maintain, and deploy — this can quickly become both complicated and expensive!</a:t>
            </a:r>
            <a:endParaRPr lang="en-US">
              <a:solidFill>
                <a:schemeClr val="accent6">
                  <a:lumMod val="76000"/>
                </a:schemeClr>
              </a:solidFill>
              <a:ea typeface="Calibri"/>
              <a:cs typeface="Calibri"/>
            </a:endParaRPr>
          </a:p>
          <a:p>
            <a:endParaRPr lang="en-US"/>
          </a:p>
          <a:p>
            <a:endParaRPr lang="en-US" dirty="0">
              <a:ea typeface="Calibri"/>
              <a:cs typeface="Calibri"/>
            </a:endParaRPr>
          </a:p>
        </p:txBody>
      </p:sp>
    </p:spTree>
    <p:extLst>
      <p:ext uri="{BB962C8B-B14F-4D97-AF65-F5344CB8AC3E}">
        <p14:creationId xmlns:p14="http://schemas.microsoft.com/office/powerpoint/2010/main" val="2818228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0820-DE6C-98AC-A56B-CF23FFF1A1C6}"/>
              </a:ext>
            </a:extLst>
          </p:cNvPr>
          <p:cNvSpPr>
            <a:spLocks noGrp="1"/>
          </p:cNvSpPr>
          <p:nvPr>
            <p:ph type="title"/>
          </p:nvPr>
        </p:nvSpPr>
        <p:spPr/>
        <p:txBody>
          <a:bodyPr>
            <a:normAutofit fontScale="90000"/>
          </a:bodyPr>
          <a:lstStyle/>
          <a:p>
            <a:r>
              <a:rPr lang="en-US" dirty="0">
                <a:ea typeface="Calibri Light"/>
                <a:cs typeface="Calibri Light"/>
              </a:rPr>
              <a:t>Challenges to fine tuning</a:t>
            </a:r>
            <a:endParaRPr lang="en-US" dirty="0"/>
          </a:p>
        </p:txBody>
      </p:sp>
      <p:sp>
        <p:nvSpPr>
          <p:cNvPr id="3" name="Content Placeholder 2">
            <a:extLst>
              <a:ext uri="{FF2B5EF4-FFF2-40B4-BE49-F238E27FC236}">
                <a16:creationId xmlns:a16="http://schemas.microsoft.com/office/drawing/2014/main" id="{1177527C-E617-9B9C-7C83-185C6D1EA5C5}"/>
              </a:ext>
            </a:extLst>
          </p:cNvPr>
          <p:cNvSpPr>
            <a:spLocks noGrp="1"/>
          </p:cNvSpPr>
          <p:nvPr>
            <p:ph idx="1"/>
          </p:nvPr>
        </p:nvSpPr>
        <p:spPr/>
        <p:txBody>
          <a:bodyPr vert="horz" lIns="91440" tIns="45720" rIns="91440" bIns="45720" rtlCol="0" anchor="t">
            <a:normAutofit/>
          </a:bodyPr>
          <a:lstStyle/>
          <a:p>
            <a:r>
              <a:rPr lang="en-US" dirty="0">
                <a:ea typeface="Calibri"/>
                <a:cs typeface="Calibri"/>
              </a:rPr>
              <a:t>Although finetuning is computationally cheap relative to pretraining or training from scratch, it can still be quite expensive, especially for the massive generative LLMs </a:t>
            </a:r>
            <a:endParaRPr lang="en-US" dirty="0"/>
          </a:p>
          <a:p>
            <a:r>
              <a:rPr lang="en-US" dirty="0">
                <a:ea typeface="Calibri"/>
                <a:cs typeface="Calibri"/>
              </a:rPr>
              <a:t>We need to consider the efficiency from a compute and memory perspective, allowing practitioners to train specialized LLMs with fewer/smaller GPUs and less investment of time and money.</a:t>
            </a:r>
            <a:endParaRPr lang="en-US" dirty="0"/>
          </a:p>
          <a:p>
            <a:pPr marL="0" indent="0">
              <a:buNone/>
            </a:pPr>
            <a:br>
              <a:rPr lang="en-US" dirty="0"/>
            </a:b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45943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5870-E626-04B5-7E6D-27B06FB578C9}"/>
              </a:ext>
            </a:extLst>
          </p:cNvPr>
          <p:cNvSpPr>
            <a:spLocks noGrp="1"/>
          </p:cNvSpPr>
          <p:nvPr>
            <p:ph type="title"/>
          </p:nvPr>
        </p:nvSpPr>
        <p:spPr/>
        <p:txBody>
          <a:bodyPr>
            <a:normAutofit fontScale="90000"/>
          </a:bodyPr>
          <a:lstStyle/>
          <a:p>
            <a:r>
              <a:rPr lang="en-US" dirty="0">
                <a:ea typeface="Calibri Light"/>
                <a:cs typeface="Calibri Light"/>
              </a:rPr>
              <a:t>PEFT</a:t>
            </a:r>
            <a:endParaRPr lang="en-US" dirty="0"/>
          </a:p>
        </p:txBody>
      </p:sp>
      <p:sp>
        <p:nvSpPr>
          <p:cNvPr id="3" name="Content Placeholder 2">
            <a:extLst>
              <a:ext uri="{FF2B5EF4-FFF2-40B4-BE49-F238E27FC236}">
                <a16:creationId xmlns:a16="http://schemas.microsoft.com/office/drawing/2014/main" id="{1DB89E70-D739-80A8-91C2-83F17F2A25E7}"/>
              </a:ext>
            </a:extLst>
          </p:cNvPr>
          <p:cNvSpPr>
            <a:spLocks noGrp="1"/>
          </p:cNvSpPr>
          <p:nvPr>
            <p:ph idx="1"/>
          </p:nvPr>
        </p:nvSpPr>
        <p:spPr/>
        <p:txBody>
          <a:bodyPr vert="horz" lIns="91440" tIns="45720" rIns="91440" bIns="45720" rtlCol="0" anchor="t">
            <a:normAutofit/>
          </a:bodyPr>
          <a:lstStyle/>
          <a:p>
            <a:r>
              <a:rPr lang="en-US" dirty="0">
                <a:ea typeface="Calibri"/>
                <a:cs typeface="Calibri"/>
              </a:rPr>
              <a:t>Instead of training the full model end-to-end, parameter-efficient finetuning leaves pretrained model weights fixed and only adapts </a:t>
            </a:r>
            <a:endParaRPr lang="en-US"/>
          </a:p>
          <a:p>
            <a:pPr lvl="1"/>
            <a:r>
              <a:rPr lang="en-US" dirty="0">
                <a:solidFill>
                  <a:schemeClr val="accent6">
                    <a:lumMod val="76000"/>
                  </a:schemeClr>
                </a:solidFill>
                <a:ea typeface="Calibri"/>
                <a:cs typeface="Calibri"/>
              </a:rPr>
              <a:t>A small number of task-specific parameters during finetuning. </a:t>
            </a:r>
          </a:p>
          <a:p>
            <a:r>
              <a:rPr lang="en-US" dirty="0">
                <a:ea typeface="Calibri"/>
                <a:cs typeface="Calibri"/>
              </a:rPr>
              <a:t>Such an approach drastically reduces memory overhead, simplifies the storage/deployment process, and allows us to finetune LLMs with more accessible hardware. </a:t>
            </a:r>
          </a:p>
        </p:txBody>
      </p:sp>
    </p:spTree>
    <p:extLst>
      <p:ext uri="{BB962C8B-B14F-4D97-AF65-F5344CB8AC3E}">
        <p14:creationId xmlns:p14="http://schemas.microsoft.com/office/powerpoint/2010/main" val="426122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8E45-1117-38DE-209B-2EAD1261C319}"/>
              </a:ext>
            </a:extLst>
          </p:cNvPr>
          <p:cNvSpPr>
            <a:spLocks noGrp="1"/>
          </p:cNvSpPr>
          <p:nvPr>
            <p:ph type="title"/>
          </p:nvPr>
        </p:nvSpPr>
        <p:spPr/>
        <p:txBody>
          <a:bodyPr>
            <a:normAutofit fontScale="90000"/>
          </a:bodyPr>
          <a:lstStyle/>
          <a:p>
            <a:r>
              <a:rPr lang="en-US" dirty="0">
                <a:ea typeface="Calibri Light"/>
                <a:cs typeface="Calibri Light"/>
              </a:rPr>
              <a:t>Model Quantization</a:t>
            </a:r>
            <a:endParaRPr lang="en-US" dirty="0"/>
          </a:p>
        </p:txBody>
      </p:sp>
      <p:pic>
        <p:nvPicPr>
          <p:cNvPr id="4" name="Picture 3" descr="A diagram of a process&#10;&#10;AI-generated content may be incorrect.">
            <a:extLst>
              <a:ext uri="{FF2B5EF4-FFF2-40B4-BE49-F238E27FC236}">
                <a16:creationId xmlns:a16="http://schemas.microsoft.com/office/drawing/2014/main" id="{5E7A95E9-5640-7E3C-03F0-C89A3C270CA6}"/>
              </a:ext>
            </a:extLst>
          </p:cNvPr>
          <p:cNvPicPr>
            <a:picLocks noChangeAspect="1"/>
          </p:cNvPicPr>
          <p:nvPr/>
        </p:nvPicPr>
        <p:blipFill>
          <a:blip r:embed="rId2"/>
          <a:stretch>
            <a:fillRect/>
          </a:stretch>
        </p:blipFill>
        <p:spPr>
          <a:xfrm>
            <a:off x="2229583" y="1434978"/>
            <a:ext cx="7334250" cy="4714875"/>
          </a:xfrm>
          <a:prstGeom prst="rect">
            <a:avLst/>
          </a:prstGeom>
        </p:spPr>
      </p:pic>
    </p:spTree>
    <p:extLst>
      <p:ext uri="{BB962C8B-B14F-4D97-AF65-F5344CB8AC3E}">
        <p14:creationId xmlns:p14="http://schemas.microsoft.com/office/powerpoint/2010/main" val="3224426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040EC-6849-707F-1E67-7A34ACC7E9BE}"/>
              </a:ext>
            </a:extLst>
          </p:cNvPr>
          <p:cNvSpPr>
            <a:spLocks noGrp="1"/>
          </p:cNvSpPr>
          <p:nvPr>
            <p:ph type="title"/>
          </p:nvPr>
        </p:nvSpPr>
        <p:spPr/>
        <p:txBody>
          <a:bodyPr>
            <a:normAutofit fontScale="90000"/>
          </a:bodyPr>
          <a:lstStyle/>
          <a:p>
            <a:r>
              <a:rPr lang="en-US" dirty="0">
                <a:ea typeface="Calibri Light"/>
                <a:cs typeface="Calibri Light"/>
              </a:rPr>
              <a:t>Quantization</a:t>
            </a:r>
            <a:endParaRPr lang="en-US" dirty="0"/>
          </a:p>
        </p:txBody>
      </p:sp>
      <p:sp>
        <p:nvSpPr>
          <p:cNvPr id="3" name="Content Placeholder 2">
            <a:extLst>
              <a:ext uri="{FF2B5EF4-FFF2-40B4-BE49-F238E27FC236}">
                <a16:creationId xmlns:a16="http://schemas.microsoft.com/office/drawing/2014/main" id="{973EFB3A-83CA-FA0A-ABC6-EDCCBEC0BC15}"/>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Quantization is a model compression technique that maps high-precision values to lower-precision representations.</a:t>
            </a:r>
            <a:endParaRPr lang="en-US" dirty="0">
              <a:ea typeface="Calibri" panose="020F0502020204030204"/>
              <a:cs typeface="Calibri" panose="020F0502020204030204"/>
            </a:endParaRPr>
          </a:p>
          <a:p>
            <a:r>
              <a:rPr lang="en-US" dirty="0">
                <a:ea typeface="+mn-lt"/>
                <a:cs typeface="+mn-lt"/>
              </a:rPr>
              <a:t>For large language models (LLMs), this typically involves reducing the precision of weights and activations, which makes the model significantly less memory intensive. </a:t>
            </a:r>
          </a:p>
          <a:p>
            <a:pPr lvl="1"/>
            <a:r>
              <a:rPr lang="en-US" dirty="0">
                <a:solidFill>
                  <a:schemeClr val="accent6">
                    <a:lumMod val="76000"/>
                  </a:schemeClr>
                </a:solidFill>
                <a:ea typeface="+mn-lt"/>
                <a:cs typeface="+mn-lt"/>
              </a:rPr>
              <a:t>However, quantization can affect the model’s capabilities, particularly accuracy. </a:t>
            </a:r>
          </a:p>
          <a:p>
            <a:pPr lvl="1"/>
            <a:r>
              <a:rPr lang="en-US" dirty="0">
                <a:solidFill>
                  <a:schemeClr val="accent6">
                    <a:lumMod val="76000"/>
                  </a:schemeClr>
                </a:solidFill>
                <a:ea typeface="+mn-lt"/>
                <a:cs typeface="+mn-lt"/>
              </a:rPr>
              <a:t>As a result, it is generally treated as a trade-off, where the degree of quantization depends on the specific use case.</a:t>
            </a:r>
            <a:endParaRPr lang="en-US" dirty="0">
              <a:solidFill>
                <a:schemeClr val="accent6">
                  <a:lumMod val="76000"/>
                </a:schemeClr>
              </a:solidFill>
              <a:ea typeface="Calibri" panose="020F0502020204030204"/>
              <a:cs typeface="Calibri" panose="020F0502020204030204"/>
            </a:endParaRPr>
          </a:p>
          <a:p>
            <a:r>
              <a:rPr lang="en-US" dirty="0">
                <a:ea typeface="+mn-lt"/>
                <a:cs typeface="+mn-lt"/>
              </a:rPr>
              <a:t>In many cases, it has been shown that comparable performance can be achieved even at much lower precision, making quantization a highly effective optimization strategy. </a:t>
            </a:r>
          </a:p>
          <a:p>
            <a:r>
              <a:rPr lang="en-US" dirty="0">
                <a:ea typeface="+mn-lt"/>
                <a:cs typeface="+mn-lt"/>
              </a:rPr>
              <a:t>Beyond reducing model size, quantization improves performance by lowering memory bandwidth requirements and enhancing cache utilization, which leads to faster and more efficient inference.</a:t>
            </a:r>
            <a:endParaRPr lang="en-US" dirty="0">
              <a:ea typeface="Calibri"/>
              <a:cs typeface="Calibri"/>
            </a:endParaRPr>
          </a:p>
        </p:txBody>
      </p:sp>
    </p:spTree>
    <p:extLst>
      <p:ext uri="{BB962C8B-B14F-4D97-AF65-F5344CB8AC3E}">
        <p14:creationId xmlns:p14="http://schemas.microsoft.com/office/powerpoint/2010/main" val="288417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9FD4D-D2A6-E69C-FFFD-792F18E7F8B5}"/>
              </a:ext>
            </a:extLst>
          </p:cNvPr>
          <p:cNvSpPr>
            <a:spLocks noGrp="1"/>
          </p:cNvSpPr>
          <p:nvPr>
            <p:ph type="title"/>
          </p:nvPr>
        </p:nvSpPr>
        <p:spPr/>
        <p:txBody>
          <a:bodyPr>
            <a:normAutofit fontScale="90000"/>
          </a:bodyPr>
          <a:lstStyle/>
          <a:p>
            <a:r>
              <a:rPr lang="en-US" dirty="0">
                <a:ea typeface="Calibri Light"/>
                <a:cs typeface="Calibri Light"/>
              </a:rPr>
              <a:t>How to quantize?</a:t>
            </a:r>
            <a:endParaRPr lang="en-US" dirty="0"/>
          </a:p>
        </p:txBody>
      </p:sp>
      <p:sp>
        <p:nvSpPr>
          <p:cNvPr id="3" name="Content Placeholder 2">
            <a:extLst>
              <a:ext uri="{FF2B5EF4-FFF2-40B4-BE49-F238E27FC236}">
                <a16:creationId xmlns:a16="http://schemas.microsoft.com/office/drawing/2014/main" id="{929829CE-5E58-CB4B-2A06-45A3A7F20665}"/>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Large Language Models (LLMs) are typically trained using either full precision (FP32, 32-bit floating point) or half precision (FP16, 16-bit floating point).</a:t>
            </a:r>
            <a:endParaRPr lang="en-US" dirty="0">
              <a:ea typeface="Calibri" panose="020F0502020204030204"/>
              <a:cs typeface="Calibri" panose="020F0502020204030204"/>
            </a:endParaRPr>
          </a:p>
          <a:p>
            <a:r>
              <a:rPr lang="en-US" dirty="0">
                <a:ea typeface="+mn-lt"/>
                <a:cs typeface="+mn-lt"/>
              </a:rPr>
              <a:t>Storage requirement: A single FP16 number uses 16 bits (2 bytes). </a:t>
            </a:r>
          </a:p>
          <a:p>
            <a:pPr lvl="1"/>
            <a:r>
              <a:rPr lang="en-US" dirty="0">
                <a:solidFill>
                  <a:schemeClr val="accent6">
                    <a:lumMod val="76000"/>
                  </a:schemeClr>
                </a:solidFill>
                <a:ea typeface="+mn-lt"/>
                <a:cs typeface="+mn-lt"/>
              </a:rPr>
              <a:t>Thus, a model with one billion parameters stored in FP16 requires approximately 2 GB of memory.</a:t>
            </a:r>
            <a:endParaRPr lang="en-US">
              <a:solidFill>
                <a:schemeClr val="accent6">
                  <a:lumMod val="76000"/>
                </a:schemeClr>
              </a:solidFill>
              <a:ea typeface="Calibri"/>
              <a:cs typeface="Calibri"/>
            </a:endParaRPr>
          </a:p>
          <a:p>
            <a:r>
              <a:rPr lang="en-US" dirty="0">
                <a:ea typeface="+mn-lt"/>
                <a:cs typeface="+mn-lt"/>
              </a:rPr>
              <a:t>Quantization process: Quantization reduces precision by mapping the full range of FP32 weight values to lower-precision formats such as FP16, INT8, or even INT4. </a:t>
            </a:r>
          </a:p>
          <a:p>
            <a:pPr lvl="1"/>
            <a:r>
              <a:rPr lang="en-US" dirty="0">
                <a:ea typeface="+mn-lt"/>
                <a:cs typeface="+mn-lt"/>
              </a:rPr>
              <a:t>For example, a common case is compressing from FP32 to INT8, which reduces storage by 4× while still preserving much of the model’s representational power.</a:t>
            </a:r>
            <a:endParaRPr lang="en-US">
              <a:ea typeface="Calibri"/>
              <a:cs typeface="Calibri"/>
            </a:endParaRPr>
          </a:p>
          <a:p>
            <a:r>
              <a:rPr lang="en-US" dirty="0">
                <a:ea typeface="+mn-lt"/>
                <a:cs typeface="+mn-lt"/>
              </a:rPr>
              <a:t>Impact on quality: The effect of quantization on model accuracy depends heavily on the specific quantization technique employed (e.g., post-training quantization vs. quantization-aware training). </a:t>
            </a:r>
          </a:p>
          <a:p>
            <a:pPr lvl="1"/>
            <a:r>
              <a:rPr lang="en-US" dirty="0">
                <a:ea typeface="+mn-lt"/>
                <a:cs typeface="+mn-lt"/>
              </a:rPr>
              <a:t>Well-designed methods can retain performance close to the original model while significantly reducing memory and compute requirements.</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74015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D294-0017-AB72-74BC-4B9FF76F8680}"/>
              </a:ext>
            </a:extLst>
          </p:cNvPr>
          <p:cNvSpPr>
            <a:spLocks noGrp="1"/>
          </p:cNvSpPr>
          <p:nvPr>
            <p:ph type="title"/>
          </p:nvPr>
        </p:nvSpPr>
        <p:spPr/>
        <p:txBody>
          <a:bodyPr>
            <a:normAutofit fontScale="90000"/>
          </a:bodyPr>
          <a:lstStyle/>
          <a:p>
            <a:r>
              <a:rPr lang="en-US" dirty="0">
                <a:ea typeface="Calibri Light"/>
                <a:cs typeface="Calibri Light"/>
              </a:rPr>
              <a:t>Quantize What?</a:t>
            </a:r>
            <a:endParaRPr lang="en-US" dirty="0"/>
          </a:p>
        </p:txBody>
      </p:sp>
      <p:sp>
        <p:nvSpPr>
          <p:cNvPr id="3" name="Content Placeholder 2">
            <a:extLst>
              <a:ext uri="{FF2B5EF4-FFF2-40B4-BE49-F238E27FC236}">
                <a16:creationId xmlns:a16="http://schemas.microsoft.com/office/drawing/2014/main" id="{F6D707FF-034A-3A43-EBB0-3C905236084F}"/>
              </a:ext>
            </a:extLst>
          </p:cNvPr>
          <p:cNvSpPr>
            <a:spLocks noGrp="1"/>
          </p:cNvSpPr>
          <p:nvPr>
            <p:ph idx="1"/>
          </p:nvPr>
        </p:nvSpPr>
        <p:spPr>
          <a:xfrm>
            <a:off x="685800" y="910253"/>
            <a:ext cx="11320465" cy="5446097"/>
          </a:xfrm>
        </p:spPr>
        <p:txBody>
          <a:bodyPr vert="horz" lIns="91440" tIns="45720" rIns="91440" bIns="45720" rtlCol="0" anchor="t">
            <a:normAutofit fontScale="85000" lnSpcReduction="10000"/>
          </a:bodyPr>
          <a:lstStyle/>
          <a:p>
            <a:pPr algn="just"/>
            <a:endParaRPr lang="en-US">
              <a:ea typeface="Calibri" panose="020F0502020204030204"/>
              <a:cs typeface="Calibri" panose="020F0502020204030204"/>
            </a:endParaRPr>
          </a:p>
          <a:p>
            <a:pPr algn="just"/>
            <a:r>
              <a:rPr lang="en-US" dirty="0">
                <a:ea typeface="+mn-lt"/>
                <a:cs typeface="+mn-lt"/>
              </a:rPr>
              <a:t> </a:t>
            </a:r>
            <a:r>
              <a:rPr lang="en-US" dirty="0">
                <a:solidFill>
                  <a:srgbClr val="C00000"/>
                </a:solidFill>
                <a:ea typeface="+mn-lt"/>
                <a:cs typeface="+mn-lt"/>
              </a:rPr>
              <a:t>Weights</a:t>
            </a:r>
            <a:r>
              <a:rPr lang="en-US" dirty="0">
                <a:ea typeface="+mn-lt"/>
                <a:cs typeface="+mn-lt"/>
              </a:rPr>
              <a:t>: Quantizing model weights is the most common and widely used approach. </a:t>
            </a:r>
          </a:p>
          <a:p>
            <a:pPr lvl="1" algn="just"/>
            <a:r>
              <a:rPr lang="en-US" dirty="0">
                <a:solidFill>
                  <a:schemeClr val="accent6">
                    <a:lumMod val="76000"/>
                  </a:schemeClr>
                </a:solidFill>
                <a:ea typeface="+mn-lt"/>
                <a:cs typeface="+mn-lt"/>
              </a:rPr>
              <a:t>Reduces model size, memory consumption, and storage requirements, making deployment more efficient.</a:t>
            </a:r>
            <a:endParaRPr lang="en-US" dirty="0">
              <a:solidFill>
                <a:schemeClr val="accent6">
                  <a:lumMod val="76000"/>
                </a:schemeClr>
              </a:solidFill>
              <a:ea typeface="Calibri" panose="020F0502020204030204"/>
              <a:cs typeface="Calibri" panose="020F0502020204030204"/>
            </a:endParaRPr>
          </a:p>
          <a:p>
            <a:pPr algn="just"/>
            <a:r>
              <a:rPr lang="en-US" dirty="0">
                <a:solidFill>
                  <a:srgbClr val="C00000"/>
                </a:solidFill>
                <a:ea typeface="+mn-lt"/>
                <a:cs typeface="+mn-lt"/>
              </a:rPr>
              <a:t>Activations</a:t>
            </a:r>
            <a:r>
              <a:rPr lang="en-US" dirty="0">
                <a:ea typeface="+mn-lt"/>
                <a:cs typeface="+mn-lt"/>
              </a:rPr>
              <a:t>: In practice, activations often dominate memory usage. </a:t>
            </a:r>
          </a:p>
          <a:p>
            <a:pPr lvl="1" algn="just"/>
            <a:r>
              <a:rPr lang="en-US" dirty="0">
                <a:ea typeface="+mn-lt"/>
                <a:cs typeface="+mn-lt"/>
              </a:rPr>
              <a:t>Quantizing activations can significantly reduce memory demand. </a:t>
            </a:r>
          </a:p>
          <a:p>
            <a:pPr lvl="1" algn="just"/>
            <a:r>
              <a:rPr lang="en-US" dirty="0">
                <a:ea typeface="+mn-lt"/>
                <a:cs typeface="+mn-lt"/>
              </a:rPr>
              <a:t>If combined with weight quantization, it enables full integer computation, leading to substantial performance gains.</a:t>
            </a:r>
            <a:endParaRPr lang="en-US" dirty="0">
              <a:ea typeface="Calibri" panose="020F0502020204030204"/>
              <a:cs typeface="Calibri" panose="020F0502020204030204"/>
            </a:endParaRPr>
          </a:p>
          <a:p>
            <a:pPr algn="just"/>
            <a:r>
              <a:rPr lang="en-US" dirty="0">
                <a:solidFill>
                  <a:srgbClr val="C00000"/>
                </a:solidFill>
                <a:ea typeface="+mn-lt"/>
                <a:cs typeface="+mn-lt"/>
              </a:rPr>
              <a:t>KV Cache:</a:t>
            </a:r>
            <a:r>
              <a:rPr lang="en-US" dirty="0">
                <a:ea typeface="+mn-lt"/>
                <a:cs typeface="+mn-lt"/>
              </a:rPr>
              <a:t> For sequence generation tasks, quantizing the key–value (KV) cache is critical. </a:t>
            </a:r>
          </a:p>
          <a:p>
            <a:pPr lvl="1" algn="just"/>
            <a:r>
              <a:rPr lang="en-US" dirty="0">
                <a:solidFill>
                  <a:schemeClr val="accent6">
                    <a:lumMod val="76000"/>
                  </a:schemeClr>
                </a:solidFill>
                <a:ea typeface="+mn-lt"/>
                <a:cs typeface="+mn-lt"/>
              </a:rPr>
              <a:t>Reduces memory overhead and improves throughput, especially for models handling long context windows.</a:t>
            </a:r>
            <a:endParaRPr lang="en-US" dirty="0">
              <a:solidFill>
                <a:schemeClr val="accent6">
                  <a:lumMod val="76000"/>
                </a:schemeClr>
              </a:solidFill>
              <a:ea typeface="Calibri" panose="020F0502020204030204"/>
              <a:cs typeface="Calibri" panose="020F0502020204030204"/>
            </a:endParaRPr>
          </a:p>
          <a:p>
            <a:pPr algn="just"/>
            <a:r>
              <a:rPr lang="en-US" dirty="0">
                <a:solidFill>
                  <a:srgbClr val="C00000"/>
                </a:solidFill>
                <a:ea typeface="+mn-lt"/>
                <a:cs typeface="+mn-lt"/>
              </a:rPr>
              <a:t>Gradients:</a:t>
            </a:r>
            <a:r>
              <a:rPr lang="en-US" dirty="0">
                <a:ea typeface="+mn-lt"/>
                <a:cs typeface="+mn-lt"/>
              </a:rPr>
              <a:t> Gradient quantization is less common, as gradients are primarily used during training. </a:t>
            </a:r>
          </a:p>
          <a:p>
            <a:pPr lvl="1" algn="just"/>
            <a:r>
              <a:rPr lang="en-US" dirty="0">
                <a:ea typeface="+mn-lt"/>
                <a:cs typeface="+mn-lt"/>
              </a:rPr>
              <a:t>Since gradients are typically stored in floating-point format, quantization here is mainly applied to lower communication overhead in distributed training and reduce memory costs during the backward pass.</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405078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C3EC-285E-7BF5-DEA7-1E0F1689E949}"/>
              </a:ext>
            </a:extLst>
          </p:cNvPr>
          <p:cNvSpPr>
            <a:spLocks noGrp="1"/>
          </p:cNvSpPr>
          <p:nvPr>
            <p:ph type="title"/>
          </p:nvPr>
        </p:nvSpPr>
        <p:spPr/>
        <p:txBody>
          <a:bodyPr>
            <a:normAutofit fontScale="90000"/>
          </a:bodyPr>
          <a:lstStyle/>
          <a:p>
            <a:r>
              <a:rPr lang="en-US" dirty="0">
                <a:ea typeface="Calibri Light"/>
                <a:cs typeface="Calibri Light"/>
              </a:rPr>
              <a:t>Types of Quantization</a:t>
            </a:r>
            <a:endParaRPr lang="en-US" dirty="0" err="1"/>
          </a:p>
        </p:txBody>
      </p:sp>
      <p:sp>
        <p:nvSpPr>
          <p:cNvPr id="3" name="Content Placeholder 2">
            <a:extLst>
              <a:ext uri="{FF2B5EF4-FFF2-40B4-BE49-F238E27FC236}">
                <a16:creationId xmlns:a16="http://schemas.microsoft.com/office/drawing/2014/main" id="{CD432C5A-24AA-3C14-C5D3-03EDB77F0AF1}"/>
              </a:ext>
            </a:extLst>
          </p:cNvPr>
          <p:cNvSpPr>
            <a:spLocks noGrp="1"/>
          </p:cNvSpPr>
          <p:nvPr>
            <p:ph idx="1"/>
          </p:nvPr>
        </p:nvSpPr>
        <p:spPr/>
        <p:txBody>
          <a:bodyPr vert="horz" lIns="91440" tIns="45720" rIns="91440" bIns="45720" rtlCol="0" anchor="t">
            <a:normAutofit/>
          </a:bodyPr>
          <a:lstStyle/>
          <a:p>
            <a:r>
              <a:rPr lang="en-US" dirty="0">
                <a:ea typeface="Calibri"/>
                <a:cs typeface="Calibri"/>
              </a:rPr>
              <a:t>Proposed techniques using quantization can be (roughly) categorized into three primary areas:</a:t>
            </a:r>
          </a:p>
          <a:p>
            <a:r>
              <a:rPr lang="en-US" dirty="0">
                <a:ea typeface="Calibri"/>
                <a:cs typeface="Calibri"/>
              </a:rPr>
              <a:t>Quantized Training: perform quantization during training to make the training process more efficient.</a:t>
            </a:r>
            <a:endParaRPr lang="en-US" dirty="0"/>
          </a:p>
          <a:p>
            <a:r>
              <a:rPr lang="en-US" dirty="0">
                <a:ea typeface="Calibri"/>
                <a:cs typeface="Calibri"/>
              </a:rPr>
              <a:t>Post-Training Quantization: quantize a model weights after training to make inference more efficient.</a:t>
            </a:r>
            <a:endParaRPr lang="en-US" dirty="0"/>
          </a:p>
          <a:p>
            <a:r>
              <a:rPr lang="en-US" dirty="0">
                <a:ea typeface="Calibri"/>
                <a:cs typeface="Calibri"/>
              </a:rPr>
              <a:t>Quantization-Aware Training: train in a manner that makes the model more amenable to quantization, thus avoiding performance degradations due to post-training quantization.</a:t>
            </a:r>
            <a:endParaRPr lang="en-US" dirty="0"/>
          </a:p>
          <a:p>
            <a:endParaRPr lang="en-US" dirty="0">
              <a:ea typeface="Calibri"/>
              <a:cs typeface="Calibri"/>
            </a:endParaRPr>
          </a:p>
        </p:txBody>
      </p:sp>
    </p:spTree>
    <p:extLst>
      <p:ext uri="{BB962C8B-B14F-4D97-AF65-F5344CB8AC3E}">
        <p14:creationId xmlns:p14="http://schemas.microsoft.com/office/powerpoint/2010/main" val="2201475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C021-45BE-BA70-0ED0-A6575C3D8DCE}"/>
              </a:ext>
            </a:extLst>
          </p:cNvPr>
          <p:cNvSpPr>
            <a:spLocks noGrp="1"/>
          </p:cNvSpPr>
          <p:nvPr>
            <p:ph type="title"/>
          </p:nvPr>
        </p:nvSpPr>
        <p:spPr/>
        <p:txBody>
          <a:bodyPr>
            <a:normAutofit fontScale="90000"/>
          </a:bodyPr>
          <a:lstStyle/>
          <a:p>
            <a:r>
              <a:rPr lang="en-US" sz="4000" dirty="0">
                <a:ea typeface="Calibri Light"/>
                <a:cs typeface="Calibri Light"/>
              </a:rPr>
              <a:t>Automatic mixed precision</a:t>
            </a:r>
            <a:endParaRPr lang="en-US" sz="4000" b="0"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F504E42E-1C1F-29B1-8C14-DC70B34CAC7C}"/>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Automatic Mixed Precision (AMP) enables training of neural networks by dynamically using lower precision (e.g., FP16) in parts of the computation graph while retaining higher precision (e.g., FP32) where necessary to preserve numerical stability.</a:t>
            </a:r>
            <a:endParaRPr lang="en-US" dirty="0">
              <a:ea typeface="Calibri" panose="020F0502020204030204"/>
              <a:cs typeface="Calibri" panose="020F0502020204030204"/>
            </a:endParaRPr>
          </a:p>
          <a:p>
            <a:r>
              <a:rPr lang="en-US" dirty="0">
                <a:solidFill>
                  <a:srgbClr val="C00000"/>
                </a:solidFill>
                <a:ea typeface="+mn-lt"/>
                <a:cs typeface="+mn-lt"/>
              </a:rPr>
              <a:t>Hardware &amp; Software Support:</a:t>
            </a:r>
            <a:r>
              <a:rPr lang="en-US" dirty="0">
                <a:ea typeface="+mn-lt"/>
                <a:cs typeface="+mn-lt"/>
              </a:rPr>
              <a:t> AMP requires compatible hardware (such as NVIDIA Tensor Cores) and appropriate driver/software support (CUDA and </a:t>
            </a:r>
            <a:r>
              <a:rPr lang="en-US" dirty="0" err="1">
                <a:ea typeface="+mn-lt"/>
                <a:cs typeface="+mn-lt"/>
              </a:rPr>
              <a:t>cuDNN</a:t>
            </a:r>
            <a:r>
              <a:rPr lang="en-US" dirty="0">
                <a:ea typeface="+mn-lt"/>
                <a:cs typeface="+mn-lt"/>
              </a:rPr>
              <a:t>). </a:t>
            </a:r>
          </a:p>
          <a:p>
            <a:pPr lvl="1"/>
            <a:r>
              <a:rPr lang="en-US" dirty="0">
                <a:solidFill>
                  <a:schemeClr val="accent6">
                    <a:lumMod val="76000"/>
                  </a:schemeClr>
                </a:solidFill>
                <a:ea typeface="+mn-lt"/>
                <a:cs typeface="+mn-lt"/>
              </a:rPr>
              <a:t>NVIDIA GPUs provide full support for AMP.</a:t>
            </a:r>
            <a:endParaRPr lang="en-US" dirty="0">
              <a:solidFill>
                <a:schemeClr val="accent6">
                  <a:lumMod val="76000"/>
                </a:schemeClr>
              </a:solidFill>
              <a:ea typeface="Calibri"/>
              <a:cs typeface="Calibri"/>
            </a:endParaRPr>
          </a:p>
          <a:p>
            <a:r>
              <a:rPr lang="en-US" dirty="0">
                <a:solidFill>
                  <a:srgbClr val="C00000"/>
                </a:solidFill>
                <a:ea typeface="+mn-lt"/>
                <a:cs typeface="+mn-lt"/>
              </a:rPr>
              <a:t>Performance Benefits: </a:t>
            </a:r>
            <a:r>
              <a:rPr lang="en-US" dirty="0">
                <a:ea typeface="+mn-lt"/>
                <a:cs typeface="+mn-lt"/>
              </a:rPr>
              <a:t>By leveraging reduced precision arithmetic in safe regions of the network, AMP can significantly accelerate training—often cutting training time by up to 50%—while maintaining model accuracy comparable to full FP32 training.</a:t>
            </a:r>
            <a:endParaRPr lang="en-US" dirty="0"/>
          </a:p>
          <a:p>
            <a:r>
              <a:rPr lang="en-US" dirty="0">
                <a:solidFill>
                  <a:srgbClr val="C00000"/>
                </a:solidFill>
                <a:ea typeface="+mn-lt"/>
                <a:cs typeface="+mn-lt"/>
              </a:rPr>
              <a:t>Ease of Integration:</a:t>
            </a:r>
            <a:r>
              <a:rPr lang="en-US" dirty="0">
                <a:ea typeface="+mn-lt"/>
                <a:cs typeface="+mn-lt"/>
              </a:rPr>
              <a:t> NVIDIA’s AMP package is seamlessly integrated into widely used deep learning frameworks such as </a:t>
            </a:r>
            <a:r>
              <a:rPr lang="en-US" err="1">
                <a:ea typeface="+mn-lt"/>
                <a:cs typeface="+mn-lt"/>
              </a:rPr>
              <a:t>PyTorch</a:t>
            </a:r>
            <a:r>
              <a:rPr lang="en-US" dirty="0">
                <a:ea typeface="+mn-lt"/>
                <a:cs typeface="+mn-lt"/>
              </a:rPr>
              <a:t> and TensorFlow. In addition, Hugging Face provides native options for mixed-precision training, making it straightforward to adopt without major code modifications.</a:t>
            </a:r>
            <a:endParaRPr lang="en-US" dirty="0"/>
          </a:p>
          <a:p>
            <a:endParaRPr lang="en-US" dirty="0">
              <a:ea typeface="Calibri"/>
              <a:cs typeface="Calibri"/>
            </a:endParaRPr>
          </a:p>
        </p:txBody>
      </p:sp>
    </p:spTree>
    <p:extLst>
      <p:ext uri="{BB962C8B-B14F-4D97-AF65-F5344CB8AC3E}">
        <p14:creationId xmlns:p14="http://schemas.microsoft.com/office/powerpoint/2010/main" val="29697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273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BBFC-45AB-1D2B-8595-6B996EB10AEC}"/>
              </a:ext>
            </a:extLst>
          </p:cNvPr>
          <p:cNvSpPr>
            <a:spLocks noGrp="1"/>
          </p:cNvSpPr>
          <p:nvPr>
            <p:ph type="title"/>
          </p:nvPr>
        </p:nvSpPr>
        <p:spPr/>
        <p:txBody>
          <a:bodyPr>
            <a:normAutofit fontScale="90000"/>
          </a:bodyPr>
          <a:lstStyle/>
          <a:p>
            <a:r>
              <a:rPr lang="en-US" sz="4000" dirty="0">
                <a:ea typeface="Calibri Light"/>
                <a:cs typeface="Calibri Light"/>
              </a:rPr>
              <a:t>Finetuning: In-Context Learning (Prompts)</a:t>
            </a:r>
            <a:endParaRPr lang="en-US" sz="4000" b="0"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959CE753-AD8E-EB1B-5163-62A4431552F6}"/>
              </a:ext>
            </a:extLst>
          </p:cNvPr>
          <p:cNvSpPr>
            <a:spLocks noGrp="1"/>
          </p:cNvSpPr>
          <p:nvPr>
            <p:ph idx="1"/>
          </p:nvPr>
        </p:nvSpPr>
        <p:spPr/>
        <p:txBody>
          <a:bodyPr vert="horz" lIns="91440" tIns="45720" rIns="91440" bIns="45720" rtlCol="0" anchor="t">
            <a:normAutofit/>
          </a:bodyPr>
          <a:lstStyle/>
          <a:p>
            <a:r>
              <a:rPr lang="en-US" dirty="0">
                <a:ea typeface="+mn-lt"/>
                <a:cs typeface="+mn-lt"/>
              </a:rPr>
              <a:t>Pretrained LLMs possess basic capabilities for solving problems through prompting, but their raw responses are often inconsistent, shallow, or misaligned with human intent. </a:t>
            </a:r>
          </a:p>
          <a:p>
            <a:r>
              <a:rPr lang="en-US" dirty="0">
                <a:ea typeface="+mn-lt"/>
                <a:cs typeface="+mn-lt"/>
              </a:rPr>
              <a:t>The alignment process (e.g., reinforcement learning with human feedback, supervised fine-tuning) enhances their ability to follow instructions reliably. This process makes the model significantly more effective at solving tasks </a:t>
            </a:r>
            <a:r>
              <a:rPr lang="en-US">
                <a:ea typeface="+mn-lt"/>
                <a:cs typeface="+mn-lt"/>
              </a:rPr>
              <a:t>via in-context learning.</a:t>
            </a:r>
            <a:endParaRPr lang="en-US">
              <a:ea typeface="Calibri" panose="020F0502020204030204"/>
              <a:cs typeface="Calibri" panose="020F0502020204030204"/>
            </a:endParaRPr>
          </a:p>
          <a:p>
            <a:pPr lvl="1"/>
            <a:r>
              <a:rPr lang="en-US" dirty="0">
                <a:solidFill>
                  <a:srgbClr val="C00000"/>
                </a:solidFill>
                <a:ea typeface="+mn-lt"/>
                <a:cs typeface="+mn-lt"/>
              </a:rPr>
              <a:t>In-context learning (ICL)</a:t>
            </a:r>
            <a:r>
              <a:rPr lang="en-US" dirty="0">
                <a:solidFill>
                  <a:schemeClr val="accent6">
                    <a:lumMod val="76000"/>
                  </a:schemeClr>
                </a:solidFill>
                <a:ea typeface="+mn-lt"/>
                <a:cs typeface="+mn-lt"/>
              </a:rPr>
              <a:t> refers to the ability of a single model to handle a wide range of problems simply by providing carefully designed prompts, rather than retraining or fine-tuning the model for each new task. </a:t>
            </a:r>
          </a:p>
          <a:p>
            <a:r>
              <a:rPr lang="en-US" dirty="0">
                <a:ea typeface="+mn-lt"/>
                <a:cs typeface="+mn-lt"/>
              </a:rPr>
              <a:t>In practice, this means the model adapts to new instructions by conditioning on the examples or descriptions provided in its input.</a:t>
            </a:r>
            <a:endParaRPr lang="en-US" dirty="0">
              <a:ea typeface="Calibri"/>
              <a:cs typeface="Calibri"/>
            </a:endParaRPr>
          </a:p>
          <a:p>
            <a:endParaRPr lang="en-US" dirty="0">
              <a:ea typeface="+mn-lt"/>
              <a:cs typeface="+mn-lt"/>
            </a:endParaRPr>
          </a:p>
        </p:txBody>
      </p:sp>
    </p:spTree>
    <p:extLst>
      <p:ext uri="{BB962C8B-B14F-4D97-AF65-F5344CB8AC3E}">
        <p14:creationId xmlns:p14="http://schemas.microsoft.com/office/powerpoint/2010/main" val="87035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33353-987A-DBA0-1BC9-4ADAFA91E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2D349-1AF9-BA8D-03D8-CBEDC9291B6B}"/>
              </a:ext>
            </a:extLst>
          </p:cNvPr>
          <p:cNvSpPr>
            <a:spLocks noGrp="1"/>
          </p:cNvSpPr>
          <p:nvPr>
            <p:ph type="title"/>
          </p:nvPr>
        </p:nvSpPr>
        <p:spPr/>
        <p:txBody>
          <a:bodyPr>
            <a:normAutofit fontScale="90000"/>
          </a:bodyPr>
          <a:lstStyle/>
          <a:p>
            <a:r>
              <a:rPr lang="en-US" sz="4000" dirty="0">
                <a:ea typeface="Calibri Light"/>
                <a:cs typeface="Calibri Light"/>
              </a:rPr>
              <a:t>Finetuning: In-Context Learning (Prompts)</a:t>
            </a:r>
            <a:endParaRPr lang="en-US" sz="4000" b="0"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A61CF03E-636B-79BD-468E-157A5B73E62F}"/>
              </a:ext>
            </a:extLst>
          </p:cNvPr>
          <p:cNvSpPr>
            <a:spLocks noGrp="1"/>
          </p:cNvSpPr>
          <p:nvPr>
            <p:ph idx="1"/>
          </p:nvPr>
        </p:nvSpPr>
        <p:spPr/>
        <p:txBody>
          <a:bodyPr vert="horz" lIns="91440" tIns="45720" rIns="91440" bIns="45720" rtlCol="0" anchor="t">
            <a:normAutofit/>
          </a:bodyPr>
          <a:lstStyle/>
          <a:p>
            <a:r>
              <a:rPr lang="en-US" dirty="0">
                <a:ea typeface="+mn-lt"/>
                <a:cs typeface="+mn-lt"/>
              </a:rPr>
              <a:t>For example:</a:t>
            </a:r>
            <a:endParaRPr lang="en-US" dirty="0"/>
          </a:p>
          <a:p>
            <a:pPr lvl="1"/>
            <a:r>
              <a:rPr lang="en-US" dirty="0">
                <a:solidFill>
                  <a:schemeClr val="accent6">
                    <a:lumMod val="76000"/>
                  </a:schemeClr>
                </a:solidFill>
                <a:ea typeface="+mn-lt"/>
                <a:cs typeface="+mn-lt"/>
              </a:rPr>
              <a:t>Zero-shot prompting: Asking, “Translate this sentence from English to French: ‘How are you?’” without providing examples.</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One-shot prompting: Giving a single demonstration, such as: “Translate English to French. Example: ‘Good morning’ → ‘Bonjour’. Now translate: ‘How are you?’”</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Few-shot prompting: Supplying several examples of translations before presenting the target sentence, so the model can infer the pattern.</a:t>
            </a:r>
            <a:endParaRPr lang="en-US">
              <a:solidFill>
                <a:schemeClr val="accent6">
                  <a:lumMod val="76000"/>
                </a:schemeClr>
              </a:solidFill>
              <a:ea typeface="Calibri"/>
              <a:cs typeface="Calibri"/>
            </a:endParaRPr>
          </a:p>
          <a:p>
            <a:r>
              <a:rPr lang="en-US" dirty="0">
                <a:ea typeface="+mn-lt"/>
                <a:cs typeface="+mn-lt"/>
              </a:rPr>
              <a:t>These prompting strategies represent different ways of leveraging the same pretrained model for varied tasks, without modifying its parameters. </a:t>
            </a:r>
          </a:p>
          <a:p>
            <a:r>
              <a:rPr lang="en-US" dirty="0">
                <a:ea typeface="+mn-lt"/>
                <a:cs typeface="+mn-lt"/>
              </a:rPr>
              <a:t>Ultimately, alignment makes models more sensitive to instructions, while prompting methods allow users to unlock broader functionality without additional fine-tuning. </a:t>
            </a:r>
          </a:p>
          <a:p>
            <a:endParaRPr lang="en-US" dirty="0">
              <a:ea typeface="Calibri"/>
              <a:cs typeface="Calibri"/>
            </a:endParaRPr>
          </a:p>
        </p:txBody>
      </p:sp>
    </p:spTree>
    <p:extLst>
      <p:ext uri="{BB962C8B-B14F-4D97-AF65-F5344CB8AC3E}">
        <p14:creationId xmlns:p14="http://schemas.microsoft.com/office/powerpoint/2010/main" val="1466442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AD8D-45A9-EFA0-412A-D3033560BE59}"/>
              </a:ext>
            </a:extLst>
          </p:cNvPr>
          <p:cNvSpPr>
            <a:spLocks noGrp="1"/>
          </p:cNvSpPr>
          <p:nvPr>
            <p:ph type="title"/>
          </p:nvPr>
        </p:nvSpPr>
        <p:spPr/>
        <p:txBody>
          <a:bodyPr>
            <a:normAutofit fontScale="90000"/>
          </a:bodyPr>
          <a:lstStyle/>
          <a:p>
            <a:r>
              <a:rPr lang="en-US" dirty="0">
                <a:ea typeface="Calibri Light"/>
                <a:cs typeface="Calibri Light"/>
              </a:rPr>
              <a:t>Prompting</a:t>
            </a:r>
            <a:endParaRPr lang="en-US" dirty="0"/>
          </a:p>
        </p:txBody>
      </p:sp>
      <p:sp>
        <p:nvSpPr>
          <p:cNvPr id="3" name="Content Placeholder 2">
            <a:extLst>
              <a:ext uri="{FF2B5EF4-FFF2-40B4-BE49-F238E27FC236}">
                <a16:creationId xmlns:a16="http://schemas.microsoft.com/office/drawing/2014/main" id="{C9D0F2E7-B7EE-1FA1-8196-04DBE356A178}"/>
              </a:ext>
            </a:extLst>
          </p:cNvPr>
          <p:cNvSpPr>
            <a:spLocks noGrp="1"/>
          </p:cNvSpPr>
          <p:nvPr>
            <p:ph idx="1"/>
          </p:nvPr>
        </p:nvSpPr>
        <p:spPr/>
        <p:txBody>
          <a:bodyPr vert="horz" lIns="91440" tIns="45720" rIns="91440" bIns="45720" rtlCol="0" anchor="t">
            <a:normAutofit fontScale="92500"/>
          </a:bodyPr>
          <a:lstStyle/>
          <a:p>
            <a:r>
              <a:rPr lang="en-US" dirty="0">
                <a:ea typeface="+mn-lt"/>
                <a:cs typeface="+mn-lt"/>
              </a:rPr>
              <a:t>Since no fine-tuning is required, and a single model can be applied across many tasks, in-context learning (ICL) is by far the most convenient way to adapt an LLM to downstream tasks. It allows rapid experimentation and deployment simply by modifying the prompt.</a:t>
            </a:r>
            <a:endParaRPr lang="en-US" dirty="0">
              <a:ea typeface="Calibri"/>
              <a:cs typeface="Calibri"/>
            </a:endParaRPr>
          </a:p>
          <a:p>
            <a:r>
              <a:rPr lang="en-US" dirty="0">
                <a:ea typeface="+mn-lt"/>
                <a:cs typeface="+mn-lt"/>
              </a:rPr>
              <a:t>However, ICL typically underperforms compared to fine-tuning, especially on specialized or domain-specific tasks. As a result, fine-tuning remains the standard approach for building high-performance, task-optimized LLMs in practice.</a:t>
            </a:r>
          </a:p>
          <a:p>
            <a:r>
              <a:rPr lang="en-US" dirty="0">
                <a:ea typeface="+mn-lt"/>
                <a:cs typeface="+mn-lt"/>
              </a:rPr>
              <a:t>When in-context learning does not achieve the desired level of performance, the next step is to fine-tune the model on a curated dataset, enabling it to adapt its parameters more deeply to the target domain or application.</a:t>
            </a:r>
          </a:p>
          <a:p>
            <a:pPr marL="0" indent="0">
              <a:buNone/>
            </a:pPr>
            <a:br>
              <a:rPr lang="en-US" dirty="0"/>
            </a:b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012603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280C7-D779-4083-AE4B-197886C63670}"/>
              </a:ext>
            </a:extLst>
          </p:cNvPr>
          <p:cNvSpPr>
            <a:spLocks noGrp="1"/>
          </p:cNvSpPr>
          <p:nvPr>
            <p:ph type="title"/>
          </p:nvPr>
        </p:nvSpPr>
        <p:spPr/>
        <p:txBody>
          <a:bodyPr>
            <a:normAutofit fontScale="90000"/>
          </a:bodyPr>
          <a:lstStyle/>
          <a:p>
            <a:r>
              <a:rPr lang="en-US" dirty="0">
                <a:ea typeface="Calibri Light"/>
                <a:cs typeface="Calibri Light"/>
              </a:rPr>
              <a:t>Full finetuning</a:t>
            </a:r>
            <a:endParaRPr lang="en-US" dirty="0"/>
          </a:p>
        </p:txBody>
      </p:sp>
      <p:sp>
        <p:nvSpPr>
          <p:cNvPr id="3" name="Content Placeholder 2">
            <a:extLst>
              <a:ext uri="{FF2B5EF4-FFF2-40B4-BE49-F238E27FC236}">
                <a16:creationId xmlns:a16="http://schemas.microsoft.com/office/drawing/2014/main" id="{E2DCB998-20B2-B421-49BE-E410C681F464}"/>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Full fine-tuning becomes increasingly impractical when:</a:t>
            </a:r>
            <a:endParaRPr lang="en-US" dirty="0"/>
          </a:p>
          <a:p>
            <a:pPr lvl="1"/>
            <a:r>
              <a:rPr lang="en-US" dirty="0">
                <a:ea typeface="+mn-lt"/>
                <a:cs typeface="+mn-lt"/>
              </a:rPr>
              <a:t>The model needs to be retrained frequently (e.g., to incorporate new data), or</a:t>
            </a:r>
          </a:p>
          <a:p>
            <a:pPr lvl="1"/>
            <a:r>
              <a:rPr lang="en-US" dirty="0">
                <a:ea typeface="+mn-lt"/>
                <a:cs typeface="+mn-lt"/>
              </a:rPr>
              <a:t>The same base model is fine-tuned separately for many different tasks.</a:t>
            </a:r>
          </a:p>
          <a:p>
            <a:r>
              <a:rPr lang="en-US" dirty="0">
                <a:ea typeface="+mn-lt"/>
                <a:cs typeface="+mn-lt"/>
              </a:rPr>
              <a:t>In such scenarios, each fine-tuned variant is essentially a full copy of the original large model, leading to significant storage and deployment overhead. </a:t>
            </a:r>
          </a:p>
          <a:p>
            <a:r>
              <a:rPr lang="en-US" dirty="0">
                <a:ea typeface="+mn-lt"/>
                <a:cs typeface="+mn-lt"/>
              </a:rPr>
              <a:t>Managing multiple instances of multi-billion parameter models not only consumes enormous disk space but also complicates version control, distribution, and serving infrastructure.</a:t>
            </a:r>
            <a:endParaRPr lang="en-US">
              <a:ea typeface="Calibri"/>
              <a:cs typeface="Calibri"/>
            </a:endParaRPr>
          </a:p>
          <a:p>
            <a:r>
              <a:rPr lang="en-US" dirty="0">
                <a:ea typeface="+mn-lt"/>
                <a:cs typeface="+mn-lt"/>
              </a:rPr>
              <a:t>This scalability issue is one of the main motivations behind parameter-efficient fine-tuning (PEFT) methods, which aim to adapt models for new tasks without duplicating their full parameter set.</a:t>
            </a:r>
            <a:br>
              <a:rPr lang="en-US" dirty="0"/>
            </a:b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745000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CABC-E81C-5C56-5E08-89BD0D0B5545}"/>
              </a:ext>
            </a:extLst>
          </p:cNvPr>
          <p:cNvSpPr>
            <a:spLocks noGrp="1"/>
          </p:cNvSpPr>
          <p:nvPr>
            <p:ph type="title"/>
          </p:nvPr>
        </p:nvSpPr>
        <p:spPr/>
        <p:txBody>
          <a:bodyPr>
            <a:normAutofit fontScale="90000"/>
          </a:bodyPr>
          <a:lstStyle/>
          <a:p>
            <a:r>
              <a:rPr lang="en-US" dirty="0">
                <a:ea typeface="Calibri Light"/>
                <a:cs typeface="Calibri Light"/>
              </a:rPr>
              <a:t>Adapter Layers and Prefix Tuning</a:t>
            </a:r>
          </a:p>
        </p:txBody>
      </p:sp>
      <p:sp>
        <p:nvSpPr>
          <p:cNvPr id="3" name="Content Placeholder 2">
            <a:extLst>
              <a:ext uri="{FF2B5EF4-FFF2-40B4-BE49-F238E27FC236}">
                <a16:creationId xmlns:a16="http://schemas.microsoft.com/office/drawing/2014/main" id="{E086C9E5-57BC-1E59-264F-22F6C18CE89D}"/>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Instead of fine-tuning all model parameters, we can adapt only a small subset of the existing parameters—or introduce a small number of additional trainable parameters—during fine-tuning.</a:t>
            </a:r>
          </a:p>
          <a:p>
            <a:r>
              <a:rPr lang="en-US" dirty="0">
                <a:ea typeface="+mn-lt"/>
                <a:cs typeface="+mn-lt"/>
              </a:rPr>
              <a:t>With this approach, each task-specific model requires storing only a lightweight set of parameters, dramatically reducing both the compute and memory overhead of fine-tuning while simplifying deployment. </a:t>
            </a:r>
          </a:p>
          <a:p>
            <a:pPr lvl="1"/>
            <a:r>
              <a:rPr lang="en-US" dirty="0">
                <a:solidFill>
                  <a:schemeClr val="accent6">
                    <a:lumMod val="76000"/>
                  </a:schemeClr>
                </a:solidFill>
                <a:ea typeface="+mn-lt"/>
                <a:cs typeface="+mn-lt"/>
              </a:rPr>
              <a:t>At inference time, the base pretrained model remains shared across tasks, and only the compact task-specific parameters need to be loaded.</a:t>
            </a:r>
            <a:endParaRPr lang="en-US">
              <a:solidFill>
                <a:schemeClr val="accent6">
                  <a:lumMod val="76000"/>
                </a:schemeClr>
              </a:solidFill>
              <a:ea typeface="Calibri"/>
              <a:cs typeface="Calibri"/>
            </a:endParaRPr>
          </a:p>
          <a:p>
            <a:r>
              <a:rPr lang="en-US" dirty="0">
                <a:ea typeface="+mn-lt"/>
                <a:cs typeface="+mn-lt"/>
              </a:rPr>
              <a:t>Before the introduction of </a:t>
            </a:r>
            <a:r>
              <a:rPr lang="en-US" dirty="0" err="1">
                <a:ea typeface="+mn-lt"/>
                <a:cs typeface="+mn-lt"/>
              </a:rPr>
              <a:t>LoRA</a:t>
            </a:r>
            <a:r>
              <a:rPr lang="en-US" dirty="0">
                <a:ea typeface="+mn-lt"/>
                <a:cs typeface="+mn-lt"/>
              </a:rPr>
              <a:t> (Low-Rank Adaptation), two primary parameter-efficient fine-tuning (PEFT) techniques were widely used:</a:t>
            </a:r>
          </a:p>
          <a:p>
            <a:pPr lvl="1"/>
            <a:r>
              <a:rPr lang="en-US" dirty="0">
                <a:solidFill>
                  <a:schemeClr val="accent6">
                    <a:lumMod val="76000"/>
                  </a:schemeClr>
                </a:solidFill>
                <a:ea typeface="+mn-lt"/>
                <a:cs typeface="+mn-lt"/>
              </a:rPr>
              <a:t>Adapter layers – inserting small trainable modules between existing transformer layers.</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Prefix tuning – prepending a small set of trainable vectors (soft prompts) to the input sequence to steer the model’s behavior.</a:t>
            </a:r>
          </a:p>
          <a:p>
            <a:pPr marL="0" indent="0">
              <a:buNone/>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677057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2E602-A737-6B89-2CB2-337FB9D749DA}"/>
              </a:ext>
            </a:extLst>
          </p:cNvPr>
          <p:cNvSpPr>
            <a:spLocks noGrp="1"/>
          </p:cNvSpPr>
          <p:nvPr>
            <p:ph type="title"/>
          </p:nvPr>
        </p:nvSpPr>
        <p:spPr/>
        <p:txBody>
          <a:bodyPr>
            <a:normAutofit fontScale="90000"/>
          </a:bodyPr>
          <a:lstStyle/>
          <a:p>
            <a:r>
              <a:rPr lang="en-US" dirty="0">
                <a:ea typeface="Calibri Light"/>
                <a:cs typeface="Calibri Light"/>
              </a:rPr>
              <a:t>Adapter layers</a:t>
            </a:r>
            <a:endParaRPr lang="en-US" dirty="0"/>
          </a:p>
        </p:txBody>
      </p:sp>
      <p:sp>
        <p:nvSpPr>
          <p:cNvPr id="3" name="Content Placeholder 2">
            <a:extLst>
              <a:ext uri="{FF2B5EF4-FFF2-40B4-BE49-F238E27FC236}">
                <a16:creationId xmlns:a16="http://schemas.microsoft.com/office/drawing/2014/main" id="{7E86960B-00D4-D630-3A0D-9953C379EB42}"/>
              </a:ext>
            </a:extLst>
          </p:cNvPr>
          <p:cNvSpPr>
            <a:spLocks noGrp="1"/>
          </p:cNvSpPr>
          <p:nvPr>
            <p:ph idx="1"/>
          </p:nvPr>
        </p:nvSpPr>
        <p:spPr/>
        <p:txBody>
          <a:bodyPr vert="horz" lIns="91440" tIns="45720" rIns="91440" bIns="45720" rtlCol="0" anchor="t">
            <a:normAutofit/>
          </a:bodyPr>
          <a:lstStyle/>
          <a:p>
            <a:r>
              <a:rPr lang="en-US" dirty="0">
                <a:ea typeface="Calibri"/>
                <a:cs typeface="Calibri"/>
              </a:rPr>
              <a:t>Adapter layers are inserted as two extra adapter blocks into each transformer block. </a:t>
            </a:r>
            <a:endParaRPr lang="en-US"/>
          </a:p>
          <a:p>
            <a:r>
              <a:rPr lang="en-US" dirty="0">
                <a:ea typeface="Calibri"/>
                <a:cs typeface="Calibri"/>
              </a:rPr>
              <a:t>Each adapter block is a bottleneck-style feedforward module that </a:t>
            </a:r>
          </a:p>
          <a:p>
            <a:pPr lvl="1"/>
            <a:r>
              <a:rPr lang="en-US" dirty="0">
                <a:solidFill>
                  <a:schemeClr val="accent6">
                    <a:lumMod val="76000"/>
                  </a:schemeClr>
                </a:solidFill>
                <a:ea typeface="Calibri"/>
                <a:cs typeface="Calibri"/>
              </a:rPr>
              <a:t>Decreases the dimensionality of the input via a (trainable) linear layer</a:t>
            </a:r>
          </a:p>
          <a:p>
            <a:pPr lvl="1"/>
            <a:r>
              <a:rPr lang="en-US" dirty="0">
                <a:solidFill>
                  <a:schemeClr val="accent6">
                    <a:lumMod val="76000"/>
                  </a:schemeClr>
                </a:solidFill>
                <a:ea typeface="Calibri"/>
                <a:cs typeface="Calibri"/>
              </a:rPr>
              <a:t>Applies a non-linearity, and </a:t>
            </a:r>
          </a:p>
          <a:p>
            <a:pPr lvl="1"/>
            <a:r>
              <a:rPr lang="en-US" dirty="0">
                <a:solidFill>
                  <a:schemeClr val="accent6">
                    <a:lumMod val="76000"/>
                  </a:schemeClr>
                </a:solidFill>
                <a:ea typeface="Calibri"/>
                <a:cs typeface="Calibri"/>
              </a:rPr>
              <a:t>Restores the original dimensionality of the input via a final (trainable) linear layer. </a:t>
            </a:r>
          </a:p>
          <a:p>
            <a:r>
              <a:rPr lang="en-US" dirty="0">
                <a:ea typeface="Calibri"/>
                <a:cs typeface="Calibri"/>
              </a:rPr>
              <a:t>Put simply, the adapter blocks are extra trainable modules inserted into the existing transformer block</a:t>
            </a:r>
          </a:p>
          <a:p>
            <a:r>
              <a:rPr lang="en-US" dirty="0">
                <a:ea typeface="Calibri"/>
                <a:cs typeface="Calibri"/>
              </a:rPr>
              <a:t>Adapter blocks are inserted after both attention and feedforward layers — that have a small number of parameters and can be finetuned while keeping the weights of the pretrained model fixed</a:t>
            </a:r>
          </a:p>
          <a:p>
            <a:pPr marL="0" indent="0">
              <a:buNone/>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73680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DC050-774E-6618-96DC-496F2ADF9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1587C-D9BA-D450-D434-08928427852E}"/>
              </a:ext>
            </a:extLst>
          </p:cNvPr>
          <p:cNvSpPr>
            <a:spLocks noGrp="1"/>
          </p:cNvSpPr>
          <p:nvPr>
            <p:ph type="title"/>
          </p:nvPr>
        </p:nvSpPr>
        <p:spPr/>
        <p:txBody>
          <a:bodyPr>
            <a:normAutofit fontScale="90000"/>
          </a:bodyPr>
          <a:lstStyle/>
          <a:p>
            <a:r>
              <a:rPr lang="en-US" dirty="0">
                <a:ea typeface="Calibri Light"/>
                <a:cs typeface="Calibri Light"/>
              </a:rPr>
              <a:t>Adapter Layers</a:t>
            </a:r>
            <a:endParaRPr lang="en-US" dirty="0"/>
          </a:p>
        </p:txBody>
      </p:sp>
      <p:pic>
        <p:nvPicPr>
          <p:cNvPr id="4" name="Content Placeholder 3" descr="A diagram of a project&#10;&#10;AI-generated content may be incorrect.">
            <a:extLst>
              <a:ext uri="{FF2B5EF4-FFF2-40B4-BE49-F238E27FC236}">
                <a16:creationId xmlns:a16="http://schemas.microsoft.com/office/drawing/2014/main" id="{8B58CA83-3048-B2A7-76C1-75FF796F50FC}"/>
              </a:ext>
            </a:extLst>
          </p:cNvPr>
          <p:cNvPicPr>
            <a:picLocks noGrp="1" noChangeAspect="1"/>
          </p:cNvPicPr>
          <p:nvPr>
            <p:ph idx="1"/>
          </p:nvPr>
        </p:nvPicPr>
        <p:blipFill>
          <a:blip r:embed="rId2"/>
          <a:stretch>
            <a:fillRect/>
          </a:stretch>
        </p:blipFill>
        <p:spPr>
          <a:xfrm>
            <a:off x="1727176" y="1450588"/>
            <a:ext cx="9421467" cy="4735305"/>
          </a:xfrm>
          <a:prstGeom prst="rect">
            <a:avLst/>
          </a:prstGeom>
        </p:spPr>
      </p:pic>
    </p:spTree>
    <p:extLst>
      <p:ext uri="{BB962C8B-B14F-4D97-AF65-F5344CB8AC3E}">
        <p14:creationId xmlns:p14="http://schemas.microsoft.com/office/powerpoint/2010/main" val="514302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B9F-894A-03C9-8CB0-4D422DAE6685}"/>
              </a:ext>
            </a:extLst>
          </p:cNvPr>
          <p:cNvSpPr>
            <a:spLocks noGrp="1"/>
          </p:cNvSpPr>
          <p:nvPr>
            <p:ph type="title"/>
          </p:nvPr>
        </p:nvSpPr>
        <p:spPr/>
        <p:txBody>
          <a:bodyPr>
            <a:normAutofit fontScale="90000"/>
          </a:bodyPr>
          <a:lstStyle/>
          <a:p>
            <a:r>
              <a:rPr lang="en-US" dirty="0">
                <a:ea typeface="Calibri Light"/>
                <a:cs typeface="Calibri Light"/>
              </a:rPr>
              <a:t>Adapter Layers</a:t>
            </a:r>
            <a:endParaRPr lang="en-US" dirty="0"/>
          </a:p>
        </p:txBody>
      </p:sp>
      <p:pic>
        <p:nvPicPr>
          <p:cNvPr id="7" name="Picture 6" descr="A diagram of a software system&#10;&#10;AI-generated content may be incorrect.">
            <a:extLst>
              <a:ext uri="{FF2B5EF4-FFF2-40B4-BE49-F238E27FC236}">
                <a16:creationId xmlns:a16="http://schemas.microsoft.com/office/drawing/2014/main" id="{76116008-947A-0569-FC2D-4B7130256419}"/>
              </a:ext>
            </a:extLst>
          </p:cNvPr>
          <p:cNvPicPr>
            <a:picLocks noChangeAspect="1"/>
          </p:cNvPicPr>
          <p:nvPr/>
        </p:nvPicPr>
        <p:blipFill>
          <a:blip r:embed="rId2"/>
          <a:stretch>
            <a:fillRect/>
          </a:stretch>
        </p:blipFill>
        <p:spPr>
          <a:xfrm>
            <a:off x="2452687" y="962025"/>
            <a:ext cx="7286625" cy="4933950"/>
          </a:xfrm>
          <a:prstGeom prst="rect">
            <a:avLst/>
          </a:prstGeom>
        </p:spPr>
      </p:pic>
    </p:spTree>
    <p:extLst>
      <p:ext uri="{BB962C8B-B14F-4D97-AF65-F5344CB8AC3E}">
        <p14:creationId xmlns:p14="http://schemas.microsoft.com/office/powerpoint/2010/main" val="2973717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DE5A-0EAC-68C1-2486-F4AD608C13A5}"/>
              </a:ext>
            </a:extLst>
          </p:cNvPr>
          <p:cNvSpPr>
            <a:spLocks noGrp="1"/>
          </p:cNvSpPr>
          <p:nvPr>
            <p:ph type="title"/>
          </p:nvPr>
        </p:nvSpPr>
        <p:spPr/>
        <p:txBody>
          <a:bodyPr>
            <a:normAutofit fontScale="90000"/>
          </a:bodyPr>
          <a:lstStyle/>
          <a:p>
            <a:r>
              <a:rPr lang="en-US" b="0" dirty="0">
                <a:ea typeface="+mj-lt"/>
                <a:cs typeface="+mj-lt"/>
              </a:rPr>
              <a:t>Prefix tuning</a:t>
            </a:r>
            <a:endParaRPr lang="en-US" dirty="0"/>
          </a:p>
        </p:txBody>
      </p:sp>
      <p:sp>
        <p:nvSpPr>
          <p:cNvPr id="3" name="Content Placeholder 2">
            <a:extLst>
              <a:ext uri="{FF2B5EF4-FFF2-40B4-BE49-F238E27FC236}">
                <a16:creationId xmlns:a16="http://schemas.microsoft.com/office/drawing/2014/main" id="{C10B4BC6-8760-CBD3-3CC7-F9DD13E34E87}"/>
              </a:ext>
            </a:extLst>
          </p:cNvPr>
          <p:cNvSpPr>
            <a:spLocks noGrp="1"/>
          </p:cNvSpPr>
          <p:nvPr>
            <p:ph idx="1"/>
          </p:nvPr>
        </p:nvSpPr>
        <p:spPr>
          <a:xfrm>
            <a:off x="636639" y="811930"/>
            <a:ext cx="11320465" cy="5237162"/>
          </a:xfrm>
        </p:spPr>
        <p:txBody>
          <a:bodyPr vert="horz" lIns="91440" tIns="45720" rIns="91440" bIns="45720" rtlCol="0" anchor="t">
            <a:normAutofit lnSpcReduction="10000"/>
          </a:bodyPr>
          <a:lstStyle/>
          <a:p>
            <a:r>
              <a:rPr lang="en-US" dirty="0">
                <a:ea typeface="+mn-lt"/>
                <a:cs typeface="+mn-lt"/>
              </a:rPr>
              <a:t>Prefix Tuning is a parameter-efficient fine-tuning (PEFT) method where the pretrained language model’s weights remain frozen, and only a small set of trainable prefix vectors (sometimes called “virtual tokens”) are learned.</a:t>
            </a:r>
            <a:endParaRPr lang="en-US" dirty="0"/>
          </a:p>
          <a:p>
            <a:r>
              <a:rPr lang="en-US" dirty="0">
                <a:ea typeface="+mn-lt"/>
                <a:cs typeface="+mn-lt"/>
              </a:rPr>
              <a:t>How it works:</a:t>
            </a:r>
            <a:endParaRPr lang="en-US" dirty="0"/>
          </a:p>
          <a:p>
            <a:pPr lvl="1"/>
            <a:r>
              <a:rPr lang="en-US" dirty="0">
                <a:solidFill>
                  <a:schemeClr val="accent6">
                    <a:lumMod val="76000"/>
                  </a:schemeClr>
                </a:solidFill>
                <a:ea typeface="+mn-lt"/>
                <a:cs typeface="+mn-lt"/>
              </a:rPr>
              <a:t>Instead of changing the input text itself, prefix tuning introduces a sequence of trainable vectors that are prepended to the key–value pairs inside each transformer layer. </a:t>
            </a:r>
          </a:p>
          <a:p>
            <a:pPr lvl="1"/>
            <a:r>
              <a:rPr lang="en-US">
                <a:solidFill>
                  <a:schemeClr val="accent6">
                    <a:lumMod val="76000"/>
                  </a:schemeClr>
                </a:solidFill>
                <a:ea typeface="+mn-lt"/>
                <a:cs typeface="+mn-lt"/>
              </a:rPr>
              <a:t>These </a:t>
            </a:r>
            <a:r>
              <a:rPr lang="en-US" dirty="0">
                <a:solidFill>
                  <a:schemeClr val="accent6">
                    <a:lumMod val="76000"/>
                  </a:schemeClr>
                </a:solidFill>
                <a:ea typeface="+mn-lt"/>
                <a:cs typeface="+mn-lt"/>
              </a:rPr>
              <a:t>vectors act as task-specific “instructions” that guide the model’s attention patterns without modifying its original parameters.</a:t>
            </a:r>
            <a:endParaRPr lang="en-US">
              <a:solidFill>
                <a:schemeClr val="accent6">
                  <a:lumMod val="76000"/>
                </a:schemeClr>
              </a:solidFill>
              <a:ea typeface="Calibri"/>
              <a:cs typeface="Calibri"/>
            </a:endParaRPr>
          </a:p>
          <a:p>
            <a:r>
              <a:rPr lang="en-US" dirty="0">
                <a:ea typeface="+mn-lt"/>
                <a:cs typeface="+mn-lt"/>
              </a:rPr>
              <a:t>Difference from prompt tuning:</a:t>
            </a:r>
            <a:endParaRPr lang="en-US" dirty="0">
              <a:ea typeface="Calibri" panose="020F0502020204030204"/>
              <a:cs typeface="Calibri" panose="020F0502020204030204"/>
            </a:endParaRPr>
          </a:p>
          <a:p>
            <a:pPr lvl="1"/>
            <a:r>
              <a:rPr lang="en-US" dirty="0">
                <a:solidFill>
                  <a:schemeClr val="accent6">
                    <a:lumMod val="76000"/>
                  </a:schemeClr>
                </a:solidFill>
                <a:ea typeface="+mn-lt"/>
                <a:cs typeface="+mn-lt"/>
              </a:rPr>
              <a:t>Prompt tuning adds trainable embeddings only at the input layer (similar to prepending soft tokens to the input text).</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Prefix tuning injects trainable vectors into the attention mechanism of every transformer layer, which typically provides stronger control and expressivity.</a:t>
            </a:r>
          </a:p>
        </p:txBody>
      </p:sp>
      <p:sp>
        <p:nvSpPr>
          <p:cNvPr id="4" name="TextBox 3">
            <a:extLst>
              <a:ext uri="{FF2B5EF4-FFF2-40B4-BE49-F238E27FC236}">
                <a16:creationId xmlns:a16="http://schemas.microsoft.com/office/drawing/2014/main" id="{EFB57ADF-ABC5-4E3F-2299-1ADB74FDD200}"/>
              </a:ext>
            </a:extLst>
          </p:cNvPr>
          <p:cNvSpPr txBox="1"/>
          <p:nvPr/>
        </p:nvSpPr>
        <p:spPr>
          <a:xfrm>
            <a:off x="103238" y="6260690"/>
            <a:ext cx="40951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rPr>
              <a:t>https://arxiv.org/pdf/2101.00190</a:t>
            </a:r>
            <a:endParaRPr lang="en-US" dirty="0">
              <a:solidFill>
                <a:srgbClr val="C00000"/>
              </a:solidFill>
              <a:ea typeface="Calibri"/>
              <a:cs typeface="Calibri"/>
            </a:endParaRPr>
          </a:p>
        </p:txBody>
      </p:sp>
    </p:spTree>
    <p:extLst>
      <p:ext uri="{BB962C8B-B14F-4D97-AF65-F5344CB8AC3E}">
        <p14:creationId xmlns:p14="http://schemas.microsoft.com/office/powerpoint/2010/main" val="155587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ACFD-9373-02A6-8FCD-F923B2E19398}"/>
              </a:ext>
            </a:extLst>
          </p:cNvPr>
          <p:cNvSpPr>
            <a:spLocks noGrp="1"/>
          </p:cNvSpPr>
          <p:nvPr>
            <p:ph type="title"/>
          </p:nvPr>
        </p:nvSpPr>
        <p:spPr/>
        <p:txBody>
          <a:bodyPr>
            <a:normAutofit fontScale="90000"/>
          </a:bodyPr>
          <a:lstStyle/>
          <a:p>
            <a:r>
              <a:rPr lang="en-US" dirty="0">
                <a:ea typeface="Calibri Light"/>
                <a:cs typeface="Calibri Light"/>
              </a:rPr>
              <a:t>Prefix tuning</a:t>
            </a:r>
            <a:endParaRPr lang="en-US" dirty="0"/>
          </a:p>
        </p:txBody>
      </p:sp>
      <p:pic>
        <p:nvPicPr>
          <p:cNvPr id="4" name="Picture 3" descr="A diagram of different types of coffee shop&#10;&#10;AI-generated content may be incorrect.">
            <a:extLst>
              <a:ext uri="{FF2B5EF4-FFF2-40B4-BE49-F238E27FC236}">
                <a16:creationId xmlns:a16="http://schemas.microsoft.com/office/drawing/2014/main" id="{F1DDBC9D-3E28-A506-EDF6-3E5E1C58CB85}"/>
              </a:ext>
            </a:extLst>
          </p:cNvPr>
          <p:cNvPicPr>
            <a:picLocks noChangeAspect="1"/>
          </p:cNvPicPr>
          <p:nvPr/>
        </p:nvPicPr>
        <p:blipFill>
          <a:blip r:embed="rId2"/>
          <a:stretch>
            <a:fillRect/>
          </a:stretch>
        </p:blipFill>
        <p:spPr>
          <a:xfrm>
            <a:off x="2248245" y="952569"/>
            <a:ext cx="7077075" cy="5438775"/>
          </a:xfrm>
          <a:prstGeom prst="rect">
            <a:avLst/>
          </a:prstGeom>
        </p:spPr>
      </p:pic>
    </p:spTree>
    <p:extLst>
      <p:ext uri="{BB962C8B-B14F-4D97-AF65-F5344CB8AC3E}">
        <p14:creationId xmlns:p14="http://schemas.microsoft.com/office/powerpoint/2010/main" val="541257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31A0-ABDB-6CD4-3F37-C19FC529AB5D}"/>
              </a:ext>
            </a:extLst>
          </p:cNvPr>
          <p:cNvSpPr>
            <a:spLocks noGrp="1"/>
          </p:cNvSpPr>
          <p:nvPr>
            <p:ph type="title"/>
          </p:nvPr>
        </p:nvSpPr>
        <p:spPr/>
        <p:txBody>
          <a:bodyPr>
            <a:normAutofit fontScale="90000"/>
          </a:bodyPr>
          <a:lstStyle/>
          <a:p>
            <a:r>
              <a:rPr lang="en-US" dirty="0">
                <a:ea typeface="Calibri Light"/>
                <a:cs typeface="Calibri Light"/>
              </a:rPr>
              <a:t>Finetuning LLMs Efficiently</a:t>
            </a:r>
            <a:endParaRPr lang="en-US" dirty="0"/>
          </a:p>
        </p:txBody>
      </p:sp>
      <p:sp>
        <p:nvSpPr>
          <p:cNvPr id="3" name="Content Placeholder 2">
            <a:extLst>
              <a:ext uri="{FF2B5EF4-FFF2-40B4-BE49-F238E27FC236}">
                <a16:creationId xmlns:a16="http://schemas.microsoft.com/office/drawing/2014/main" id="{15E21AA5-34AD-C81D-FE75-7BCD8C795942}"/>
              </a:ext>
            </a:extLst>
          </p:cNvPr>
          <p:cNvSpPr>
            <a:spLocks noGrp="1"/>
          </p:cNvSpPr>
          <p:nvPr>
            <p:ph idx="1"/>
          </p:nvPr>
        </p:nvSpPr>
        <p:spPr/>
        <p:txBody>
          <a:bodyPr vert="horz" lIns="91440" tIns="45720" rIns="91440" bIns="45720" rtlCol="0" anchor="t">
            <a:normAutofit/>
          </a:bodyPr>
          <a:lstStyle/>
          <a:p>
            <a:r>
              <a:rPr lang="en-US" dirty="0">
                <a:ea typeface="+mn-lt"/>
                <a:cs typeface="+mn-lt"/>
              </a:rPr>
              <a:t>We need a finetuning approach that is not just parameter efficient, but also:</a:t>
            </a:r>
            <a:endParaRPr lang="en-US" dirty="0">
              <a:ea typeface="Calibri" panose="020F0502020204030204"/>
              <a:cs typeface="Calibri" panose="020F0502020204030204"/>
            </a:endParaRPr>
          </a:p>
          <a:p>
            <a:pPr lvl="1"/>
            <a:r>
              <a:rPr lang="en-US" dirty="0">
                <a:solidFill>
                  <a:schemeClr val="accent6">
                    <a:lumMod val="76000"/>
                  </a:schemeClr>
                </a:solidFill>
                <a:ea typeface="+mn-lt"/>
                <a:cs typeface="+mn-lt"/>
              </a:rPr>
              <a:t>Compute efficient: the training process should be fast and cheap.</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Memory efficient: we should not need massive GPUs to finetune an LLM.</a:t>
            </a:r>
            <a:endParaRPr lang="en-US" dirty="0">
              <a:solidFill>
                <a:schemeClr val="accent6">
                  <a:lumMod val="76000"/>
                </a:schemeClr>
              </a:solidFill>
              <a:ea typeface="Calibri" panose="020F0502020204030204"/>
              <a:cs typeface="Calibri" panose="020F0502020204030204"/>
            </a:endParaRPr>
          </a:p>
          <a:p>
            <a:pPr lvl="1"/>
            <a:r>
              <a:rPr lang="en-US" dirty="0">
                <a:solidFill>
                  <a:schemeClr val="accent6">
                    <a:lumMod val="76000"/>
                  </a:schemeClr>
                </a:solidFill>
                <a:ea typeface="+mn-lt"/>
                <a:cs typeface="+mn-lt"/>
              </a:rPr>
              <a:t>Easy to deploy: we should not have to deploy several copies of an LLM for each task that we want to solve.</a:t>
            </a:r>
            <a:endParaRPr lang="en-US" dirty="0">
              <a:solidFill>
                <a:schemeClr val="accent6">
                  <a:lumMod val="76000"/>
                </a:schemeClr>
              </a:solidFill>
              <a:ea typeface="Calibri" panose="020F0502020204030204"/>
              <a:cs typeface="Calibri" panose="020F0502020204030204"/>
            </a:endParaRPr>
          </a:p>
          <a:p>
            <a:endParaRPr lang="en-US" dirty="0">
              <a:ea typeface="Calibri"/>
              <a:cs typeface="Calibri"/>
            </a:endParaRPr>
          </a:p>
        </p:txBody>
      </p:sp>
    </p:spTree>
    <p:extLst>
      <p:ext uri="{BB962C8B-B14F-4D97-AF65-F5344CB8AC3E}">
        <p14:creationId xmlns:p14="http://schemas.microsoft.com/office/powerpoint/2010/main" val="3281715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36A1-CE31-C5E7-0B77-21063173BAAB}"/>
              </a:ext>
            </a:extLst>
          </p:cNvPr>
          <p:cNvSpPr>
            <a:spLocks noGrp="1"/>
          </p:cNvSpPr>
          <p:nvPr>
            <p:ph type="title"/>
          </p:nvPr>
        </p:nvSpPr>
        <p:spPr/>
        <p:txBody>
          <a:bodyPr>
            <a:normAutofit fontScale="90000"/>
          </a:bodyPr>
          <a:lstStyle/>
          <a:p>
            <a:r>
              <a:rPr lang="en-US" dirty="0" err="1">
                <a:ea typeface="Calibri Light"/>
                <a:cs typeface="Calibri Light"/>
              </a:rPr>
              <a:t>LoRA</a:t>
            </a:r>
            <a:endParaRPr lang="en-US" dirty="0" err="1"/>
          </a:p>
        </p:txBody>
      </p:sp>
      <p:sp>
        <p:nvSpPr>
          <p:cNvPr id="3" name="Content Placeholder 2">
            <a:extLst>
              <a:ext uri="{FF2B5EF4-FFF2-40B4-BE49-F238E27FC236}">
                <a16:creationId xmlns:a16="http://schemas.microsoft.com/office/drawing/2014/main" id="{1A373529-F8C3-5C53-47AE-F7CAC4008824}"/>
              </a:ext>
            </a:extLst>
          </p:cNvPr>
          <p:cNvSpPr>
            <a:spLocks noGrp="1"/>
          </p:cNvSpPr>
          <p:nvPr>
            <p:ph idx="1"/>
          </p:nvPr>
        </p:nvSpPr>
        <p:spPr/>
        <p:txBody>
          <a:bodyPr vert="horz" lIns="91440" tIns="45720" rIns="91440" bIns="45720" rtlCol="0" anchor="t">
            <a:normAutofit/>
          </a:bodyPr>
          <a:lstStyle/>
          <a:p>
            <a:r>
              <a:rPr lang="en-US" dirty="0">
                <a:ea typeface="+mn-lt"/>
                <a:cs typeface="+mn-lt"/>
              </a:rPr>
              <a:t>We can formulate the parameter update derived from finetuning as shown in the equation below.</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ea typeface="Calibri" panose="020F0502020204030204"/>
                <a:cs typeface="Calibri" panose="020F0502020204030204"/>
              </a:rPr>
              <a:t>The update (ΔW) matrices have the same dimension as the original one </a:t>
            </a:r>
          </a:p>
          <a:p>
            <a:pPr lvl="1"/>
            <a:r>
              <a:rPr lang="en-US" dirty="0">
                <a:ea typeface="Calibri" panose="020F0502020204030204"/>
                <a:cs typeface="Calibri" panose="020F0502020204030204"/>
              </a:rPr>
              <a:t>Billions of weight values to update </a:t>
            </a:r>
          </a:p>
          <a:p>
            <a:endParaRPr lang="en-US">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4" name="Picture 3">
            <a:extLst>
              <a:ext uri="{FF2B5EF4-FFF2-40B4-BE49-F238E27FC236}">
                <a16:creationId xmlns:a16="http://schemas.microsoft.com/office/drawing/2014/main" id="{976CEB8B-A13F-E47C-C407-D1A56A0B89D6}"/>
              </a:ext>
            </a:extLst>
          </p:cNvPr>
          <p:cNvPicPr>
            <a:picLocks noChangeAspect="1"/>
          </p:cNvPicPr>
          <p:nvPr/>
        </p:nvPicPr>
        <p:blipFill>
          <a:blip r:embed="rId2"/>
          <a:stretch>
            <a:fillRect/>
          </a:stretch>
        </p:blipFill>
        <p:spPr>
          <a:xfrm>
            <a:off x="4197724" y="2554451"/>
            <a:ext cx="4502979" cy="1741971"/>
          </a:xfrm>
          <a:prstGeom prst="rect">
            <a:avLst/>
          </a:prstGeom>
        </p:spPr>
      </p:pic>
    </p:spTree>
    <p:extLst>
      <p:ext uri="{BB962C8B-B14F-4D97-AF65-F5344CB8AC3E}">
        <p14:creationId xmlns:p14="http://schemas.microsoft.com/office/powerpoint/2010/main" val="3504872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61329-D597-1E89-46F8-FB5BAC3C3EE8}"/>
              </a:ext>
            </a:extLst>
          </p:cNvPr>
          <p:cNvSpPr>
            <a:spLocks noGrp="1"/>
          </p:cNvSpPr>
          <p:nvPr>
            <p:ph type="title"/>
          </p:nvPr>
        </p:nvSpPr>
        <p:spPr/>
        <p:txBody>
          <a:bodyPr>
            <a:normAutofit fontScale="90000"/>
          </a:bodyPr>
          <a:lstStyle/>
          <a:p>
            <a:r>
              <a:rPr lang="en-US" dirty="0" err="1">
                <a:ea typeface="Calibri Light"/>
                <a:cs typeface="Calibri Light"/>
              </a:rPr>
              <a:t>LoRA</a:t>
            </a:r>
            <a:endParaRPr lang="en-US" dirty="0" err="1"/>
          </a:p>
        </p:txBody>
      </p:sp>
      <p:sp>
        <p:nvSpPr>
          <p:cNvPr id="3" name="Content Placeholder 2">
            <a:extLst>
              <a:ext uri="{FF2B5EF4-FFF2-40B4-BE49-F238E27FC236}">
                <a16:creationId xmlns:a16="http://schemas.microsoft.com/office/drawing/2014/main" id="{72A55467-B896-B1B9-644B-0AF8753E805E}"/>
              </a:ext>
            </a:extLst>
          </p:cNvPr>
          <p:cNvSpPr>
            <a:spLocks noGrp="1"/>
          </p:cNvSpPr>
          <p:nvPr>
            <p:ph idx="1"/>
          </p:nvPr>
        </p:nvSpPr>
        <p:spPr/>
        <p:txBody>
          <a:bodyPr vert="horz" lIns="91440" tIns="45720" rIns="91440" bIns="45720" rtlCol="0" anchor="t">
            <a:normAutofit/>
          </a:bodyPr>
          <a:lstStyle/>
          <a:p>
            <a:r>
              <a:rPr lang="en-US" dirty="0">
                <a:ea typeface="+mn-lt"/>
                <a:cs typeface="+mn-lt"/>
              </a:rPr>
              <a:t>The idea of </a:t>
            </a:r>
            <a:r>
              <a:rPr lang="en-US" dirty="0" err="1">
                <a:ea typeface="+mn-lt"/>
                <a:cs typeface="+mn-lt"/>
              </a:rPr>
              <a:t>LoRA</a:t>
            </a:r>
            <a:r>
              <a:rPr lang="en-US" dirty="0">
                <a:ea typeface="+mn-lt"/>
                <a:cs typeface="+mn-lt"/>
              </a:rPr>
              <a:t> is add adapters during fine-tuning </a:t>
            </a:r>
          </a:p>
          <a:p>
            <a:r>
              <a:rPr lang="en-US" dirty="0">
                <a:ea typeface="+mn-lt"/>
                <a:cs typeface="+mn-lt"/>
              </a:rPr>
              <a:t>The adapters use a low-ranked version of the original weight matrices</a:t>
            </a:r>
          </a:p>
          <a:p>
            <a:endParaRPr lang="en-US" dirty="0">
              <a:ea typeface="Calibri" panose="020F0502020204030204"/>
              <a:cs typeface="Calibri" panose="020F0502020204030204"/>
            </a:endParaRPr>
          </a:p>
        </p:txBody>
      </p:sp>
      <p:pic>
        <p:nvPicPr>
          <p:cNvPr id="5" name="Picture 4" descr="A diagram of a diagram&#10;&#10;AI-generated content may be incorrect.">
            <a:extLst>
              <a:ext uri="{FF2B5EF4-FFF2-40B4-BE49-F238E27FC236}">
                <a16:creationId xmlns:a16="http://schemas.microsoft.com/office/drawing/2014/main" id="{7DA010A9-F981-88A6-12E9-AF4C7C1448FA}"/>
              </a:ext>
            </a:extLst>
          </p:cNvPr>
          <p:cNvPicPr>
            <a:picLocks noChangeAspect="1"/>
          </p:cNvPicPr>
          <p:nvPr/>
        </p:nvPicPr>
        <p:blipFill>
          <a:blip r:embed="rId2"/>
          <a:stretch>
            <a:fillRect/>
          </a:stretch>
        </p:blipFill>
        <p:spPr>
          <a:xfrm>
            <a:off x="3366604" y="2585485"/>
            <a:ext cx="5105400" cy="3895725"/>
          </a:xfrm>
          <a:prstGeom prst="rect">
            <a:avLst/>
          </a:prstGeom>
        </p:spPr>
      </p:pic>
    </p:spTree>
    <p:extLst>
      <p:ext uri="{BB962C8B-B14F-4D97-AF65-F5344CB8AC3E}">
        <p14:creationId xmlns:p14="http://schemas.microsoft.com/office/powerpoint/2010/main" val="2997689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E0E2-679A-1799-6910-4F8040E95146}"/>
              </a:ext>
            </a:extLst>
          </p:cNvPr>
          <p:cNvSpPr>
            <a:spLocks noGrp="1"/>
          </p:cNvSpPr>
          <p:nvPr>
            <p:ph type="title"/>
          </p:nvPr>
        </p:nvSpPr>
        <p:spPr/>
        <p:txBody>
          <a:bodyPr>
            <a:normAutofit fontScale="90000"/>
          </a:bodyPr>
          <a:lstStyle/>
          <a:p>
            <a:r>
              <a:rPr lang="en-US" dirty="0" err="1">
                <a:ea typeface="Calibri Light"/>
                <a:cs typeface="Calibri Light"/>
              </a:rPr>
              <a:t>LoRA</a:t>
            </a:r>
            <a:endParaRPr lang="en-US" dirty="0" err="1"/>
          </a:p>
        </p:txBody>
      </p:sp>
      <p:sp>
        <p:nvSpPr>
          <p:cNvPr id="3" name="Content Placeholder 2">
            <a:extLst>
              <a:ext uri="{FF2B5EF4-FFF2-40B4-BE49-F238E27FC236}">
                <a16:creationId xmlns:a16="http://schemas.microsoft.com/office/drawing/2014/main" id="{019770B5-6F73-CE22-89D9-96A0D269BA05}"/>
              </a:ext>
            </a:extLst>
          </p:cNvPr>
          <p:cNvSpPr>
            <a:spLocks noGrp="1"/>
          </p:cNvSpPr>
          <p:nvPr>
            <p:ph idx="1"/>
          </p:nvPr>
        </p:nvSpPr>
        <p:spPr>
          <a:xfrm>
            <a:off x="475974" y="809971"/>
            <a:ext cx="11320465" cy="5237162"/>
          </a:xfrm>
        </p:spPr>
        <p:txBody>
          <a:bodyPr vert="horz" lIns="91440" tIns="45720" rIns="91440" bIns="45720" rtlCol="0" anchor="t">
            <a:normAutofit/>
          </a:bodyPr>
          <a:lstStyle/>
          <a:p>
            <a:r>
              <a:rPr lang="en-US" dirty="0" err="1">
                <a:ea typeface="+mn-lt"/>
                <a:cs typeface="+mn-lt"/>
              </a:rPr>
              <a:t>LoRA</a:t>
            </a:r>
            <a:r>
              <a:rPr lang="en-US" dirty="0">
                <a:ea typeface="+mn-lt"/>
                <a:cs typeface="+mn-lt"/>
              </a:rPr>
              <a:t> (Low-Rank Adaptation) operates on a simple but powerful hypothesis</a:t>
            </a:r>
          </a:p>
          <a:p>
            <a:pPr lvl="1"/>
            <a:r>
              <a:rPr lang="en-US" dirty="0">
                <a:solidFill>
                  <a:schemeClr val="accent6">
                    <a:lumMod val="76000"/>
                  </a:schemeClr>
                </a:solidFill>
                <a:ea typeface="+mn-lt"/>
                <a:cs typeface="+mn-lt"/>
              </a:rPr>
              <a:t>The weight updates needed for task adaptation have low intrinsic rank. </a:t>
            </a:r>
          </a:p>
          <a:p>
            <a:pPr lvl="1"/>
            <a:r>
              <a:rPr lang="en-US" dirty="0">
                <a:solidFill>
                  <a:schemeClr val="accent6">
                    <a:lumMod val="76000"/>
                  </a:schemeClr>
                </a:solidFill>
                <a:ea typeface="+mn-lt"/>
                <a:cs typeface="+mn-lt"/>
              </a:rPr>
              <a:t>Instead of updating the entire weight matrix W, </a:t>
            </a:r>
            <a:r>
              <a:rPr lang="en-US" dirty="0" err="1">
                <a:solidFill>
                  <a:schemeClr val="accent6">
                    <a:lumMod val="76000"/>
                  </a:schemeClr>
                </a:solidFill>
                <a:ea typeface="+mn-lt"/>
                <a:cs typeface="+mn-lt"/>
              </a:rPr>
              <a:t>LoRA</a:t>
            </a:r>
            <a:r>
              <a:rPr lang="en-US" dirty="0">
                <a:solidFill>
                  <a:schemeClr val="accent6">
                    <a:lumMod val="76000"/>
                  </a:schemeClr>
                </a:solidFill>
                <a:ea typeface="+mn-lt"/>
                <a:cs typeface="+mn-lt"/>
              </a:rPr>
              <a:t> learns a low-rank decomposition of the weight update.</a:t>
            </a:r>
            <a:endParaRPr lang="en-US">
              <a:solidFill>
                <a:schemeClr val="accent6">
                  <a:lumMod val="76000"/>
                </a:schemeClr>
              </a:solidFill>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BC05BE45-E249-010A-4ECF-39A88F9F407E}"/>
              </a:ext>
            </a:extLst>
          </p:cNvPr>
          <p:cNvPicPr>
            <a:picLocks noChangeAspect="1"/>
          </p:cNvPicPr>
          <p:nvPr/>
        </p:nvPicPr>
        <p:blipFill>
          <a:blip r:embed="rId2"/>
          <a:stretch>
            <a:fillRect/>
          </a:stretch>
        </p:blipFill>
        <p:spPr>
          <a:xfrm>
            <a:off x="4930792" y="2740951"/>
            <a:ext cx="7133259" cy="4114523"/>
          </a:xfrm>
          <a:prstGeom prst="rect">
            <a:avLst/>
          </a:prstGeom>
        </p:spPr>
      </p:pic>
    </p:spTree>
    <p:extLst>
      <p:ext uri="{BB962C8B-B14F-4D97-AF65-F5344CB8AC3E}">
        <p14:creationId xmlns:p14="http://schemas.microsoft.com/office/powerpoint/2010/main" val="498295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CE66-DCB5-9CE3-1ABB-FD3093B11055}"/>
              </a:ext>
            </a:extLst>
          </p:cNvPr>
          <p:cNvSpPr>
            <a:spLocks noGrp="1"/>
          </p:cNvSpPr>
          <p:nvPr>
            <p:ph type="title"/>
          </p:nvPr>
        </p:nvSpPr>
        <p:spPr/>
        <p:txBody>
          <a:bodyPr>
            <a:normAutofit fontScale="90000"/>
          </a:bodyPr>
          <a:lstStyle/>
          <a:p>
            <a:r>
              <a:rPr lang="en-US" dirty="0">
                <a:ea typeface="Calibri Light"/>
                <a:cs typeface="Calibri Light"/>
              </a:rPr>
              <a:t>Matrix Rank</a:t>
            </a:r>
            <a:endParaRPr lang="en-US" dirty="0"/>
          </a:p>
        </p:txBody>
      </p:sp>
      <p:sp>
        <p:nvSpPr>
          <p:cNvPr id="3" name="Content Placeholder 2">
            <a:extLst>
              <a:ext uri="{FF2B5EF4-FFF2-40B4-BE49-F238E27FC236}">
                <a16:creationId xmlns:a16="http://schemas.microsoft.com/office/drawing/2014/main" id="{13B1172B-3BA7-8081-2FE8-EA50768BC29C}"/>
              </a:ext>
            </a:extLst>
          </p:cNvPr>
          <p:cNvSpPr>
            <a:spLocks noGrp="1"/>
          </p:cNvSpPr>
          <p:nvPr>
            <p:ph idx="1"/>
          </p:nvPr>
        </p:nvSpPr>
        <p:spPr/>
        <p:txBody>
          <a:bodyPr vert="horz" lIns="91440" tIns="45720" rIns="91440" bIns="45720" rtlCol="0" anchor="t">
            <a:normAutofit/>
          </a:bodyPr>
          <a:lstStyle/>
          <a:p>
            <a:r>
              <a:rPr lang="en-US" dirty="0">
                <a:ea typeface="+mn-lt"/>
                <a:cs typeface="+mn-lt"/>
              </a:rPr>
              <a:t>Most information in the low-rank matrix can be represented using just the first row. The other rows are “predictable” from it.</a:t>
            </a:r>
            <a:endParaRPr lang="en-US" dirty="0">
              <a:ea typeface="Calibri" panose="020F0502020204030204"/>
              <a:cs typeface="Calibri" panose="020F0502020204030204"/>
            </a:endParaRPr>
          </a:p>
          <a:p>
            <a:endParaRPr lang="en-US"/>
          </a:p>
          <a:p>
            <a:pPr marL="0" indent="0">
              <a:buNone/>
            </a:pPr>
            <a:endParaRPr lang="en-US" dirty="0">
              <a:ea typeface="Calibri"/>
              <a:cs typeface="Calibri"/>
            </a:endParaRPr>
          </a:p>
        </p:txBody>
      </p:sp>
      <p:pic>
        <p:nvPicPr>
          <p:cNvPr id="4" name="Picture 3" descr="A screenshot of a computer program&#10;&#10;AI-generated content may be incorrect.">
            <a:extLst>
              <a:ext uri="{FF2B5EF4-FFF2-40B4-BE49-F238E27FC236}">
                <a16:creationId xmlns:a16="http://schemas.microsoft.com/office/drawing/2014/main" id="{31AC50AF-2B83-A7E5-8BB3-21CA567DFAE5}"/>
              </a:ext>
            </a:extLst>
          </p:cNvPr>
          <p:cNvPicPr>
            <a:picLocks noChangeAspect="1"/>
          </p:cNvPicPr>
          <p:nvPr/>
        </p:nvPicPr>
        <p:blipFill>
          <a:blip r:embed="rId2"/>
          <a:stretch>
            <a:fillRect/>
          </a:stretch>
        </p:blipFill>
        <p:spPr>
          <a:xfrm>
            <a:off x="3043514" y="2599980"/>
            <a:ext cx="6712364" cy="3126822"/>
          </a:xfrm>
          <a:prstGeom prst="rect">
            <a:avLst/>
          </a:prstGeom>
        </p:spPr>
      </p:pic>
    </p:spTree>
    <p:extLst>
      <p:ext uri="{BB962C8B-B14F-4D97-AF65-F5344CB8AC3E}">
        <p14:creationId xmlns:p14="http://schemas.microsoft.com/office/powerpoint/2010/main" val="668005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45758-C4EE-86A0-536A-36E2E764B527}"/>
              </a:ext>
            </a:extLst>
          </p:cNvPr>
          <p:cNvSpPr>
            <a:spLocks noGrp="1"/>
          </p:cNvSpPr>
          <p:nvPr>
            <p:ph type="title"/>
          </p:nvPr>
        </p:nvSpPr>
        <p:spPr/>
        <p:txBody>
          <a:bodyPr>
            <a:normAutofit fontScale="90000"/>
          </a:bodyPr>
          <a:lstStyle/>
          <a:p>
            <a:r>
              <a:rPr lang="en-US" dirty="0">
                <a:ea typeface="Calibri Light"/>
                <a:cs typeface="Calibri Light"/>
              </a:rPr>
              <a:t>Why Low Rank?</a:t>
            </a:r>
            <a:endParaRPr lang="en-US" dirty="0"/>
          </a:p>
        </p:txBody>
      </p:sp>
      <p:sp>
        <p:nvSpPr>
          <p:cNvPr id="3" name="Content Placeholder 2">
            <a:extLst>
              <a:ext uri="{FF2B5EF4-FFF2-40B4-BE49-F238E27FC236}">
                <a16:creationId xmlns:a16="http://schemas.microsoft.com/office/drawing/2014/main" id="{F9F0EC31-860E-E8AA-6888-82376B7C5DDD}"/>
              </a:ext>
            </a:extLst>
          </p:cNvPr>
          <p:cNvSpPr>
            <a:spLocks noGrp="1"/>
          </p:cNvSpPr>
          <p:nvPr>
            <p:ph idx="1"/>
          </p:nvPr>
        </p:nvSpPr>
        <p:spPr/>
        <p:txBody>
          <a:bodyPr vert="horz" lIns="91440" tIns="45720" rIns="91440" bIns="45720" rtlCol="0" anchor="t">
            <a:normAutofit/>
          </a:bodyPr>
          <a:lstStyle/>
          <a:p>
            <a:r>
              <a:rPr lang="en-US" dirty="0">
                <a:ea typeface="+mn-lt"/>
                <a:cs typeface="+mn-lt"/>
              </a:rPr>
              <a:t>When adapting a pre-trained model to a new task, we are not teaching it completely new knowledge</a:t>
            </a:r>
          </a:p>
          <a:p>
            <a:pPr lvl="1"/>
            <a:r>
              <a:rPr lang="en-US" dirty="0">
                <a:solidFill>
                  <a:schemeClr val="accent6">
                    <a:lumMod val="76000"/>
                  </a:schemeClr>
                </a:solidFill>
                <a:ea typeface="+mn-lt"/>
                <a:cs typeface="+mn-lt"/>
              </a:rPr>
              <a:t>We are adjusting how it processes information it already understands. </a:t>
            </a:r>
            <a:endParaRPr lang="en-US" sz="2800">
              <a:solidFill>
                <a:schemeClr val="accent6">
                  <a:lumMod val="76000"/>
                </a:schemeClr>
              </a:solidFill>
              <a:ea typeface="+mn-lt"/>
              <a:cs typeface="+mn-lt"/>
            </a:endParaRPr>
          </a:p>
          <a:p>
            <a:r>
              <a:rPr lang="en-US" dirty="0">
                <a:ea typeface="+mn-lt"/>
                <a:cs typeface="+mn-lt"/>
              </a:rPr>
              <a:t>Most task adaptations follow predictable patterns: emphasizing certain features, combining existing representations differently, or adjusting decision boundaries. </a:t>
            </a:r>
            <a:endParaRPr lang="en-US">
              <a:ea typeface="+mn-lt"/>
              <a:cs typeface="+mn-lt"/>
            </a:endParaRPr>
          </a:p>
          <a:p>
            <a:r>
              <a:rPr lang="en-US" dirty="0">
                <a:ea typeface="+mn-lt"/>
                <a:cs typeface="+mn-lt"/>
              </a:rPr>
              <a:t>These changes don’t require independent updates to every single parameter. Instead, they follow common “directions” in the parameter space, which can be captured efficiently by low-rank matrices that learn these shared adaptation patterns.</a:t>
            </a:r>
            <a:endParaRPr lang="en-US">
              <a:ea typeface="Calibri"/>
              <a:cs typeface="Calibri"/>
            </a:endParaRPr>
          </a:p>
          <a:p>
            <a:endParaRPr lang="en-US"/>
          </a:p>
          <a:p>
            <a:endParaRPr lang="en-US" dirty="0">
              <a:ea typeface="Calibri"/>
              <a:cs typeface="Calibri"/>
            </a:endParaRPr>
          </a:p>
        </p:txBody>
      </p:sp>
    </p:spTree>
    <p:extLst>
      <p:ext uri="{BB962C8B-B14F-4D97-AF65-F5344CB8AC3E}">
        <p14:creationId xmlns:p14="http://schemas.microsoft.com/office/powerpoint/2010/main" val="3461516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CCF7-11D3-3827-FB9B-13F3371615FC}"/>
              </a:ext>
            </a:extLst>
          </p:cNvPr>
          <p:cNvSpPr>
            <a:spLocks noGrp="1"/>
          </p:cNvSpPr>
          <p:nvPr>
            <p:ph type="title"/>
          </p:nvPr>
        </p:nvSpPr>
        <p:spPr/>
        <p:txBody>
          <a:bodyPr>
            <a:normAutofit fontScale="90000"/>
          </a:bodyPr>
          <a:lstStyle/>
          <a:p>
            <a:r>
              <a:rPr lang="en-US" dirty="0">
                <a:ea typeface="Calibri Light"/>
                <a:cs typeface="Calibri Light"/>
              </a:rPr>
              <a:t>Dimensionality/Parameters Reduction</a:t>
            </a:r>
            <a:endParaRPr lang="en-US" dirty="0"/>
          </a:p>
        </p:txBody>
      </p:sp>
      <p:pic>
        <p:nvPicPr>
          <p:cNvPr id="5" name="Picture 4">
            <a:extLst>
              <a:ext uri="{FF2B5EF4-FFF2-40B4-BE49-F238E27FC236}">
                <a16:creationId xmlns:a16="http://schemas.microsoft.com/office/drawing/2014/main" id="{E6C33080-CF96-8EC5-3853-799F9F01E26A}"/>
              </a:ext>
            </a:extLst>
          </p:cNvPr>
          <p:cNvPicPr>
            <a:picLocks noChangeAspect="1"/>
          </p:cNvPicPr>
          <p:nvPr/>
        </p:nvPicPr>
        <p:blipFill>
          <a:blip r:embed="rId2"/>
          <a:stretch>
            <a:fillRect/>
          </a:stretch>
        </p:blipFill>
        <p:spPr>
          <a:xfrm>
            <a:off x="884391" y="999724"/>
            <a:ext cx="6318251" cy="5307773"/>
          </a:xfrm>
          <a:prstGeom prst="rect">
            <a:avLst/>
          </a:prstGeom>
        </p:spPr>
      </p:pic>
      <p:sp>
        <p:nvSpPr>
          <p:cNvPr id="3" name="TextBox 2">
            <a:extLst>
              <a:ext uri="{FF2B5EF4-FFF2-40B4-BE49-F238E27FC236}">
                <a16:creationId xmlns:a16="http://schemas.microsoft.com/office/drawing/2014/main" id="{822607F4-6765-D08A-6E86-514D520BA0DB}"/>
              </a:ext>
            </a:extLst>
          </p:cNvPr>
          <p:cNvSpPr txBox="1"/>
          <p:nvPr/>
        </p:nvSpPr>
        <p:spPr>
          <a:xfrm>
            <a:off x="8025580" y="2445774"/>
            <a:ext cx="19541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ea typeface="Calibri"/>
                <a:cs typeface="Calibri"/>
              </a:rPr>
              <a:t>Original 2 million parameters</a:t>
            </a:r>
            <a:endParaRPr lang="en-US" dirty="0">
              <a:solidFill>
                <a:srgbClr val="C00000"/>
              </a:solidFill>
            </a:endParaRPr>
          </a:p>
        </p:txBody>
      </p:sp>
      <p:sp>
        <p:nvSpPr>
          <p:cNvPr id="4" name="TextBox 3">
            <a:extLst>
              <a:ext uri="{FF2B5EF4-FFF2-40B4-BE49-F238E27FC236}">
                <a16:creationId xmlns:a16="http://schemas.microsoft.com/office/drawing/2014/main" id="{DF09455E-A61A-758E-2C2B-5B63ECA9ACF3}"/>
              </a:ext>
            </a:extLst>
          </p:cNvPr>
          <p:cNvSpPr txBox="1"/>
          <p:nvPr/>
        </p:nvSpPr>
        <p:spPr>
          <a:xfrm>
            <a:off x="8123902" y="5211096"/>
            <a:ext cx="19541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ea typeface="Calibri"/>
                <a:cs typeface="Calibri"/>
              </a:rPr>
              <a:t>Around 10K+100+20K = 30100 parameters</a:t>
            </a:r>
            <a:endParaRPr lang="en-US" dirty="0"/>
          </a:p>
        </p:txBody>
      </p:sp>
      <p:cxnSp>
        <p:nvCxnSpPr>
          <p:cNvPr id="6" name="Straight Arrow Connector 5">
            <a:extLst>
              <a:ext uri="{FF2B5EF4-FFF2-40B4-BE49-F238E27FC236}">
                <a16:creationId xmlns:a16="http://schemas.microsoft.com/office/drawing/2014/main" id="{1CD7C7B8-46D9-7FAA-8613-90DDB17E8F7F}"/>
              </a:ext>
            </a:extLst>
          </p:cNvPr>
          <p:cNvCxnSpPr/>
          <p:nvPr/>
        </p:nvCxnSpPr>
        <p:spPr>
          <a:xfrm flipV="1">
            <a:off x="4928419" y="2667000"/>
            <a:ext cx="3084870" cy="9832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E12CBED-244A-F88E-A661-C08191C886DA}"/>
              </a:ext>
            </a:extLst>
          </p:cNvPr>
          <p:cNvCxnSpPr>
            <a:cxnSpLocks/>
          </p:cNvCxnSpPr>
          <p:nvPr/>
        </p:nvCxnSpPr>
        <p:spPr>
          <a:xfrm flipV="1">
            <a:off x="6083709" y="5727289"/>
            <a:ext cx="2224548" cy="3687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44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1656-C990-0093-DE52-7D2DBAEB2F26}"/>
              </a:ext>
            </a:extLst>
          </p:cNvPr>
          <p:cNvSpPr>
            <a:spLocks noGrp="1"/>
          </p:cNvSpPr>
          <p:nvPr>
            <p:ph type="title"/>
          </p:nvPr>
        </p:nvSpPr>
        <p:spPr/>
        <p:txBody>
          <a:bodyPr>
            <a:normAutofit fontScale="90000"/>
          </a:bodyPr>
          <a:lstStyle/>
          <a:p>
            <a:r>
              <a:rPr lang="en-US" dirty="0" err="1">
                <a:ea typeface="Calibri Light"/>
                <a:cs typeface="Calibri Light"/>
              </a:rPr>
              <a:t>LoRA</a:t>
            </a:r>
            <a:endParaRPr lang="en-US" dirty="0" err="1"/>
          </a:p>
        </p:txBody>
      </p:sp>
      <p:sp>
        <p:nvSpPr>
          <p:cNvPr id="3" name="Content Placeholder 2">
            <a:extLst>
              <a:ext uri="{FF2B5EF4-FFF2-40B4-BE49-F238E27FC236}">
                <a16:creationId xmlns:a16="http://schemas.microsoft.com/office/drawing/2014/main" id="{10544945-3E30-C908-1884-46D70EF6820B}"/>
              </a:ext>
            </a:extLst>
          </p:cNvPr>
          <p:cNvSpPr>
            <a:spLocks noGrp="1"/>
          </p:cNvSpPr>
          <p:nvPr>
            <p:ph idx="1"/>
          </p:nvPr>
        </p:nvSpPr>
        <p:spPr/>
        <p:txBody>
          <a:bodyPr vert="horz" lIns="91440" tIns="45720" rIns="91440" bIns="45720" rtlCol="0" anchor="t">
            <a:normAutofit/>
          </a:bodyPr>
          <a:lstStyle/>
          <a:p>
            <a:r>
              <a:rPr lang="en-US" dirty="0">
                <a:ea typeface="+mn-lt"/>
                <a:cs typeface="+mn-lt"/>
              </a:rPr>
              <a:t>The BA decomposition acts as an information bottleneck:</a:t>
            </a:r>
            <a:endParaRPr lang="en-US" dirty="0">
              <a:ea typeface="Calibri"/>
              <a:cs typeface="Calibri"/>
            </a:endParaRPr>
          </a:p>
          <a:p>
            <a:r>
              <a:rPr lang="en-US" dirty="0">
                <a:ea typeface="+mn-lt"/>
                <a:cs typeface="+mn-lt"/>
              </a:rPr>
              <a:t>A compresses the input into a low-dimensional representation (rank r)</a:t>
            </a:r>
            <a:endParaRPr lang="en-US" dirty="0"/>
          </a:p>
          <a:p>
            <a:r>
              <a:rPr lang="en-US" dirty="0">
                <a:ea typeface="+mn-lt"/>
                <a:cs typeface="+mn-lt"/>
              </a:rPr>
              <a:t>This forces the model to find the most important directions for the task</a:t>
            </a:r>
            <a:endParaRPr lang="en-US" dirty="0"/>
          </a:p>
          <a:p>
            <a:r>
              <a:rPr lang="en-US" dirty="0">
                <a:ea typeface="+mn-lt"/>
                <a:cs typeface="+mn-lt"/>
              </a:rPr>
              <a:t>B then expands back to the output dimension</a:t>
            </a:r>
            <a:endParaRPr lang="en-US" dirty="0"/>
          </a:p>
          <a:p>
            <a:r>
              <a:rPr lang="en-US" dirty="0">
                <a:ea typeface="+mn-lt"/>
                <a:cs typeface="+mn-lt"/>
              </a:rPr>
              <a:t>This bottleneck forces efficiency — the model must learn what really matters for the task.</a:t>
            </a:r>
            <a:endParaRPr lang="en-US" dirty="0"/>
          </a:p>
          <a:p>
            <a:endParaRPr lang="en-US"/>
          </a:p>
          <a:p>
            <a:endParaRPr lang="en-US" dirty="0">
              <a:ea typeface="Calibri"/>
              <a:cs typeface="Calibri"/>
            </a:endParaRPr>
          </a:p>
        </p:txBody>
      </p:sp>
      <p:pic>
        <p:nvPicPr>
          <p:cNvPr id="4" name="Picture 3" descr="A diagram of a flowchart&#10;&#10;AI-generated content may be incorrect.">
            <a:extLst>
              <a:ext uri="{FF2B5EF4-FFF2-40B4-BE49-F238E27FC236}">
                <a16:creationId xmlns:a16="http://schemas.microsoft.com/office/drawing/2014/main" id="{A9764251-0EE4-FDF4-1550-626A31851237}"/>
              </a:ext>
            </a:extLst>
          </p:cNvPr>
          <p:cNvPicPr>
            <a:picLocks noChangeAspect="1"/>
          </p:cNvPicPr>
          <p:nvPr/>
        </p:nvPicPr>
        <p:blipFill>
          <a:blip r:embed="rId2"/>
          <a:stretch>
            <a:fillRect/>
          </a:stretch>
        </p:blipFill>
        <p:spPr>
          <a:xfrm>
            <a:off x="2786062" y="4237452"/>
            <a:ext cx="6619875" cy="2314575"/>
          </a:xfrm>
          <a:prstGeom prst="rect">
            <a:avLst/>
          </a:prstGeom>
        </p:spPr>
      </p:pic>
    </p:spTree>
    <p:extLst>
      <p:ext uri="{BB962C8B-B14F-4D97-AF65-F5344CB8AC3E}">
        <p14:creationId xmlns:p14="http://schemas.microsoft.com/office/powerpoint/2010/main" val="2768285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8F55-218F-E636-F547-225C9A013954}"/>
              </a:ext>
            </a:extLst>
          </p:cNvPr>
          <p:cNvSpPr>
            <a:spLocks noGrp="1"/>
          </p:cNvSpPr>
          <p:nvPr>
            <p:ph type="title"/>
          </p:nvPr>
        </p:nvSpPr>
        <p:spPr/>
        <p:txBody>
          <a:bodyPr>
            <a:normAutofit fontScale="90000"/>
          </a:bodyPr>
          <a:lstStyle/>
          <a:p>
            <a:r>
              <a:rPr lang="en-US" dirty="0" err="1">
                <a:ea typeface="Calibri Light"/>
                <a:cs typeface="Calibri Light"/>
              </a:rPr>
              <a:t>LoRA</a:t>
            </a:r>
            <a:r>
              <a:rPr lang="en-US" dirty="0">
                <a:ea typeface="Calibri Light"/>
                <a:cs typeface="Calibri Light"/>
              </a:rPr>
              <a:t> (using Matrix operations)</a:t>
            </a:r>
            <a:endParaRPr lang="en-US" dirty="0" err="1"/>
          </a:p>
        </p:txBody>
      </p:sp>
      <p:pic>
        <p:nvPicPr>
          <p:cNvPr id="4" name="Picture 3" descr="A diagram of mathematical equations&#10;&#10;AI-generated content may be incorrect.">
            <a:extLst>
              <a:ext uri="{FF2B5EF4-FFF2-40B4-BE49-F238E27FC236}">
                <a16:creationId xmlns:a16="http://schemas.microsoft.com/office/drawing/2014/main" id="{CFAE7B9B-2BB2-2E92-0236-FB1ED7C5FECC}"/>
              </a:ext>
            </a:extLst>
          </p:cNvPr>
          <p:cNvPicPr>
            <a:picLocks noChangeAspect="1"/>
          </p:cNvPicPr>
          <p:nvPr/>
        </p:nvPicPr>
        <p:blipFill>
          <a:blip r:embed="rId2"/>
          <a:stretch>
            <a:fillRect/>
          </a:stretch>
        </p:blipFill>
        <p:spPr>
          <a:xfrm>
            <a:off x="2586037" y="1481137"/>
            <a:ext cx="8310408" cy="4608563"/>
          </a:xfrm>
          <a:prstGeom prst="rect">
            <a:avLst/>
          </a:prstGeom>
        </p:spPr>
      </p:pic>
    </p:spTree>
    <p:extLst>
      <p:ext uri="{BB962C8B-B14F-4D97-AF65-F5344CB8AC3E}">
        <p14:creationId xmlns:p14="http://schemas.microsoft.com/office/powerpoint/2010/main" val="1420546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66CB-5E39-831C-0494-446311141547}"/>
              </a:ext>
            </a:extLst>
          </p:cNvPr>
          <p:cNvSpPr>
            <a:spLocks noGrp="1"/>
          </p:cNvSpPr>
          <p:nvPr>
            <p:ph type="title"/>
          </p:nvPr>
        </p:nvSpPr>
        <p:spPr/>
        <p:txBody>
          <a:bodyPr>
            <a:normAutofit fontScale="90000"/>
          </a:bodyPr>
          <a:lstStyle/>
          <a:p>
            <a:r>
              <a:rPr lang="en-US" dirty="0" err="1">
                <a:ea typeface="Calibri Light"/>
                <a:cs typeface="Calibri Light"/>
              </a:rPr>
              <a:t>LoRA</a:t>
            </a:r>
            <a:r>
              <a:rPr lang="en-US" dirty="0">
                <a:ea typeface="Calibri Light"/>
                <a:cs typeface="Calibri Light"/>
              </a:rPr>
              <a:t> Variants</a:t>
            </a:r>
            <a:endParaRPr lang="en-US" dirty="0"/>
          </a:p>
        </p:txBody>
      </p:sp>
      <p:pic>
        <p:nvPicPr>
          <p:cNvPr id="4" name="Picture 3" descr="A diagram of a diagram of weights&#10;&#10;AI-generated content may be incorrect.">
            <a:extLst>
              <a:ext uri="{FF2B5EF4-FFF2-40B4-BE49-F238E27FC236}">
                <a16:creationId xmlns:a16="http://schemas.microsoft.com/office/drawing/2014/main" id="{CD9D66A8-7637-05CD-84E9-F829A5ABF22B}"/>
              </a:ext>
            </a:extLst>
          </p:cNvPr>
          <p:cNvPicPr>
            <a:picLocks noChangeAspect="1"/>
          </p:cNvPicPr>
          <p:nvPr/>
        </p:nvPicPr>
        <p:blipFill>
          <a:blip r:embed="rId2"/>
          <a:stretch>
            <a:fillRect/>
          </a:stretch>
        </p:blipFill>
        <p:spPr>
          <a:xfrm>
            <a:off x="1706425" y="905565"/>
            <a:ext cx="9673672" cy="5422347"/>
          </a:xfrm>
          <a:prstGeom prst="rect">
            <a:avLst/>
          </a:prstGeom>
        </p:spPr>
      </p:pic>
    </p:spTree>
    <p:extLst>
      <p:ext uri="{BB962C8B-B14F-4D97-AF65-F5344CB8AC3E}">
        <p14:creationId xmlns:p14="http://schemas.microsoft.com/office/powerpoint/2010/main" val="24476537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00DAA-65EB-6B6F-2DA5-D11AF2B31444}"/>
              </a:ext>
            </a:extLst>
          </p:cNvPr>
          <p:cNvSpPr>
            <a:spLocks noGrp="1"/>
          </p:cNvSpPr>
          <p:nvPr>
            <p:ph type="title"/>
          </p:nvPr>
        </p:nvSpPr>
        <p:spPr/>
        <p:txBody>
          <a:bodyPr>
            <a:normAutofit fontScale="90000"/>
          </a:bodyPr>
          <a:lstStyle/>
          <a:p>
            <a:r>
              <a:rPr lang="en-US" err="1">
                <a:ea typeface="Calibri Light"/>
                <a:cs typeface="Calibri Light"/>
              </a:rPr>
              <a:t>QLoRA</a:t>
            </a:r>
            <a:endParaRPr lang="en-US" err="1"/>
          </a:p>
        </p:txBody>
      </p:sp>
      <p:sp>
        <p:nvSpPr>
          <p:cNvPr id="3" name="Content Placeholder 2">
            <a:extLst>
              <a:ext uri="{FF2B5EF4-FFF2-40B4-BE49-F238E27FC236}">
                <a16:creationId xmlns:a16="http://schemas.microsoft.com/office/drawing/2014/main" id="{53A94CE5-8C39-1804-EE1A-C7FCA551936B}"/>
              </a:ext>
            </a:extLst>
          </p:cNvPr>
          <p:cNvSpPr>
            <a:spLocks noGrp="1"/>
          </p:cNvSpPr>
          <p:nvPr>
            <p:ph idx="1"/>
          </p:nvPr>
        </p:nvSpPr>
        <p:spPr/>
        <p:txBody>
          <a:bodyPr vert="horz" lIns="91440" tIns="45720" rIns="91440" bIns="45720" rtlCol="0" anchor="t">
            <a:normAutofit lnSpcReduction="10000"/>
          </a:bodyPr>
          <a:lstStyle/>
          <a:p>
            <a:r>
              <a:rPr lang="en-US" dirty="0" err="1">
                <a:ea typeface="+mn-lt"/>
                <a:cs typeface="+mn-lt"/>
              </a:rPr>
              <a:t>QLoRA</a:t>
            </a:r>
            <a:r>
              <a:rPr lang="en-US" dirty="0">
                <a:ea typeface="+mn-lt"/>
                <a:cs typeface="+mn-lt"/>
              </a:rPr>
              <a:t> uses 4-bit quantization on the pretrained model weights and trains </a:t>
            </a:r>
            <a:r>
              <a:rPr lang="en-US" dirty="0" err="1">
                <a:ea typeface="+mn-lt"/>
                <a:cs typeface="+mn-lt"/>
              </a:rPr>
              <a:t>LoRA</a:t>
            </a:r>
            <a:r>
              <a:rPr lang="en-US" dirty="0">
                <a:ea typeface="+mn-lt"/>
                <a:cs typeface="+mn-lt"/>
              </a:rPr>
              <a:t> modules on top of this. </a:t>
            </a:r>
          </a:p>
          <a:p>
            <a:r>
              <a:rPr lang="en-US" dirty="0">
                <a:ea typeface="+mn-lt"/>
                <a:cs typeface="+mn-lt"/>
              </a:rPr>
              <a:t>The authors of </a:t>
            </a:r>
            <a:r>
              <a:rPr lang="en-US" dirty="0" err="1">
                <a:ea typeface="+mn-lt"/>
                <a:cs typeface="+mn-lt"/>
              </a:rPr>
              <a:t>QLoRA</a:t>
            </a:r>
            <a:r>
              <a:rPr lang="en-US" dirty="0">
                <a:ea typeface="+mn-lt"/>
                <a:cs typeface="+mn-lt"/>
              </a:rPr>
              <a:t> proposed several novel quantization techniques for further reducing memory usage:</a:t>
            </a:r>
            <a:endParaRPr lang="en-US" dirty="0">
              <a:ea typeface="Calibri" panose="020F0502020204030204"/>
              <a:cs typeface="Calibri" panose="020F0502020204030204"/>
            </a:endParaRPr>
          </a:p>
          <a:p>
            <a:pPr lvl="1"/>
            <a:r>
              <a:rPr lang="en-US" dirty="0">
                <a:solidFill>
                  <a:schemeClr val="accent6">
                    <a:lumMod val="76000"/>
                  </a:schemeClr>
                </a:solidFill>
                <a:ea typeface="+mn-lt"/>
                <a:cs typeface="+mn-lt"/>
              </a:rPr>
              <a:t>4-Bit </a:t>
            </a:r>
            <a:r>
              <a:rPr lang="en-US" dirty="0" err="1">
                <a:solidFill>
                  <a:schemeClr val="accent6">
                    <a:lumMod val="76000"/>
                  </a:schemeClr>
                </a:solidFill>
                <a:ea typeface="+mn-lt"/>
                <a:cs typeface="+mn-lt"/>
              </a:rPr>
              <a:t>NormalFloat</a:t>
            </a:r>
            <a:r>
              <a:rPr lang="en-US" dirty="0">
                <a:solidFill>
                  <a:schemeClr val="accent6">
                    <a:lumMod val="76000"/>
                  </a:schemeClr>
                </a:solidFill>
                <a:ea typeface="+mn-lt"/>
                <a:cs typeface="+mn-lt"/>
              </a:rPr>
              <a:t> (NF4) Format: a new (quantized) data type that works better for weights that follow a normal distribution.</a:t>
            </a:r>
            <a:endParaRPr lang="en-US">
              <a:solidFill>
                <a:schemeClr val="accent6">
                  <a:lumMod val="76000"/>
                </a:schemeClr>
              </a:solidFill>
              <a:ea typeface="Calibri"/>
              <a:cs typeface="Calibri"/>
            </a:endParaRPr>
          </a:p>
          <a:p>
            <a:pPr lvl="1"/>
            <a:r>
              <a:rPr lang="en-US">
                <a:solidFill>
                  <a:schemeClr val="accent6">
                    <a:lumMod val="76000"/>
                  </a:schemeClr>
                </a:solidFill>
                <a:ea typeface="+mn-lt"/>
                <a:cs typeface="+mn-lt"/>
              </a:rPr>
              <a:t>Double Quantization: reduces memory footprint by quantizing both model weights and their corresponding quantization constants.</a:t>
            </a:r>
            <a:endParaRPr lang="en-US">
              <a:solidFill>
                <a:schemeClr val="accent6">
                  <a:lumMod val="76000"/>
                </a:schemeClr>
              </a:solidFill>
              <a:ea typeface="Calibri"/>
              <a:cs typeface="Calibri"/>
            </a:endParaRPr>
          </a:p>
          <a:p>
            <a:pPr lvl="1">
              <a:buFont typeface="Arial"/>
              <a:buChar char="•"/>
            </a:pPr>
            <a:r>
              <a:rPr lang="en-US">
                <a:solidFill>
                  <a:schemeClr val="accent6">
                    <a:lumMod val="76000"/>
                  </a:schemeClr>
                </a:solidFill>
                <a:ea typeface="+mn-lt"/>
                <a:cs typeface="+mn-lt"/>
              </a:rPr>
              <a:t>Paged Optimizers: prevents memory spikes due to gradient checkpointing that cause out-of-memory errors when processing long sequences or training a large model.</a:t>
            </a:r>
            <a:endParaRPr lang="en-US">
              <a:solidFill>
                <a:schemeClr val="accent6">
                  <a:lumMod val="76000"/>
                </a:schemeClr>
              </a:solidFill>
              <a:ea typeface="Calibri"/>
              <a:cs typeface="Calibri"/>
            </a:endParaRPr>
          </a:p>
          <a:p>
            <a:r>
              <a:rPr lang="en-US" dirty="0">
                <a:ea typeface="+mn-lt"/>
                <a:cs typeface="+mn-lt"/>
              </a:rPr>
              <a:t>In practice, </a:t>
            </a:r>
            <a:r>
              <a:rPr lang="en-US" dirty="0" err="1">
                <a:ea typeface="+mn-lt"/>
                <a:cs typeface="+mn-lt"/>
              </a:rPr>
              <a:t>QLoRA</a:t>
            </a:r>
            <a:r>
              <a:rPr lang="en-US" dirty="0">
                <a:ea typeface="+mn-lt"/>
                <a:cs typeface="+mn-lt"/>
              </a:rPr>
              <a:t> saves memory at the cost of slightly-reduced training speed. </a:t>
            </a:r>
          </a:p>
          <a:p>
            <a:pPr lvl="1"/>
            <a:r>
              <a:rPr lang="en-US" dirty="0">
                <a:ea typeface="+mn-lt"/>
                <a:cs typeface="+mn-lt"/>
              </a:rPr>
              <a:t>For example, replacing </a:t>
            </a:r>
            <a:r>
              <a:rPr lang="en-US" dirty="0" err="1">
                <a:ea typeface="+mn-lt"/>
                <a:cs typeface="+mn-lt"/>
              </a:rPr>
              <a:t>LoRA</a:t>
            </a:r>
            <a:r>
              <a:rPr lang="en-US" dirty="0">
                <a:ea typeface="+mn-lt"/>
                <a:cs typeface="+mn-lt"/>
              </a:rPr>
              <a:t> with </a:t>
            </a:r>
            <a:r>
              <a:rPr lang="en-US" dirty="0" err="1">
                <a:ea typeface="+mn-lt"/>
                <a:cs typeface="+mn-lt"/>
              </a:rPr>
              <a:t>QLoRA</a:t>
            </a:r>
            <a:r>
              <a:rPr lang="en-US" dirty="0">
                <a:ea typeface="+mn-lt"/>
                <a:cs typeface="+mn-lt"/>
              </a:rPr>
              <a:t> to finetune LLaMA-2–7B reduces memory usage by 33% but increases wall-clock training time by 39%.</a:t>
            </a:r>
            <a:endParaRPr lang="en-US">
              <a:ea typeface="Calibri"/>
              <a:cs typeface="Calibri"/>
            </a:endParaRPr>
          </a:p>
          <a:p>
            <a:endParaRPr lang="en-US"/>
          </a:p>
          <a:p>
            <a:endParaRPr lang="en-US" dirty="0">
              <a:ea typeface="Calibri"/>
              <a:cs typeface="Calibri"/>
            </a:endParaRPr>
          </a:p>
        </p:txBody>
      </p:sp>
    </p:spTree>
    <p:extLst>
      <p:ext uri="{BB962C8B-B14F-4D97-AF65-F5344CB8AC3E}">
        <p14:creationId xmlns:p14="http://schemas.microsoft.com/office/powerpoint/2010/main" val="1665846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99758-8791-B6A7-A9D6-A0632F7BBB68}"/>
              </a:ext>
            </a:extLst>
          </p:cNvPr>
          <p:cNvSpPr>
            <a:spLocks noGrp="1"/>
          </p:cNvSpPr>
          <p:nvPr>
            <p:ph type="title"/>
          </p:nvPr>
        </p:nvSpPr>
        <p:spPr/>
        <p:txBody>
          <a:bodyPr>
            <a:normAutofit fontScale="90000"/>
          </a:bodyPr>
          <a:lstStyle/>
          <a:p>
            <a:r>
              <a:rPr lang="en-US" dirty="0" err="1">
                <a:ea typeface="Calibri Light"/>
                <a:cs typeface="Calibri Light"/>
              </a:rPr>
              <a:t>LoRA</a:t>
            </a:r>
            <a:r>
              <a:rPr lang="en-US" dirty="0">
                <a:ea typeface="Calibri Light"/>
                <a:cs typeface="Calibri Light"/>
              </a:rPr>
              <a:t> Variants</a:t>
            </a:r>
            <a:endParaRPr lang="en-US" dirty="0"/>
          </a:p>
        </p:txBody>
      </p:sp>
      <p:sp>
        <p:nvSpPr>
          <p:cNvPr id="3" name="Content Placeholder 2">
            <a:extLst>
              <a:ext uri="{FF2B5EF4-FFF2-40B4-BE49-F238E27FC236}">
                <a16:creationId xmlns:a16="http://schemas.microsoft.com/office/drawing/2014/main" id="{78E2A7C3-5570-15B1-E2C1-FBB31698929B}"/>
              </a:ext>
            </a:extLst>
          </p:cNvPr>
          <p:cNvSpPr>
            <a:spLocks noGrp="1"/>
          </p:cNvSpPr>
          <p:nvPr>
            <p:ph idx="1"/>
          </p:nvPr>
        </p:nvSpPr>
        <p:spPr/>
        <p:txBody>
          <a:bodyPr vert="horz" lIns="91440" tIns="45720" rIns="91440" bIns="45720" rtlCol="0" anchor="t">
            <a:normAutofit/>
          </a:bodyPr>
          <a:lstStyle/>
          <a:p>
            <a:r>
              <a:rPr lang="en-US" dirty="0" err="1">
                <a:ea typeface="Calibri"/>
                <a:cs typeface="Calibri"/>
              </a:rPr>
              <a:t>LoRA</a:t>
            </a:r>
            <a:r>
              <a:rPr lang="en-US" dirty="0">
                <a:ea typeface="Calibri"/>
                <a:cs typeface="Calibri"/>
              </a:rPr>
              <a:t>: Adapt to a small, low-rank subset of parameters of a base LLM.</a:t>
            </a:r>
          </a:p>
          <a:p>
            <a:r>
              <a:rPr lang="en-US" dirty="0" err="1">
                <a:ea typeface="Calibri"/>
                <a:cs typeface="Calibri"/>
              </a:rPr>
              <a:t>QLoRA</a:t>
            </a:r>
            <a:r>
              <a:rPr lang="en-US" dirty="0">
                <a:ea typeface="Calibri"/>
                <a:cs typeface="Calibri"/>
              </a:rPr>
              <a:t>: </a:t>
            </a:r>
            <a:r>
              <a:rPr lang="en-US" dirty="0">
                <a:ea typeface="+mn-lt"/>
                <a:cs typeface="+mn-lt"/>
              </a:rPr>
              <a:t>Lower memory requirements even further by </a:t>
            </a:r>
            <a:r>
              <a:rPr lang="en-US" dirty="0">
                <a:solidFill>
                  <a:srgbClr val="C00000"/>
                </a:solidFill>
                <a:ea typeface="+mn-lt"/>
                <a:cs typeface="+mn-lt"/>
              </a:rPr>
              <a:t>quantizing the base model weights</a:t>
            </a:r>
            <a:r>
              <a:rPr lang="en-US" dirty="0">
                <a:ea typeface="+mn-lt"/>
                <a:cs typeface="+mn-lt"/>
              </a:rPr>
              <a:t>. Keep the weight not-quantized. </a:t>
            </a:r>
          </a:p>
          <a:p>
            <a:r>
              <a:rPr lang="en-US" dirty="0" err="1">
                <a:ea typeface="+mn-lt"/>
                <a:cs typeface="+mn-lt"/>
              </a:rPr>
              <a:t>QALoRA</a:t>
            </a:r>
            <a:r>
              <a:rPr lang="en-US" dirty="0">
                <a:ea typeface="+mn-lt"/>
                <a:cs typeface="+mn-lt"/>
              </a:rPr>
              <a:t>: Also quantize the </a:t>
            </a:r>
            <a:r>
              <a:rPr lang="en-US" dirty="0" err="1">
                <a:ea typeface="+mn-lt"/>
                <a:cs typeface="+mn-lt"/>
              </a:rPr>
              <a:t>LoRA</a:t>
            </a:r>
            <a:r>
              <a:rPr lang="en-US" dirty="0">
                <a:ea typeface="+mn-lt"/>
                <a:cs typeface="+mn-lt"/>
              </a:rPr>
              <a:t> (adapter) weights, avoiding a costly conversion of the </a:t>
            </a:r>
            <a:r>
              <a:rPr lang="en-US" dirty="0" err="1">
                <a:ea typeface="+mn-lt"/>
                <a:cs typeface="+mn-lt"/>
              </a:rPr>
              <a:t>QLoRA</a:t>
            </a:r>
            <a:r>
              <a:rPr lang="en-US" dirty="0">
                <a:ea typeface="+mn-lt"/>
                <a:cs typeface="+mn-lt"/>
              </a:rPr>
              <a:t> quantized base model weights back into 16-bit when adding the adapter weights.</a:t>
            </a:r>
          </a:p>
        </p:txBody>
      </p:sp>
    </p:spTree>
    <p:extLst>
      <p:ext uri="{BB962C8B-B14F-4D97-AF65-F5344CB8AC3E}">
        <p14:creationId xmlns:p14="http://schemas.microsoft.com/office/powerpoint/2010/main" val="1992119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88F25371BF2364E9237A48B420CBFE6" ma:contentTypeVersion="17" ma:contentTypeDescription="Create a new document." ma:contentTypeScope="" ma:versionID="d01425f4fccec242338dd10b03ae787b">
  <xsd:schema xmlns:xsd="http://www.w3.org/2001/XMLSchema" xmlns:xs="http://www.w3.org/2001/XMLSchema" xmlns:p="http://schemas.microsoft.com/office/2006/metadata/properties" xmlns:ns3="acd04cee-d56a-427f-9d20-a2ddbaad1b8a" xmlns:ns4="dc4fbbce-458e-423f-b6f5-238dd700e544" targetNamespace="http://schemas.microsoft.com/office/2006/metadata/properties" ma:root="true" ma:fieldsID="933290a43c39deda7c3fae3fae2bc07d" ns3:_="" ns4:_="">
    <xsd:import namespace="acd04cee-d56a-427f-9d20-a2ddbaad1b8a"/>
    <xsd:import namespace="dc4fbbce-458e-423f-b6f5-238dd700e5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d04cee-d56a-427f-9d20-a2ddbaad1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4fbbce-458e-423f-b6f5-238dd700e544"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element name="SharingHintHash" ma:index="2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cd04cee-d56a-427f-9d20-a2ddbaad1b8a" xsi:nil="true"/>
  </documentManagement>
</p:properties>
</file>

<file path=customXml/itemProps1.xml><?xml version="1.0" encoding="utf-8"?>
<ds:datastoreItem xmlns:ds="http://schemas.openxmlformats.org/officeDocument/2006/customXml" ds:itemID="{2E2D8E22-4130-438E-B01C-4C7E7D96A153}">
  <ds:schemaRefs>
    <ds:schemaRef ds:uri="http://schemas.microsoft.com/sharepoint/v3/contenttype/forms"/>
  </ds:schemaRefs>
</ds:datastoreItem>
</file>

<file path=customXml/itemProps2.xml><?xml version="1.0" encoding="utf-8"?>
<ds:datastoreItem xmlns:ds="http://schemas.openxmlformats.org/officeDocument/2006/customXml" ds:itemID="{3296DEB5-C9E2-47AE-926D-C2971E4A6A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d04cee-d56a-427f-9d20-a2ddbaad1b8a"/>
    <ds:schemaRef ds:uri="dc4fbbce-458e-423f-b6f5-238dd700e5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D75E7F-C74C-4371-A867-D11E98487A23}">
  <ds:schemaRefs>
    <ds:schemaRef ds:uri="http://www.w3.org/XML/1998/namespace"/>
    <ds:schemaRef ds:uri="http://schemas.microsoft.com/office/infopath/2007/PartnerControls"/>
    <ds:schemaRef ds:uri="http://purl.org/dc/terms/"/>
    <ds:schemaRef ds:uri="http://schemas.microsoft.com/office/2006/documentManagement/types"/>
    <ds:schemaRef ds:uri="http://purl.org/dc/elements/1.1/"/>
    <ds:schemaRef ds:uri="http://schemas.openxmlformats.org/package/2006/metadata/core-properties"/>
    <ds:schemaRef ds:uri="dc4fbbce-458e-423f-b6f5-238dd700e544"/>
    <ds:schemaRef ds:uri="acd04cee-d56a-427f-9d20-a2ddbaad1b8a"/>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2542</TotalTime>
  <Words>6</Words>
  <Application>Microsoft Office PowerPoint</Application>
  <PresentationFormat>Widescreen</PresentationFormat>
  <Paragraphs>2</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CSE 495B Lecture 12</vt:lpstr>
      <vt:lpstr>LLM preparation steps</vt:lpstr>
      <vt:lpstr>LLM preparation steps</vt:lpstr>
      <vt:lpstr>Fine tuning process</vt:lpstr>
      <vt:lpstr>Fine tuning LLMs</vt:lpstr>
      <vt:lpstr>Fine tuning LLMs</vt:lpstr>
      <vt:lpstr>Challenges to fine tuning</vt:lpstr>
      <vt:lpstr>PEFT</vt:lpstr>
      <vt:lpstr>Model Quantization</vt:lpstr>
      <vt:lpstr>Quantization</vt:lpstr>
      <vt:lpstr>How to quantize?</vt:lpstr>
      <vt:lpstr>Quantize What?</vt:lpstr>
      <vt:lpstr>Types of Quantization</vt:lpstr>
      <vt:lpstr>Automatic mixed precision</vt:lpstr>
      <vt:lpstr>PowerPoint Presentation</vt:lpstr>
      <vt:lpstr>Finetuning: In-Context Learning (Prompts)</vt:lpstr>
      <vt:lpstr>Finetuning: In-Context Learning (Prompts)</vt:lpstr>
      <vt:lpstr>Prompting</vt:lpstr>
      <vt:lpstr>Full finetuning</vt:lpstr>
      <vt:lpstr>Adapter Layers and Prefix Tuning</vt:lpstr>
      <vt:lpstr>Adapter layers</vt:lpstr>
      <vt:lpstr>Adapter Layers</vt:lpstr>
      <vt:lpstr>Adapter Layers</vt:lpstr>
      <vt:lpstr>Prefix tuning</vt:lpstr>
      <vt:lpstr>Prefix tuning</vt:lpstr>
      <vt:lpstr>Finetuning LLMs Efficiently</vt:lpstr>
      <vt:lpstr>LoRA</vt:lpstr>
      <vt:lpstr>LoRA</vt:lpstr>
      <vt:lpstr>LoRA</vt:lpstr>
      <vt:lpstr>Matrix Rank</vt:lpstr>
      <vt:lpstr>Why Low Rank?</vt:lpstr>
      <vt:lpstr>Dimensionality/Parameters Reduction</vt:lpstr>
      <vt:lpstr>LoRA</vt:lpstr>
      <vt:lpstr>LoRA (using Matrix operations)</vt:lpstr>
      <vt:lpstr>LoRA Variants</vt:lpstr>
      <vt:lpstr>QLoRA</vt:lpstr>
      <vt:lpstr>LoRA Variants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327 Lecture 8</dc:title>
  <dc:creator>Mohammad Khan</dc:creator>
  <cp:lastModifiedBy>Mohammad Khan</cp:lastModifiedBy>
  <cp:revision>783</cp:revision>
  <dcterms:created xsi:type="dcterms:W3CDTF">2018-11-03T12:07:21Z</dcterms:created>
  <dcterms:modified xsi:type="dcterms:W3CDTF">2025-12-13T08:43:39Z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0x010100688F25371BF2364E9237A48B420CBFE6</vt:lpwstr>
  </property>
</Properties>
</file>