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307" r:id="rId5"/>
    <p:sldId id="259" r:id="rId6"/>
    <p:sldId id="261" r:id="rId7"/>
    <p:sldId id="262" r:id="rId8"/>
    <p:sldId id="265" r:id="rId9"/>
    <p:sldId id="266" r:id="rId10"/>
    <p:sldId id="267" r:id="rId11"/>
    <p:sldId id="268" r:id="rId12"/>
    <p:sldId id="269" r:id="rId13"/>
    <p:sldId id="322" r:id="rId14"/>
    <p:sldId id="306" r:id="rId15"/>
    <p:sldId id="321" r:id="rId16"/>
    <p:sldId id="270" r:id="rId17"/>
    <p:sldId id="271" r:id="rId18"/>
    <p:sldId id="281" r:id="rId19"/>
    <p:sldId id="283" r:id="rId20"/>
    <p:sldId id="284" r:id="rId21"/>
    <p:sldId id="324" r:id="rId22"/>
    <p:sldId id="308" r:id="rId23"/>
    <p:sldId id="323" r:id="rId24"/>
    <p:sldId id="309" r:id="rId25"/>
    <p:sldId id="310" r:id="rId26"/>
    <p:sldId id="311" r:id="rId27"/>
    <p:sldId id="312" r:id="rId28"/>
    <p:sldId id="313" r:id="rId29"/>
    <p:sldId id="314" r:id="rId30"/>
    <p:sldId id="315" r:id="rId31"/>
    <p:sldId id="316" r:id="rId32"/>
    <p:sldId id="317" r:id="rId33"/>
    <p:sldId id="318" r:id="rId34"/>
    <p:sldId id="319" r:id="rId35"/>
    <p:sldId id="320" r:id="rId36"/>
    <p:sldId id="334" r:id="rId37"/>
    <p:sldId id="335" r:id="rId38"/>
    <p:sldId id="336" r:id="rId39"/>
    <p:sldId id="260" r:id="rId40"/>
    <p:sldId id="300" r:id="rId41"/>
    <p:sldId id="277" r:id="rId42"/>
    <p:sldId id="302" r:id="rId43"/>
    <p:sldId id="337" r:id="rId44"/>
    <p:sldId id="338" r:id="rId45"/>
    <p:sldId id="339" r:id="rId46"/>
    <p:sldId id="340" r:id="rId47"/>
    <p:sldId id="282"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 min="-2" units="cm"/>
          <inkml:channel name="Y" type="integer" max="2" min="-2"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7-23T03:30:07"/>
    </inkml:context>
    <inkml:brush xml:id="br0">
      <inkml:brushProperty name="width" value="0.1" units="cm"/>
      <inkml:brushProperty name="height" value="0.1" units="cm"/>
      <inkml:brushProperty name="color" value="#008c3a"/>
    </inkml:brush>
  </inkml:definitions>
  <inkml:trace contextRef="#ctx0" brushRef="#br0">3832 9858 16383 0 0,'1'0'0'0'0,"2"0"0"0"0,2 0 0 0 0,2 1 0 0 0,3 1 0 0 0,2 0 0 0 0,5 1 0 0 0,8 0 0 0 0,9 2 0 0 0,13 0 0 0 0,16 2 0 0 0,12 1 0 0 0,10-3 0 0 0,5 0 0 0 0,1-3 0 0 0,-6 0 0 0 0,-13-2 0 0 0,-12 0 0 0 0,-17 0 0 0 0,-9 0 0 0 0,-9 1 0 0 0,-5 0 0 0 0,-4 2 0 0 0,-2 1 0 0 0,-2 1 0 0 0,-2-1 0 0 0,-1 1 0 0 0,0-2 0 0 0,-2-1 0 0 0,-1 0 0 0 0</inkml:trace>
</inkml:ink>
</file>

<file path=ppt/ink/ink2.xml><?xml version="1.0" encoding="utf-8"?>
<inkml:ink xmlns:inkml="http://www.w3.org/2003/InkML">
  <inkml:definitions>
    <inkml:context xml:id="ctx0">
      <inkml:inkSource xml:id="inkSrc0">
        <inkml:traceFormat>
          <inkml:channel name="X" type="integer" max="2" min="-2" units="cm"/>
          <inkml:channel name="Y" type="integer" max="2" min="-2"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7-23T03:30:07"/>
    </inkml:context>
    <inkml:brush xml:id="br0">
      <inkml:brushProperty name="width" value="0.1" units="cm"/>
      <inkml:brushProperty name="height" value="0.1" units="cm"/>
      <inkml:brushProperty name="color" value="#008c3a"/>
    </inkml:brush>
  </inkml:definitions>
  <inkml:trace contextRef="#ctx0" brushRef="#br0">3832 12233 16383 0 0,'2'0'0'0'0,"1"1"0"0"0,3 2 0 0 0,3 2 0 0 0,5 0 0 0 0,5 0 0 0 0,13 1 0 0 0,20-3 0 0 0,22 0 0 0 0,26-1 0 0 0,19-1 0 0 0,11-1 0 0 0,1 0 0 0 0,-7 0 0 0 0,-16-1 0 0 0,-17 1 0 0 0,-18 0 0 0 0,-21 0 0 0 0,-18 0 0 0 0,-13 0 0 0 0,-11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noRot="1" noChangeAspect="1"/>
          </p:cNvSpPr>
          <p:nvPr>
            <p:ph type="sldImg"/>
          </p:nvPr>
        </p:nvSpPr>
        <p:spPr>
          <a:xfrm>
            <a:off x="685800" y="1143000"/>
            <a:ext cx="5486400" cy="3086100"/>
          </a:xfrm>
          <a:prstGeom prst="rect">
            <a:avLst/>
          </a:prstGeom>
        </p:spPr>
      </p:sp>
      <p:sp>
        <p:nvSpPr>
          <p:cNvPr id="195"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96"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E4829C69-F396-4E3B-986F-6DAD34658D67}" type="slidenum">
              <a:rPr lang="en-US" sz="1200" b="0" strike="noStrike" spc="-1">
                <a:solidFill>
                  <a:srgbClr val="000000"/>
                </a:solidFill>
                <a:latin typeface="+mn-lt"/>
                <a:ea typeface="+mn-ea"/>
              </a:rPr>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7"/>
        <p:cNvGrpSpPr/>
        <p:nvPr/>
      </p:nvGrpSpPr>
      <p:grpSpPr>
        <a:xfrm>
          <a:off x="0" y="0"/>
          <a:ext cx="0" cy="0"/>
          <a:chOff x="0" y="0"/>
          <a:chExt cx="0" cy="0"/>
        </a:xfrm>
      </p:grpSpPr>
      <p:sp>
        <p:nvSpPr>
          <p:cNvPr id="18" name="Google Shape;18;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2400"/>
              <a:buNone/>
              <a:defRPr sz="2400"/>
            </a:lvl1pPr>
            <a:lvl2pPr lvl="1" algn="ctr">
              <a:lnSpc>
                <a:spcPct val="90000"/>
              </a:lnSpc>
              <a:spcBef>
                <a:spcPts val="500"/>
              </a:spcBef>
              <a:spcAft>
                <a:spcPts val="0"/>
              </a:spcAft>
              <a:buClr>
                <a:srgbClr val="548135"/>
              </a:buClr>
              <a:buSzPts val="2000"/>
              <a:buNone/>
              <a:defRPr sz="2000"/>
            </a:lvl2pPr>
            <a:lvl3pPr lvl="2" algn="ctr">
              <a:lnSpc>
                <a:spcPct val="90000"/>
              </a:lnSpc>
              <a:spcBef>
                <a:spcPts val="500"/>
              </a:spcBef>
              <a:spcAft>
                <a:spcPts val="0"/>
              </a:spcAft>
              <a:buClr>
                <a:srgbClr val="FFC000"/>
              </a:buClr>
              <a:buSzPts val="1800"/>
              <a:buNone/>
              <a:defRPr sz="1800"/>
            </a:lvl3pPr>
            <a:lvl4pPr lvl="3" algn="ctr">
              <a:lnSpc>
                <a:spcPct val="90000"/>
              </a:lnSpc>
              <a:spcBef>
                <a:spcPts val="500"/>
              </a:spcBef>
              <a:spcAft>
                <a:spcPts val="0"/>
              </a:spcAft>
              <a:buClr>
                <a:srgbClr val="C00000"/>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3"/>
        <p:cNvGrpSpPr/>
        <p:nvPr/>
      </p:nvGrpSpPr>
      <p:grpSpPr>
        <a:xfrm>
          <a:off x="0" y="0"/>
          <a:ext cx="0" cy="0"/>
          <a:chOff x="0" y="0"/>
          <a:chExt cx="0" cy="0"/>
        </a:xfrm>
      </p:grpSpPr>
      <p:sp>
        <p:nvSpPr>
          <p:cNvPr id="24" name="Google Shape;24;p60"/>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0"/>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6" name="Google Shape;2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9"/>
        <p:cNvGrpSpPr/>
        <p:nvPr/>
      </p:nvGrpSpPr>
      <p:grpSpPr>
        <a:xfrm>
          <a:off x="0" y="0"/>
          <a:ext cx="0" cy="0"/>
          <a:chOff x="0" y="0"/>
          <a:chExt cx="0" cy="0"/>
        </a:xfrm>
      </p:grpSpPr>
      <p:sp>
        <p:nvSpPr>
          <p:cNvPr id="30" name="Google Shape;30;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5"/>
        <p:cNvGrpSpPr/>
        <p:nvPr/>
      </p:nvGrpSpPr>
      <p:grpSpPr>
        <a:xfrm>
          <a:off x="0" y="0"/>
          <a:ext cx="0" cy="0"/>
          <a:chOff x="0" y="0"/>
          <a:chExt cx="0" cy="0"/>
        </a:xfrm>
      </p:grpSpPr>
      <p:sp>
        <p:nvSpPr>
          <p:cNvPr id="36" name="Google Shape;36;p62"/>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8" name="Google Shape;38;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9" name="Google Shape;3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2"/>
        <p:cNvGrpSpPr/>
        <p:nvPr/>
      </p:nvGrpSpPr>
      <p:grpSpPr>
        <a:xfrm>
          <a:off x="0" y="0"/>
          <a:ext cx="0" cy="0"/>
          <a:chOff x="0" y="0"/>
          <a:chExt cx="0" cy="0"/>
        </a:xfrm>
      </p:grpSpPr>
      <p:sp>
        <p:nvSpPr>
          <p:cNvPr id="43" name="Google Shape;43;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6"/>
        <p:cNvGrpSpPr/>
        <p:nvPr/>
      </p:nvGrpSpPr>
      <p:grpSpPr>
        <a:xfrm>
          <a:off x="0" y="0"/>
          <a:ext cx="0" cy="0"/>
          <a:chOff x="0" y="0"/>
          <a:chExt cx="0" cy="0"/>
        </a:xfrm>
      </p:grpSpPr>
      <p:sp>
        <p:nvSpPr>
          <p:cNvPr id="57" name="Google Shape;5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0"/>
        <p:cNvGrpSpPr/>
        <p:nvPr/>
      </p:nvGrpSpPr>
      <p:grpSpPr>
        <a:xfrm>
          <a:off x="0" y="0"/>
          <a:ext cx="0" cy="0"/>
          <a:chOff x="0" y="0"/>
          <a:chExt cx="0" cy="0"/>
        </a:xfrm>
      </p:grpSpPr>
      <p:sp>
        <p:nvSpPr>
          <p:cNvPr id="61" name="Google Shape;61;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70C0"/>
              </a:buClr>
              <a:buSzPts val="3200"/>
              <a:buChar char="•"/>
              <a:defRPr sz="3200"/>
            </a:lvl1pPr>
            <a:lvl2pPr marL="914400" lvl="1" indent="-406400" algn="l">
              <a:lnSpc>
                <a:spcPct val="90000"/>
              </a:lnSpc>
              <a:spcBef>
                <a:spcPts val="500"/>
              </a:spcBef>
              <a:spcAft>
                <a:spcPts val="0"/>
              </a:spcAft>
              <a:buClr>
                <a:srgbClr val="548135"/>
              </a:buClr>
              <a:buSzPts val="2800"/>
              <a:buChar char="•"/>
              <a:defRPr sz="2800"/>
            </a:lvl2pPr>
            <a:lvl3pPr marL="1371600" lvl="2" indent="-381000" algn="l">
              <a:lnSpc>
                <a:spcPct val="90000"/>
              </a:lnSpc>
              <a:spcBef>
                <a:spcPts val="500"/>
              </a:spcBef>
              <a:spcAft>
                <a:spcPts val="0"/>
              </a:spcAft>
              <a:buClr>
                <a:srgbClr val="FFC000"/>
              </a:buClr>
              <a:buSzPts val="2400"/>
              <a:buChar char="•"/>
              <a:defRPr sz="2400"/>
            </a:lvl3pPr>
            <a:lvl4pPr marL="1828800" lvl="3" indent="-355600" algn="l">
              <a:lnSpc>
                <a:spcPct val="90000"/>
              </a:lnSpc>
              <a:spcBef>
                <a:spcPts val="500"/>
              </a:spcBef>
              <a:spcAft>
                <a:spcPts val="0"/>
              </a:spcAft>
              <a:buClr>
                <a:srgbClr val="C00000"/>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3" name="Google Shape;63;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4" name="Google Shape;6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7"/>
        <p:cNvGrpSpPr/>
        <p:nvPr/>
      </p:nvGrpSpPr>
      <p:grpSpPr>
        <a:xfrm>
          <a:off x="0" y="0"/>
          <a:ext cx="0" cy="0"/>
          <a:chOff x="0" y="0"/>
          <a:chExt cx="0" cy="0"/>
        </a:xfrm>
      </p:grpSpPr>
      <p:sp>
        <p:nvSpPr>
          <p:cNvPr id="68" name="Google Shape;68;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7"/>
          <p:cNvSpPr>
            <a:spLocks noGrp="1"/>
          </p:cNvSpPr>
          <p:nvPr>
            <p:ph type="pic" idx="2"/>
          </p:nvPr>
        </p:nvSpPr>
        <p:spPr>
          <a:xfrm>
            <a:off x="5183188" y="987425"/>
            <a:ext cx="6172200" cy="4873625"/>
          </a:xfrm>
          <a:prstGeom prst="rect">
            <a:avLst/>
          </a:prstGeom>
          <a:noFill/>
          <a:ln>
            <a:noFill/>
          </a:ln>
        </p:spPr>
      </p:sp>
      <p:sp>
        <p:nvSpPr>
          <p:cNvPr id="70" name="Google Shape;70;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1" name="Google Shape;7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4"/>
        <p:cNvGrpSpPr/>
        <p:nvPr/>
      </p:nvGrpSpPr>
      <p:grpSpPr>
        <a:xfrm>
          <a:off x="0" y="0"/>
          <a:ext cx="0" cy="0"/>
          <a:chOff x="0" y="0"/>
          <a:chExt cx="0" cy="0"/>
        </a:xfrm>
      </p:grpSpPr>
      <p:sp>
        <p:nvSpPr>
          <p:cNvPr id="75" name="Google Shape;75;p6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8"/>
          <p:cNvSpPr txBox="1">
            <a:spLocks noGrp="1"/>
          </p:cNvSpPr>
          <p:nvPr>
            <p:ph type="body" idx="1"/>
          </p:nvPr>
        </p:nvSpPr>
        <p:spPr>
          <a:xfrm rot="5400000">
            <a:off x="3727452" y="-1922463"/>
            <a:ext cx="5237162" cy="1132046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0"/>
        <p:cNvGrpSpPr/>
        <p:nvPr/>
      </p:nvGrpSpPr>
      <p:grpSpPr>
        <a:xfrm>
          <a:off x="0" y="0"/>
          <a:ext cx="0" cy="0"/>
          <a:chOff x="0" y="0"/>
          <a:chExt cx="0" cy="0"/>
        </a:xfrm>
      </p:grpSpPr>
      <p:sp>
        <p:nvSpPr>
          <p:cNvPr id="81" name="Google Shape;81;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3" name="Google Shape;83;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002060"/>
              </a:buClr>
              <a:buSzPts val="4400"/>
              <a:buFont typeface="Calibri"/>
              <a:buNone/>
              <a:defRPr sz="44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0C0"/>
              </a:buClr>
              <a:buSzPts val="2800"/>
              <a:buFont typeface="Arial"/>
              <a:buChar char="•"/>
              <a:defRPr sz="28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548135"/>
              </a:buClr>
              <a:buSzPts val="2400"/>
              <a:buFont typeface="Arial"/>
              <a:buChar char="•"/>
              <a:defRPr sz="2400" b="0" i="0" u="none" strike="noStrike" cap="none">
                <a:solidFill>
                  <a:srgbClr val="548135"/>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C000"/>
              </a:buClr>
              <a:buSzPts val="2000"/>
              <a:buFont typeface="Arial"/>
              <a:buChar char="•"/>
              <a:defRPr sz="2000" b="0" i="0" u="none" strike="noStrike" cap="none">
                <a:solidFill>
                  <a:srgbClr val="FFC0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C00000"/>
              </a:buClr>
              <a:buSzPts val="1800"/>
              <a:buFont typeface="Arial"/>
              <a:buChar char="•"/>
              <a:defRPr sz="1800" b="0" i="0" u="none" strike="noStrike" cap="none">
                <a:solidFill>
                  <a:srgbClr val="C00000"/>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p:txBody>
      </p:sp>
      <p:sp>
        <p:nvSpPr>
          <p:cNvPr id="12" name="Google Shape;1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pic>
        <p:nvPicPr>
          <p:cNvPr id="15" name="Google Shape;15;p58" descr="http://www.northsouth.edu/newassets/images/nsu-photo/logo-4.png"/>
          <p:cNvPicPr preferRelativeResize="0"/>
          <p:nvPr/>
        </p:nvPicPr>
        <p:blipFill rotWithShape="1">
          <a:blip r:embed="rId12"/>
          <a:srcRect/>
          <a:stretch>
            <a:fillRect/>
          </a:stretch>
        </p:blipFill>
        <p:spPr>
          <a:xfrm>
            <a:off x="1" y="0"/>
            <a:ext cx="495300" cy="396240"/>
          </a:xfrm>
          <a:prstGeom prst="rect">
            <a:avLst/>
          </a:prstGeom>
          <a:noFill/>
          <a:ln>
            <a:noFill/>
          </a:ln>
        </p:spPr>
      </p:pic>
      <p:cxnSp>
        <p:nvCxnSpPr>
          <p:cNvPr id="16" name="Google Shape;16;p58"/>
          <p:cNvCxnSpPr/>
          <p:nvPr/>
        </p:nvCxnSpPr>
        <p:spPr>
          <a:xfrm rot="10800000" flipH="1">
            <a:off x="792958" y="54768"/>
            <a:ext cx="11001375" cy="46037"/>
          </a:xfrm>
          <a:prstGeom prst="straightConnector1">
            <a:avLst/>
          </a:prstGeom>
          <a:noFill/>
          <a:ln w="19050"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customXml" Target="../ink/ink2.xml"/><Relationship Id="rId3" Type="http://schemas.openxmlformats.org/officeDocument/2006/relationships/image" Target="../media/image54.png"/><Relationship Id="rId2" Type="http://schemas.openxmlformats.org/officeDocument/2006/relationships/customXml" Target="../ink/ink1.xml"/><Relationship Id="rId1"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245809"/>
            <a:ext cx="9144000" cy="1445963"/>
          </a:xfrm>
          <a:prstGeom prst="rect">
            <a:avLst/>
          </a:prstGeom>
          <a:noFill/>
          <a:ln>
            <a:noFill/>
          </a:ln>
        </p:spPr>
        <p:txBody>
          <a:bodyPr spcFirstLastPara="1" wrap="square" lIns="91425" tIns="45700" rIns="91425" bIns="45700" anchor="b" anchorCtr="0">
            <a:normAutofit fontScale="90000"/>
          </a:bodyPr>
          <a:lstStyle/>
          <a:p>
            <a:pPr marL="0" lvl="0" indent="0" rtl="0">
              <a:lnSpc>
                <a:spcPct val="90000"/>
              </a:lnSpc>
              <a:spcBef>
                <a:spcPts val="0"/>
              </a:spcBef>
              <a:spcAft>
                <a:spcPts val="0"/>
              </a:spcAft>
              <a:buClr>
                <a:srgbClr val="002060"/>
              </a:buClr>
              <a:buSzPct val="100000"/>
              <a:buFont typeface="Calibri"/>
              <a:buNone/>
            </a:pPr>
            <a:r>
              <a:rPr lang="en-US" sz="4800"/>
              <a:t>CSE495B (Natural Language Processing)</a:t>
            </a:r>
            <a:br>
              <a:rPr lang="en-US" sz="4800"/>
            </a:br>
            <a:r>
              <a:rPr lang="en-US" sz="4800"/>
              <a:t>Lecture 4</a:t>
            </a:r>
            <a:endParaRPr lang="en-US"/>
          </a:p>
        </p:txBody>
      </p:sp>
      <p:sp>
        <p:nvSpPr>
          <p:cNvPr id="91" name="Google Shape;91;p1"/>
          <p:cNvSpPr txBox="1">
            <a:spLocks noGrp="1"/>
          </p:cNvSpPr>
          <p:nvPr>
            <p:ph type="subTitle" idx="1"/>
          </p:nvPr>
        </p:nvSpPr>
        <p:spPr>
          <a:xfrm>
            <a:off x="1524000" y="4194453"/>
            <a:ext cx="9144000" cy="572583"/>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US" sz="2000"/>
              <a:t>Neural Networks </a:t>
            </a:r>
            <a:r>
              <a:rPr lang="en-US" sz="2000" err="1"/>
              <a:t>Basics</a:t>
            </a:r>
            <a:endParaRPr lang="en-US" err="1"/>
          </a:p>
        </p:txBody>
      </p:sp>
      <p:sp>
        <p:nvSpPr>
          <p:cNvPr id="92" name="Google Shape;92;p1"/>
          <p:cNvSpPr/>
          <p:nvPr/>
        </p:nvSpPr>
        <p:spPr>
          <a:xfrm>
            <a:off x="0" y="1"/>
            <a:ext cx="5920619" cy="2130951"/>
          </a:xfrm>
          <a:custGeom>
            <a:avLst/>
            <a:gdLst/>
            <a:ahLst/>
            <a:cxnLst/>
            <a:rect l="l" t="t" r="r" b="b"/>
            <a:pathLst>
              <a:path w="5920619" h="2130951" extrusionOk="0">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097839" y="0"/>
            <a:ext cx="7094160" cy="2130952"/>
          </a:xfrm>
          <a:custGeom>
            <a:avLst/>
            <a:gdLst/>
            <a:ahLst/>
            <a:cxnLst/>
            <a:rect l="l" t="t" r="r" b="b"/>
            <a:pathLst>
              <a:path w="7094160" h="2130952" extrusionOk="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flipH="1">
            <a:off x="6149721" y="4682920"/>
            <a:ext cx="4522796" cy="2175080"/>
          </a:xfrm>
          <a:custGeom>
            <a:avLst/>
            <a:gdLst/>
            <a:ahLst/>
            <a:cxnLst/>
            <a:rect l="l" t="t" r="r" b="b"/>
            <a:pathLst>
              <a:path w="4522796" h="2175080" extrusionOk="0">
                <a:moveTo>
                  <a:pt x="3515449" y="0"/>
                </a:moveTo>
                <a:lnTo>
                  <a:pt x="0" y="0"/>
                </a:lnTo>
                <a:lnTo>
                  <a:pt x="0" y="2175080"/>
                </a:lnTo>
                <a:lnTo>
                  <a:pt x="4522796" y="217508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Calibri"/>
              <a:ea typeface="Calibri"/>
              <a:cs typeface="Calibri"/>
              <a:sym typeface="Calibri"/>
            </a:endParaRPr>
          </a:p>
        </p:txBody>
      </p:sp>
      <p:sp>
        <p:nvSpPr>
          <p:cNvPr id="95" name="Google Shape;95;p1"/>
          <p:cNvSpPr/>
          <p:nvPr/>
        </p:nvSpPr>
        <p:spPr>
          <a:xfrm>
            <a:off x="6266810" y="4682920"/>
            <a:ext cx="5925190" cy="2175080"/>
          </a:xfrm>
          <a:custGeom>
            <a:avLst/>
            <a:gdLst/>
            <a:ahLst/>
            <a:cxnLst/>
            <a:rect l="l" t="t" r="r" b="b"/>
            <a:pathLst>
              <a:path w="5925190" h="2175080" extrusionOk="0">
                <a:moveTo>
                  <a:pt x="1007347" y="0"/>
                </a:moveTo>
                <a:lnTo>
                  <a:pt x="5925190" y="0"/>
                </a:lnTo>
                <a:lnTo>
                  <a:pt x="5925190" y="2175080"/>
                </a:lnTo>
                <a:lnTo>
                  <a:pt x="0" y="217508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0" y="4682920"/>
            <a:ext cx="7114535" cy="2175080"/>
          </a:xfrm>
          <a:custGeom>
            <a:avLst/>
            <a:gdLst/>
            <a:ahLst/>
            <a:cxnLst/>
            <a:rect l="l" t="t" r="r" b="b"/>
            <a:pathLst>
              <a:path w="7114535" h="2175080" extrusionOk="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Perceptron</a:t>
            </a:r>
            <a:endParaRPr lang="en-US" sz="4400" b="0" strike="noStrike" spc="-1">
              <a:solidFill>
                <a:srgbClr val="000000"/>
              </a:solidFill>
              <a:latin typeface="Calibri"/>
            </a:endParaRPr>
          </a:p>
        </p:txBody>
      </p:sp>
      <p:sp>
        <p:nvSpPr>
          <p:cNvPr id="106"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simplest neural network is a perceptron, which consists of a single neuron</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Conceptually, the perceptron functions is like a biological neuron</a:t>
            </a:r>
            <a:endParaRPr lang="en-US" sz="2800" b="0" strike="noStrike" spc="-1">
              <a:solidFill>
                <a:schemeClr val="accent5">
                  <a:lumMod val="76000"/>
                </a:schemeClr>
              </a:solidFill>
              <a:latin typeface="Calibri"/>
            </a:endParaRPr>
          </a:p>
          <a:p>
            <a:pPr>
              <a:lnSpc>
                <a:spcPct val="90000"/>
              </a:lnSpc>
              <a:spcBef>
                <a:spcPts val="1000"/>
              </a:spcBef>
            </a:pPr>
            <a:endParaRPr lang="en-US" sz="2800" b="0" strike="noStrike" spc="-1">
              <a:solidFill>
                <a:schemeClr val="accent5">
                  <a:lumMod val="76000"/>
                </a:schemeClr>
              </a:solidFill>
              <a:latin typeface="Calibri"/>
            </a:endParaRPr>
          </a:p>
        </p:txBody>
      </p:sp>
      <p:pic>
        <p:nvPicPr>
          <p:cNvPr id="107" name="Picture 4"/>
          <p:cNvPicPr/>
          <p:nvPr/>
        </p:nvPicPr>
        <p:blipFill>
          <a:blip r:embed="rId1"/>
          <a:stretch>
            <a:fillRect/>
          </a:stretch>
        </p:blipFill>
        <p:spPr>
          <a:xfrm>
            <a:off x="2877840" y="3048120"/>
            <a:ext cx="6167880" cy="3067560"/>
          </a:xfrm>
          <a:prstGeom prst="rect">
            <a:avLst/>
          </a:prstGeom>
          <a:ln>
            <a:noFill/>
          </a:ln>
        </p:spPr>
      </p:pic>
      <p:grpSp>
        <p:nvGrpSpPr>
          <p:cNvPr id="108" name="Group 3"/>
          <p:cNvGrpSpPr/>
          <p:nvPr/>
        </p:nvGrpSpPr>
        <p:grpSpPr>
          <a:xfrm>
            <a:off x="0" y="0"/>
            <a:ext cx="0" cy="0"/>
            <a:chOff x="0" y="0"/>
            <a:chExt cx="0" cy="0"/>
          </a:xfrm>
        </p:grpSpPr>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Perceptron</a:t>
            </a:r>
            <a:endParaRPr lang="en-US" sz="4400" b="0" strike="noStrike" spc="-1">
              <a:solidFill>
                <a:srgbClr val="000000"/>
              </a:solidFill>
              <a:latin typeface="Calibri"/>
            </a:endParaRPr>
          </a:p>
        </p:txBody>
      </p:sp>
      <p:sp>
        <p:nvSpPr>
          <p:cNvPr id="110"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artificial neuron performs two consecutive functions</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It calculates the weighted sum of the inputs to represent the total strength of the input signals</a:t>
            </a:r>
            <a:endParaRPr lang="en-US" sz="2400" b="0" strike="noStrike" spc="-1">
              <a:solidFill>
                <a:schemeClr val="accent6">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Then it applies a step function to the result </a:t>
            </a:r>
            <a:endParaRPr lang="en-US" sz="2400" b="0" strike="noStrike" spc="-1">
              <a:solidFill>
                <a:schemeClr val="accent6">
                  <a:lumMod val="76000"/>
                </a:schemeClr>
              </a:solidFill>
              <a:latin typeface="Calibri"/>
            </a:endParaRPr>
          </a:p>
          <a:p>
            <a:pPr marL="1143000" lvl="2" indent="-227965">
              <a:lnSpc>
                <a:spcPct val="90000"/>
              </a:lnSpc>
              <a:spcBef>
                <a:spcPts val="500"/>
              </a:spcBef>
              <a:buClr>
                <a:srgbClr val="002060"/>
              </a:buClr>
              <a:buFont typeface="Arial"/>
              <a:buChar char="•"/>
            </a:pPr>
            <a:r>
              <a:rPr lang="en-US" sz="2000" b="0" strike="noStrike" spc="-1">
                <a:solidFill>
                  <a:srgbClr val="FFC000"/>
                </a:solidFill>
                <a:latin typeface="Calibri"/>
              </a:rPr>
              <a:t>To determine whether to fire the output 1 if the signal exceeds a certain threshold or </a:t>
            </a:r>
            <a:endParaRPr lang="en-US" sz="2000" b="0" strike="noStrike" spc="-1">
              <a:solidFill>
                <a:srgbClr val="FFC000"/>
              </a:solidFill>
              <a:latin typeface="Calibri"/>
            </a:endParaRPr>
          </a:p>
          <a:p>
            <a:pPr marL="1143000" lvl="2" indent="-227965">
              <a:lnSpc>
                <a:spcPct val="90000"/>
              </a:lnSpc>
              <a:spcBef>
                <a:spcPts val="500"/>
              </a:spcBef>
              <a:buClr>
                <a:srgbClr val="002060"/>
              </a:buClr>
              <a:buFont typeface="Arial"/>
              <a:buChar char="•"/>
            </a:pPr>
            <a:r>
              <a:rPr lang="en-US" sz="2000" b="0" strike="noStrike" spc="-1">
                <a:solidFill>
                  <a:srgbClr val="FFC000"/>
                </a:solidFill>
                <a:latin typeface="Calibri"/>
              </a:rPr>
              <a:t>0 if the signal doesn’t exceed the threshold</a:t>
            </a:r>
            <a:endParaRPr lang="en-US" sz="2000" b="0" strike="noStrike" spc="-1">
              <a:solidFill>
                <a:srgbClr val="FFC000"/>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Not all input features are equally useful or important.</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To represent that, each input node is assigned a weight value, called its connection weight, to reflect its importance</a:t>
            </a:r>
            <a:endParaRPr lang="en-US" sz="2400" b="0" strike="noStrike" spc="-1">
              <a:solidFill>
                <a:schemeClr val="accent6">
                  <a:lumMod val="76000"/>
                </a:schemeClr>
              </a:solidFill>
              <a:latin typeface="Calibri"/>
            </a:endParaRPr>
          </a:p>
        </p:txBody>
      </p:sp>
      <p:grpSp>
        <p:nvGrpSpPr>
          <p:cNvPr id="111" name="Group 3"/>
          <p:cNvGrpSpPr/>
          <p:nvPr/>
        </p:nvGrpSpPr>
        <p:grpSpPr>
          <a:xfrm>
            <a:off x="0" y="0"/>
            <a:ext cx="0" cy="0"/>
            <a:chOff x="0" y="0"/>
            <a:chExt cx="0" cy="0"/>
          </a:xfrm>
        </p:grpSpPr>
      </p:grpSp>
      <p:grpSp>
        <p:nvGrpSpPr>
          <p:cNvPr id="112" name="Group 4"/>
          <p:cNvGrpSpPr/>
          <p:nvPr/>
        </p:nvGrpSpPr>
        <p:grpSpPr>
          <a:xfrm>
            <a:off x="0" y="0"/>
            <a:ext cx="0" cy="0"/>
            <a:chOff x="0" y="0"/>
            <a:chExt cx="0" cy="0"/>
          </a:xfrm>
        </p:grpSpPr>
      </p:grpSp>
      <p:grpSp>
        <p:nvGrpSpPr>
          <p:cNvPr id="113" name="Group 5"/>
          <p:cNvGrpSpPr/>
          <p:nvPr/>
        </p:nvGrpSpPr>
        <p:grpSpPr>
          <a:xfrm>
            <a:off x="0" y="0"/>
            <a:ext cx="0" cy="0"/>
            <a:chOff x="0" y="0"/>
            <a:chExt cx="0" cy="0"/>
          </a:xfrm>
        </p:grpSpPr>
      </p:grpSp>
      <p:grpSp>
        <p:nvGrpSpPr>
          <p:cNvPr id="114" name="Group 6"/>
          <p:cNvGrpSpPr/>
          <p:nvPr/>
        </p:nvGrpSpPr>
        <p:grpSpPr>
          <a:xfrm>
            <a:off x="0" y="0"/>
            <a:ext cx="0" cy="0"/>
            <a:chOff x="0" y="0"/>
            <a:chExt cx="0" cy="0"/>
          </a:xfrm>
        </p:grpSpPr>
      </p:grpSp>
      <p:grpSp>
        <p:nvGrpSpPr>
          <p:cNvPr id="115" name="Group 7"/>
          <p:cNvGrpSpPr/>
          <p:nvPr/>
        </p:nvGrpSpPr>
        <p:grpSpPr>
          <a:xfrm>
            <a:off x="0" y="0"/>
            <a:ext cx="0" cy="0"/>
            <a:chOff x="0" y="0"/>
            <a:chExt cx="0" cy="0"/>
          </a:xfrm>
        </p:grpSpPr>
      </p:grpSp>
      <p:grpSp>
        <p:nvGrpSpPr>
          <p:cNvPr id="116" name="Group 8"/>
          <p:cNvGrpSpPr/>
          <p:nvPr/>
        </p:nvGrpSpPr>
        <p:grpSpPr>
          <a:xfrm>
            <a:off x="0" y="0"/>
            <a:ext cx="0" cy="0"/>
            <a:chOff x="0" y="0"/>
            <a:chExt cx="0" cy="0"/>
          </a:xfrm>
        </p:grpSpPr>
      </p:grpSp>
      <p:grpSp>
        <p:nvGrpSpPr>
          <p:cNvPr id="117" name="Group 9"/>
          <p:cNvGrpSpPr/>
          <p:nvPr/>
        </p:nvGrpSpPr>
        <p:grpSpPr>
          <a:xfrm>
            <a:off x="0" y="0"/>
            <a:ext cx="0" cy="0"/>
            <a:chOff x="0" y="0"/>
            <a:chExt cx="0" cy="0"/>
          </a:xfrm>
        </p:grpSpPr>
      </p:grpSp>
      <p:grpSp>
        <p:nvGrpSpPr>
          <p:cNvPr id="118" name="Group 10"/>
          <p:cNvGrpSpPr/>
          <p:nvPr/>
        </p:nvGrpSpPr>
        <p:grpSpPr>
          <a:xfrm>
            <a:off x="0" y="0"/>
            <a:ext cx="0" cy="0"/>
            <a:chOff x="0" y="0"/>
            <a:chExt cx="0" cy="0"/>
          </a:xfrm>
        </p:grpSpPr>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Main components of a Neural Network</a:t>
            </a:r>
            <a:endParaRPr lang="en-US" sz="4400" b="0" strike="noStrike" spc="-1">
              <a:solidFill>
                <a:srgbClr val="000000"/>
              </a:solidFill>
              <a:latin typeface="Calibri"/>
            </a:endParaRPr>
          </a:p>
        </p:txBody>
      </p:sp>
      <p:sp>
        <p:nvSpPr>
          <p:cNvPr id="124" name="TextShape 2"/>
          <p:cNvSpPr txBox="1"/>
          <p:nvPr/>
        </p:nvSpPr>
        <p:spPr>
          <a:xfrm>
            <a:off x="685800" y="1119240"/>
            <a:ext cx="11320200" cy="5236920"/>
          </a:xfrm>
          <a:prstGeom prst="rect">
            <a:avLst/>
          </a:prstGeom>
          <a:noFill/>
          <a:ln>
            <a:noFill/>
          </a:ln>
        </p:spPr>
        <p:txBody>
          <a:bodyPr lIns="91440" tIns="45720" rIns="91440" bIns="45720" anchor="t">
            <a:normAutofit fontScale="91000" lnSpcReduction="10000"/>
          </a:bodyPr>
          <a:lstStyle/>
          <a:p>
            <a:pPr marL="228600" indent="-227965">
              <a:lnSpc>
                <a:spcPct val="90000"/>
              </a:lnSpc>
              <a:spcBef>
                <a:spcPts val="1000"/>
              </a:spcBef>
              <a:buClr>
                <a:srgbClr val="00B0F0"/>
              </a:buClr>
              <a:buFont typeface="Arial"/>
              <a:buChar char="•"/>
            </a:pPr>
            <a:r>
              <a:rPr lang="en-US" sz="2800" b="1" i="1" strike="noStrike" spc="-1">
                <a:solidFill>
                  <a:schemeClr val="accent5">
                    <a:lumMod val="76000"/>
                  </a:schemeClr>
                </a:solidFill>
                <a:latin typeface="Calibri"/>
              </a:rPr>
              <a:t>Input layer</a:t>
            </a:r>
            <a:r>
              <a:rPr lang="en-US" sz="2800" b="0" strike="noStrike" spc="-1">
                <a:solidFill>
                  <a:schemeClr val="accent5">
                    <a:lumMod val="76000"/>
                  </a:schemeClr>
                </a:solidFill>
                <a:latin typeface="Calibri"/>
              </a:rPr>
              <a:t>— Contains the feature vector</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1" i="1" strike="noStrike" spc="-1">
                <a:solidFill>
                  <a:schemeClr val="accent5">
                    <a:lumMod val="76000"/>
                  </a:schemeClr>
                </a:solidFill>
                <a:latin typeface="Calibri"/>
              </a:rPr>
              <a:t>Hidden layers</a:t>
            </a:r>
            <a:r>
              <a:rPr lang="en-US" sz="2800" b="0" strike="noStrike" spc="-1">
                <a:solidFill>
                  <a:schemeClr val="accent5">
                    <a:lumMod val="76000"/>
                  </a:schemeClr>
                </a:solidFill>
                <a:latin typeface="Calibri"/>
              </a:rPr>
              <a:t>—The neurons are stacked on top of each other in hidden layers</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They are called “hidden” layers because we don’t see or control the input going into these layers or the output</a:t>
            </a:r>
            <a:endParaRPr lang="en-US" sz="2400" b="0" strike="noStrike" spc="-1">
              <a:solidFill>
                <a:schemeClr val="accent6">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All we do is feed the feature vector to the input layer and see the output coming out of the output layer</a:t>
            </a:r>
            <a:endParaRPr lang="en-US" sz="2400" b="0" strike="noStrike" spc="-1">
              <a:solidFill>
                <a:schemeClr val="accent6">
                  <a:lumMod val="76000"/>
                </a:schemeClr>
              </a:solidFill>
              <a:latin typeface="Calibri"/>
            </a:endParaRPr>
          </a:p>
          <a:p>
            <a:pPr marL="228600" indent="-227965">
              <a:lnSpc>
                <a:spcPct val="90000"/>
              </a:lnSpc>
              <a:spcBef>
                <a:spcPts val="1000"/>
              </a:spcBef>
              <a:buClr>
                <a:srgbClr val="00B0F0"/>
              </a:buClr>
              <a:buFont typeface="Arial"/>
              <a:buChar char="•"/>
            </a:pPr>
            <a:r>
              <a:rPr lang="en-US" sz="2800" b="1" i="1" strike="noStrike" spc="-1">
                <a:solidFill>
                  <a:schemeClr val="accent5">
                    <a:lumMod val="76000"/>
                  </a:schemeClr>
                </a:solidFill>
                <a:latin typeface="Calibri"/>
              </a:rPr>
              <a:t>Weight connections (edges)</a:t>
            </a:r>
            <a:r>
              <a:rPr lang="en-US" sz="2800" b="0" strike="noStrike" spc="-1">
                <a:solidFill>
                  <a:schemeClr val="accent5">
                    <a:lumMod val="76000"/>
                  </a:schemeClr>
                </a:solidFill>
                <a:latin typeface="Calibri"/>
              </a:rPr>
              <a:t>—Weights are assigned to each connection between the nodes to reflect the importance of their influence on the final output prediction </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In graph network terms, these are called </a:t>
            </a:r>
            <a:r>
              <a:rPr lang="en-US" sz="2400" b="0" i="1" strike="noStrike" spc="-1">
                <a:solidFill>
                  <a:schemeClr val="accent6">
                    <a:lumMod val="76000"/>
                  </a:schemeClr>
                </a:solidFill>
                <a:latin typeface="Calibri"/>
              </a:rPr>
              <a:t>edges </a:t>
            </a:r>
            <a:r>
              <a:rPr lang="en-US" sz="2400" b="0" strike="noStrike" spc="-1">
                <a:solidFill>
                  <a:schemeClr val="accent6">
                    <a:lumMod val="76000"/>
                  </a:schemeClr>
                </a:solidFill>
                <a:latin typeface="Calibri"/>
              </a:rPr>
              <a:t>connecting the </a:t>
            </a:r>
            <a:r>
              <a:rPr lang="en-US" sz="2400" b="0" i="1" strike="noStrike" spc="-1">
                <a:solidFill>
                  <a:schemeClr val="accent6">
                    <a:lumMod val="76000"/>
                  </a:schemeClr>
                </a:solidFill>
                <a:latin typeface="Calibri"/>
              </a:rPr>
              <a:t>nodes</a:t>
            </a:r>
            <a:endParaRPr lang="en-US" sz="2400" b="0" strike="noStrike" spc="-1">
              <a:solidFill>
                <a:schemeClr val="accent6">
                  <a:lumMod val="76000"/>
                </a:schemeClr>
              </a:solidFill>
              <a:latin typeface="Calibri"/>
            </a:endParaRPr>
          </a:p>
          <a:p>
            <a:pPr marL="228600" indent="-227965">
              <a:lnSpc>
                <a:spcPct val="90000"/>
              </a:lnSpc>
              <a:spcBef>
                <a:spcPts val="1000"/>
              </a:spcBef>
              <a:buClr>
                <a:srgbClr val="00B0F0"/>
              </a:buClr>
              <a:buFont typeface="Arial"/>
              <a:buChar char="•"/>
            </a:pPr>
            <a:r>
              <a:rPr lang="en-US" sz="2800" b="1" i="1" strike="noStrike" spc="-1">
                <a:solidFill>
                  <a:schemeClr val="accent5">
                    <a:lumMod val="76000"/>
                  </a:schemeClr>
                </a:solidFill>
                <a:latin typeface="Calibri"/>
              </a:rPr>
              <a:t>Output layer </a:t>
            </a:r>
            <a:r>
              <a:rPr lang="en-US" sz="2800" b="0" strike="noStrike" spc="-1">
                <a:solidFill>
                  <a:schemeClr val="accent5">
                    <a:lumMod val="76000"/>
                  </a:schemeClr>
                </a:solidFill>
                <a:latin typeface="Calibri"/>
              </a:rPr>
              <a:t>— We get the answer or prediction from our model from the output layer </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Depending on the setup of the neural network, the final output </a:t>
            </a:r>
            <a:endParaRPr lang="en-US" sz="2400" b="0" strike="noStrike" spc="-1">
              <a:solidFill>
                <a:schemeClr val="accent6">
                  <a:lumMod val="76000"/>
                </a:schemeClr>
              </a:solidFill>
              <a:latin typeface="Calibri"/>
            </a:endParaRPr>
          </a:p>
          <a:p>
            <a:pPr marL="1143000" lvl="2" indent="-227965">
              <a:lnSpc>
                <a:spcPct val="90000"/>
              </a:lnSpc>
              <a:spcBef>
                <a:spcPts val="500"/>
              </a:spcBef>
              <a:buClr>
                <a:srgbClr val="002060"/>
              </a:buClr>
              <a:buFont typeface="Arial"/>
              <a:buChar char="•"/>
            </a:pPr>
            <a:r>
              <a:rPr lang="en-US" sz="2000" b="0" strike="noStrike" spc="-1">
                <a:solidFill>
                  <a:srgbClr val="FFC000"/>
                </a:solidFill>
                <a:latin typeface="Calibri"/>
              </a:rPr>
              <a:t>Could be a real-valued output (regression problem) or </a:t>
            </a:r>
            <a:endParaRPr lang="en-US" sz="2000" b="0" strike="noStrike" spc="-1">
              <a:solidFill>
                <a:srgbClr val="FFC000"/>
              </a:solidFill>
              <a:latin typeface="Calibri"/>
            </a:endParaRPr>
          </a:p>
          <a:p>
            <a:pPr marL="1143000" lvl="2" indent="-227965">
              <a:lnSpc>
                <a:spcPct val="90000"/>
              </a:lnSpc>
              <a:spcBef>
                <a:spcPts val="500"/>
              </a:spcBef>
              <a:buClr>
                <a:srgbClr val="002060"/>
              </a:buClr>
              <a:buFont typeface="Arial"/>
              <a:buChar char="•"/>
            </a:pPr>
            <a:r>
              <a:rPr lang="en-US" sz="2000" b="0" strike="noStrike" spc="-1">
                <a:solidFill>
                  <a:srgbClr val="FFC000"/>
                </a:solidFill>
                <a:latin typeface="Calibri"/>
              </a:rPr>
              <a:t>A set of probabilities (classification problem) </a:t>
            </a:r>
            <a:br>
              <a:rPr>
                <a:solidFill>
                  <a:srgbClr val="FFC000"/>
                </a:solidFill>
              </a:rPr>
            </a:br>
            <a:br/>
            <a:r>
              <a:rPr lang="en-US" sz="2000" b="0" strike="noStrike" spc="-1">
                <a:solidFill>
                  <a:srgbClr val="002060"/>
                </a:solidFill>
                <a:latin typeface="Calibri"/>
              </a:rPr>
              <a:t> </a:t>
            </a:r>
            <a:endParaRPr lang="en-US" sz="2000" b="0" strike="noStrike" spc="-1">
              <a:solidFill>
                <a:srgbClr val="C00000"/>
              </a:solidFill>
              <a:latin typeface="Calibri"/>
            </a:endParaRPr>
          </a:p>
        </p:txBody>
      </p:sp>
      <p:grpSp>
        <p:nvGrpSpPr>
          <p:cNvPr id="125" name="Group 3"/>
          <p:cNvGrpSpPr/>
          <p:nvPr/>
        </p:nvGrpSpPr>
        <p:grpSpPr>
          <a:xfrm>
            <a:off x="0" y="0"/>
            <a:ext cx="0" cy="0"/>
            <a:chOff x="0" y="0"/>
            <a:chExt cx="0" cy="0"/>
          </a:xfrm>
        </p:grpSpPr>
      </p:grpSp>
      <p:grpSp>
        <p:nvGrpSpPr>
          <p:cNvPr id="126" name="Group 4"/>
          <p:cNvGrpSpPr/>
          <p:nvPr/>
        </p:nvGrpSpPr>
        <p:grpSpPr>
          <a:xfrm>
            <a:off x="0" y="0"/>
            <a:ext cx="0" cy="0"/>
            <a:chOff x="0" y="0"/>
            <a:chExt cx="0" cy="0"/>
          </a:xfrm>
        </p:grpSpPr>
      </p:grpSp>
      <p:grpSp>
        <p:nvGrpSpPr>
          <p:cNvPr id="127" name="Group 5"/>
          <p:cNvGrpSpPr/>
          <p:nvPr/>
        </p:nvGrpSpPr>
        <p:grpSpPr>
          <a:xfrm>
            <a:off x="0" y="0"/>
            <a:ext cx="0" cy="0"/>
            <a:chOff x="0" y="0"/>
            <a:chExt cx="0" cy="0"/>
          </a:xfrm>
        </p:grpSpPr>
      </p:grpSp>
      <p:grpSp>
        <p:nvGrpSpPr>
          <p:cNvPr id="128" name="Group 6"/>
          <p:cNvGrpSpPr/>
          <p:nvPr/>
        </p:nvGrpSpPr>
        <p:grpSpPr>
          <a:xfrm>
            <a:off x="0" y="0"/>
            <a:ext cx="0" cy="0"/>
            <a:chOff x="0" y="0"/>
            <a:chExt cx="0" cy="0"/>
          </a:xfrm>
        </p:grpSpPr>
      </p:grpSp>
      <p:grpSp>
        <p:nvGrpSpPr>
          <p:cNvPr id="129" name="Group 7"/>
          <p:cNvGrpSpPr/>
          <p:nvPr/>
        </p:nvGrpSpPr>
        <p:grpSpPr>
          <a:xfrm>
            <a:off x="0" y="0"/>
            <a:ext cx="0" cy="0"/>
            <a:chOff x="0" y="0"/>
            <a:chExt cx="0" cy="0"/>
          </a:xfrm>
        </p:grpSpPr>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Activation functions</a:t>
            </a:r>
            <a:endParaRPr lang="en-US" sz="4400" b="0" strike="noStrike" spc="-1">
              <a:solidFill>
                <a:srgbClr val="000000"/>
              </a:solidFill>
              <a:latin typeface="Calibri"/>
            </a:endParaRPr>
          </a:p>
        </p:txBody>
      </p:sp>
      <p:sp>
        <p:nvSpPr>
          <p:cNvPr id="131"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Activation functions are sometimes referred to as </a:t>
            </a:r>
            <a:r>
              <a:rPr lang="en-US" sz="2800" b="0" i="1" strike="noStrike" spc="-1">
                <a:solidFill>
                  <a:schemeClr val="accent5">
                    <a:lumMod val="76000"/>
                  </a:schemeClr>
                </a:solidFill>
                <a:latin typeface="Calibri"/>
              </a:rPr>
              <a:t>transfer functions </a:t>
            </a:r>
            <a:r>
              <a:rPr lang="en-US" sz="2800" b="0" strike="noStrike" spc="-1">
                <a:solidFill>
                  <a:schemeClr val="accent5">
                    <a:lumMod val="76000"/>
                  </a:schemeClr>
                </a:solidFill>
                <a:latin typeface="Calibri"/>
              </a:rPr>
              <a:t>or </a:t>
            </a:r>
            <a:r>
              <a:rPr lang="en-US" sz="2800" b="0" i="1" strike="noStrike" spc="-1">
                <a:solidFill>
                  <a:schemeClr val="accent5">
                    <a:lumMod val="76000"/>
                  </a:schemeClr>
                </a:solidFill>
                <a:latin typeface="Calibri"/>
              </a:rPr>
              <a:t>nonlinearities </a:t>
            </a:r>
            <a:r>
              <a:rPr lang="en-US" sz="2800" b="0" strike="noStrike" spc="-1">
                <a:solidFill>
                  <a:schemeClr val="accent5">
                    <a:lumMod val="76000"/>
                  </a:schemeClr>
                </a:solidFill>
                <a:latin typeface="Calibri"/>
              </a:rPr>
              <a:t>because they transform the linear combination of a weighted sum into a nonlinear model</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purpose of the activation function is to introduce nonlinearity into the network </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Without it, a multilayer perceptron will perform similarly to a single perceptron no matter how many layers we add</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Activation functions are needed to restrict the output value to a certain finite value </a:t>
            </a:r>
            <a:br/>
            <a:br/>
            <a:r>
              <a:rPr lang="en-US" sz="2800" b="0" strike="noStrike" spc="-1">
                <a:solidFill>
                  <a:srgbClr val="00B0F0"/>
                </a:solidFill>
                <a:latin typeface="Calibri"/>
              </a:rPr>
              <a:t> </a:t>
            </a:r>
            <a:endParaRPr lang="en-US" sz="2800" b="0" strike="noStrike" spc="-1">
              <a:solidFill>
                <a:srgbClr val="00B0F0"/>
              </a:solidFill>
              <a:latin typeface="Calibri"/>
            </a:endParaRPr>
          </a:p>
        </p:txBody>
      </p:sp>
      <p:grpSp>
        <p:nvGrpSpPr>
          <p:cNvPr id="132" name="Group 3"/>
          <p:cNvGrpSpPr/>
          <p:nvPr/>
        </p:nvGrpSpPr>
        <p:grpSpPr>
          <a:xfrm>
            <a:off x="0" y="0"/>
            <a:ext cx="0" cy="0"/>
            <a:chOff x="0" y="0"/>
            <a:chExt cx="0" cy="0"/>
          </a:xfrm>
        </p:grpSpPr>
      </p:grpSp>
      <p:grpSp>
        <p:nvGrpSpPr>
          <p:cNvPr id="133" name="Group 4"/>
          <p:cNvGrpSpPr/>
          <p:nvPr/>
        </p:nvGrpSpPr>
        <p:grpSpPr>
          <a:xfrm>
            <a:off x="0" y="0"/>
            <a:ext cx="0" cy="0"/>
            <a:chOff x="0" y="0"/>
            <a:chExt cx="0" cy="0"/>
          </a:xfrm>
        </p:grpSpPr>
      </p:grpSp>
      <p:grpSp>
        <p:nvGrpSpPr>
          <p:cNvPr id="134" name="Group 5"/>
          <p:cNvGrpSpPr/>
          <p:nvPr/>
        </p:nvGrpSpPr>
        <p:grpSpPr>
          <a:xfrm>
            <a:off x="0" y="0"/>
            <a:ext cx="0" cy="0"/>
            <a:chOff x="0" y="0"/>
            <a:chExt cx="0" cy="0"/>
          </a:xfrm>
        </p:grpSpPr>
      </p:grpSp>
      <p:grpSp>
        <p:nvGrpSpPr>
          <p:cNvPr id="135" name="Group 6"/>
          <p:cNvGrpSpPr/>
          <p:nvPr/>
        </p:nvGrpSpPr>
        <p:grpSpPr>
          <a:xfrm>
            <a:off x="0" y="0"/>
            <a:ext cx="0" cy="0"/>
            <a:chOff x="0" y="0"/>
            <a:chExt cx="0" cy="0"/>
          </a:xfrm>
        </p:grpSpPr>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Sigmoid/Logistic Activation Function</a:t>
            </a:r>
            <a:endParaRPr lang="en-US" sz="4400" b="0" strike="noStrike" spc="-1">
              <a:solidFill>
                <a:srgbClr val="000000"/>
              </a:solidFill>
              <a:latin typeface="Calibri"/>
            </a:endParaRPr>
          </a:p>
        </p:txBody>
      </p:sp>
      <p:sp>
        <p:nvSpPr>
          <p:cNvPr id="151" name="TextShape 2"/>
          <p:cNvSpPr txBox="1"/>
          <p:nvPr/>
        </p:nvSpPr>
        <p:spPr>
          <a:xfrm>
            <a:off x="265320" y="1119240"/>
            <a:ext cx="7008480" cy="5236920"/>
          </a:xfrm>
          <a:prstGeom prst="rect">
            <a:avLst/>
          </a:prstGeom>
          <a:noFill/>
          <a:ln>
            <a:noFill/>
          </a:ln>
        </p:spPr>
        <p:txBody>
          <a:bodyPr lIns="91440" tIns="45720" rIns="91440" bIns="45720" anchor="t">
            <a:normAutofit fontScale="94000"/>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This is one of the most common activation functions</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is often used in binary classifiers to predict the </a:t>
            </a:r>
            <a:r>
              <a:rPr lang="en-US" sz="2800" b="0" i="1" strike="noStrike" spc="-1">
                <a:solidFill>
                  <a:schemeClr val="accent5">
                    <a:lumMod val="76000"/>
                  </a:schemeClr>
                </a:solidFill>
                <a:latin typeface="Calibri"/>
              </a:rPr>
              <a:t>probability </a:t>
            </a:r>
            <a:r>
              <a:rPr lang="en-US" sz="2800" b="0" strike="noStrike" spc="-1">
                <a:solidFill>
                  <a:schemeClr val="accent5">
                    <a:lumMod val="76000"/>
                  </a:schemeClr>
                </a:solidFill>
                <a:latin typeface="Calibri"/>
              </a:rPr>
              <a:t>of a class when we have two classes</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Sigmoid or logistic functions convert infinite</a:t>
            </a:r>
            <a:br>
              <a:rPr>
                <a:solidFill>
                  <a:schemeClr val="accent5">
                    <a:lumMod val="76000"/>
                  </a:schemeClr>
                </a:solidFill>
              </a:rPr>
            </a:br>
            <a:r>
              <a:rPr lang="en-US" sz="2800" b="0" strike="noStrike" spc="-1">
                <a:solidFill>
                  <a:schemeClr val="accent5">
                    <a:lumMod val="76000"/>
                  </a:schemeClr>
                </a:solidFill>
                <a:latin typeface="Calibri"/>
              </a:rPr>
              <a:t>continuous variables (range between –∞ to +∞) into simple probabilities between 0</a:t>
            </a:r>
            <a:br>
              <a:rPr>
                <a:solidFill>
                  <a:schemeClr val="accent5">
                    <a:lumMod val="76000"/>
                  </a:schemeClr>
                </a:solidFill>
              </a:rPr>
            </a:br>
            <a:r>
              <a:rPr lang="en-US" sz="2800" b="0" strike="noStrike" spc="-1">
                <a:solidFill>
                  <a:schemeClr val="accent5">
                    <a:lumMod val="76000"/>
                  </a:schemeClr>
                </a:solidFill>
                <a:latin typeface="Calibri"/>
              </a:rPr>
              <a:t>and 1 </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is also called the </a:t>
            </a:r>
            <a:r>
              <a:rPr lang="en-US" sz="2800" b="0" i="1" strike="noStrike" spc="-1">
                <a:solidFill>
                  <a:schemeClr val="accent5">
                    <a:lumMod val="76000"/>
                  </a:schemeClr>
                </a:solidFill>
                <a:latin typeface="Calibri"/>
              </a:rPr>
              <a:t>S-shape curve </a:t>
            </a:r>
            <a:r>
              <a:rPr lang="en-US" sz="2800" b="0" strike="noStrike" spc="-1">
                <a:solidFill>
                  <a:schemeClr val="accent5">
                    <a:lumMod val="76000"/>
                  </a:schemeClr>
                </a:solidFill>
                <a:latin typeface="Calibri"/>
              </a:rPr>
              <a:t>because when plotted in a graph, it produces an S-shaped curve. </a:t>
            </a:r>
            <a:br>
              <a:rPr>
                <a:solidFill>
                  <a:schemeClr val="accent5">
                    <a:lumMod val="76000"/>
                  </a:schemeClr>
                </a:solidFill>
              </a:rPr>
            </a:br>
            <a:r>
              <a:rPr lang="en-US" sz="2800" b="0" strike="noStrike" spc="-1">
                <a:solidFill>
                  <a:schemeClr val="accent5">
                    <a:lumMod val="76000"/>
                  </a:schemeClr>
                </a:solidFill>
                <a:latin typeface="Calibri"/>
              </a:rPr>
              <a:t> </a:t>
            </a:r>
            <a:endParaRPr lang="en-US" sz="2800" b="0" strike="noStrike" spc="-1">
              <a:solidFill>
                <a:schemeClr val="accent5">
                  <a:lumMod val="76000"/>
                </a:schemeClr>
              </a:solidFill>
              <a:latin typeface="Calibri"/>
            </a:endParaRPr>
          </a:p>
        </p:txBody>
      </p:sp>
      <p:pic>
        <p:nvPicPr>
          <p:cNvPr id="152" name="Picture 3"/>
          <p:cNvPicPr/>
          <p:nvPr/>
        </p:nvPicPr>
        <p:blipFill>
          <a:blip r:embed="rId1"/>
          <a:stretch>
            <a:fillRect/>
          </a:stretch>
        </p:blipFill>
        <p:spPr>
          <a:xfrm>
            <a:off x="7374600" y="927000"/>
            <a:ext cx="4485600" cy="3613320"/>
          </a:xfrm>
          <a:prstGeom prst="rect">
            <a:avLst/>
          </a:prstGeom>
          <a:ln>
            <a:noFill/>
          </a:ln>
        </p:spPr>
      </p:pic>
      <p:pic>
        <p:nvPicPr>
          <p:cNvPr id="153" name="Picture 4"/>
          <p:cNvPicPr/>
          <p:nvPr/>
        </p:nvPicPr>
        <p:blipFill>
          <a:blip r:embed="rId2"/>
          <a:stretch>
            <a:fillRect/>
          </a:stretch>
        </p:blipFill>
        <p:spPr>
          <a:xfrm>
            <a:off x="8756280" y="4864320"/>
            <a:ext cx="1866600" cy="990360"/>
          </a:xfrm>
          <a:prstGeom prst="rect">
            <a:avLst/>
          </a:prstGeom>
          <a:ln>
            <a:noFill/>
          </a:ln>
        </p:spPr>
      </p:pic>
      <p:pic>
        <p:nvPicPr>
          <p:cNvPr id="154" name="Ink 83"/>
          <p:cNvPicPr/>
          <p:nvPr/>
        </p:nvPicPr>
        <p:blipFill>
          <a:blip r:embed="rId3"/>
          <a:stretch>
            <a:fillRect/>
          </a:stretch>
        </p:blipFill>
        <p:spPr>
          <a:xfrm>
            <a:off x="8670600" y="4295520"/>
            <a:ext cx="35640" cy="42120"/>
          </a:xfrm>
          <a:prstGeom prst="rect">
            <a:avLst/>
          </a:prstGeom>
          <a:ln>
            <a:noFill/>
          </a:ln>
        </p:spPr>
      </p:pic>
      <p:pic>
        <p:nvPicPr>
          <p:cNvPr id="155" name="Ink 89"/>
          <p:cNvPicPr/>
          <p:nvPr/>
        </p:nvPicPr>
        <p:blipFill>
          <a:blip r:embed="rId4"/>
          <a:stretch>
            <a:fillRect/>
          </a:stretch>
        </p:blipFill>
        <p:spPr>
          <a:xfrm>
            <a:off x="8492040" y="6238440"/>
            <a:ext cx="99000" cy="61200"/>
          </a:xfrm>
          <a:prstGeom prst="rect">
            <a:avLst/>
          </a:prstGeom>
          <a:ln>
            <a:noFill/>
          </a:ln>
        </p:spPr>
      </p:pic>
      <p:grpSp>
        <p:nvGrpSpPr>
          <p:cNvPr id="156" name="Group 3"/>
          <p:cNvGrpSpPr/>
          <p:nvPr/>
        </p:nvGrpSpPr>
        <p:grpSpPr>
          <a:xfrm>
            <a:off x="0" y="0"/>
            <a:ext cx="0" cy="0"/>
            <a:chOff x="0" y="0"/>
            <a:chExt cx="0" cy="0"/>
          </a:xfrm>
        </p:grpSpPr>
      </p:grpSp>
      <p:grpSp>
        <p:nvGrpSpPr>
          <p:cNvPr id="157" name="Group 4"/>
          <p:cNvGrpSpPr/>
          <p:nvPr/>
        </p:nvGrpSpPr>
        <p:grpSpPr>
          <a:xfrm>
            <a:off x="0" y="0"/>
            <a:ext cx="0" cy="0"/>
            <a:chOff x="0" y="0"/>
            <a:chExt cx="0" cy="0"/>
          </a:xfrm>
        </p:grpSpPr>
      </p:grpSp>
      <p:grpSp>
        <p:nvGrpSpPr>
          <p:cNvPr id="158" name="Group 5"/>
          <p:cNvGrpSpPr/>
          <p:nvPr/>
        </p:nvGrpSpPr>
        <p:grpSpPr>
          <a:xfrm>
            <a:off x="0" y="0"/>
            <a:ext cx="0" cy="0"/>
            <a:chOff x="0" y="0"/>
            <a:chExt cx="0" cy="0"/>
          </a:xfrm>
        </p:grpSpPr>
      </p:grpSp>
      <p:grpSp>
        <p:nvGrpSpPr>
          <p:cNvPr id="159" name="Group 6"/>
          <p:cNvGrpSpPr/>
          <p:nvPr/>
        </p:nvGrpSpPr>
        <p:grpSpPr>
          <a:xfrm>
            <a:off x="0" y="0"/>
            <a:ext cx="0" cy="0"/>
            <a:chOff x="0" y="0"/>
            <a:chExt cx="0" cy="0"/>
          </a:xfrm>
        </p:grpSpPr>
      </p:grpSp>
      <p:grpSp>
        <p:nvGrpSpPr>
          <p:cNvPr id="160" name="Group 7"/>
          <p:cNvGrpSpPr/>
          <p:nvPr/>
        </p:nvGrpSpPr>
        <p:grpSpPr>
          <a:xfrm>
            <a:off x="0" y="0"/>
            <a:ext cx="0" cy="0"/>
            <a:chOff x="0" y="0"/>
            <a:chExt cx="0" cy="0"/>
          </a:xfrm>
        </p:grpSpPr>
      </p:grpSp>
      <p:grpSp>
        <p:nvGrpSpPr>
          <p:cNvPr id="161" name="Group 8"/>
          <p:cNvGrpSpPr/>
          <p:nvPr/>
        </p:nvGrpSpPr>
        <p:grpSpPr>
          <a:xfrm>
            <a:off x="0" y="0"/>
            <a:ext cx="0" cy="0"/>
            <a:chOff x="0" y="0"/>
            <a:chExt cx="0" cy="0"/>
          </a:xfrm>
        </p:grpSpPr>
      </p:grpSp>
      <p:grpSp>
        <p:nvGrpSpPr>
          <p:cNvPr id="162" name="Group 9"/>
          <p:cNvGrpSpPr/>
          <p:nvPr/>
        </p:nvGrpSpPr>
        <p:grpSpPr>
          <a:xfrm>
            <a:off x="0" y="0"/>
            <a:ext cx="0" cy="0"/>
            <a:chOff x="0" y="0"/>
            <a:chExt cx="0" cy="0"/>
          </a:xfrm>
        </p:grpSpPr>
      </p:grpSp>
      <p:grpSp>
        <p:nvGrpSpPr>
          <p:cNvPr id="163" name="Group 10"/>
          <p:cNvGrpSpPr/>
          <p:nvPr/>
        </p:nvGrpSpPr>
        <p:grpSpPr>
          <a:xfrm>
            <a:off x="0" y="0"/>
            <a:ext cx="0" cy="0"/>
            <a:chOff x="0" y="0"/>
            <a:chExt cx="0" cy="0"/>
          </a:xfrm>
        </p:grpSpPr>
      </p:grpSp>
      <p:grpSp>
        <p:nvGrpSpPr>
          <p:cNvPr id="164" name="Group 11"/>
          <p:cNvGrpSpPr/>
          <p:nvPr/>
        </p:nvGrpSpPr>
        <p:grpSpPr>
          <a:xfrm>
            <a:off x="0" y="0"/>
            <a:ext cx="0" cy="0"/>
            <a:chOff x="0" y="0"/>
            <a:chExt cx="0" cy="0"/>
          </a:xfrm>
        </p:grpSpPr>
      </p:grpSp>
      <p:grpSp>
        <p:nvGrpSpPr>
          <p:cNvPr id="165" name="Group 12"/>
          <p:cNvGrpSpPr/>
          <p:nvPr/>
        </p:nvGrpSpPr>
        <p:grpSpPr>
          <a:xfrm>
            <a:off x="0" y="0"/>
            <a:ext cx="0" cy="0"/>
            <a:chOff x="0" y="0"/>
            <a:chExt cx="0" cy="0"/>
          </a:xfrm>
        </p:grpSpPr>
      </p:grpSp>
      <p:grpSp>
        <p:nvGrpSpPr>
          <p:cNvPr id="166" name="Group 13"/>
          <p:cNvGrpSpPr/>
          <p:nvPr/>
        </p:nvGrpSpPr>
        <p:grpSpPr>
          <a:xfrm>
            <a:off x="0" y="0"/>
            <a:ext cx="0" cy="0"/>
            <a:chOff x="0" y="0"/>
            <a:chExt cx="0" cy="0"/>
          </a:xfrm>
        </p:grpSpPr>
      </p:grpSp>
      <p:grpSp>
        <p:nvGrpSpPr>
          <p:cNvPr id="167" name="Group 14"/>
          <p:cNvGrpSpPr/>
          <p:nvPr/>
        </p:nvGrpSpPr>
        <p:grpSpPr>
          <a:xfrm>
            <a:off x="0" y="0"/>
            <a:ext cx="0" cy="0"/>
            <a:chOff x="0" y="0"/>
            <a:chExt cx="0" cy="0"/>
          </a:xfrm>
        </p:grpSpPr>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Hyperbolic Tangent (tanh) Activation Function</a:t>
            </a:r>
            <a:endParaRPr lang="en-US" sz="4400" b="0" strike="noStrike" spc="-1">
              <a:solidFill>
                <a:srgbClr val="000000"/>
              </a:solidFill>
              <a:latin typeface="Calibri"/>
            </a:endParaRPr>
          </a:p>
        </p:txBody>
      </p:sp>
      <p:sp>
        <p:nvSpPr>
          <p:cNvPr id="169" name="TextShape 2"/>
          <p:cNvSpPr txBox="1"/>
          <p:nvPr/>
        </p:nvSpPr>
        <p:spPr>
          <a:xfrm>
            <a:off x="685800" y="1119240"/>
            <a:ext cx="11320200" cy="5236920"/>
          </a:xfrm>
          <a:prstGeom prst="rect">
            <a:avLst/>
          </a:prstGeom>
          <a:noFill/>
          <a:ln>
            <a:noFill/>
          </a:ln>
        </p:spPr>
        <p:txBody>
          <a:bodyPr lIns="91440" tIns="45720" rIns="91440" bIns="45720" anchor="t">
            <a:normAutofit fontScale="97000"/>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hyperbolic tangent function is a shifted version of the sigmoid version</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Instead of squeezing the signal values between 0 and 1, tanh squishes all values to the range –1 to 1</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Tanh almost always works better than the sigmoid function in hidden layers because it has the effect of centering the data so that the mean of the data is close to zero rather than 0.5, which makes learning for the next layer a little bit easier</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One of the downsides of both sigmoid and tanh functions is that if (</a:t>
            </a:r>
            <a:r>
              <a:rPr lang="en-US" sz="2800" b="0" i="1" strike="noStrike" spc="-1">
                <a:solidFill>
                  <a:schemeClr val="accent5">
                    <a:lumMod val="76000"/>
                  </a:schemeClr>
                </a:solidFill>
                <a:latin typeface="Calibri"/>
              </a:rPr>
              <a:t>z</a:t>
            </a:r>
            <a:r>
              <a:rPr lang="en-US" sz="2800" b="0" strike="noStrike" spc="-1">
                <a:solidFill>
                  <a:schemeClr val="accent5">
                    <a:lumMod val="76000"/>
                  </a:schemeClr>
                </a:solidFill>
                <a:latin typeface="Calibri"/>
              </a:rPr>
              <a:t>) is very large or very small</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Then the gradient (or derivative or slope) of this function becomes very small (close to zero), which will slow down gradient descent </a:t>
            </a:r>
            <a:br/>
            <a:r>
              <a:rPr lang="en-US" sz="2400" b="0" strike="noStrike" spc="-1">
                <a:solidFill>
                  <a:srgbClr val="00B050"/>
                </a:solidFill>
                <a:latin typeface="Calibri"/>
              </a:rPr>
              <a:t> </a:t>
            </a:r>
            <a:br/>
            <a:r>
              <a:rPr lang="en-US" sz="2400" b="0" strike="noStrike" spc="-1">
                <a:solidFill>
                  <a:srgbClr val="00B050"/>
                </a:solidFill>
                <a:latin typeface="Calibri"/>
              </a:rPr>
              <a:t> </a:t>
            </a:r>
            <a:endParaRPr lang="en-US" sz="2400" b="0" strike="noStrike" spc="-1">
              <a:solidFill>
                <a:srgbClr val="002060"/>
              </a:solidFill>
              <a:latin typeface="Calibri"/>
            </a:endParaRPr>
          </a:p>
        </p:txBody>
      </p:sp>
      <p:grpSp>
        <p:nvGrpSpPr>
          <p:cNvPr id="170" name="Group 3"/>
          <p:cNvGrpSpPr/>
          <p:nvPr/>
        </p:nvGrpSpPr>
        <p:grpSpPr>
          <a:xfrm>
            <a:off x="0" y="0"/>
            <a:ext cx="0" cy="0"/>
            <a:chOff x="0" y="0"/>
            <a:chExt cx="0" cy="0"/>
          </a:xfrm>
        </p:grpSpPr>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Hyperbolic Tangent (tanh) Activation Function</a:t>
            </a:r>
            <a:endParaRPr lang="en-US" sz="4400" b="0" strike="noStrike" spc="-1">
              <a:solidFill>
                <a:srgbClr val="000000"/>
              </a:solidFill>
              <a:latin typeface="Calibri"/>
            </a:endParaRPr>
          </a:p>
        </p:txBody>
      </p:sp>
      <p:pic>
        <p:nvPicPr>
          <p:cNvPr id="172" name="Picture 3"/>
          <p:cNvPicPr/>
          <p:nvPr/>
        </p:nvPicPr>
        <p:blipFill>
          <a:blip r:embed="rId1"/>
          <a:stretch>
            <a:fillRect/>
          </a:stretch>
        </p:blipFill>
        <p:spPr>
          <a:xfrm>
            <a:off x="583560" y="1878840"/>
            <a:ext cx="3580920" cy="704520"/>
          </a:xfrm>
          <a:prstGeom prst="rect">
            <a:avLst/>
          </a:prstGeom>
          <a:ln>
            <a:noFill/>
          </a:ln>
        </p:spPr>
      </p:pic>
      <p:pic>
        <p:nvPicPr>
          <p:cNvPr id="173" name="Picture 4"/>
          <p:cNvPicPr/>
          <p:nvPr/>
        </p:nvPicPr>
        <p:blipFill>
          <a:blip r:embed="rId2"/>
          <a:stretch>
            <a:fillRect/>
          </a:stretch>
        </p:blipFill>
        <p:spPr>
          <a:xfrm>
            <a:off x="4680360" y="1479960"/>
            <a:ext cx="6781320" cy="4866840"/>
          </a:xfrm>
          <a:prstGeom prst="rect">
            <a:avLst/>
          </a:prstGeom>
          <a:ln>
            <a:noFill/>
          </a:ln>
        </p:spPr>
      </p:pic>
      <p:grpSp>
        <p:nvGrpSpPr>
          <p:cNvPr id="174" name="Group 2"/>
          <p:cNvGrpSpPr/>
          <p:nvPr/>
        </p:nvGrpSpPr>
        <p:grpSpPr>
          <a:xfrm>
            <a:off x="0" y="0"/>
            <a:ext cx="0" cy="0"/>
            <a:chOff x="0" y="0"/>
            <a:chExt cx="0" cy="0"/>
          </a:xfrm>
        </p:grpSpPr>
      </p:grpSp>
      <p:grpSp>
        <p:nvGrpSpPr>
          <p:cNvPr id="175" name="Group 3"/>
          <p:cNvGrpSpPr/>
          <p:nvPr/>
        </p:nvGrpSpPr>
        <p:grpSpPr>
          <a:xfrm>
            <a:off x="0" y="0"/>
            <a:ext cx="0" cy="0"/>
            <a:chOff x="0" y="0"/>
            <a:chExt cx="0" cy="0"/>
          </a:xfrm>
        </p:grpSpPr>
      </p:grpSp>
      <p:grpSp>
        <p:nvGrpSpPr>
          <p:cNvPr id="176" name="Group 4"/>
          <p:cNvGrpSpPr/>
          <p:nvPr/>
        </p:nvGrpSpPr>
        <p:grpSpPr>
          <a:xfrm>
            <a:off x="0" y="0"/>
            <a:ext cx="0" cy="0"/>
            <a:chOff x="0" y="0"/>
            <a:chExt cx="0" cy="0"/>
          </a:xfrm>
        </p:grpSpPr>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Rectified Linear (ReLU) Activation Function</a:t>
            </a:r>
            <a:endParaRPr lang="en-US" sz="4400" b="0" strike="noStrike" spc="-1">
              <a:solidFill>
                <a:srgbClr val="000000"/>
              </a:solidFill>
              <a:latin typeface="Calibri"/>
            </a:endParaRPr>
          </a:p>
        </p:txBody>
      </p:sp>
      <p:sp>
        <p:nvSpPr>
          <p:cNvPr id="178" name="TextShape 2"/>
          <p:cNvSpPr txBox="1"/>
          <p:nvPr/>
        </p:nvSpPr>
        <p:spPr>
          <a:xfrm>
            <a:off x="182880" y="1119240"/>
            <a:ext cx="7607520" cy="5236920"/>
          </a:xfrm>
          <a:prstGeom prst="rect">
            <a:avLst/>
          </a:prstGeom>
          <a:noFill/>
          <a:ln>
            <a:noFill/>
          </a:ln>
        </p:spPr>
        <p:txBody>
          <a:bodyPr lIns="91440" tIns="45720" rIns="91440" bIns="45720" anchor="t">
            <a:normAutofit fontScale="95500"/>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rectified linear unit (ReLU) activation function activates a node only if the input is above zero</a:t>
            </a:r>
            <a:endParaRPr lang="en-US">
              <a:solidFill>
                <a:schemeClr val="accent5">
                  <a:lumMod val="76000"/>
                </a:schemeClr>
              </a:solidFill>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If the input is below zero, the output is always zero</a:t>
            </a:r>
            <a:endParaRPr lang="en-US" sz="2400" b="0" strike="noStrike" spc="-1">
              <a:solidFill>
                <a:schemeClr val="accent6">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But when the input is higher than zero, it has a linear relationship with the output variable </a:t>
            </a:r>
            <a:endParaRPr lang="en-US" sz="2400" b="0" strike="noStrike" spc="-1">
              <a:solidFill>
                <a:schemeClr val="accent6">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ReLU is considered the state-of-the-art activation function because it works well in many different situations, and it tends to train better than sigmoid and tanh in hidden layers </a:t>
            </a:r>
            <a:br/>
            <a:br/>
            <a:r>
              <a:rPr lang="en-US" sz="2800" b="0" strike="noStrike" spc="-1">
                <a:solidFill>
                  <a:srgbClr val="00B0F0"/>
                </a:solidFill>
                <a:latin typeface="Calibri"/>
              </a:rPr>
              <a:t> </a:t>
            </a:r>
            <a:endParaRPr lang="en-US" sz="2800" b="0" strike="noStrike" spc="-1">
              <a:solidFill>
                <a:srgbClr val="00B0F0"/>
              </a:solidFill>
              <a:latin typeface="Calibri"/>
            </a:endParaRPr>
          </a:p>
        </p:txBody>
      </p:sp>
      <p:pic>
        <p:nvPicPr>
          <p:cNvPr id="179" name="Picture 3"/>
          <p:cNvPicPr/>
          <p:nvPr/>
        </p:nvPicPr>
        <p:blipFill>
          <a:blip r:embed="rId1"/>
          <a:stretch>
            <a:fillRect/>
          </a:stretch>
        </p:blipFill>
        <p:spPr>
          <a:xfrm>
            <a:off x="7975800" y="1054440"/>
            <a:ext cx="3783600" cy="2874960"/>
          </a:xfrm>
          <a:prstGeom prst="rect">
            <a:avLst/>
          </a:prstGeom>
          <a:ln>
            <a:noFill/>
          </a:ln>
        </p:spPr>
      </p:pic>
      <p:pic>
        <p:nvPicPr>
          <p:cNvPr id="180" name="Picture 4"/>
          <p:cNvPicPr/>
          <p:nvPr/>
        </p:nvPicPr>
        <p:blipFill>
          <a:blip r:embed="rId2"/>
          <a:stretch>
            <a:fillRect/>
          </a:stretch>
        </p:blipFill>
        <p:spPr>
          <a:xfrm>
            <a:off x="8709120" y="4380480"/>
            <a:ext cx="2161800" cy="1218960"/>
          </a:xfrm>
          <a:prstGeom prst="rect">
            <a:avLst/>
          </a:prstGeom>
          <a:ln>
            <a:noFill/>
          </a:ln>
        </p:spPr>
      </p:pic>
      <p:grpSp>
        <p:nvGrpSpPr>
          <p:cNvPr id="181" name="Group 3"/>
          <p:cNvGrpSpPr/>
          <p:nvPr/>
        </p:nvGrpSpPr>
        <p:grpSpPr>
          <a:xfrm>
            <a:off x="0" y="0"/>
            <a:ext cx="0" cy="0"/>
            <a:chOff x="0" y="0"/>
            <a:chExt cx="0" cy="0"/>
          </a:xfrm>
        </p:grpSpPr>
      </p:grpSp>
      <p:grpSp>
        <p:nvGrpSpPr>
          <p:cNvPr id="182" name="Group 4"/>
          <p:cNvGrpSpPr/>
          <p:nvPr/>
        </p:nvGrpSpPr>
        <p:grpSpPr>
          <a:xfrm>
            <a:off x="0" y="0"/>
            <a:ext cx="0" cy="0"/>
            <a:chOff x="0" y="0"/>
            <a:chExt cx="0" cy="0"/>
          </a:xfrm>
        </p:grpSpPr>
      </p:grpSp>
      <p:grpSp>
        <p:nvGrpSpPr>
          <p:cNvPr id="183" name="Group 5"/>
          <p:cNvGrpSpPr/>
          <p:nvPr/>
        </p:nvGrpSpPr>
        <p:grpSpPr>
          <a:xfrm>
            <a:off x="0" y="0"/>
            <a:ext cx="0" cy="0"/>
            <a:chOff x="0" y="0"/>
            <a:chExt cx="0" cy="0"/>
          </a:xfrm>
        </p:grpSpPr>
      </p:grpSp>
      <p:grpSp>
        <p:nvGrpSpPr>
          <p:cNvPr id="184" name="Group 6"/>
          <p:cNvGrpSpPr/>
          <p:nvPr/>
        </p:nvGrpSpPr>
        <p:grpSpPr>
          <a:xfrm>
            <a:off x="0" y="0"/>
            <a:ext cx="0" cy="0"/>
            <a:chOff x="0" y="0"/>
            <a:chExt cx="0" cy="0"/>
          </a:xfrm>
        </p:grpSpPr>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1244520" y="7848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trike="noStrike" spc="-1">
                <a:solidFill>
                  <a:srgbClr val="002060"/>
                </a:solidFill>
                <a:latin typeface="Calibri"/>
              </a:rPr>
              <a:t>Leaky </a:t>
            </a:r>
            <a:r>
              <a:rPr lang="en-US" sz="4400" b="1" strike="noStrike" spc="-1" err="1">
                <a:solidFill>
                  <a:srgbClr val="002060"/>
                </a:solidFill>
                <a:latin typeface="Calibri"/>
              </a:rPr>
              <a:t>ReLU</a:t>
            </a:r>
            <a:r>
              <a:rPr lang="en-US" sz="4400" b="1" strike="noStrike" spc="-1">
                <a:solidFill>
                  <a:srgbClr val="002060"/>
                </a:solidFill>
                <a:latin typeface="Calibri"/>
              </a:rPr>
              <a:t> Activation Function</a:t>
            </a:r>
            <a:endParaRPr lang="en-US" sz="4400" b="1" strike="noStrike" spc="-1">
              <a:solidFill>
                <a:srgbClr val="000000"/>
              </a:solidFill>
              <a:latin typeface="Calibri"/>
            </a:endParaRPr>
          </a:p>
        </p:txBody>
      </p:sp>
      <p:sp>
        <p:nvSpPr>
          <p:cNvPr id="186" name="TextShape 2"/>
          <p:cNvSpPr txBox="1"/>
          <p:nvPr/>
        </p:nvSpPr>
        <p:spPr>
          <a:xfrm>
            <a:off x="283320" y="1119240"/>
            <a:ext cx="693072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One disadvantage of ReLU activation is that the derivative is equal to zero when (</a:t>
            </a:r>
            <a:r>
              <a:rPr lang="en-US" sz="2800" b="0" i="1" strike="noStrike" spc="-1">
                <a:solidFill>
                  <a:schemeClr val="accent5">
                    <a:lumMod val="76000"/>
                  </a:schemeClr>
                </a:solidFill>
                <a:latin typeface="Calibri"/>
              </a:rPr>
              <a:t>x</a:t>
            </a:r>
            <a:r>
              <a:rPr lang="en-US" sz="2800" b="0" strike="noStrike" spc="-1">
                <a:solidFill>
                  <a:schemeClr val="accent5">
                    <a:lumMod val="76000"/>
                  </a:schemeClr>
                </a:solidFill>
                <a:latin typeface="Calibri"/>
              </a:rPr>
              <a:t>) is negative</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Leaky ReLU is a ReLU variation that tries to mitigate this issue</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Instead of having the function be zero when </a:t>
            </a:r>
            <a:r>
              <a:rPr lang="en-US" sz="2800" b="0" i="1" strike="noStrike" spc="-1">
                <a:solidFill>
                  <a:schemeClr val="accent5">
                    <a:lumMod val="76000"/>
                  </a:schemeClr>
                </a:solidFill>
                <a:latin typeface="Calibri"/>
              </a:rPr>
              <a:t>x </a:t>
            </a:r>
            <a:r>
              <a:rPr lang="en-US" sz="2800" b="0" strike="noStrike" spc="-1">
                <a:solidFill>
                  <a:schemeClr val="accent5">
                    <a:lumMod val="76000"/>
                  </a:schemeClr>
                </a:solidFill>
                <a:latin typeface="Calibri"/>
              </a:rPr>
              <a:t>&lt; 0, leaky ReLU introduces a small negative slope (around 0.01) when (</a:t>
            </a:r>
            <a:r>
              <a:rPr lang="en-US" sz="2800" b="0" i="1" strike="noStrike" spc="-1">
                <a:solidFill>
                  <a:schemeClr val="accent5">
                    <a:lumMod val="76000"/>
                  </a:schemeClr>
                </a:solidFill>
                <a:latin typeface="Calibri"/>
              </a:rPr>
              <a:t>x</a:t>
            </a:r>
            <a:r>
              <a:rPr lang="en-US" sz="2800" b="0" strike="noStrike" spc="-1">
                <a:solidFill>
                  <a:schemeClr val="accent5">
                    <a:lumMod val="76000"/>
                  </a:schemeClr>
                </a:solidFill>
                <a:latin typeface="Calibri"/>
              </a:rPr>
              <a:t>) is negative</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usually works better than the ReLU function </a:t>
            </a:r>
            <a:br/>
            <a:r>
              <a:rPr lang="en-US" sz="2800" b="0" strike="noStrike" spc="-1">
                <a:solidFill>
                  <a:srgbClr val="00B0F0"/>
                </a:solidFill>
                <a:latin typeface="Calibri"/>
              </a:rPr>
              <a:t> </a:t>
            </a:r>
            <a:endParaRPr lang="en-US" sz="2800" b="0" strike="noStrike" spc="-1">
              <a:solidFill>
                <a:srgbClr val="00B0F0"/>
              </a:solidFill>
              <a:latin typeface="Calibri"/>
            </a:endParaRPr>
          </a:p>
        </p:txBody>
      </p:sp>
      <p:pic>
        <p:nvPicPr>
          <p:cNvPr id="187" name="Picture 3"/>
          <p:cNvPicPr/>
          <p:nvPr/>
        </p:nvPicPr>
        <p:blipFill>
          <a:blip r:embed="rId1"/>
          <a:stretch>
            <a:fillRect/>
          </a:stretch>
        </p:blipFill>
        <p:spPr>
          <a:xfrm>
            <a:off x="7322040" y="1025640"/>
            <a:ext cx="4741200" cy="2711880"/>
          </a:xfrm>
          <a:prstGeom prst="rect">
            <a:avLst/>
          </a:prstGeom>
          <a:ln>
            <a:noFill/>
          </a:ln>
        </p:spPr>
      </p:pic>
      <p:pic>
        <p:nvPicPr>
          <p:cNvPr id="188" name="Picture 4"/>
          <p:cNvPicPr/>
          <p:nvPr/>
        </p:nvPicPr>
        <p:blipFill>
          <a:blip r:embed="rId2"/>
          <a:stretch>
            <a:fillRect/>
          </a:stretch>
        </p:blipFill>
        <p:spPr>
          <a:xfrm>
            <a:off x="8602200" y="4457160"/>
            <a:ext cx="2180880" cy="1399680"/>
          </a:xfrm>
          <a:prstGeom prst="rect">
            <a:avLst/>
          </a:prstGeom>
          <a:ln>
            <a:noFill/>
          </a:ln>
        </p:spPr>
      </p:pic>
      <p:grpSp>
        <p:nvGrpSpPr>
          <p:cNvPr id="189" name="Group 3"/>
          <p:cNvGrpSpPr/>
          <p:nvPr/>
        </p:nvGrpSpPr>
        <p:grpSpPr>
          <a:xfrm>
            <a:off x="0" y="0"/>
            <a:ext cx="0" cy="0"/>
            <a:chOff x="0" y="0"/>
            <a:chExt cx="0" cy="0"/>
          </a:xfrm>
        </p:grpSpPr>
      </p:grpSp>
      <p:grpSp>
        <p:nvGrpSpPr>
          <p:cNvPr id="190" name="Group 4"/>
          <p:cNvGrpSpPr/>
          <p:nvPr/>
        </p:nvGrpSpPr>
        <p:grpSpPr>
          <a:xfrm>
            <a:off x="0" y="0"/>
            <a:ext cx="0" cy="0"/>
            <a:chOff x="0" y="0"/>
            <a:chExt cx="0" cy="0"/>
          </a:xfrm>
        </p:grpSpPr>
      </p:grpSp>
      <p:grpSp>
        <p:nvGrpSpPr>
          <p:cNvPr id="191" name="Group 5"/>
          <p:cNvGrpSpPr/>
          <p:nvPr/>
        </p:nvGrpSpPr>
        <p:grpSpPr>
          <a:xfrm>
            <a:off x="0" y="0"/>
            <a:ext cx="0" cy="0"/>
            <a:chOff x="0" y="0"/>
            <a:chExt cx="0" cy="0"/>
          </a:xfrm>
        </p:grpSpPr>
      </p:grpSp>
      <p:grpSp>
        <p:nvGrpSpPr>
          <p:cNvPr id="192" name="Group 6"/>
          <p:cNvGrpSpPr/>
          <p:nvPr/>
        </p:nvGrpSpPr>
        <p:grpSpPr>
          <a:xfrm>
            <a:off x="0" y="0"/>
            <a:ext cx="0" cy="0"/>
            <a:chOff x="0" y="0"/>
            <a:chExt cx="0" cy="0"/>
          </a:xfrm>
        </p:grpSpPr>
      </p:grpSp>
      <p:grpSp>
        <p:nvGrpSpPr>
          <p:cNvPr id="193" name="Group 7"/>
          <p:cNvGrpSpPr/>
          <p:nvPr/>
        </p:nvGrpSpPr>
        <p:grpSpPr>
          <a:xfrm>
            <a:off x="0" y="0"/>
            <a:ext cx="0" cy="0"/>
            <a:chOff x="0" y="0"/>
            <a:chExt cx="0" cy="0"/>
          </a:xfrm>
        </p:grpSpPr>
      </p:grpSp>
      <p:grpSp>
        <p:nvGrpSpPr>
          <p:cNvPr id="194" name="Group 8"/>
          <p:cNvGrpSpPr/>
          <p:nvPr/>
        </p:nvGrpSpPr>
        <p:grpSpPr>
          <a:xfrm>
            <a:off x="0" y="0"/>
            <a:ext cx="0" cy="0"/>
            <a:chOff x="0" y="0"/>
            <a:chExt cx="0" cy="0"/>
          </a:xfrm>
        </p:grpSpPr>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solidFill>
                  <a:srgbClr val="002060"/>
                </a:solidFill>
                <a:latin typeface="Calibri"/>
              </a:rPr>
              <a:t>Swish Activation Function</a:t>
            </a:r>
            <a:endParaRPr lang="en-US" b="1">
              <a:solidFill>
                <a:srgbClr val="002060"/>
              </a:solidFill>
              <a:latin typeface="Calibri"/>
            </a:endParaRPr>
          </a:p>
        </p:txBody>
      </p:sp>
      <p:sp>
        <p:nvSpPr>
          <p:cNvPr id="3" name="Text Placeholder 2"/>
          <p:cNvSpPr>
            <a:spLocks noGrp="1"/>
          </p:cNvSpPr>
          <p:nvPr>
            <p:ph type="body" idx="1"/>
          </p:nvPr>
        </p:nvSpPr>
        <p:spPr>
          <a:xfrm>
            <a:off x="84265" y="817037"/>
            <a:ext cx="6898619" cy="5480732"/>
          </a:xfrm>
        </p:spPr>
        <p:txBody>
          <a:bodyPr>
            <a:normAutofit fontScale="92500" lnSpcReduction="20000"/>
          </a:bodyPr>
          <a:lstStyle/>
          <a:p>
            <a:r>
              <a:rPr lang="en-US">
                <a:solidFill>
                  <a:schemeClr val="accent5">
                    <a:lumMod val="76000"/>
                  </a:schemeClr>
                </a:solidFill>
              </a:rPr>
              <a:t>Swish is function derived from sigmoid : f(x) = x · sigmoid(x).</a:t>
            </a:r>
            <a:endParaRPr lang="en-US">
              <a:solidFill>
                <a:schemeClr val="accent5">
                  <a:lumMod val="76000"/>
                </a:schemeClr>
              </a:solidFill>
            </a:endParaRPr>
          </a:p>
          <a:p>
            <a:r>
              <a:rPr lang="en-US">
                <a:solidFill>
                  <a:schemeClr val="accent5">
                    <a:lumMod val="76000"/>
                  </a:schemeClr>
                </a:solidFill>
              </a:rPr>
              <a:t>Swish works better than ReLU on deeper models across several challenging data sets</a:t>
            </a:r>
            <a:endParaRPr lang="en-US">
              <a:solidFill>
                <a:schemeClr val="accent5">
                  <a:lumMod val="76000"/>
                </a:schemeClr>
              </a:solidFill>
            </a:endParaRPr>
          </a:p>
          <a:p>
            <a:r>
              <a:rPr lang="en-US">
                <a:solidFill>
                  <a:schemeClr val="accent5">
                    <a:lumMod val="76000"/>
                  </a:schemeClr>
                </a:solidFill>
              </a:rPr>
              <a:t>The curve of the Swish function is smooth, and the function is differentiable at all points</a:t>
            </a:r>
            <a:endParaRPr lang="en-US">
              <a:solidFill>
                <a:schemeClr val="accent5">
                  <a:lumMod val="76000"/>
                </a:schemeClr>
              </a:solidFill>
            </a:endParaRPr>
          </a:p>
          <a:p>
            <a:pPr lvl="1"/>
            <a:r>
              <a:rPr lang="en-US"/>
              <a:t>This is helpful during the model optimization process and is one of the reasons that swish outperforms ReLU</a:t>
            </a:r>
            <a:endParaRPr lang="en-US"/>
          </a:p>
          <a:p>
            <a:r>
              <a:rPr lang="en-US">
                <a:solidFill>
                  <a:schemeClr val="accent5">
                    <a:lumMod val="76000"/>
                  </a:schemeClr>
                </a:solidFill>
              </a:rPr>
              <a:t>Swish function is “not monotonic”</a:t>
            </a:r>
            <a:endParaRPr lang="en-US">
              <a:solidFill>
                <a:schemeClr val="accent5">
                  <a:lumMod val="76000"/>
                </a:schemeClr>
              </a:solidFill>
            </a:endParaRPr>
          </a:p>
          <a:p>
            <a:pPr lvl="1"/>
            <a:r>
              <a:rPr lang="en-US"/>
              <a:t>This means that the value of the function may decrease even when the input values are increasing</a:t>
            </a:r>
            <a:endParaRPr lang="en-US"/>
          </a:p>
          <a:p>
            <a:r>
              <a:rPr lang="en-US">
                <a:solidFill>
                  <a:schemeClr val="accent5">
                    <a:lumMod val="76000"/>
                  </a:schemeClr>
                </a:solidFill>
              </a:rPr>
              <a:t>Function is unbounded above and bounded below</a:t>
            </a:r>
            <a:endParaRPr lang="en-US">
              <a:solidFill>
                <a:schemeClr val="accent5">
                  <a:lumMod val="76000"/>
                </a:schemeClr>
              </a:solidFill>
            </a:endParaRPr>
          </a:p>
          <a:p>
            <a:endParaRPr lang="en-US"/>
          </a:p>
        </p:txBody>
      </p:sp>
      <p:pic>
        <p:nvPicPr>
          <p:cNvPr id="4" name="Picture 4" descr="Chart, scatter chart&#10;&#10;Description automatically generated"/>
          <p:cNvPicPr>
            <a:picLocks noChangeAspect="1"/>
          </p:cNvPicPr>
          <p:nvPr/>
        </p:nvPicPr>
        <p:blipFill>
          <a:blip r:embed="rId1"/>
          <a:stretch>
            <a:fillRect/>
          </a:stretch>
        </p:blipFill>
        <p:spPr>
          <a:xfrm>
            <a:off x="6988180" y="1396509"/>
            <a:ext cx="4394200" cy="21547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solidFill>
                  <a:srgbClr val="002060"/>
                </a:solidFill>
                <a:latin typeface="Calibri"/>
              </a:rPr>
              <a:t>GELU Activation Function</a:t>
            </a:r>
            <a:endParaRPr lang="en-US" b="1">
              <a:solidFill>
                <a:srgbClr val="002060"/>
              </a:solidFill>
              <a:latin typeface="Calibri"/>
            </a:endParaRPr>
          </a:p>
        </p:txBody>
      </p:sp>
      <p:sp>
        <p:nvSpPr>
          <p:cNvPr id="3" name="Text Placeholder 2"/>
          <p:cNvSpPr>
            <a:spLocks noGrp="1"/>
          </p:cNvSpPr>
          <p:nvPr>
            <p:ph type="body" idx="1"/>
          </p:nvPr>
        </p:nvSpPr>
        <p:spPr>
          <a:xfrm>
            <a:off x="442174" y="817037"/>
            <a:ext cx="4728075" cy="5480732"/>
          </a:xfrm>
        </p:spPr>
        <p:txBody>
          <a:bodyPr>
            <a:normAutofit fontScale="85000" lnSpcReduction="10000"/>
          </a:bodyPr>
          <a:lstStyle/>
          <a:p>
            <a:r>
              <a:rPr lang="en-US">
                <a:solidFill>
                  <a:schemeClr val="accent5">
                    <a:lumMod val="76000"/>
                  </a:schemeClr>
                </a:solidFill>
              </a:rPr>
              <a:t>The Gaussian Error Linear Unit or GELU, is derived from standard Gaussian cumulative distribution function</a:t>
            </a:r>
            <a:endParaRPr lang="en-US">
              <a:solidFill>
                <a:schemeClr val="accent5">
                  <a:lumMod val="76000"/>
                </a:schemeClr>
              </a:solidFill>
            </a:endParaRPr>
          </a:p>
          <a:p>
            <a:r>
              <a:rPr lang="en-US">
                <a:solidFill>
                  <a:schemeClr val="accent5">
                    <a:lumMod val="76000"/>
                  </a:schemeClr>
                </a:solidFill>
              </a:rPr>
              <a:t>The GELU nonlinearity weights inputs by their percentile, rather than by their sign as in </a:t>
            </a:r>
            <a:r>
              <a:rPr lang="en-US" err="1">
                <a:solidFill>
                  <a:schemeClr val="accent5">
                    <a:lumMod val="76000"/>
                  </a:schemeClr>
                </a:solidFill>
              </a:rPr>
              <a:t>ReLUs</a:t>
            </a:r>
            <a:r>
              <a:rPr lang="en-US">
                <a:solidFill>
                  <a:schemeClr val="accent5">
                    <a:lumMod val="76000"/>
                  </a:schemeClr>
                </a:solidFill>
              </a:rPr>
              <a:t> </a:t>
            </a:r>
            <a:endParaRPr lang="en-US">
              <a:solidFill>
                <a:schemeClr val="accent5">
                  <a:lumMod val="76000"/>
                </a:schemeClr>
              </a:solidFill>
            </a:endParaRPr>
          </a:p>
          <a:p>
            <a:r>
              <a:rPr lang="en-US">
                <a:solidFill>
                  <a:schemeClr val="accent5">
                    <a:lumMod val="76000"/>
                  </a:schemeClr>
                </a:solidFill>
              </a:rPr>
              <a:t>GELU can be thought of as a smoother ReLU</a:t>
            </a:r>
            <a:endParaRPr lang="en-US">
              <a:solidFill>
                <a:schemeClr val="accent5">
                  <a:lumMod val="76000"/>
                </a:schemeClr>
              </a:solidFill>
            </a:endParaRPr>
          </a:p>
          <a:p>
            <a:r>
              <a:rPr lang="en-US">
                <a:solidFill>
                  <a:schemeClr val="accent5">
                    <a:lumMod val="76000"/>
                  </a:schemeClr>
                </a:solidFill>
              </a:rPr>
              <a:t>GPT, BERT, and most transformers use GELU</a:t>
            </a:r>
            <a:endParaRPr lang="en-US">
              <a:solidFill>
                <a:schemeClr val="accent5">
                  <a:lumMod val="76000"/>
                </a:schemeClr>
              </a:solidFill>
            </a:endParaRPr>
          </a:p>
          <a:p>
            <a:r>
              <a:rPr lang="en-US">
                <a:solidFill>
                  <a:schemeClr val="accent5">
                    <a:lumMod val="76000"/>
                  </a:schemeClr>
                </a:solidFill>
              </a:rPr>
              <a:t>ELU activation layer performs identity operation on positive inputs and an exponential nonlinearity on negative inputs</a:t>
            </a:r>
            <a:br>
              <a:rPr lang="en-US"/>
            </a:br>
            <a:endParaRPr lang="en-US"/>
          </a:p>
        </p:txBody>
      </p:sp>
      <p:pic>
        <p:nvPicPr>
          <p:cNvPr id="5" name="Picture 5" descr="Chart, line chart&#10;&#10;Description automatically generated"/>
          <p:cNvPicPr>
            <a:picLocks noChangeAspect="1"/>
          </p:cNvPicPr>
          <p:nvPr/>
        </p:nvPicPr>
        <p:blipFill>
          <a:blip r:embed="rId1"/>
          <a:stretch>
            <a:fillRect/>
          </a:stretch>
        </p:blipFill>
        <p:spPr>
          <a:xfrm>
            <a:off x="6751608" y="1364525"/>
            <a:ext cx="4786745" cy="2943254"/>
          </a:xfrm>
          <a:prstGeom prst="rect">
            <a:avLst/>
          </a:prstGeom>
        </p:spPr>
      </p:pic>
      <p:pic>
        <p:nvPicPr>
          <p:cNvPr id="4" name="Picture 3"/>
          <p:cNvPicPr>
            <a:picLocks noChangeAspect="1"/>
          </p:cNvPicPr>
          <p:nvPr/>
        </p:nvPicPr>
        <p:blipFill>
          <a:blip r:embed="rId2"/>
          <a:stretch>
            <a:fillRect/>
          </a:stretch>
        </p:blipFill>
        <p:spPr>
          <a:xfrm>
            <a:off x="6859148" y="4753758"/>
            <a:ext cx="4016088" cy="746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solidFill>
                  <a:srgbClr val="002060"/>
                </a:solidFill>
                <a:latin typeface="Calibri"/>
              </a:rPr>
              <a:t>GELU Improvement</a:t>
            </a:r>
            <a:endParaRPr lang="en-US" b="1">
              <a:solidFill>
                <a:srgbClr val="002060"/>
              </a:solidFill>
              <a:latin typeface="Calibri"/>
            </a:endParaRPr>
          </a:p>
        </p:txBody>
      </p:sp>
      <p:pic>
        <p:nvPicPr>
          <p:cNvPr id="4" name="Picture 4" descr="Table&#10;&#10;Description automatically generated"/>
          <p:cNvPicPr>
            <a:picLocks noChangeAspect="1"/>
          </p:cNvPicPr>
          <p:nvPr/>
        </p:nvPicPr>
        <p:blipFill>
          <a:blip r:embed="rId1"/>
          <a:stretch>
            <a:fillRect/>
          </a:stretch>
        </p:blipFill>
        <p:spPr>
          <a:xfrm>
            <a:off x="967409" y="1496331"/>
            <a:ext cx="10031895" cy="41436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Softmax Function</a:t>
            </a:r>
            <a:endParaRPr lang="en-US" sz="4400" b="0" strike="noStrike" spc="-1">
              <a:solidFill>
                <a:srgbClr val="000000"/>
              </a:solidFill>
              <a:latin typeface="Calibri"/>
            </a:endParaRPr>
          </a:p>
        </p:txBody>
      </p:sp>
      <p:sp>
        <p:nvSpPr>
          <p:cNvPr id="196" name="TextShape 2"/>
          <p:cNvSpPr txBox="1"/>
          <p:nvPr/>
        </p:nvSpPr>
        <p:spPr>
          <a:xfrm>
            <a:off x="685800" y="1119240"/>
            <a:ext cx="11320200" cy="5236920"/>
          </a:xfrm>
          <a:prstGeom prst="rect">
            <a:avLst/>
          </a:prstGeom>
          <a:noFill/>
          <a:ln>
            <a:noFill/>
          </a:ln>
        </p:spPr>
        <p:txBody>
          <a:bodyPr lIns="91440" tIns="45720" rIns="91440" bIns="45720" anchor="t">
            <a:normAutofit fontScale="92500" lnSpcReduction="10000"/>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a:t>
            </a:r>
            <a:r>
              <a:rPr lang="en-US" sz="2800" b="0" strike="noStrike" spc="-1" err="1">
                <a:solidFill>
                  <a:schemeClr val="accent5">
                    <a:lumMod val="76000"/>
                  </a:schemeClr>
                </a:solidFill>
                <a:latin typeface="Calibri"/>
              </a:rPr>
              <a:t>softmax</a:t>
            </a:r>
            <a:r>
              <a:rPr lang="en-US" sz="2800" b="0" strike="noStrike" spc="-1">
                <a:solidFill>
                  <a:schemeClr val="accent5">
                    <a:lumMod val="76000"/>
                  </a:schemeClr>
                </a:solidFill>
                <a:latin typeface="Calibri"/>
              </a:rPr>
              <a:t> function is a generalization of the sigmoid function</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is used to obtain classification probabilities when we have more than two classes </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forces the outputs of a neural network to sum to 1 (for example, 0 &lt; output &lt; 1) </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A very common use case in deep learning problems is to predict a single class out of many options (more than two)</a:t>
            </a:r>
            <a:endParaRPr lang="en-US" sz="2400" b="0" strike="noStrike" spc="-1">
              <a:solidFill>
                <a:schemeClr val="accent6">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err="1">
                <a:solidFill>
                  <a:schemeClr val="accent5">
                    <a:lumMod val="76000"/>
                  </a:schemeClr>
                </a:solidFill>
                <a:latin typeface="Calibri"/>
              </a:rPr>
              <a:t>Softmax</a:t>
            </a:r>
            <a:r>
              <a:rPr lang="en-US" sz="2800" b="0" strike="noStrike" spc="-1">
                <a:solidFill>
                  <a:schemeClr val="accent5">
                    <a:lumMod val="76000"/>
                  </a:schemeClr>
                </a:solidFill>
                <a:latin typeface="Calibri"/>
              </a:rPr>
              <a:t> is the go-to function that we often use at the output layer of a classifier when we are working on a problem where we need to predict a class between more than two classes</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err="1">
                <a:solidFill>
                  <a:schemeClr val="accent5">
                    <a:lumMod val="76000"/>
                  </a:schemeClr>
                </a:solidFill>
                <a:latin typeface="Calibri"/>
              </a:rPr>
              <a:t>Softmax</a:t>
            </a:r>
            <a:r>
              <a:rPr lang="en-US" sz="2800" b="0" strike="noStrike" spc="-1">
                <a:solidFill>
                  <a:schemeClr val="accent5">
                    <a:lumMod val="76000"/>
                  </a:schemeClr>
                </a:solidFill>
                <a:latin typeface="Calibri"/>
              </a:rPr>
              <a:t> works fine classifying two classes, as well – it will basically work like a sigmoid function </a:t>
            </a:r>
            <a:br/>
            <a:r>
              <a:rPr lang="en-US" sz="2800" b="0" strike="noStrike" spc="-1">
                <a:solidFill>
                  <a:srgbClr val="00B0F0"/>
                </a:solidFill>
                <a:latin typeface="Calibri"/>
              </a:rPr>
              <a:t> </a:t>
            </a:r>
            <a:br/>
            <a:r>
              <a:rPr lang="en-US" sz="2800" b="0" strike="noStrike" spc="-1">
                <a:solidFill>
                  <a:srgbClr val="00B0F0"/>
                </a:solidFill>
                <a:latin typeface="Calibri"/>
              </a:rPr>
              <a:t> </a:t>
            </a:r>
            <a:endParaRPr lang="en-US" sz="2800" b="0" strike="noStrike" spc="-1">
              <a:solidFill>
                <a:srgbClr val="00B0F0"/>
              </a:solidFill>
              <a:latin typeface="Calibri"/>
            </a:endParaRPr>
          </a:p>
        </p:txBody>
      </p:sp>
      <p:grpSp>
        <p:nvGrpSpPr>
          <p:cNvPr id="197" name="Group 3"/>
          <p:cNvGrpSpPr/>
          <p:nvPr/>
        </p:nvGrpSpPr>
        <p:grpSpPr>
          <a:xfrm>
            <a:off x="0" y="0"/>
            <a:ext cx="0" cy="0"/>
            <a:chOff x="0" y="0"/>
            <a:chExt cx="0" cy="0"/>
          </a:xfrm>
        </p:grpSpPr>
      </p:grpSp>
      <p:grpSp>
        <p:nvGrpSpPr>
          <p:cNvPr id="198" name="Group 4"/>
          <p:cNvGrpSpPr/>
          <p:nvPr/>
        </p:nvGrpSpPr>
        <p:grpSpPr>
          <a:xfrm>
            <a:off x="0" y="0"/>
            <a:ext cx="0" cy="0"/>
            <a:chOff x="0" y="0"/>
            <a:chExt cx="0" cy="0"/>
          </a:xfrm>
        </p:grpSpPr>
      </p:grpSp>
      <p:grpSp>
        <p:nvGrpSpPr>
          <p:cNvPr id="199" name="Group 5"/>
          <p:cNvGrpSpPr/>
          <p:nvPr/>
        </p:nvGrpSpPr>
        <p:grpSpPr>
          <a:xfrm>
            <a:off x="0" y="0"/>
            <a:ext cx="0" cy="0"/>
            <a:chOff x="0" y="0"/>
            <a:chExt cx="0" cy="0"/>
          </a:xfrm>
        </p:grpSpPr>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Softmax Activation Function (2)</a:t>
            </a:r>
            <a:endParaRPr lang="en-US" sz="4400" b="0" strike="noStrike" spc="-1">
              <a:solidFill>
                <a:srgbClr val="000000"/>
              </a:solidFill>
              <a:latin typeface="Calibri"/>
            </a:endParaRPr>
          </a:p>
        </p:txBody>
      </p:sp>
      <p:pic>
        <p:nvPicPr>
          <p:cNvPr id="201" name="Picture 3"/>
          <p:cNvPicPr/>
          <p:nvPr/>
        </p:nvPicPr>
        <p:blipFill>
          <a:blip r:embed="rId1"/>
          <a:stretch>
            <a:fillRect/>
          </a:stretch>
        </p:blipFill>
        <p:spPr>
          <a:xfrm>
            <a:off x="5483160" y="1762920"/>
            <a:ext cx="2037960" cy="1009440"/>
          </a:xfrm>
          <a:prstGeom prst="rect">
            <a:avLst/>
          </a:prstGeom>
          <a:ln>
            <a:noFill/>
          </a:ln>
        </p:spPr>
      </p:pic>
      <p:pic>
        <p:nvPicPr>
          <p:cNvPr id="202" name="Picture 4"/>
          <p:cNvPicPr/>
          <p:nvPr/>
        </p:nvPicPr>
        <p:blipFill>
          <a:blip r:embed="rId2"/>
          <a:stretch>
            <a:fillRect/>
          </a:stretch>
        </p:blipFill>
        <p:spPr>
          <a:xfrm>
            <a:off x="3708720" y="3644280"/>
            <a:ext cx="5067000" cy="1342800"/>
          </a:xfrm>
          <a:prstGeom prst="rect">
            <a:avLst/>
          </a:prstGeom>
          <a:ln>
            <a:noFill/>
          </a:ln>
        </p:spPr>
      </p:pic>
      <p:grpSp>
        <p:nvGrpSpPr>
          <p:cNvPr id="203" name="Group 2"/>
          <p:cNvGrpSpPr/>
          <p:nvPr/>
        </p:nvGrpSpPr>
        <p:grpSpPr>
          <a:xfrm>
            <a:off x="0" y="0"/>
            <a:ext cx="0" cy="0"/>
            <a:chOff x="0" y="0"/>
            <a:chExt cx="0" cy="0"/>
          </a:xfrm>
        </p:grpSpPr>
      </p:grpSp>
      <p:grpSp>
        <p:nvGrpSpPr>
          <p:cNvPr id="204" name="Group 3"/>
          <p:cNvGrpSpPr/>
          <p:nvPr/>
        </p:nvGrpSpPr>
        <p:grpSpPr>
          <a:xfrm>
            <a:off x="0" y="0"/>
            <a:ext cx="0" cy="0"/>
            <a:chOff x="0" y="0"/>
            <a:chExt cx="0" cy="0"/>
          </a:xfrm>
        </p:grpSpPr>
      </p:grpSp>
      <p:grpSp>
        <p:nvGrpSpPr>
          <p:cNvPr id="205" name="Group 4"/>
          <p:cNvGrpSpPr/>
          <p:nvPr/>
        </p:nvGrpSpPr>
        <p:grpSpPr>
          <a:xfrm>
            <a:off x="0" y="0"/>
            <a:ext cx="0" cy="0"/>
            <a:chOff x="0" y="0"/>
            <a:chExt cx="0" cy="0"/>
          </a:xfrm>
        </p:grpSpPr>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Cost/Loss/Error Function</a:t>
            </a:r>
            <a:endParaRPr lang="en-US" sz="4400" b="0" strike="noStrike" spc="-1">
              <a:solidFill>
                <a:srgbClr val="000000"/>
              </a:solidFill>
              <a:latin typeface="Calibri"/>
            </a:endParaRPr>
          </a:p>
        </p:txBody>
      </p:sp>
      <p:sp>
        <p:nvSpPr>
          <p:cNvPr id="296"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a:t>
            </a:r>
            <a:r>
              <a:rPr lang="en-US" sz="2800" b="0" i="1" strike="noStrike" spc="-1">
                <a:solidFill>
                  <a:schemeClr val="accent5">
                    <a:lumMod val="76000"/>
                  </a:schemeClr>
                </a:solidFill>
                <a:latin typeface="Calibri"/>
              </a:rPr>
              <a:t>error function </a:t>
            </a:r>
            <a:r>
              <a:rPr lang="en-US" sz="2800" b="0" strike="noStrike" spc="-1">
                <a:solidFill>
                  <a:schemeClr val="accent5">
                    <a:lumMod val="76000"/>
                  </a:schemeClr>
                </a:solidFill>
                <a:latin typeface="Calibri"/>
              </a:rPr>
              <a:t>is a measure of how “wrong” the neural network prediction is with respect to the expected output (the label)</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It quantifies how far we are from the correct solution</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For example, if we have a high loss, then our model is not doing a good</a:t>
            </a:r>
            <a:br>
              <a:rPr>
                <a:solidFill>
                  <a:schemeClr val="accent5">
                    <a:lumMod val="76000"/>
                  </a:schemeClr>
                </a:solidFill>
              </a:rPr>
            </a:br>
            <a:r>
              <a:rPr lang="en-US" sz="2800" b="0" strike="noStrike" spc="-1">
                <a:solidFill>
                  <a:schemeClr val="accent5">
                    <a:lumMod val="76000"/>
                  </a:schemeClr>
                </a:solidFill>
                <a:latin typeface="Calibri"/>
              </a:rPr>
              <a:t>job</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smaller the loss, the better the job the model is doing</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larger the loss, the more our model needs to be trained to increase its accuracy </a:t>
            </a:r>
            <a:br/>
            <a:r>
              <a:rPr lang="en-US" sz="2800" b="0" strike="noStrike" spc="-1">
                <a:solidFill>
                  <a:srgbClr val="00B0F0"/>
                </a:solidFill>
                <a:latin typeface="Calibri"/>
              </a:rPr>
              <a:t> </a:t>
            </a:r>
            <a:endParaRPr lang="en-US" sz="2800" b="0" strike="noStrike" spc="-1">
              <a:solidFill>
                <a:srgbClr val="00B0F0"/>
              </a:solidFill>
              <a:latin typeface="Calibri"/>
            </a:endParaRPr>
          </a:p>
        </p:txBody>
      </p:sp>
      <p:grpSp>
        <p:nvGrpSpPr>
          <p:cNvPr id="297" name="Group 3"/>
          <p:cNvGrpSpPr/>
          <p:nvPr/>
        </p:nvGrpSpPr>
        <p:grpSpPr>
          <a:xfrm>
            <a:off x="0" y="0"/>
            <a:ext cx="0" cy="0"/>
            <a:chOff x="0" y="0"/>
            <a:chExt cx="0" cy="0"/>
          </a:xfrm>
        </p:grpSpPr>
      </p:grpSp>
      <p:grpSp>
        <p:nvGrpSpPr>
          <p:cNvPr id="298" name="Group 4"/>
          <p:cNvGrpSpPr/>
          <p:nvPr/>
        </p:nvGrpSpPr>
        <p:grpSpPr>
          <a:xfrm>
            <a:off x="0" y="0"/>
            <a:ext cx="0" cy="0"/>
            <a:chOff x="0" y="0"/>
            <a:chExt cx="0" cy="0"/>
          </a:xfrm>
        </p:grpSpPr>
      </p:grpSp>
      <p:grpSp>
        <p:nvGrpSpPr>
          <p:cNvPr id="299" name="Group 5"/>
          <p:cNvGrpSpPr/>
          <p:nvPr/>
        </p:nvGrpSpPr>
        <p:grpSpPr>
          <a:xfrm>
            <a:off x="0" y="0"/>
            <a:ext cx="0" cy="0"/>
            <a:chOff x="0" y="0"/>
            <a:chExt cx="0" cy="0"/>
          </a:xfrm>
        </p:grpSpPr>
      </p:grpSp>
      <p:grpSp>
        <p:nvGrpSpPr>
          <p:cNvPr id="300" name="Group 6"/>
          <p:cNvGrpSpPr/>
          <p:nvPr/>
        </p:nvGrpSpPr>
        <p:grpSpPr>
          <a:xfrm>
            <a:off x="0" y="0"/>
            <a:ext cx="0" cy="0"/>
            <a:chOff x="0" y="0"/>
            <a:chExt cx="0" cy="0"/>
          </a:xfrm>
        </p:grpSpPr>
      </p:grpSp>
      <p:grpSp>
        <p:nvGrpSpPr>
          <p:cNvPr id="301" name="Group 7"/>
          <p:cNvGrpSpPr/>
          <p:nvPr/>
        </p:nvGrpSpPr>
        <p:grpSpPr>
          <a:xfrm>
            <a:off x="0" y="0"/>
            <a:ext cx="0" cy="0"/>
            <a:chOff x="0" y="0"/>
            <a:chExt cx="0" cy="0"/>
          </a:xfrm>
        </p:grpSpPr>
      </p:grpSp>
      <p:grpSp>
        <p:nvGrpSpPr>
          <p:cNvPr id="302" name="Group 8"/>
          <p:cNvGrpSpPr/>
          <p:nvPr/>
        </p:nvGrpSpPr>
        <p:grpSpPr>
          <a:xfrm>
            <a:off x="0" y="0"/>
            <a:ext cx="0" cy="0"/>
            <a:chOff x="0" y="0"/>
            <a:chExt cx="0" cy="0"/>
          </a:xfrm>
        </p:grpSpPr>
      </p:grpSp>
      <p:grpSp>
        <p:nvGrpSpPr>
          <p:cNvPr id="303" name="Group 9"/>
          <p:cNvGrpSpPr/>
          <p:nvPr/>
        </p:nvGrpSpPr>
        <p:grpSpPr>
          <a:xfrm>
            <a:off x="0" y="0"/>
            <a:ext cx="0" cy="0"/>
            <a:chOff x="0" y="0"/>
            <a:chExt cx="0" cy="0"/>
          </a:xfrm>
        </p:grpSpPr>
      </p:grpSp>
      <p:grpSp>
        <p:nvGrpSpPr>
          <p:cNvPr id="304" name="Group 10"/>
          <p:cNvGrpSpPr/>
          <p:nvPr/>
        </p:nvGrpSpPr>
        <p:grpSpPr>
          <a:xfrm>
            <a:off x="0" y="0"/>
            <a:ext cx="0" cy="0"/>
            <a:chOff x="0" y="0"/>
            <a:chExt cx="0" cy="0"/>
          </a:xfrm>
        </p:grpSpPr>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TextShape 1"/>
          <p:cNvSpPr txBox="1"/>
          <p:nvPr/>
        </p:nvSpPr>
        <p:spPr>
          <a:xfrm>
            <a:off x="1244520" y="7848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Mean Square Error Loss Function</a:t>
            </a:r>
            <a:endParaRPr lang="en-US" sz="4400" b="0" strike="noStrike" spc="-1">
              <a:solidFill>
                <a:srgbClr val="000000"/>
              </a:solidFill>
              <a:latin typeface="Calibri"/>
            </a:endParaRPr>
          </a:p>
        </p:txBody>
      </p:sp>
      <p:sp>
        <p:nvSpPr>
          <p:cNvPr id="315" name="TextShape 2"/>
          <p:cNvSpPr txBox="1"/>
          <p:nvPr/>
        </p:nvSpPr>
        <p:spPr>
          <a:xfrm>
            <a:off x="685800" y="1119240"/>
            <a:ext cx="11228400" cy="5236920"/>
          </a:xfrm>
          <a:prstGeom prst="rect">
            <a:avLst/>
          </a:prstGeom>
          <a:noFill/>
          <a:ln>
            <a:noFill/>
          </a:ln>
        </p:spPr>
        <p:txBody>
          <a:bodyPr lIns="91440" tIns="45720" rIns="91440" bIns="45720" anchor="t">
            <a:normAutofit fontScale="95500"/>
          </a:bodyPr>
          <a:lstStyle/>
          <a:p>
            <a:pPr marL="228600" indent="-227965">
              <a:lnSpc>
                <a:spcPct val="90000"/>
              </a:lnSpc>
              <a:spcBef>
                <a:spcPts val="1000"/>
              </a:spcBef>
              <a:buClr>
                <a:srgbClr val="00B0F0"/>
              </a:buClr>
              <a:buFont typeface="Arial"/>
              <a:buChar char="•"/>
            </a:pPr>
            <a:r>
              <a:rPr lang="en-US" sz="1900" b="0" strike="noStrike" spc="-1">
                <a:solidFill>
                  <a:schemeClr val="accent5">
                    <a:lumMod val="76000"/>
                  </a:schemeClr>
                </a:solidFill>
                <a:latin typeface="Calibri"/>
              </a:rPr>
              <a:t>Mean squared error (MSE) is commonly used in regression problems that require the output to be a real value (like house pricing) </a:t>
            </a:r>
            <a:endParaRPr lang="en-US">
              <a:solidFill>
                <a:schemeClr val="accent5">
                  <a:lumMod val="76000"/>
                </a:schemeClr>
              </a:solidFill>
            </a:endParaRPr>
          </a:p>
          <a:p>
            <a:pPr>
              <a:lnSpc>
                <a:spcPct val="90000"/>
              </a:lnSpc>
              <a:spcBef>
                <a:spcPts val="1000"/>
              </a:spcBef>
            </a:pPr>
            <a:endParaRPr lang="en-US" sz="1400" b="0" strike="noStrike" spc="-1">
              <a:solidFill>
                <a:srgbClr val="00B0F0"/>
              </a:solidFill>
              <a:latin typeface="Calibri"/>
            </a:endParaRPr>
          </a:p>
          <a:p>
            <a:pPr>
              <a:lnSpc>
                <a:spcPct val="90000"/>
              </a:lnSpc>
              <a:spcBef>
                <a:spcPts val="1000"/>
              </a:spcBef>
            </a:pPr>
            <a:endParaRPr lang="en-US" sz="1400" b="0" strike="noStrike" spc="-1">
              <a:solidFill>
                <a:schemeClr val="accent5">
                  <a:lumMod val="76000"/>
                </a:schemeClr>
              </a:solidFill>
              <a:latin typeface="Calibri"/>
            </a:endParaRPr>
          </a:p>
          <a:p>
            <a:pPr>
              <a:lnSpc>
                <a:spcPct val="90000"/>
              </a:lnSpc>
              <a:spcBef>
                <a:spcPts val="1000"/>
              </a:spcBef>
            </a:pPr>
            <a:endParaRPr lang="en-US" sz="14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1900" b="0" strike="noStrike" spc="-1">
                <a:solidFill>
                  <a:schemeClr val="accent5">
                    <a:lumMod val="76000"/>
                  </a:schemeClr>
                </a:solidFill>
                <a:latin typeface="Calibri"/>
              </a:rPr>
              <a:t>Instead of just comparing the prediction output with the label (</a:t>
            </a:r>
            <a:r>
              <a:rPr lang="en-US" sz="1900" b="0" i="1" strike="noStrike" spc="-1" err="1">
                <a:solidFill>
                  <a:schemeClr val="accent5">
                    <a:lumMod val="76000"/>
                  </a:schemeClr>
                </a:solidFill>
                <a:latin typeface="Calibri"/>
              </a:rPr>
              <a:t>y</a:t>
            </a:r>
            <a:r>
              <a:rPr lang="en-US" sz="1900" b="0" strike="noStrike" spc="-1" err="1">
                <a:solidFill>
                  <a:schemeClr val="accent5">
                    <a:lumMod val="76000"/>
                  </a:schemeClr>
                </a:solidFill>
                <a:latin typeface="Calibri"/>
              </a:rPr>
              <a:t>̂</a:t>
            </a:r>
            <a:r>
              <a:rPr lang="en-US" sz="1900" b="0" i="1" strike="noStrike" spc="-1" baseline="-25000" err="1">
                <a:solidFill>
                  <a:schemeClr val="accent5">
                    <a:lumMod val="76000"/>
                  </a:schemeClr>
                </a:solidFill>
                <a:latin typeface="Calibri"/>
              </a:rPr>
              <a:t>i</a:t>
            </a:r>
            <a:r>
              <a:rPr lang="en-US" sz="1900" b="0" i="1" strike="noStrike" spc="-1">
                <a:solidFill>
                  <a:schemeClr val="accent5">
                    <a:lumMod val="76000"/>
                  </a:schemeClr>
                </a:solidFill>
                <a:latin typeface="Calibri"/>
              </a:rPr>
              <a:t> </a:t>
            </a:r>
            <a:r>
              <a:rPr lang="en-US" sz="1900" b="0" strike="noStrike" spc="-1">
                <a:solidFill>
                  <a:schemeClr val="accent5">
                    <a:lumMod val="76000"/>
                  </a:schemeClr>
                </a:solidFill>
                <a:latin typeface="Calibri"/>
              </a:rPr>
              <a:t>– </a:t>
            </a:r>
            <a:r>
              <a:rPr lang="en-US" sz="1900" b="0" i="1" strike="noStrike" spc="-1" err="1">
                <a:solidFill>
                  <a:schemeClr val="accent5">
                    <a:lumMod val="76000"/>
                  </a:schemeClr>
                </a:solidFill>
                <a:latin typeface="Calibri"/>
              </a:rPr>
              <a:t>y</a:t>
            </a:r>
            <a:r>
              <a:rPr lang="en-US" sz="1900" b="0" i="1" strike="noStrike" spc="-1" baseline="-25000" err="1">
                <a:solidFill>
                  <a:schemeClr val="accent5">
                    <a:lumMod val="76000"/>
                  </a:schemeClr>
                </a:solidFill>
                <a:latin typeface="Calibri"/>
              </a:rPr>
              <a:t>i</a:t>
            </a:r>
            <a:r>
              <a:rPr lang="en-US" sz="1900" b="0" strike="noStrike" spc="-1">
                <a:solidFill>
                  <a:schemeClr val="accent5">
                    <a:lumMod val="76000"/>
                  </a:schemeClr>
                </a:solidFill>
                <a:latin typeface="Calibri"/>
              </a:rPr>
              <a:t>), the error is squared and averaged over the number of data points </a:t>
            </a:r>
            <a:endParaRPr lang="en-US" sz="19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1900" b="0" strike="noStrike" spc="-1">
                <a:solidFill>
                  <a:schemeClr val="accent5">
                    <a:lumMod val="76000"/>
                  </a:schemeClr>
                </a:solidFill>
                <a:latin typeface="Calibri"/>
              </a:rPr>
              <a:t>MSE is a good choice for a few reasons</a:t>
            </a:r>
            <a:endParaRPr lang="en-US" sz="19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1700" b="0" strike="noStrike" spc="-1">
                <a:solidFill>
                  <a:schemeClr val="accent6">
                    <a:lumMod val="76000"/>
                  </a:schemeClr>
                </a:solidFill>
                <a:latin typeface="Calibri"/>
              </a:rPr>
              <a:t>The square ensures the error is always positive, and </a:t>
            </a:r>
            <a:endParaRPr lang="en-US" sz="1700" b="0" strike="noStrike" spc="-1">
              <a:solidFill>
                <a:schemeClr val="accent6">
                  <a:lumMod val="76000"/>
                </a:schemeClr>
              </a:solidFill>
              <a:latin typeface="Calibri"/>
            </a:endParaRPr>
          </a:p>
          <a:p>
            <a:pPr marL="685800" lvl="1" indent="-227965">
              <a:lnSpc>
                <a:spcPct val="90000"/>
              </a:lnSpc>
              <a:spcBef>
                <a:spcPts val="500"/>
              </a:spcBef>
              <a:buClr>
                <a:srgbClr val="00B050"/>
              </a:buClr>
              <a:buFont typeface="Arial"/>
              <a:buChar char="•"/>
            </a:pPr>
            <a:r>
              <a:rPr lang="en-US" sz="1700" b="0" strike="noStrike" spc="-1">
                <a:solidFill>
                  <a:schemeClr val="accent6">
                    <a:lumMod val="76000"/>
                  </a:schemeClr>
                </a:solidFill>
                <a:latin typeface="Calibri"/>
              </a:rPr>
              <a:t>Larger errors are penalized more than smaller errors </a:t>
            </a:r>
            <a:endParaRPr lang="en-US" sz="1700" b="0" strike="noStrike" spc="-1">
              <a:solidFill>
                <a:schemeClr val="accent6">
                  <a:lumMod val="76000"/>
                </a:schemeClr>
              </a:solidFill>
              <a:latin typeface="Calibri"/>
            </a:endParaRPr>
          </a:p>
          <a:p>
            <a:pPr marL="228600" indent="-227965">
              <a:lnSpc>
                <a:spcPct val="90000"/>
              </a:lnSpc>
              <a:spcBef>
                <a:spcPts val="1000"/>
              </a:spcBef>
              <a:buClr>
                <a:srgbClr val="00B0F0"/>
              </a:buClr>
              <a:buFont typeface="Arial"/>
              <a:buChar char="•"/>
            </a:pPr>
            <a:r>
              <a:rPr lang="en-US" sz="1900" b="0" strike="noStrike" spc="-1">
                <a:solidFill>
                  <a:schemeClr val="accent5">
                    <a:lumMod val="76000"/>
                  </a:schemeClr>
                </a:solidFill>
                <a:latin typeface="Calibri"/>
              </a:rPr>
              <a:t>MSE is quite sensitive to outliers, since it squares the error value</a:t>
            </a:r>
            <a:endParaRPr lang="en-US" sz="19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1900" b="0" strike="noStrike" spc="-1">
                <a:solidFill>
                  <a:schemeClr val="accent5">
                    <a:lumMod val="76000"/>
                  </a:schemeClr>
                </a:solidFill>
                <a:latin typeface="Calibri"/>
              </a:rPr>
              <a:t>A variation error function of MSE called </a:t>
            </a:r>
            <a:r>
              <a:rPr lang="en-US" sz="1900" b="0" i="1" strike="noStrike" spc="-1">
                <a:solidFill>
                  <a:schemeClr val="accent5">
                    <a:lumMod val="76000"/>
                  </a:schemeClr>
                </a:solidFill>
                <a:latin typeface="Calibri"/>
              </a:rPr>
              <a:t>mean absolute error </a:t>
            </a:r>
            <a:r>
              <a:rPr lang="en-US" sz="1900" b="0" strike="noStrike" spc="-1">
                <a:solidFill>
                  <a:schemeClr val="accent5">
                    <a:lumMod val="76000"/>
                  </a:schemeClr>
                </a:solidFill>
                <a:latin typeface="Calibri"/>
              </a:rPr>
              <a:t>(MAE) is immune to this issue </a:t>
            </a:r>
            <a:endParaRPr lang="en-US" sz="19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1700" b="0" strike="noStrike" spc="-1">
                <a:solidFill>
                  <a:schemeClr val="accent6">
                    <a:lumMod val="76000"/>
                  </a:schemeClr>
                </a:solidFill>
                <a:latin typeface="Calibri"/>
              </a:rPr>
              <a:t>It averages the absolute error over the entire dataset without taking the square of the error </a:t>
            </a:r>
            <a:br>
              <a:rPr sz="1700">
                <a:solidFill>
                  <a:schemeClr val="accent6">
                    <a:lumMod val="76000"/>
                  </a:schemeClr>
                </a:solidFill>
              </a:rPr>
            </a:br>
            <a:br>
              <a:rPr sz="1200">
                <a:solidFill>
                  <a:schemeClr val="accent6">
                    <a:lumMod val="76000"/>
                  </a:schemeClr>
                </a:solidFill>
              </a:rPr>
            </a:br>
            <a:br>
              <a:rPr sz="1200">
                <a:solidFill>
                  <a:schemeClr val="accent6">
                    <a:lumMod val="76000"/>
                  </a:schemeClr>
                </a:solidFill>
              </a:rPr>
            </a:br>
            <a:br>
              <a:rPr sz="1200">
                <a:solidFill>
                  <a:schemeClr val="accent6">
                    <a:lumMod val="76000"/>
                  </a:schemeClr>
                </a:solidFill>
              </a:rPr>
            </a:br>
            <a:r>
              <a:rPr lang="en-US" sz="1200" b="0" strike="noStrike" spc="-1">
                <a:solidFill>
                  <a:schemeClr val="accent6">
                    <a:lumMod val="76000"/>
                  </a:schemeClr>
                </a:solidFill>
                <a:latin typeface="Calibri"/>
              </a:rPr>
              <a:t> </a:t>
            </a:r>
            <a:endParaRPr lang="en-US" sz="1200" b="0" strike="noStrike" spc="-1">
              <a:solidFill>
                <a:schemeClr val="accent6">
                  <a:lumMod val="76000"/>
                </a:schemeClr>
              </a:solidFill>
              <a:latin typeface="Calibri"/>
            </a:endParaRPr>
          </a:p>
        </p:txBody>
      </p:sp>
      <p:pic>
        <p:nvPicPr>
          <p:cNvPr id="316" name="Picture 3"/>
          <p:cNvPicPr/>
          <p:nvPr/>
        </p:nvPicPr>
        <p:blipFill>
          <a:blip r:embed="rId1"/>
          <a:stretch>
            <a:fillRect/>
          </a:stretch>
        </p:blipFill>
        <p:spPr>
          <a:xfrm>
            <a:off x="3661483" y="1568021"/>
            <a:ext cx="2943000" cy="761760"/>
          </a:xfrm>
          <a:prstGeom prst="rect">
            <a:avLst/>
          </a:prstGeom>
          <a:ln>
            <a:noFill/>
          </a:ln>
        </p:spPr>
      </p:pic>
      <p:pic>
        <p:nvPicPr>
          <p:cNvPr id="317" name="Picture 4"/>
          <p:cNvPicPr/>
          <p:nvPr/>
        </p:nvPicPr>
        <p:blipFill>
          <a:blip r:embed="rId2"/>
          <a:stretch>
            <a:fillRect/>
          </a:stretch>
        </p:blipFill>
        <p:spPr>
          <a:xfrm>
            <a:off x="3373545" y="5435533"/>
            <a:ext cx="2723760" cy="91404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Shape 1"/>
          <p:cNvSpPr txBox="1"/>
          <p:nvPr/>
        </p:nvSpPr>
        <p:spPr>
          <a:xfrm>
            <a:off x="1244520" y="7848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Cross-entropy loss function</a:t>
            </a:r>
            <a:endParaRPr lang="en-US" sz="4400" b="0" strike="noStrike" spc="-1">
              <a:solidFill>
                <a:srgbClr val="000000"/>
              </a:solidFill>
              <a:latin typeface="Calibri"/>
            </a:endParaRPr>
          </a:p>
        </p:txBody>
      </p:sp>
      <p:sp>
        <p:nvSpPr>
          <p:cNvPr id="319" name="TextShape 2"/>
          <p:cNvSpPr txBox="1"/>
          <p:nvPr/>
        </p:nvSpPr>
        <p:spPr>
          <a:xfrm>
            <a:off x="685800" y="2679120"/>
            <a:ext cx="11320200" cy="367668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The loss function </a:t>
            </a:r>
            <a:r>
              <a:rPr lang="en-US" sz="2800" b="0" i="1" strike="noStrike" spc="-1">
                <a:solidFill>
                  <a:schemeClr val="accent5">
                    <a:lumMod val="76000"/>
                  </a:schemeClr>
                </a:solidFill>
                <a:latin typeface="Calibri"/>
              </a:rPr>
              <a:t>L</a:t>
            </a:r>
            <a:r>
              <a:rPr lang="en-US" sz="2800" b="0" strike="noStrike" spc="-1">
                <a:solidFill>
                  <a:schemeClr val="accent5">
                    <a:lumMod val="76000"/>
                  </a:schemeClr>
                </a:solidFill>
                <a:latin typeface="Calibri"/>
              </a:rPr>
              <a:t>(ŷ</a:t>
            </a:r>
            <a:r>
              <a:rPr lang="en-US" sz="2800" b="0" i="1" strike="noStrike" spc="-1">
                <a:solidFill>
                  <a:schemeClr val="accent5">
                    <a:lumMod val="76000"/>
                  </a:schemeClr>
                </a:solidFill>
                <a:latin typeface="Calibri"/>
              </a:rPr>
              <a:t>; y</a:t>
            </a:r>
            <a:r>
              <a:rPr lang="en-US" sz="2800" b="0" strike="noStrike" spc="-1">
                <a:solidFill>
                  <a:schemeClr val="accent5">
                    <a:lumMod val="76000"/>
                  </a:schemeClr>
                </a:solidFill>
                <a:latin typeface="Calibri"/>
              </a:rPr>
              <a:t>) produces a single scalar value </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Most common for Neural Networks</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Cross-entropy is commonly used in classification problems because it quantifies the difference between two probability distributions </a:t>
            </a:r>
            <a:endParaRPr lang="en-US" sz="2800" b="0" strike="noStrike" spc="-1">
              <a:solidFill>
                <a:schemeClr val="accent5">
                  <a:lumMod val="76000"/>
                </a:schemeClr>
              </a:solidFill>
              <a:latin typeface="Calibri"/>
            </a:endParaRPr>
          </a:p>
          <a:p>
            <a:pPr marL="228600" indent="-227965">
              <a:lnSpc>
                <a:spcPct val="90000"/>
              </a:lnSpc>
              <a:spcBef>
                <a:spcPts val="1000"/>
              </a:spcBef>
              <a:buClr>
                <a:srgbClr val="00B0F0"/>
              </a:buClr>
              <a:buFont typeface="Arial"/>
              <a:buChar char="•"/>
            </a:pPr>
            <a:r>
              <a:rPr lang="en-US" sz="2800" b="0" strike="noStrike" spc="-1">
                <a:solidFill>
                  <a:schemeClr val="accent5">
                    <a:lumMod val="76000"/>
                  </a:schemeClr>
                </a:solidFill>
                <a:latin typeface="Calibri"/>
              </a:rPr>
              <a:t>How close is the predicted distribution to the true distribution? </a:t>
            </a:r>
            <a:endParaRPr lang="en-US" sz="2800" b="0" strike="noStrike" spc="-1">
              <a:solidFill>
                <a:schemeClr val="accent5">
                  <a:lumMod val="76000"/>
                </a:schemeClr>
              </a:solidFill>
              <a:latin typeface="Calibri"/>
            </a:endParaRPr>
          </a:p>
          <a:p>
            <a:pPr marL="685800" lvl="1" indent="-227965">
              <a:lnSpc>
                <a:spcPct val="90000"/>
              </a:lnSpc>
              <a:spcBef>
                <a:spcPts val="500"/>
              </a:spcBef>
              <a:buClr>
                <a:srgbClr val="00B050"/>
              </a:buClr>
              <a:buFont typeface="Arial"/>
              <a:buChar char="•"/>
            </a:pPr>
            <a:r>
              <a:rPr lang="en-US" sz="2400" b="0" strike="noStrike" spc="-1">
                <a:solidFill>
                  <a:schemeClr val="accent6">
                    <a:lumMod val="76000"/>
                  </a:schemeClr>
                </a:solidFill>
                <a:latin typeface="Calibri"/>
              </a:rPr>
              <a:t>That is what the cross entropy loss function determines</a:t>
            </a:r>
            <a:endParaRPr lang="en-US" sz="2400" b="0" strike="noStrike" spc="-1">
              <a:solidFill>
                <a:schemeClr val="accent6">
                  <a:lumMod val="76000"/>
                </a:schemeClr>
              </a:solidFill>
              <a:latin typeface="Calibri"/>
            </a:endParaRPr>
          </a:p>
          <a:p>
            <a:pPr marL="228600" indent="-227965">
              <a:lnSpc>
                <a:spcPct val="90000"/>
              </a:lnSpc>
              <a:spcBef>
                <a:spcPts val="500"/>
              </a:spcBef>
              <a:buClr>
                <a:srgbClr val="00B050"/>
              </a:buClr>
              <a:buFont typeface="Arial"/>
              <a:buChar char="•"/>
            </a:pPr>
            <a:r>
              <a:rPr lang="en-US" sz="2400" spc="-1">
                <a:solidFill>
                  <a:schemeClr val="accent5">
                    <a:lumMod val="76000"/>
                  </a:schemeClr>
                </a:solidFill>
                <a:latin typeface="Calibri"/>
              </a:rPr>
              <a:t>T</a:t>
            </a:r>
            <a:r>
              <a:rPr lang="en-US" sz="2400" b="0" strike="noStrike" spc="-1">
                <a:solidFill>
                  <a:schemeClr val="accent5">
                    <a:lumMod val="76000"/>
                  </a:schemeClr>
                </a:solidFill>
                <a:latin typeface="Calibri"/>
              </a:rPr>
              <a:t>he cross entropy is the average number of bits needed to encode data coming from a source with distribution p when we use model q </a:t>
            </a:r>
            <a:br/>
            <a:endParaRPr lang="en-US" sz="2400" b="0" strike="noStrike" spc="-1">
              <a:solidFill>
                <a:srgbClr val="00B0F0"/>
              </a:solidFill>
              <a:latin typeface="Calibri"/>
            </a:endParaRPr>
          </a:p>
        </p:txBody>
      </p:sp>
      <p:pic>
        <p:nvPicPr>
          <p:cNvPr id="320" name="Picture 3"/>
          <p:cNvPicPr/>
          <p:nvPr/>
        </p:nvPicPr>
        <p:blipFill>
          <a:blip r:embed="rId1"/>
          <a:stretch>
            <a:fillRect/>
          </a:stretch>
        </p:blipFill>
        <p:spPr>
          <a:xfrm>
            <a:off x="5352272" y="849143"/>
            <a:ext cx="6409800" cy="1209240"/>
          </a:xfrm>
          <a:prstGeom prst="rect">
            <a:avLst/>
          </a:prstGeom>
          <a:ln>
            <a:noFill/>
          </a:ln>
        </p:spPr>
      </p:pic>
      <p:pic>
        <p:nvPicPr>
          <p:cNvPr id="2" name="Picture 1" descr="A black and white symbol&#10;&#10;AI-generated content may be incorrect."/>
          <p:cNvPicPr>
            <a:picLocks noChangeAspect="1"/>
          </p:cNvPicPr>
          <p:nvPr/>
        </p:nvPicPr>
        <p:blipFill>
          <a:blip r:embed="rId2"/>
          <a:stretch>
            <a:fillRect/>
          </a:stretch>
        </p:blipFill>
        <p:spPr>
          <a:xfrm>
            <a:off x="1243194" y="1040341"/>
            <a:ext cx="3147484" cy="10181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Shape 1"/>
          <p:cNvSpPr txBox="1"/>
          <p:nvPr/>
        </p:nvSpPr>
        <p:spPr>
          <a:xfrm>
            <a:off x="1244520" y="7848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pc="-1">
                <a:solidFill>
                  <a:srgbClr val="002060"/>
                </a:solidFill>
                <a:latin typeface="Calibri Light"/>
              </a:rPr>
              <a:t>Label-smoothed Cross-entropy</a:t>
            </a:r>
            <a:r>
              <a:rPr lang="en-US" sz="4400" b="1" strike="noStrike" spc="-1">
                <a:solidFill>
                  <a:srgbClr val="002060"/>
                </a:solidFill>
                <a:latin typeface="Calibri Light"/>
              </a:rPr>
              <a:t> loss function</a:t>
            </a:r>
            <a:endParaRPr lang="en-US" sz="4400" b="0" strike="noStrike" spc="-1">
              <a:solidFill>
                <a:srgbClr val="000000"/>
              </a:solidFill>
              <a:latin typeface="Calibri"/>
            </a:endParaRPr>
          </a:p>
        </p:txBody>
      </p:sp>
      <p:sp>
        <p:nvSpPr>
          <p:cNvPr id="319" name="TextShape 2"/>
          <p:cNvSpPr txBox="1"/>
          <p:nvPr/>
        </p:nvSpPr>
        <p:spPr>
          <a:xfrm>
            <a:off x="367353" y="2679120"/>
            <a:ext cx="11638647" cy="3676680"/>
          </a:xfrm>
          <a:prstGeom prst="rect">
            <a:avLst/>
          </a:prstGeom>
          <a:noFill/>
          <a:ln>
            <a:noFill/>
          </a:ln>
        </p:spPr>
        <p:txBody>
          <a:bodyPr lIns="91440" tIns="45720" rIns="91440" bIns="45720" anchor="t">
            <a:noAutofit/>
          </a:bodyPr>
          <a:lstStyle/>
          <a:p>
            <a:pPr marL="457200" indent="-457200">
              <a:buClr>
                <a:srgbClr val="00B0F0"/>
              </a:buClr>
              <a:buChar char="•"/>
            </a:pPr>
            <a:r>
              <a:rPr lang="en-US" sz="2800" spc="-1">
                <a:solidFill>
                  <a:schemeClr val="accent5">
                    <a:lumMod val="76000"/>
                  </a:schemeClr>
                </a:solidFill>
              </a:rPr>
              <a:t>With label smoothing, the hard one-hot encoded vectors representing true labels are replaced by a smoothed version, which assigns </a:t>
            </a:r>
            <a:r>
              <a:rPr lang="en-US" sz="2800" b="0" strike="noStrike" spc="-1">
                <a:solidFill>
                  <a:schemeClr val="accent5">
                    <a:lumMod val="76000"/>
                  </a:schemeClr>
                </a:solidFill>
              </a:rPr>
              <a:t>a </a:t>
            </a:r>
            <a:r>
              <a:rPr lang="en-US" sz="2800" spc="-1">
                <a:solidFill>
                  <a:schemeClr val="accent5">
                    <a:lumMod val="76000"/>
                  </a:schemeClr>
                </a:solidFill>
              </a:rPr>
              <a:t>little bit of probability mass to all other classes.</a:t>
            </a:r>
            <a:endParaRPr lang="en-US">
              <a:solidFill>
                <a:schemeClr val="accent5">
                  <a:lumMod val="76000"/>
                </a:schemeClr>
              </a:solidFill>
            </a:endParaRPr>
          </a:p>
          <a:p>
            <a:pPr marL="457200" indent="-457200">
              <a:buClr>
                <a:srgbClr val="00B0F0"/>
              </a:buClr>
              <a:buChar char="•"/>
            </a:pPr>
            <a:r>
              <a:rPr lang="en-US" sz="2800" spc="-1">
                <a:solidFill>
                  <a:schemeClr val="accent5">
                    <a:lumMod val="76000"/>
                  </a:schemeClr>
                </a:solidFill>
              </a:rPr>
              <a:t>where </a:t>
            </a:r>
            <a:r>
              <a:rPr lang="en-US" sz="2800" b="1" i="1" spc="-1">
                <a:solidFill>
                  <a:schemeClr val="accent5">
                    <a:lumMod val="76000"/>
                  </a:schemeClr>
                </a:solidFill>
              </a:rPr>
              <a:t>p</a:t>
            </a:r>
            <a:r>
              <a:rPr lang="en-US" sz="2800" b="1" i="1" spc="-1" baseline="-25000">
                <a:solidFill>
                  <a:schemeClr val="accent5">
                    <a:lumMod val="76000"/>
                  </a:schemeClr>
                </a:solidFill>
              </a:rPr>
              <a:t>i</a:t>
            </a:r>
            <a:r>
              <a:rPr lang="en-US" sz="2800" i="1" spc="-1">
                <a:solidFill>
                  <a:schemeClr val="accent5">
                    <a:lumMod val="76000"/>
                  </a:schemeClr>
                </a:solidFill>
              </a:rPr>
              <a:t> </a:t>
            </a:r>
            <a:r>
              <a:rPr lang="en-US" sz="2800" spc="-1">
                <a:solidFill>
                  <a:schemeClr val="accent5">
                    <a:lumMod val="76000"/>
                  </a:schemeClr>
                </a:solidFill>
              </a:rPr>
              <a:t>are the predicted probabilities, and </a:t>
            </a:r>
            <a:r>
              <a:rPr lang="en-US" sz="2800" i="1" spc="-1">
                <a:solidFill>
                  <a:schemeClr val="accent5">
                    <a:lumMod val="76000"/>
                  </a:schemeClr>
                </a:solidFill>
              </a:rPr>
              <a:t>N,K</a:t>
            </a:r>
            <a:r>
              <a:rPr lang="en-US" sz="2800" spc="-1">
                <a:solidFill>
                  <a:schemeClr val="accent5">
                    <a:lumMod val="76000"/>
                  </a:schemeClr>
                </a:solidFill>
              </a:rPr>
              <a:t> are the number of mini-batch/classes.</a:t>
            </a:r>
            <a:endParaRPr lang="en-US">
              <a:solidFill>
                <a:schemeClr val="accent5">
                  <a:lumMod val="76000"/>
                </a:schemeClr>
              </a:solidFill>
            </a:endParaRPr>
          </a:p>
          <a:p>
            <a:pPr>
              <a:buClr>
                <a:srgbClr val="00B0F0"/>
              </a:buClr>
              <a:buFont typeface="Arial"/>
              <a:buChar char="•"/>
            </a:pPr>
            <a:endParaRPr lang="en-US"/>
          </a:p>
          <a:p>
            <a:pPr marL="457200" indent="-457200">
              <a:buClr>
                <a:srgbClr val="00B0F0"/>
              </a:buClr>
              <a:buFont typeface="Arial"/>
              <a:buChar char="•"/>
            </a:pPr>
            <a:endParaRPr lang="en-US" sz="2800" spc="-1">
              <a:solidFill>
                <a:schemeClr val="accent5">
                  <a:lumMod val="76000"/>
                </a:schemeClr>
              </a:solidFill>
            </a:endParaRPr>
          </a:p>
          <a:p>
            <a:pPr>
              <a:buClr>
                <a:srgbClr val="00B0F0"/>
              </a:buClr>
              <a:buFont typeface="Arial"/>
              <a:buChar char="•"/>
            </a:pPr>
            <a:endParaRPr lang="en-US" sz="2400" spc="-1">
              <a:solidFill>
                <a:srgbClr val="00B0F0"/>
              </a:solidFill>
              <a:latin typeface="Calibri"/>
            </a:endParaRPr>
          </a:p>
        </p:txBody>
      </p:sp>
      <p:pic>
        <p:nvPicPr>
          <p:cNvPr id="3" name="Picture 2"/>
          <p:cNvPicPr>
            <a:picLocks noChangeAspect="1"/>
          </p:cNvPicPr>
          <p:nvPr/>
        </p:nvPicPr>
        <p:blipFill>
          <a:blip r:embed="rId1"/>
          <a:stretch>
            <a:fillRect/>
          </a:stretch>
        </p:blipFill>
        <p:spPr>
          <a:xfrm>
            <a:off x="1245643" y="1068079"/>
            <a:ext cx="3559223" cy="991453"/>
          </a:xfrm>
          <a:prstGeom prst="rect">
            <a:avLst/>
          </a:prstGeom>
        </p:spPr>
      </p:pic>
      <p:pic>
        <p:nvPicPr>
          <p:cNvPr id="4" name="Picture 3" descr="A black and white math equation&#10;&#10;AI-generated content may be incorrect."/>
          <p:cNvPicPr>
            <a:picLocks noChangeAspect="1"/>
          </p:cNvPicPr>
          <p:nvPr/>
        </p:nvPicPr>
        <p:blipFill>
          <a:blip r:embed="rId2"/>
          <a:stretch>
            <a:fillRect/>
          </a:stretch>
        </p:blipFill>
        <p:spPr>
          <a:xfrm>
            <a:off x="6096000" y="728501"/>
            <a:ext cx="3771123" cy="13421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1296917"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Autoencoders using Neural Networks</a:t>
            </a:r>
            <a:endParaRPr lang="en-US" sz="4400" b="0" strike="noStrike" spc="-1">
              <a:solidFill>
                <a:srgbClr val="000000"/>
              </a:solidFill>
              <a:latin typeface="Calibri"/>
            </a:endParaRPr>
          </a:p>
        </p:txBody>
      </p:sp>
      <p:sp>
        <p:nvSpPr>
          <p:cNvPr id="121" name="TextShape 2"/>
          <p:cNvSpPr txBox="1"/>
          <p:nvPr/>
        </p:nvSpPr>
        <p:spPr>
          <a:xfrm>
            <a:off x="685800" y="1119240"/>
            <a:ext cx="11320200" cy="5236920"/>
          </a:xfrm>
          <a:prstGeom prst="rect">
            <a:avLst/>
          </a:prstGeom>
          <a:noFill/>
          <a:ln>
            <a:noFill/>
          </a:ln>
        </p:spPr>
        <p:txBody>
          <a:bodyPr>
            <a:noAutofit/>
          </a:bodyPr>
          <a:lstStyle/>
          <a:p>
            <a:pPr marL="228600" indent="-227965">
              <a:lnSpc>
                <a:spcPct val="90000"/>
              </a:lnSpc>
              <a:spcBef>
                <a:spcPts val="1000"/>
              </a:spcBef>
              <a:buClr>
                <a:srgbClr val="0070C0"/>
              </a:buClr>
              <a:buFont typeface="Arial"/>
              <a:buChar char="•"/>
            </a:pPr>
            <a:r>
              <a:rPr lang="en-US" sz="2800" b="0" strike="noStrike" spc="-1" err="1">
                <a:solidFill>
                  <a:srgbClr val="0070C0"/>
                </a:solidFill>
                <a:latin typeface="Calibri"/>
              </a:rPr>
              <a:t>Autoencoders</a:t>
            </a:r>
            <a:r>
              <a:rPr lang="en-US" sz="2800" b="0" strike="noStrike" spc="-1">
                <a:solidFill>
                  <a:srgbClr val="0070C0"/>
                </a:solidFill>
                <a:latin typeface="Calibri"/>
              </a:rPr>
              <a:t> are a specific type of feedforward neural networks where the input is the same as the output</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They compress the input into a lower-dimensional </a:t>
            </a:r>
            <a:r>
              <a:rPr lang="en-US" sz="2800" b="0" i="1" strike="noStrike" spc="-1">
                <a:solidFill>
                  <a:srgbClr val="0070C0"/>
                </a:solidFill>
                <a:latin typeface="Calibri"/>
              </a:rPr>
              <a:t>code </a:t>
            </a:r>
            <a:r>
              <a:rPr lang="en-US" sz="2800" b="0" strike="noStrike" spc="-1">
                <a:solidFill>
                  <a:srgbClr val="0070C0"/>
                </a:solidFill>
                <a:latin typeface="Calibri"/>
              </a:rPr>
              <a:t>and then reconstruct the output from this representation</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 code is a compact “summary” or “compression” of the input, also called the </a:t>
            </a:r>
            <a:r>
              <a:rPr lang="en-US" sz="2800" b="0" i="1" strike="noStrike" spc="-1">
                <a:solidFill>
                  <a:srgbClr val="0070C0"/>
                </a:solidFill>
                <a:latin typeface="Calibri"/>
              </a:rPr>
              <a:t>latent-space representation</a:t>
            </a:r>
            <a:endParaRPr lang="en-US" sz="2800" b="0" i="1" strike="noStrike" spc="-1">
              <a:solidFill>
                <a:srgbClr val="0070C0"/>
              </a:solidFill>
              <a:latin typeface="Calibri"/>
            </a:endParaRPr>
          </a:p>
        </p:txBody>
      </p:sp>
      <p:pic>
        <p:nvPicPr>
          <p:cNvPr id="122" name="Picture 3"/>
          <p:cNvPicPr/>
          <p:nvPr/>
        </p:nvPicPr>
        <p:blipFill>
          <a:blip r:embed="rId1"/>
          <a:stretch>
            <a:fillRect/>
          </a:stretch>
        </p:blipFill>
        <p:spPr>
          <a:xfrm>
            <a:off x="816430" y="4510278"/>
            <a:ext cx="10681560" cy="1192680"/>
          </a:xfrm>
          <a:prstGeom prst="rect">
            <a:avLst/>
          </a:prstGeom>
          <a:ln>
            <a:noFill/>
          </a:ln>
          <a:effectLst>
            <a:glow rad="228600">
              <a:schemeClr val="accent5">
                <a:satMod val="175000"/>
                <a:alpha val="40000"/>
              </a:schemeClr>
            </a:glow>
            <a:innerShdw blurRad="114300">
              <a:srgbClr val="000000"/>
            </a:inn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1296917"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Autoencoders using Neural Networks</a:t>
            </a:r>
            <a:endParaRPr lang="en-US" sz="4400" b="0" strike="noStrike" spc="-1">
              <a:solidFill>
                <a:srgbClr val="000000"/>
              </a:solidFill>
              <a:latin typeface="Calibri"/>
            </a:endParaRPr>
          </a:p>
        </p:txBody>
      </p:sp>
      <p:sp>
        <p:nvSpPr>
          <p:cNvPr id="121"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70C0"/>
              </a:buClr>
              <a:buFont typeface="Arial"/>
              <a:buChar char="•"/>
            </a:pPr>
            <a:r>
              <a:rPr lang="en-US" sz="2800">
                <a:solidFill>
                  <a:srgbClr val="0070C0"/>
                </a:solidFill>
                <a:latin typeface="Calibri"/>
                <a:cs typeface="Calibri"/>
              </a:rPr>
              <a:t>Autoencoders (AE) work by compressing the input into a </a:t>
            </a:r>
            <a:r>
              <a:rPr lang="en-US" sz="2800" b="1">
                <a:solidFill>
                  <a:srgbClr val="002060"/>
                </a:solidFill>
                <a:latin typeface="Calibri"/>
                <a:cs typeface="Calibri"/>
              </a:rPr>
              <a:t>latent-space</a:t>
            </a:r>
            <a:r>
              <a:rPr lang="en-US" sz="2800">
                <a:solidFill>
                  <a:srgbClr val="002060"/>
                </a:solidFill>
                <a:latin typeface="Calibri"/>
                <a:cs typeface="Calibri"/>
              </a:rPr>
              <a:t> </a:t>
            </a:r>
            <a:r>
              <a:rPr lang="en-US" sz="2800" b="1">
                <a:solidFill>
                  <a:srgbClr val="002060"/>
                </a:solidFill>
                <a:latin typeface="Calibri"/>
                <a:cs typeface="Calibri"/>
              </a:rPr>
              <a:t>representation</a:t>
            </a:r>
            <a:r>
              <a:rPr lang="en-US" sz="2800">
                <a:solidFill>
                  <a:srgbClr val="0070C0"/>
                </a:solidFill>
                <a:latin typeface="Calibri"/>
                <a:cs typeface="Calibri"/>
              </a:rPr>
              <a:t>, and then reconstructing the output from this representation</a:t>
            </a:r>
            <a:endParaRPr lang="en-US">
              <a:latin typeface="Calibri"/>
              <a:cs typeface="Calibri"/>
            </a:endParaRPr>
          </a:p>
          <a:p>
            <a:pPr marL="228600" indent="-227965">
              <a:lnSpc>
                <a:spcPct val="90000"/>
              </a:lnSpc>
              <a:spcBef>
                <a:spcPts val="1000"/>
              </a:spcBef>
              <a:buClr>
                <a:srgbClr val="0070C0"/>
              </a:buClr>
              <a:buFont typeface="Arial"/>
              <a:buChar char="•"/>
            </a:pPr>
            <a:r>
              <a:rPr lang="en-US" sz="2800">
                <a:solidFill>
                  <a:srgbClr val="0070C0"/>
                </a:solidFill>
                <a:latin typeface="Calibri" panose="020F0502020204030204" pitchFamily="34" charset="0"/>
                <a:cs typeface="Calibri" panose="020F0502020204030204" pitchFamily="34" charset="0"/>
              </a:rPr>
              <a:t>This kind of network is composed of two parts :</a:t>
            </a:r>
            <a:endParaRPr lang="en-US" sz="2800">
              <a:solidFill>
                <a:srgbClr val="0070C0"/>
              </a:solidFill>
              <a:latin typeface="Calibri" panose="020F0502020204030204" pitchFamily="34" charset="0"/>
              <a:cs typeface="Calibri" panose="020F0502020204030204" pitchFamily="34" charset="0"/>
            </a:endParaRPr>
          </a:p>
          <a:p>
            <a:pPr marL="685800" lvl="1" indent="-227965">
              <a:lnSpc>
                <a:spcPct val="90000"/>
              </a:lnSpc>
              <a:spcBef>
                <a:spcPts val="1000"/>
              </a:spcBef>
              <a:buClr>
                <a:srgbClr val="0070C0"/>
              </a:buClr>
              <a:buFont typeface="Arial"/>
              <a:buChar char="•"/>
            </a:pPr>
            <a:r>
              <a:rPr lang="en-US" sz="2000" b="1">
                <a:solidFill>
                  <a:srgbClr val="002060"/>
                </a:solidFill>
              </a:rPr>
              <a:t>Encoder</a:t>
            </a:r>
            <a:r>
              <a:rPr lang="en-US" sz="2000" b="1">
                <a:solidFill>
                  <a:srgbClr val="00B0F0"/>
                </a:solidFill>
              </a:rPr>
              <a:t>:</a:t>
            </a:r>
            <a:r>
              <a:rPr lang="en-US" sz="2000">
                <a:solidFill>
                  <a:srgbClr val="00B0F0"/>
                </a:solidFill>
              </a:rPr>
              <a:t> </a:t>
            </a:r>
            <a:r>
              <a:rPr lang="en-US" sz="2000">
                <a:solidFill>
                  <a:schemeClr val="accent6">
                    <a:lumMod val="76000"/>
                  </a:schemeClr>
                </a:solidFill>
              </a:rPr>
              <a:t>This is the part of the network that compresses the input into a latent-space representation. It can be represented by an encoding function </a:t>
            </a:r>
            <a:r>
              <a:rPr lang="en-US" sz="2000" i="1">
                <a:solidFill>
                  <a:schemeClr val="accent6">
                    <a:lumMod val="76000"/>
                  </a:schemeClr>
                </a:solidFill>
              </a:rPr>
              <a:t>h=f(x)</a:t>
            </a:r>
            <a:endParaRPr lang="en-US" sz="2000">
              <a:solidFill>
                <a:schemeClr val="accent6">
                  <a:lumMod val="76000"/>
                </a:schemeClr>
              </a:solidFill>
            </a:endParaRPr>
          </a:p>
          <a:p>
            <a:pPr marL="685800" lvl="1" indent="-227965">
              <a:lnSpc>
                <a:spcPct val="90000"/>
              </a:lnSpc>
              <a:spcBef>
                <a:spcPts val="1000"/>
              </a:spcBef>
              <a:buClr>
                <a:srgbClr val="0070C0"/>
              </a:buClr>
              <a:buFont typeface="Arial"/>
              <a:buChar char="•"/>
            </a:pPr>
            <a:r>
              <a:rPr lang="en-US" sz="2000" b="1">
                <a:solidFill>
                  <a:srgbClr val="002060"/>
                </a:solidFill>
              </a:rPr>
              <a:t>Decoder</a:t>
            </a:r>
            <a:r>
              <a:rPr lang="en-US" sz="2000" b="1">
                <a:solidFill>
                  <a:srgbClr val="00B0F0"/>
                </a:solidFill>
              </a:rPr>
              <a:t>:</a:t>
            </a:r>
            <a:r>
              <a:rPr lang="en-US" sz="2000">
                <a:solidFill>
                  <a:srgbClr val="00B0F0"/>
                </a:solidFill>
              </a:rPr>
              <a:t> </a:t>
            </a:r>
            <a:r>
              <a:rPr lang="en-US" sz="2000">
                <a:solidFill>
                  <a:schemeClr val="accent6">
                    <a:lumMod val="76000"/>
                  </a:schemeClr>
                </a:solidFill>
              </a:rPr>
              <a:t>This part aims to reconstruct the input from the latent space representation. It can be represented by a decoding function </a:t>
            </a:r>
            <a:r>
              <a:rPr lang="en-US" sz="2000" i="1">
                <a:solidFill>
                  <a:schemeClr val="accent6">
                    <a:lumMod val="76000"/>
                  </a:schemeClr>
                </a:solidFill>
              </a:rPr>
              <a:t>r=g(h)</a:t>
            </a:r>
            <a:endParaRPr lang="en-US" sz="2000">
              <a:solidFill>
                <a:schemeClr val="accent6">
                  <a:lumMod val="76000"/>
                </a:schemeClr>
              </a:solidFill>
            </a:endParaRPr>
          </a:p>
        </p:txBody>
      </p:sp>
      <p:pic>
        <p:nvPicPr>
          <p:cNvPr id="6" name="Picture 5"/>
          <p:cNvPicPr>
            <a:picLocks noChangeAspect="1"/>
          </p:cNvPicPr>
          <p:nvPr/>
        </p:nvPicPr>
        <p:blipFill>
          <a:blip r:embed="rId1"/>
          <a:stretch>
            <a:fillRect/>
          </a:stretch>
        </p:blipFill>
        <p:spPr>
          <a:xfrm>
            <a:off x="3007119" y="4489098"/>
            <a:ext cx="7094835" cy="18670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pic>
        <p:nvPicPr>
          <p:cNvPr id="124" name="Picture 3"/>
          <p:cNvPicPr/>
          <p:nvPr/>
        </p:nvPicPr>
        <p:blipFill>
          <a:blip r:embed="rId1"/>
          <a:stretch>
            <a:fillRect/>
          </a:stretch>
        </p:blipFill>
        <p:spPr>
          <a:xfrm>
            <a:off x="528480" y="1054080"/>
            <a:ext cx="11429640" cy="536760"/>
          </a:xfrm>
          <a:prstGeom prst="rect">
            <a:avLst/>
          </a:prstGeom>
          <a:ln>
            <a:noFill/>
          </a:ln>
          <a:effectLst>
            <a:glow rad="139700">
              <a:schemeClr val="accent5">
                <a:satMod val="175000"/>
                <a:alpha val="40000"/>
              </a:schemeClr>
            </a:glow>
            <a:innerShdw blurRad="114300">
              <a:srgbClr val="000000"/>
            </a:innerShdw>
          </a:effectLst>
        </p:spPr>
      </p:pic>
      <p:pic>
        <p:nvPicPr>
          <p:cNvPr id="125" name="Picture 4"/>
          <p:cNvPicPr/>
          <p:nvPr/>
        </p:nvPicPr>
        <p:blipFill>
          <a:blip r:embed="rId2"/>
          <a:stretch>
            <a:fillRect/>
          </a:stretch>
        </p:blipFill>
        <p:spPr>
          <a:xfrm>
            <a:off x="581040" y="1964160"/>
            <a:ext cx="11377080" cy="481680"/>
          </a:xfrm>
          <a:prstGeom prst="rect">
            <a:avLst/>
          </a:prstGeom>
          <a:ln>
            <a:noFill/>
          </a:ln>
          <a:effectLst>
            <a:glow rad="139700">
              <a:schemeClr val="accent5">
                <a:satMod val="175000"/>
                <a:alpha val="40000"/>
              </a:schemeClr>
            </a:glow>
            <a:innerShdw blurRad="114300">
              <a:srgbClr val="000000"/>
            </a:innerShdw>
          </a:effectLst>
        </p:spPr>
      </p:pic>
      <p:pic>
        <p:nvPicPr>
          <p:cNvPr id="126" name="Picture 5"/>
          <p:cNvPicPr/>
          <p:nvPr/>
        </p:nvPicPr>
        <p:blipFill>
          <a:blip r:embed="rId3"/>
          <a:stretch>
            <a:fillRect/>
          </a:stretch>
        </p:blipFill>
        <p:spPr>
          <a:xfrm>
            <a:off x="774360" y="3027960"/>
            <a:ext cx="10643400" cy="3095280"/>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1292367" y="141873"/>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Learn parameters for autoencoding</a:t>
            </a:r>
            <a:endParaRPr lang="en-US" sz="4400" b="0" strike="noStrike" spc="-1">
              <a:solidFill>
                <a:srgbClr val="000000"/>
              </a:solidFill>
              <a:latin typeface="Calibri"/>
            </a:endParaRPr>
          </a:p>
        </p:txBody>
      </p:sp>
      <p:pic>
        <p:nvPicPr>
          <p:cNvPr id="128" name="Picture 3"/>
          <p:cNvPicPr/>
          <p:nvPr/>
        </p:nvPicPr>
        <p:blipFill>
          <a:blip r:embed="rId1"/>
          <a:stretch>
            <a:fillRect/>
          </a:stretch>
        </p:blipFill>
        <p:spPr>
          <a:xfrm>
            <a:off x="971640" y="1497600"/>
            <a:ext cx="10167480" cy="4608720"/>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Dimensionality of latent space</a:t>
            </a:r>
            <a:endParaRPr lang="en-US" sz="4400" b="0" strike="noStrike" spc="-1">
              <a:solidFill>
                <a:srgbClr val="000000"/>
              </a:solidFill>
              <a:latin typeface="Calibri"/>
            </a:endParaRPr>
          </a:p>
        </p:txBody>
      </p:sp>
      <p:pic>
        <p:nvPicPr>
          <p:cNvPr id="130" name="Picture 3"/>
          <p:cNvPicPr/>
          <p:nvPr/>
        </p:nvPicPr>
        <p:blipFill>
          <a:blip r:embed="rId1"/>
          <a:stretch>
            <a:fillRect/>
          </a:stretch>
        </p:blipFill>
        <p:spPr>
          <a:xfrm>
            <a:off x="476280" y="1083960"/>
            <a:ext cx="11162880" cy="511308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PCA vs NN-autoencoding</a:t>
            </a:r>
            <a:endParaRPr lang="en-US" sz="4400" b="0" strike="noStrike" spc="-1">
              <a:solidFill>
                <a:srgbClr val="000000"/>
              </a:solidFill>
              <a:latin typeface="Calibri"/>
            </a:endParaRPr>
          </a:p>
        </p:txBody>
      </p:sp>
      <p:pic>
        <p:nvPicPr>
          <p:cNvPr id="132" name="Picture 3"/>
          <p:cNvPicPr/>
          <p:nvPr/>
        </p:nvPicPr>
        <p:blipFill>
          <a:blip r:embed="rId1"/>
          <a:stretch>
            <a:fillRect/>
          </a:stretch>
        </p:blipFill>
        <p:spPr>
          <a:xfrm>
            <a:off x="138960" y="744840"/>
            <a:ext cx="4664160" cy="3686760"/>
          </a:xfrm>
          <a:prstGeom prst="rect">
            <a:avLst/>
          </a:prstGeom>
          <a:ln>
            <a:noFill/>
          </a:ln>
        </p:spPr>
      </p:pic>
      <p:pic>
        <p:nvPicPr>
          <p:cNvPr id="133" name="Picture 4"/>
          <p:cNvPicPr/>
          <p:nvPr/>
        </p:nvPicPr>
        <p:blipFill>
          <a:blip r:embed="rId2"/>
          <a:stretch>
            <a:fillRect/>
          </a:stretch>
        </p:blipFill>
        <p:spPr>
          <a:xfrm>
            <a:off x="7482600" y="681120"/>
            <a:ext cx="4570200" cy="3577320"/>
          </a:xfrm>
          <a:prstGeom prst="rect">
            <a:avLst/>
          </a:prstGeom>
          <a:ln>
            <a:noFill/>
          </a:ln>
        </p:spPr>
      </p:pic>
      <p:pic>
        <p:nvPicPr>
          <p:cNvPr id="134" name="Picture 5"/>
          <p:cNvPicPr/>
          <p:nvPr/>
        </p:nvPicPr>
        <p:blipFill>
          <a:blip/>
          <a:stretch>
            <a:fillRect/>
          </a:stretch>
        </p:blipFill>
        <p:spPr>
          <a:xfrm>
            <a:off x="4614840" y="3683160"/>
            <a:ext cx="3940920" cy="3018960"/>
          </a:xfrm>
          <a:prstGeom prst="rect">
            <a:avLst/>
          </a:prstGeom>
          <a:ln>
            <a:noFill/>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Undercomplete autoencoder</a:t>
            </a:r>
            <a:endParaRPr lang="en-US" sz="4400" b="0" strike="noStrike" spc="-1">
              <a:solidFill>
                <a:srgbClr val="000000"/>
              </a:solidFill>
              <a:latin typeface="Calibri"/>
            </a:endParaRPr>
          </a:p>
        </p:txBody>
      </p:sp>
      <p:pic>
        <p:nvPicPr>
          <p:cNvPr id="136" name="Picture 3"/>
          <p:cNvPicPr/>
          <p:nvPr/>
        </p:nvPicPr>
        <p:blipFill>
          <a:blip r:embed="rId1"/>
          <a:stretch>
            <a:fillRect/>
          </a:stretch>
        </p:blipFill>
        <p:spPr>
          <a:xfrm>
            <a:off x="2990160" y="1273680"/>
            <a:ext cx="6539040" cy="523620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Undercomplete autoencoder</a:t>
            </a:r>
            <a:endParaRPr lang="en-US" sz="4400" b="0" strike="noStrike" spc="-1">
              <a:solidFill>
                <a:srgbClr val="000000"/>
              </a:solidFill>
              <a:latin typeface="Calibri"/>
            </a:endParaRPr>
          </a:p>
        </p:txBody>
      </p:sp>
      <p:sp>
        <p:nvSpPr>
          <p:cNvPr id="138" name="TextShape 2"/>
          <p:cNvSpPr txBox="1"/>
          <p:nvPr/>
        </p:nvSpPr>
        <p:spPr>
          <a:xfrm>
            <a:off x="685800" y="1119240"/>
            <a:ext cx="11320200" cy="5236920"/>
          </a:xfrm>
          <a:prstGeom prst="rect">
            <a:avLst/>
          </a:prstGeom>
          <a:noFill/>
          <a:ln>
            <a:noFill/>
          </a:ln>
        </p:spPr>
        <p:txBody>
          <a:bodyPr>
            <a:noAutofit/>
          </a:bodyPr>
          <a:lstStyle/>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 simplest architecture for constructing an </a:t>
            </a:r>
            <a:r>
              <a:rPr lang="en-US" sz="2800" b="0" strike="noStrike" spc="-1" err="1">
                <a:solidFill>
                  <a:srgbClr val="0070C0"/>
                </a:solidFill>
                <a:latin typeface="Calibri"/>
              </a:rPr>
              <a:t>autoencoder</a:t>
            </a:r>
            <a:r>
              <a:rPr lang="en-US" sz="2800" b="0" strike="noStrike" spc="-1">
                <a:solidFill>
                  <a:srgbClr val="0070C0"/>
                </a:solidFill>
                <a:latin typeface="Calibri"/>
              </a:rPr>
              <a:t> is to constrain the number of nodes present in the hidden layer(s) of the network</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It limits the amount of information that can flow through the network</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By penalizing the network according to the reconstruction error, our model can learn the most important attributes of the input data and how to best reconstruct the original input from an "encoded" state</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Ideally, this encoding will </a:t>
            </a:r>
            <a:r>
              <a:rPr lang="en-US" sz="2800" b="1" strike="noStrike" spc="-1">
                <a:solidFill>
                  <a:srgbClr val="0070C0"/>
                </a:solidFill>
                <a:latin typeface="Calibri"/>
              </a:rPr>
              <a:t>learn and describe latent attributes of the input data</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It can remove noise from the data</a:t>
            </a:r>
            <a:endParaRPr lang="en-US" sz="2800" b="0" strike="noStrike" spc="-1">
              <a:solidFill>
                <a:srgbClr val="0070C0"/>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Sparse autoencoders</a:t>
            </a:r>
            <a:endParaRPr lang="en-US" sz="4400" b="0" strike="noStrike" spc="-1">
              <a:solidFill>
                <a:srgbClr val="000000"/>
              </a:solidFill>
              <a:latin typeface="Calibri"/>
            </a:endParaRPr>
          </a:p>
        </p:txBody>
      </p:sp>
      <p:pic>
        <p:nvPicPr>
          <p:cNvPr id="140" name="Picture 3"/>
          <p:cNvPicPr/>
          <p:nvPr/>
        </p:nvPicPr>
        <p:blipFill>
          <a:blip r:embed="rId1"/>
          <a:stretch>
            <a:fillRect/>
          </a:stretch>
        </p:blipFill>
        <p:spPr>
          <a:xfrm>
            <a:off x="2747520" y="965160"/>
            <a:ext cx="6697080" cy="561168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Sparse autoencoders</a:t>
            </a:r>
            <a:endParaRPr lang="en-US" sz="4400" b="0" strike="noStrike" spc="-1">
              <a:solidFill>
                <a:srgbClr val="000000"/>
              </a:solidFill>
              <a:latin typeface="Calibri"/>
            </a:endParaRPr>
          </a:p>
        </p:txBody>
      </p:sp>
      <p:sp>
        <p:nvSpPr>
          <p:cNvPr id="142" name="TextShape 2"/>
          <p:cNvSpPr txBox="1"/>
          <p:nvPr/>
        </p:nvSpPr>
        <p:spPr>
          <a:xfrm>
            <a:off x="685800" y="1119240"/>
            <a:ext cx="11320200" cy="5236920"/>
          </a:xfrm>
          <a:prstGeom prst="rect">
            <a:avLst/>
          </a:prstGeom>
          <a:noFill/>
          <a:ln>
            <a:noFill/>
          </a:ln>
        </p:spPr>
        <p:txBody>
          <a:bodyPr>
            <a:noAutofit/>
          </a:bodyPr>
          <a:lstStyle/>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Sparse autoencoders keep the number of nodes in hidden layers same as the input</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Rather, loss functions are constructed to penalize </a:t>
            </a:r>
            <a:r>
              <a:rPr lang="en-US" sz="2800" b="0" i="1" strike="noStrike" spc="-1">
                <a:solidFill>
                  <a:srgbClr val="0070C0"/>
                </a:solidFill>
                <a:latin typeface="Calibri"/>
              </a:rPr>
              <a:t>activations</a:t>
            </a:r>
            <a:r>
              <a:rPr lang="en-US" sz="2800" b="0" strike="noStrike" spc="-1">
                <a:solidFill>
                  <a:srgbClr val="0070C0"/>
                </a:solidFill>
                <a:latin typeface="Calibri"/>
              </a:rPr>
              <a:t> within a layer</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Individual nodes of a trained model which activate are </a:t>
            </a:r>
            <a:r>
              <a:rPr lang="en-US" sz="2800" b="0" i="1" strike="noStrike" spc="-1">
                <a:solidFill>
                  <a:srgbClr val="0070C0"/>
                </a:solidFill>
                <a:latin typeface="Calibri"/>
              </a:rPr>
              <a:t>data-dependent</a:t>
            </a:r>
            <a:endParaRPr lang="en-US" sz="2800" b="0" i="1" strike="noStrike" spc="-1">
              <a:solidFill>
                <a:srgbClr val="0070C0"/>
              </a:solidFill>
              <a:latin typeface="Calibri"/>
            </a:endParaRPr>
          </a:p>
          <a:p>
            <a:pPr marL="685800" lvl="1" indent="-227965">
              <a:lnSpc>
                <a:spcPct val="90000"/>
              </a:lnSpc>
              <a:spcBef>
                <a:spcPts val="1000"/>
              </a:spcBef>
              <a:buClr>
                <a:srgbClr val="0070C0"/>
              </a:buClr>
              <a:buFont typeface="Arial"/>
              <a:buChar char="•"/>
            </a:pPr>
            <a:r>
              <a:rPr lang="en-US" sz="2800" i="1" spc="-1">
                <a:solidFill>
                  <a:srgbClr val="0070C0"/>
                </a:solidFill>
                <a:latin typeface="Calibri"/>
              </a:rPr>
              <a:t>D</a:t>
            </a:r>
            <a:r>
              <a:rPr lang="en-US" sz="2800" b="0" strike="noStrike" spc="-1">
                <a:solidFill>
                  <a:srgbClr val="0070C0"/>
                </a:solidFill>
                <a:latin typeface="Calibri"/>
              </a:rPr>
              <a:t>ifferent inputs will result in activations of different nodes through the network</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An </a:t>
            </a:r>
            <a:r>
              <a:rPr lang="en-US" sz="2800" b="1" strike="noStrike" spc="-1">
                <a:solidFill>
                  <a:srgbClr val="0070C0"/>
                </a:solidFill>
                <a:latin typeface="Calibri"/>
              </a:rPr>
              <a:t>undercomplete autoencoder</a:t>
            </a:r>
            <a:r>
              <a:rPr lang="en-US" sz="2800" b="0" strike="noStrike" spc="-1">
                <a:solidFill>
                  <a:srgbClr val="0070C0"/>
                </a:solidFill>
                <a:latin typeface="Calibri"/>
              </a:rPr>
              <a:t> will use the entire network for every observation, a </a:t>
            </a:r>
            <a:r>
              <a:rPr lang="en-US" sz="2800" b="1" strike="noStrike" spc="-1">
                <a:solidFill>
                  <a:srgbClr val="0070C0"/>
                </a:solidFill>
                <a:latin typeface="Calibri"/>
              </a:rPr>
              <a:t>sparse autoencoder</a:t>
            </a:r>
            <a:r>
              <a:rPr lang="en-US" sz="2800" b="0" strike="noStrike" spc="-1">
                <a:solidFill>
                  <a:srgbClr val="0070C0"/>
                </a:solidFill>
                <a:latin typeface="Calibri"/>
              </a:rPr>
              <a:t> will be forced to selectively activate regions of the network depending on the input data</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Therefore, sparse autoencoders limits the network's capacity to memorize the input data without limiting the networks capability to extract features from the data</a:t>
            </a:r>
            <a:endParaRPr lang="en-US" sz="2800" b="0" strike="noStrike" spc="-1">
              <a:solidFill>
                <a:srgbClr val="0070C0"/>
              </a:solidFill>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TextShape 1"/>
          <p:cNvSpPr txBox="1"/>
          <p:nvPr/>
        </p:nvSpPr>
        <p:spPr>
          <a:xfrm>
            <a:off x="1278720" y="141873"/>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How to keep neurons deactivated?</a:t>
            </a:r>
            <a:endParaRPr lang="en-US" sz="4400" b="0" strike="noStrike" spc="-1">
              <a:solidFill>
                <a:srgbClr val="000000"/>
              </a:solidFill>
              <a:latin typeface="Calibri"/>
            </a:endParaRPr>
          </a:p>
        </p:txBody>
      </p:sp>
      <p:sp>
        <p:nvSpPr>
          <p:cNvPr id="144" name="TextShape 2"/>
          <p:cNvSpPr txBox="1"/>
          <p:nvPr/>
        </p:nvSpPr>
        <p:spPr>
          <a:xfrm>
            <a:off x="685800" y="1119240"/>
            <a:ext cx="11320200" cy="5236920"/>
          </a:xfrm>
          <a:prstGeom prst="rect">
            <a:avLst/>
          </a:prstGeom>
          <a:noFill/>
          <a:ln>
            <a:noFill/>
          </a:ln>
        </p:spPr>
        <p:txBody>
          <a:bodyPr>
            <a:noAutofit/>
          </a:bodyPr>
          <a:lstStyle/>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L1 Regularization</a:t>
            </a:r>
            <a:endParaRPr lang="en-US" sz="2800" b="0" strike="noStrike" spc="-1">
              <a:solidFill>
                <a:srgbClr val="0070C0"/>
              </a:solidFill>
              <a:latin typeface="Calibri"/>
            </a:endParaRPr>
          </a:p>
          <a:p>
            <a:pPr marL="685800" lvl="1" indent="-227965">
              <a:lnSpc>
                <a:spcPct val="90000"/>
              </a:lnSpc>
              <a:spcBef>
                <a:spcPts val="500"/>
              </a:spcBef>
              <a:buClr>
                <a:srgbClr val="548235"/>
              </a:buClr>
              <a:buFont typeface="Arial"/>
              <a:buChar char="•"/>
            </a:pPr>
            <a:r>
              <a:rPr lang="en-US" sz="2400" b="0" strike="noStrike" spc="-1">
                <a:solidFill>
                  <a:srgbClr val="548235"/>
                </a:solidFill>
                <a:latin typeface="Calibri"/>
              </a:rPr>
              <a:t>We can add a term to our loss function that penalizes the absolute value of the vector of activations</a:t>
            </a:r>
            <a:endParaRPr lang="en-US" sz="2400" b="0" strike="noStrike" spc="-1">
              <a:solidFill>
                <a:srgbClr val="FFC000"/>
              </a:solidFill>
              <a:latin typeface="Calibri"/>
            </a:endParaRPr>
          </a:p>
          <a:p>
            <a:pPr marL="685800" lvl="1" indent="-227965">
              <a:lnSpc>
                <a:spcPct val="90000"/>
              </a:lnSpc>
              <a:spcBef>
                <a:spcPts val="500"/>
              </a:spcBef>
              <a:buClr>
                <a:srgbClr val="548235"/>
              </a:buClr>
              <a:buFont typeface="Arial"/>
              <a:buChar char="•"/>
            </a:pPr>
            <a:r>
              <a:rPr lang="en-US" sz="2400" b="0" strike="noStrike" spc="-1">
                <a:solidFill>
                  <a:srgbClr val="548235"/>
                </a:solidFill>
                <a:latin typeface="Calibri"/>
              </a:rPr>
              <a:t>In layer h for observation i, scaled by a tuning parameter λ</a:t>
            </a:r>
            <a:endParaRPr lang="en-US" sz="2400" b="0" strike="noStrike" spc="-1">
              <a:solidFill>
                <a:srgbClr val="FFC000"/>
              </a:solidFill>
              <a:latin typeface="Calibri"/>
            </a:endParaRPr>
          </a:p>
          <a:p>
            <a:pPr>
              <a:lnSpc>
                <a:spcPct val="90000"/>
              </a:lnSpc>
              <a:spcBef>
                <a:spcPts val="1000"/>
              </a:spcBef>
            </a:pPr>
            <a:endParaRPr lang="en-US" sz="2400" b="0" strike="noStrike" spc="-1">
              <a:solidFill>
                <a:srgbClr val="0070C0"/>
              </a:solidFill>
              <a:latin typeface="Calibri"/>
            </a:endParaRPr>
          </a:p>
          <a:p>
            <a:pPr>
              <a:lnSpc>
                <a:spcPct val="90000"/>
              </a:lnSpc>
              <a:spcBef>
                <a:spcPts val="1000"/>
              </a:spcBef>
            </a:pPr>
            <a:endParaRPr lang="en-US" sz="2400" b="0" strike="noStrike" spc="-1">
              <a:solidFill>
                <a:srgbClr val="0070C0"/>
              </a:solidFill>
              <a:latin typeface="Calibri"/>
            </a:endParaRPr>
          </a:p>
          <a:p>
            <a:pPr>
              <a:lnSpc>
                <a:spcPct val="90000"/>
              </a:lnSpc>
              <a:spcBef>
                <a:spcPts val="1000"/>
              </a:spcBef>
            </a:pPr>
            <a:endParaRPr lang="en-US" sz="2400" b="0" strike="noStrike" spc="-1">
              <a:solidFill>
                <a:srgbClr val="0070C0"/>
              </a:solidFill>
              <a:latin typeface="Calibri"/>
            </a:endParaRPr>
          </a:p>
          <a:p>
            <a:pPr>
              <a:lnSpc>
                <a:spcPct val="90000"/>
              </a:lnSpc>
              <a:spcBef>
                <a:spcPts val="1000"/>
              </a:spcBef>
            </a:pPr>
            <a:endParaRPr lang="en-US" sz="2400" b="0" strike="noStrike" spc="-1">
              <a:solidFill>
                <a:srgbClr val="0070C0"/>
              </a:solidFill>
              <a:latin typeface="Calibri"/>
            </a:endParaRPr>
          </a:p>
          <a:p>
            <a:pPr>
              <a:lnSpc>
                <a:spcPct val="90000"/>
              </a:lnSpc>
              <a:spcBef>
                <a:spcPts val="1000"/>
              </a:spcBef>
            </a:pPr>
            <a:endParaRPr lang="en-US" sz="2400" b="0" strike="noStrike" spc="-1">
              <a:solidFill>
                <a:srgbClr val="0070C0"/>
              </a:solidFill>
              <a:latin typeface="Calibri"/>
            </a:endParaRPr>
          </a:p>
        </p:txBody>
      </p:sp>
      <p:pic>
        <p:nvPicPr>
          <p:cNvPr id="145" name="Picture 5"/>
          <p:cNvPicPr/>
          <p:nvPr/>
        </p:nvPicPr>
        <p:blipFill>
          <a:blip r:embed="rId1"/>
          <a:stretch>
            <a:fillRect/>
          </a:stretch>
        </p:blipFill>
        <p:spPr>
          <a:xfrm>
            <a:off x="2843280" y="4033800"/>
            <a:ext cx="6067800" cy="1509480"/>
          </a:xfrm>
          <a:prstGeom prst="rect">
            <a:avLst/>
          </a:prstGeom>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Denoising autoencoders</a:t>
            </a:r>
            <a:endParaRPr lang="en-US" sz="4400" b="0" strike="noStrike" spc="-1">
              <a:solidFill>
                <a:srgbClr val="000000"/>
              </a:solidFill>
              <a:latin typeface="Calibri"/>
            </a:endParaRPr>
          </a:p>
        </p:txBody>
      </p:sp>
      <p:pic>
        <p:nvPicPr>
          <p:cNvPr id="147" name="Picture 3"/>
          <p:cNvPicPr/>
          <p:nvPr/>
        </p:nvPicPr>
        <p:blipFill>
          <a:blip r:embed="rId1"/>
          <a:stretch>
            <a:fillRect/>
          </a:stretch>
        </p:blipFill>
        <p:spPr>
          <a:xfrm>
            <a:off x="728640" y="1123920"/>
            <a:ext cx="10418040" cy="5142240"/>
          </a:xfrm>
          <a:prstGeom prst="rect">
            <a:avLst/>
          </a:prstGeom>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Denoising autoencoders</a:t>
            </a:r>
            <a:endParaRPr lang="en-US" sz="4400" b="0" strike="noStrike" spc="-1">
              <a:solidFill>
                <a:srgbClr val="000000"/>
              </a:solidFill>
              <a:latin typeface="Calibri"/>
            </a:endParaRPr>
          </a:p>
        </p:txBody>
      </p:sp>
      <p:sp>
        <p:nvSpPr>
          <p:cNvPr id="149" name="TextShape 2"/>
          <p:cNvSpPr txBox="1"/>
          <p:nvPr/>
        </p:nvSpPr>
        <p:spPr>
          <a:xfrm>
            <a:off x="685800" y="1119240"/>
            <a:ext cx="11320200" cy="5236920"/>
          </a:xfrm>
          <a:prstGeom prst="rect">
            <a:avLst/>
          </a:prstGeom>
          <a:noFill/>
          <a:ln>
            <a:noFill/>
          </a:ln>
        </p:spPr>
        <p:txBody>
          <a:bodyPr>
            <a:noAutofit/>
          </a:bodyPr>
          <a:lstStyle/>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With this approach, </a:t>
            </a:r>
            <a:r>
              <a:rPr lang="en-US" sz="2800" b="1" strike="noStrike" spc="-1">
                <a:solidFill>
                  <a:srgbClr val="0070C0"/>
                </a:solidFill>
                <a:latin typeface="Calibri"/>
              </a:rPr>
              <a:t>our model isn't able to simply develop a mapping which memorizes the training data because our input and target output are no longer the same</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Rather, the model learns a vector field for mapping the input data towards a lower-dimensional manifold</a:t>
            </a:r>
            <a:endParaRPr lang="en-US" sz="2800" b="0" strike="noStrike" spc="-1">
              <a:solidFill>
                <a:srgbClr val="0070C0"/>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Autoencoders: In summary</a:t>
            </a:r>
            <a:endParaRPr lang="en-US" sz="4400" b="0" strike="noStrike" spc="-1">
              <a:solidFill>
                <a:srgbClr val="000000"/>
              </a:solidFill>
              <a:latin typeface="Calibri"/>
            </a:endParaRPr>
          </a:p>
        </p:txBody>
      </p:sp>
      <p:sp>
        <p:nvSpPr>
          <p:cNvPr id="151"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Our input data is converted into an </a:t>
            </a:r>
            <a:r>
              <a:rPr lang="en-US" sz="2800" b="0" i="1" strike="noStrike" spc="-1">
                <a:solidFill>
                  <a:srgbClr val="0070C0"/>
                </a:solidFill>
                <a:latin typeface="Calibri"/>
              </a:rPr>
              <a:t>encoding vector</a:t>
            </a:r>
            <a:r>
              <a:rPr lang="en-US" sz="2800" b="0" strike="noStrike" spc="-1">
                <a:solidFill>
                  <a:srgbClr val="0070C0"/>
                </a:solidFill>
                <a:latin typeface="Calibri"/>
              </a:rPr>
              <a:t> where each dimension represents some learned attribute about the data</a:t>
            </a:r>
            <a:endParaRPr lang="en-US"/>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 encoder network is outputting a </a:t>
            </a:r>
            <a:r>
              <a:rPr lang="en-US" sz="2800" b="0" i="1" strike="noStrike" spc="-1">
                <a:solidFill>
                  <a:srgbClr val="0070C0"/>
                </a:solidFill>
                <a:latin typeface="Calibri"/>
              </a:rPr>
              <a:t>single value</a:t>
            </a:r>
            <a:r>
              <a:rPr lang="en-US" sz="2800" b="0" strike="noStrike" spc="-1">
                <a:solidFill>
                  <a:srgbClr val="0070C0"/>
                </a:solidFill>
                <a:latin typeface="Calibri"/>
              </a:rPr>
              <a:t> for each encoding dimension</a:t>
            </a:r>
            <a:endParaRPr lang="en-US" sz="2800" b="0" strike="noStrike" spc="-1">
              <a:solidFill>
                <a:srgbClr val="0070C0"/>
              </a:solidFill>
              <a:latin typeface="Calibri"/>
            </a:endParaRPr>
          </a:p>
          <a:p>
            <a:pPr marL="228600" indent="-227965">
              <a:lnSpc>
                <a:spcPct val="90000"/>
              </a:lnSpc>
              <a:spcBef>
                <a:spcPts val="1000"/>
              </a:spcBef>
              <a:buClr>
                <a:srgbClr val="0070C0"/>
              </a:buClr>
              <a:buFont typeface="Arial"/>
              <a:buChar char="•"/>
            </a:pPr>
            <a:r>
              <a:rPr lang="en-US" sz="2800" b="0" strike="noStrike" spc="-1">
                <a:solidFill>
                  <a:srgbClr val="0070C0"/>
                </a:solidFill>
                <a:latin typeface="Calibri"/>
              </a:rPr>
              <a:t>The decoder network </a:t>
            </a:r>
            <a:r>
              <a:rPr lang="en-US" sz="2800" spc="-1">
                <a:solidFill>
                  <a:srgbClr val="0070C0"/>
                </a:solidFill>
                <a:latin typeface="Calibri"/>
              </a:rPr>
              <a:t>takes</a:t>
            </a:r>
            <a:r>
              <a:rPr lang="en-US" sz="2800" b="0" strike="noStrike" spc="-1">
                <a:solidFill>
                  <a:srgbClr val="0070C0"/>
                </a:solidFill>
                <a:latin typeface="Calibri"/>
              </a:rPr>
              <a:t> these values and attempts to recreate the original input</a:t>
            </a:r>
            <a:endParaRPr lang="en-US" sz="2800" b="0" strike="noStrike" spc="-1">
              <a:solidFill>
                <a:srgbClr val="0070C0"/>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Arial"/>
                <a:cs typeface="Arial"/>
              </a:rPr>
              <a:t>Modeling Sequences</a:t>
            </a:r>
            <a:endParaRPr lang="en-US" b="0">
              <a:solidFill>
                <a:srgbClr val="000000"/>
              </a:solidFill>
              <a:latin typeface="Arial"/>
              <a:cs typeface="Arial"/>
            </a:endParaRPr>
          </a:p>
        </p:txBody>
      </p:sp>
      <p:sp>
        <p:nvSpPr>
          <p:cNvPr id="3" name="Content Placeholder 2"/>
          <p:cNvSpPr>
            <a:spLocks noGrp="1"/>
          </p:cNvSpPr>
          <p:nvPr>
            <p:ph idx="1"/>
          </p:nvPr>
        </p:nvSpPr>
        <p:spPr>
          <a:xfrm>
            <a:off x="360680" y="1119188"/>
            <a:ext cx="11645585" cy="5237162"/>
          </a:xfrm>
        </p:spPr>
        <p:txBody>
          <a:bodyPr vert="horz" lIns="91440" tIns="45720" rIns="91440" bIns="45720" rtlCol="0" anchor="t">
            <a:normAutofit/>
          </a:bodyPr>
          <a:lstStyle/>
          <a:p>
            <a:r>
              <a:rPr lang="en-US" dirty="0">
                <a:cs typeface="Calibri"/>
              </a:rPr>
              <a:t>When applying machine learning to sequences, we often want to turn an input sequence into an output sequence that lives in a different domain</a:t>
            </a:r>
            <a:endParaRPr lang="en-US" dirty="0">
              <a:solidFill>
                <a:srgbClr val="000000"/>
              </a:solidFill>
              <a:cs typeface="Calibri"/>
            </a:endParaRPr>
          </a:p>
          <a:p>
            <a:pPr lvl="1"/>
            <a:r>
              <a:rPr lang="en-US" dirty="0">
                <a:solidFill>
                  <a:srgbClr val="548235"/>
                </a:solidFill>
                <a:cs typeface="Calibri"/>
              </a:rPr>
              <a:t>Turn a sequence of sound pressures into a sequence of word identities</a:t>
            </a:r>
            <a:r>
              <a:rPr lang="en-US" dirty="0">
                <a:solidFill>
                  <a:srgbClr val="548235"/>
                </a:solidFill>
                <a:latin typeface="Arial"/>
                <a:cs typeface="Arial"/>
              </a:rPr>
              <a:t> </a:t>
            </a:r>
            <a:endParaRPr lang="en-US" dirty="0">
              <a:solidFill>
                <a:srgbClr val="000000"/>
              </a:solidFill>
              <a:latin typeface="Arial"/>
              <a:cs typeface="Arial"/>
            </a:endParaRPr>
          </a:p>
          <a:p>
            <a:r>
              <a:rPr lang="en-US" sz="2400" dirty="0">
                <a:latin typeface="Arial"/>
                <a:cs typeface="Arial"/>
              </a:rPr>
              <a:t>When there is no separate target sequence, we can get a training signal by trying to predict the next term in the input sequence</a:t>
            </a:r>
            <a:endParaRPr lang="en-US" sz="2400" dirty="0">
              <a:solidFill>
                <a:srgbClr val="000000"/>
              </a:solidFill>
              <a:latin typeface="Arial"/>
              <a:cs typeface="Arial"/>
            </a:endParaRPr>
          </a:p>
          <a:p>
            <a:pPr lvl="1">
              <a:lnSpc>
                <a:spcPct val="80000"/>
              </a:lnSpc>
            </a:pPr>
            <a:r>
              <a:rPr lang="en-US" sz="2000" dirty="0">
                <a:solidFill>
                  <a:srgbClr val="548235"/>
                </a:solidFill>
                <a:latin typeface="Arial"/>
                <a:cs typeface="Arial"/>
              </a:rPr>
              <a:t>The target output sequence is the input sequence with an advance of 1 step</a:t>
            </a:r>
            <a:endParaRPr lang="en-US" sz="2000" dirty="0">
              <a:solidFill>
                <a:srgbClr val="000000"/>
              </a:solidFill>
              <a:latin typeface="Arial"/>
              <a:cs typeface="Arial"/>
            </a:endParaRPr>
          </a:p>
          <a:p>
            <a:pPr lvl="1">
              <a:lnSpc>
                <a:spcPct val="80000"/>
              </a:lnSpc>
            </a:pPr>
            <a:r>
              <a:rPr lang="en-US" sz="2000" dirty="0">
                <a:solidFill>
                  <a:srgbClr val="548235"/>
                </a:solidFill>
                <a:latin typeface="Arial"/>
                <a:cs typeface="Arial"/>
              </a:rPr>
              <a:t>This seems much more natural than trying to predict one pixel in an image from the other pixels or one patch of an image from the rest of the image</a:t>
            </a:r>
            <a:endParaRPr lang="en-US" sz="2000">
              <a:solidFill>
                <a:srgbClr val="000000"/>
              </a:solidFill>
              <a:latin typeface="Arial"/>
              <a:cs typeface="Arial"/>
            </a:endParaRPr>
          </a:p>
          <a:p>
            <a:pPr lvl="1">
              <a:lnSpc>
                <a:spcPct val="80000"/>
              </a:lnSpc>
            </a:pPr>
            <a:r>
              <a:rPr lang="en-US" sz="2000" dirty="0">
                <a:solidFill>
                  <a:srgbClr val="548235"/>
                </a:solidFill>
                <a:latin typeface="Arial"/>
                <a:cs typeface="Arial"/>
              </a:rPr>
              <a:t>For temporal sequences, there is a natural order for the predictions</a:t>
            </a:r>
            <a:endParaRPr lang="en-US" sz="2000" dirty="0">
              <a:solidFill>
                <a:srgbClr val="000000"/>
              </a:solidFill>
              <a:latin typeface="Arial"/>
              <a:cs typeface="Arial"/>
            </a:endParaRPr>
          </a:p>
          <a:p>
            <a:r>
              <a:rPr lang="en-US" sz="2400" dirty="0">
                <a:latin typeface="Arial"/>
                <a:cs typeface="Arial"/>
              </a:rPr>
              <a:t>Predicting the next term in a sequence blurs the distinction between supervised and unsupervised learning</a:t>
            </a:r>
            <a:endParaRPr lang="en-US" sz="2400" dirty="0">
              <a:latin typeface="Arial"/>
              <a:cs typeface="Arial"/>
            </a:endParaRPr>
          </a:p>
          <a:p>
            <a:pPr lvl="1"/>
            <a:r>
              <a:rPr lang="en-US" sz="2000" dirty="0">
                <a:latin typeface="Arial"/>
                <a:cs typeface="Arial"/>
              </a:rPr>
              <a:t>It uses methods designed for supervised learning, but it doesn't require a separate teaching signal</a:t>
            </a:r>
            <a:endParaRPr lang="en-US" sz="2000" dirty="0">
              <a:latin typeface="Arial"/>
              <a:cs typeface="Arial"/>
            </a:endParaRPr>
          </a:p>
          <a:p>
            <a:endParaRPr lang="en-US" sz="240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t>Recurrent neural networks</a:t>
            </a:r>
            <a:endParaRPr lang="en-US"/>
          </a:p>
        </p:txBody>
      </p:sp>
      <p:sp>
        <p:nvSpPr>
          <p:cNvPr id="3" name="Content Placeholder 2"/>
          <p:cNvSpPr>
            <a:spLocks noGrp="1"/>
          </p:cNvSpPr>
          <p:nvPr>
            <p:ph idx="1"/>
          </p:nvPr>
        </p:nvSpPr>
        <p:spPr>
          <a:xfrm>
            <a:off x="685801" y="1119188"/>
            <a:ext cx="5687008" cy="5237162"/>
          </a:xfrm>
        </p:spPr>
        <p:txBody>
          <a:bodyPr/>
          <a:lstStyle/>
          <a:p>
            <a:r>
              <a:rPr lang="en-US"/>
              <a:t>RNNs are very powerful because they combine two properties:</a:t>
            </a:r>
            <a:endParaRPr lang="en-US"/>
          </a:p>
          <a:p>
            <a:pPr lvl="1"/>
            <a:r>
              <a:rPr lang="en-US"/>
              <a:t>Distributed hidden state that allows them to store a lot of information about the past efficiently.</a:t>
            </a:r>
            <a:endParaRPr lang="en-US"/>
          </a:p>
          <a:p>
            <a:pPr lvl="1"/>
            <a:r>
              <a:rPr lang="en-US"/>
              <a:t>Non-linear dynamics that allow them to update their hidden state in complicated ways.</a:t>
            </a:r>
            <a:endParaRPr lang="en-US"/>
          </a:p>
          <a:p>
            <a:r>
              <a:rPr lang="en-US"/>
              <a:t>With enough neurons and time, RNNs can compute anything that can be computed by any computer. </a:t>
            </a:r>
            <a:endParaRPr lang="en-US"/>
          </a:p>
          <a:p>
            <a:endParaRPr lang="en-US"/>
          </a:p>
        </p:txBody>
      </p:sp>
      <p:pic>
        <p:nvPicPr>
          <p:cNvPr id="4" name="Picture 3"/>
          <p:cNvPicPr>
            <a:picLocks noChangeAspect="1"/>
          </p:cNvPicPr>
          <p:nvPr/>
        </p:nvPicPr>
        <p:blipFill>
          <a:blip r:embed="rId1"/>
          <a:stretch>
            <a:fillRect/>
          </a:stretch>
        </p:blipFill>
        <p:spPr>
          <a:xfrm>
            <a:off x="7911243" y="1782843"/>
            <a:ext cx="2415749" cy="366553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One RNN Unit</a:t>
            </a:r>
            <a:endParaRPr lang="en-US"/>
          </a:p>
        </p:txBody>
      </p:sp>
      <p:sp>
        <p:nvSpPr>
          <p:cNvPr id="3" name="Content Placeholder 2"/>
          <p:cNvSpPr>
            <a:spLocks noGrp="1"/>
          </p:cNvSpPr>
          <p:nvPr>
            <p:ph idx="1"/>
          </p:nvPr>
        </p:nvSpPr>
        <p:spPr/>
        <p:txBody>
          <a:bodyPr/>
          <a:lstStyle/>
          <a:p>
            <a:r>
              <a:rPr lang="en-US"/>
              <a:t>And RNN</a:t>
            </a:r>
            <a:endParaRPr lang="en-US"/>
          </a:p>
          <a:p>
            <a:pPr lvl="1"/>
            <a:r>
              <a:rPr lang="en-US"/>
              <a:t>Update the hidden state in a deterministic nonlinear way</a:t>
            </a:r>
            <a:endParaRPr lang="en-US"/>
          </a:p>
          <a:p>
            <a:pPr lvl="1"/>
            <a:r>
              <a:rPr lang="en-US"/>
              <a:t>Then use the next symbol from the sequence as input to the same unit</a:t>
            </a:r>
            <a:endParaRPr lang="en-US"/>
          </a:p>
        </p:txBody>
      </p:sp>
      <p:pic>
        <p:nvPicPr>
          <p:cNvPr id="4" name="Picture 3"/>
          <p:cNvPicPr>
            <a:picLocks noChangeAspect="1"/>
          </p:cNvPicPr>
          <p:nvPr/>
        </p:nvPicPr>
        <p:blipFill>
          <a:blip r:embed="rId1"/>
          <a:stretch>
            <a:fillRect/>
          </a:stretch>
        </p:blipFill>
        <p:spPr>
          <a:xfrm>
            <a:off x="4374552" y="2701584"/>
            <a:ext cx="2847341" cy="36010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How does it look?</a:t>
            </a:r>
            <a:endParaRPr lang="en-US"/>
          </a:p>
        </p:txBody>
      </p:sp>
      <p:pic>
        <p:nvPicPr>
          <p:cNvPr id="4" name="Picture 3"/>
          <p:cNvPicPr>
            <a:picLocks noChangeAspect="1"/>
          </p:cNvPicPr>
          <p:nvPr/>
        </p:nvPicPr>
        <p:blipFill>
          <a:blip r:embed="rId1"/>
          <a:stretch>
            <a:fillRect/>
          </a:stretch>
        </p:blipFill>
        <p:spPr>
          <a:xfrm>
            <a:off x="1088171" y="2041250"/>
            <a:ext cx="9426804" cy="277549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With a little more details</a:t>
            </a:r>
            <a:endParaRPr lang="en-US"/>
          </a:p>
        </p:txBody>
      </p:sp>
      <p:pic>
        <p:nvPicPr>
          <p:cNvPr id="4" name="Picture 3"/>
          <p:cNvPicPr>
            <a:picLocks noChangeAspect="1"/>
          </p:cNvPicPr>
          <p:nvPr/>
        </p:nvPicPr>
        <p:blipFill>
          <a:blip r:embed="rId1"/>
          <a:stretch>
            <a:fillRect/>
          </a:stretch>
        </p:blipFill>
        <p:spPr>
          <a:xfrm>
            <a:off x="890336" y="1407072"/>
            <a:ext cx="10848474" cy="49175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Types of RNN</a:t>
            </a:r>
            <a:endParaRPr lang="en-US"/>
          </a:p>
        </p:txBody>
      </p:sp>
      <p:pic>
        <p:nvPicPr>
          <p:cNvPr id="3" name="Picture 2"/>
          <p:cNvPicPr>
            <a:picLocks noChangeAspect="1"/>
          </p:cNvPicPr>
          <p:nvPr/>
        </p:nvPicPr>
        <p:blipFill>
          <a:blip r:embed="rId1"/>
          <a:stretch>
            <a:fillRect/>
          </a:stretch>
        </p:blipFill>
        <p:spPr>
          <a:xfrm>
            <a:off x="379379" y="1098434"/>
            <a:ext cx="2552357" cy="4549519"/>
          </a:xfrm>
          <a:prstGeom prst="rect">
            <a:avLst/>
          </a:prstGeom>
        </p:spPr>
      </p:pic>
      <p:pic>
        <p:nvPicPr>
          <p:cNvPr id="4" name="Picture 3"/>
          <p:cNvPicPr>
            <a:picLocks noChangeAspect="1"/>
          </p:cNvPicPr>
          <p:nvPr/>
        </p:nvPicPr>
        <p:blipFill>
          <a:blip r:embed="rId2"/>
          <a:stretch>
            <a:fillRect/>
          </a:stretch>
        </p:blipFill>
        <p:spPr>
          <a:xfrm>
            <a:off x="4056900" y="1225485"/>
            <a:ext cx="2716199" cy="4515439"/>
          </a:xfrm>
          <a:prstGeom prst="rect">
            <a:avLst/>
          </a:prstGeom>
        </p:spPr>
      </p:pic>
      <p:pic>
        <p:nvPicPr>
          <p:cNvPr id="5" name="Picture 4"/>
          <p:cNvPicPr>
            <a:picLocks noChangeAspect="1"/>
          </p:cNvPicPr>
          <p:nvPr/>
        </p:nvPicPr>
        <p:blipFill>
          <a:blip r:embed="rId3"/>
          <a:stretch>
            <a:fillRect/>
          </a:stretch>
        </p:blipFill>
        <p:spPr>
          <a:xfrm>
            <a:off x="8388739" y="1191312"/>
            <a:ext cx="2775963" cy="44753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8733" y="155574"/>
            <a:ext cx="10515600" cy="525463"/>
          </a:xfrm>
        </p:spPr>
        <p:txBody>
          <a:bodyPr>
            <a:normAutofit fontScale="90000"/>
          </a:bodyPr>
          <a:lstStyle/>
          <a:p>
            <a:r>
              <a:rPr lang="en-US"/>
              <a:t>RNN Architecture for different applications</a:t>
            </a:r>
            <a:endParaRPr lang="en-US"/>
          </a:p>
        </p:txBody>
      </p:sp>
      <p:pic>
        <p:nvPicPr>
          <p:cNvPr id="4" name="Picture 3"/>
          <p:cNvPicPr>
            <a:picLocks noChangeAspect="1"/>
          </p:cNvPicPr>
          <p:nvPr/>
        </p:nvPicPr>
        <p:blipFill>
          <a:blip r:embed="rId1"/>
          <a:stretch>
            <a:fillRect/>
          </a:stretch>
        </p:blipFill>
        <p:spPr>
          <a:xfrm>
            <a:off x="874295" y="2119762"/>
            <a:ext cx="9833811" cy="2410448"/>
          </a:xfrm>
          <a:prstGeom prst="rect">
            <a:avLst/>
          </a:prstGeom>
        </p:spPr>
      </p:pic>
      <p:pic>
        <p:nvPicPr>
          <p:cNvPr id="5" name="Picture 4"/>
          <p:cNvPicPr>
            <a:picLocks noChangeAspect="1"/>
          </p:cNvPicPr>
          <p:nvPr/>
        </p:nvPicPr>
        <p:blipFill>
          <a:blip r:embed="rId1"/>
          <a:stretch>
            <a:fillRect/>
          </a:stretch>
        </p:blipFill>
        <p:spPr>
          <a:xfrm>
            <a:off x="0" y="1934758"/>
            <a:ext cx="12192000" cy="2988484"/>
          </a:xfrm>
          <a:prstGeom prst="rect">
            <a:avLst/>
          </a:prstGeom>
        </p:spPr>
      </p:pic>
      <p:pic>
        <p:nvPicPr>
          <p:cNvPr id="8" name="Picture 7"/>
          <p:cNvPicPr>
            <a:picLocks noChangeAspect="1"/>
          </p:cNvPicPr>
          <p:nvPr/>
        </p:nvPicPr>
        <p:blipFill>
          <a:blip r:embed="rId2"/>
          <a:stretch>
            <a:fillRect/>
          </a:stretch>
        </p:blipFill>
        <p:spPr>
          <a:xfrm>
            <a:off x="0" y="1977451"/>
            <a:ext cx="12192000" cy="2903097"/>
          </a:xfrm>
          <a:prstGeom prst="rect">
            <a:avLst/>
          </a:prstGeom>
        </p:spPr>
      </p:pic>
      <p:pic>
        <p:nvPicPr>
          <p:cNvPr id="10" name="Picture 9"/>
          <p:cNvPicPr>
            <a:picLocks noChangeAspect="1"/>
          </p:cNvPicPr>
          <p:nvPr/>
        </p:nvPicPr>
        <p:blipFill>
          <a:blip r:embed="rId3"/>
          <a:stretch>
            <a:fillRect/>
          </a:stretch>
        </p:blipFill>
        <p:spPr>
          <a:xfrm>
            <a:off x="294705" y="1892064"/>
            <a:ext cx="11897295" cy="2903097"/>
          </a:xfrm>
          <a:prstGeom prst="rect">
            <a:avLst/>
          </a:prstGeom>
        </p:spPr>
      </p:pic>
      <p:pic>
        <p:nvPicPr>
          <p:cNvPr id="12" name="Picture 11"/>
          <p:cNvPicPr>
            <a:picLocks noChangeAspect="1"/>
          </p:cNvPicPr>
          <p:nvPr/>
        </p:nvPicPr>
        <p:blipFill>
          <a:blip r:embed="rId4"/>
          <a:stretch>
            <a:fillRect/>
          </a:stretch>
        </p:blipFill>
        <p:spPr>
          <a:xfrm>
            <a:off x="0" y="1955904"/>
            <a:ext cx="12192000" cy="29461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Bidirectional RNN</a:t>
            </a:r>
            <a:endParaRPr lang="en-US"/>
          </a:p>
        </p:txBody>
      </p:sp>
      <p:sp>
        <p:nvSpPr>
          <p:cNvPr id="3" name="Content Placeholder 2"/>
          <p:cNvSpPr>
            <a:spLocks noGrp="1"/>
          </p:cNvSpPr>
          <p:nvPr>
            <p:ph idx="1"/>
          </p:nvPr>
        </p:nvSpPr>
        <p:spPr>
          <a:xfrm>
            <a:off x="685800" y="3165987"/>
            <a:ext cx="11320465" cy="3190363"/>
          </a:xfrm>
        </p:spPr>
        <p:txBody>
          <a:bodyPr/>
          <a:lstStyle/>
          <a:p>
            <a:r>
              <a:rPr lang="en-US" dirty="0"/>
              <a:t>Bidirectional recurrent neural networks(RNN) combine two independent RNNs</a:t>
            </a:r>
            <a:endParaRPr lang="en-US" dirty="0"/>
          </a:p>
          <a:p>
            <a:r>
              <a:rPr lang="en-US" dirty="0"/>
              <a:t>Input sequence is fed in normal time order </a:t>
            </a:r>
            <a:endParaRPr lang="en-US" dirty="0"/>
          </a:p>
          <a:p>
            <a:r>
              <a:rPr lang="en-US"/>
              <a:t>The </a:t>
            </a:r>
            <a:r>
              <a:rPr lang="en-US" dirty="0"/>
              <a:t>outputs of the two networks are usually concatenated at each time step</a:t>
            </a:r>
            <a:endParaRPr 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3237" y="681037"/>
            <a:ext cx="7277100" cy="2571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Stacked RNN</a:t>
            </a:r>
            <a:endParaRPr lang="en-US"/>
          </a:p>
        </p:txBody>
      </p:sp>
      <p:pic>
        <p:nvPicPr>
          <p:cNvPr id="2050" name="Picture 2" descr="recurrent neural network - Difference between bidirectional_dynamic_rnn and  stack_bidirectional_dynamic_rnn in Tensorflow - Stack Overflo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9465" y="971567"/>
            <a:ext cx="6345877" cy="51173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Encoder-Decoder RNN</a:t>
            </a:r>
            <a:endParaRPr lang="en-US"/>
          </a:p>
        </p:txBody>
      </p:sp>
      <p:pic>
        <p:nvPicPr>
          <p:cNvPr id="3074" name="Picture 2" descr="Time series forecasting with deep stacked unidirectional and bidirectional  LSTMs | by Manohar Battula | Towards Data Scie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4295" y="1445649"/>
            <a:ext cx="8843410" cy="39667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Standard RNN</a:t>
            </a:r>
            <a:endParaRPr lang="en-US"/>
          </a:p>
        </p:txBody>
      </p:sp>
      <p:sp>
        <p:nvSpPr>
          <p:cNvPr id="3" name="Content Placeholder 2"/>
          <p:cNvSpPr>
            <a:spLocks noGrp="1"/>
          </p:cNvSpPr>
          <p:nvPr>
            <p:ph idx="1"/>
          </p:nvPr>
        </p:nvSpPr>
        <p:spPr>
          <a:xfrm>
            <a:off x="685800" y="1119188"/>
            <a:ext cx="11320465" cy="860441"/>
          </a:xfrm>
        </p:spPr>
        <p:txBody>
          <a:bodyPr/>
          <a:lstStyle/>
          <a:p>
            <a:pPr marL="0" indent="0">
              <a:buNone/>
            </a:pPr>
            <a:r>
              <a:rPr lang="en-US"/>
              <a:t>In standard RNN repeating modules contain a simple computation unit</a:t>
            </a:r>
            <a:endParaRPr lang="en-US"/>
          </a:p>
        </p:txBody>
      </p:sp>
      <p:pic>
        <p:nvPicPr>
          <p:cNvPr id="4" name="Picture 3"/>
          <p:cNvPicPr>
            <a:picLocks noChangeAspect="1"/>
          </p:cNvPicPr>
          <p:nvPr/>
        </p:nvPicPr>
        <p:blipFill>
          <a:blip r:embed="rId1"/>
          <a:stretch>
            <a:fillRect/>
          </a:stretch>
        </p:blipFill>
        <p:spPr>
          <a:xfrm>
            <a:off x="381786" y="2298635"/>
            <a:ext cx="10972800" cy="385836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LSTM</a:t>
            </a:r>
            <a:endParaRPr lang="en-US"/>
          </a:p>
        </p:txBody>
      </p:sp>
      <p:sp>
        <p:nvSpPr>
          <p:cNvPr id="3" name="Content Placeholder 2"/>
          <p:cNvSpPr>
            <a:spLocks noGrp="1"/>
          </p:cNvSpPr>
          <p:nvPr>
            <p:ph idx="1"/>
          </p:nvPr>
        </p:nvSpPr>
        <p:spPr>
          <a:xfrm>
            <a:off x="685800" y="1119188"/>
            <a:ext cx="11320465" cy="1048977"/>
          </a:xfrm>
        </p:spPr>
        <p:txBody>
          <a:bodyPr>
            <a:normAutofit fontScale="92500"/>
          </a:bodyPr>
          <a:lstStyle/>
          <a:p>
            <a:r>
              <a:rPr lang="en-US"/>
              <a:t>LSTM repeating modules contain interacting layers that control information flow </a:t>
            </a:r>
            <a:endParaRPr lang="en-US"/>
          </a:p>
          <a:p>
            <a:r>
              <a:rPr lang="en-US"/>
              <a:t>LSTM cells can track information throughout many timesteps </a:t>
            </a:r>
            <a:endParaRPr lang="en-US"/>
          </a:p>
        </p:txBody>
      </p:sp>
      <p:pic>
        <p:nvPicPr>
          <p:cNvPr id="4" name="Picture 3"/>
          <p:cNvPicPr>
            <a:picLocks noChangeAspect="1"/>
          </p:cNvPicPr>
          <p:nvPr/>
        </p:nvPicPr>
        <p:blipFill>
          <a:blip r:embed="rId1"/>
          <a:stretch>
            <a:fillRect/>
          </a:stretch>
        </p:blipFill>
        <p:spPr>
          <a:xfrm>
            <a:off x="838986" y="2535772"/>
            <a:ext cx="10298784" cy="3493979"/>
          </a:xfrm>
          <a:prstGeom prst="rect">
            <a:avLst/>
          </a:prstGeom>
        </p:spPr>
      </p:pic>
      <mc:AlternateContent xmlns:mc="http://schemas.openxmlformats.org/markup-compatibility/2006" xmlns:p14="http://schemas.microsoft.com/office/powerpoint/2010/main">
        <mc:Choice Requires="p14">
          <p:contentPart r:id="rId2" p14:bwMode="auto">
            <p14:nvContentPartPr>
              <p14:cNvPr id="5" name="Ink 4"/>
              <p14:cNvContentPartPr/>
              <p14:nvPr/>
            </p14:nvContentPartPr>
            <p14:xfrm>
              <a:off x="717089" y="3969591"/>
              <a:ext cx="355517" cy="28656"/>
            </p14:xfrm>
          </p:contentPart>
        </mc:Choice>
        <mc:Fallback xmlns="">
          <p:pic>
            <p:nvPicPr>
              <p:cNvPr id="5" name="Ink 4"/>
            </p:nvPicPr>
            <p:blipFill>
              <a:blip r:embed="rId3"/>
            </p:blipFill>
            <p:spPr>
              <a:xfrm>
                <a:off x="717089" y="3969591"/>
                <a:ext cx="355517" cy="28656"/>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Ink 5"/>
              <p14:cNvContentPartPr/>
              <p14:nvPr/>
            </p14:nvContentPartPr>
            <p14:xfrm>
              <a:off x="717422" y="5063965"/>
              <a:ext cx="433399" cy="12201"/>
            </p14:xfrm>
          </p:contentPart>
        </mc:Choice>
        <mc:Fallback xmlns="">
          <p:pic>
            <p:nvPicPr>
              <p:cNvPr id="6" name="Ink 5"/>
            </p:nvPicPr>
            <p:blipFill>
              <a:blip r:embed="rId5"/>
            </p:blipFill>
            <p:spPr>
              <a:xfrm>
                <a:off x="717422" y="5063965"/>
                <a:ext cx="433399" cy="12201"/>
              </a:xfrm>
              <a:prstGeom prst="rect"/>
            </p:spPr>
          </p:pic>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12647</Words>
  <Application>WPS Presentation</Application>
  <PresentationFormat>Widescreen</PresentationFormat>
  <Paragraphs>259</Paragraphs>
  <Slides>45</Slides>
  <Notes>2</Notes>
  <HiddenSlides>1</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45</vt:i4>
      </vt:variant>
    </vt:vector>
  </HeadingPairs>
  <TitlesOfParts>
    <vt:vector size="58" baseType="lpstr">
      <vt:lpstr>Arial</vt:lpstr>
      <vt:lpstr>SimSun</vt:lpstr>
      <vt:lpstr>Wingdings</vt:lpstr>
      <vt:lpstr>Arial</vt:lpstr>
      <vt:lpstr>DejaVu Sans</vt:lpstr>
      <vt:lpstr>Calibri</vt:lpstr>
      <vt:lpstr>Calibri Light</vt:lpstr>
      <vt:lpstr>Microsoft YaHei</vt:lpstr>
      <vt:lpstr>Droid Sans Fallback</vt:lpstr>
      <vt:lpstr>Arial Unicode MS</vt:lpstr>
      <vt:lpstr>Calibri</vt:lpstr>
      <vt:lpstr>Times New Roman</vt:lpstr>
      <vt:lpstr>Office Theme</vt:lpstr>
      <vt:lpstr>CSE495B (Natural Language Processing) Lecture 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Swish Activation Function</vt:lpstr>
      <vt:lpstr>GELU Activation Function</vt:lpstr>
      <vt:lpstr>GELU Improvement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Modeling Sequences</vt:lpstr>
      <vt:lpstr>Recurrent neural networks</vt:lpstr>
      <vt:lpstr>One RNN Unit</vt:lpstr>
      <vt:lpstr>How does it look?</vt:lpstr>
      <vt:lpstr>With a little more details</vt:lpstr>
      <vt:lpstr>Types of RNN</vt:lpstr>
      <vt:lpstr>RNN Architecture for different applications</vt:lpstr>
      <vt:lpstr>Bidirectional RNN</vt:lpstr>
      <vt:lpstr>Stacked RNN</vt:lpstr>
      <vt:lpstr>Encoder-Decoder RNN</vt:lpstr>
      <vt:lpstr>Standard RNN</vt:lpstr>
      <vt:lpstr>LSTM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 Lecture 2</dc:title>
  <dc:creator>Mohammad Khan</dc:creator>
  <cp:lastModifiedBy>ashraf</cp:lastModifiedBy>
  <cp:revision>36</cp:revision>
  <dcterms:created xsi:type="dcterms:W3CDTF">2025-11-04T13:28:56Z</dcterms:created>
  <dcterms:modified xsi:type="dcterms:W3CDTF">2025-11-04T13:28:56Z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