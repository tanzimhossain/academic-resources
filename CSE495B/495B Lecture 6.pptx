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60" r:id="rId3"/>
    <p:sldId id="261" r:id="rId4"/>
    <p:sldId id="262" r:id="rId5"/>
    <p:sldId id="263" r:id="rId6"/>
    <p:sldId id="264" r:id="rId7"/>
    <p:sldId id="271" r:id="rId8"/>
    <p:sldId id="265" r:id="rId9"/>
    <p:sldId id="630" r:id="rId10"/>
    <p:sldId id="266" r:id="rId11"/>
    <p:sldId id="272" r:id="rId12"/>
    <p:sldId id="273" r:id="rId13"/>
    <p:sldId id="274" r:id="rId14"/>
    <p:sldId id="275" r:id="rId15"/>
    <p:sldId id="276" r:id="rId16"/>
    <p:sldId id="412" r:id="rId17"/>
    <p:sldId id="278" r:id="rId18"/>
    <p:sldId id="280" r:id="rId19"/>
    <p:sldId id="281" r:id="rId20"/>
    <p:sldId id="282" r:id="rId21"/>
    <p:sldId id="284" r:id="rId22"/>
    <p:sldId id="283" r:id="rId23"/>
    <p:sldId id="285" r:id="rId24"/>
    <p:sldId id="286" r:id="rId25"/>
    <p:sldId id="287" r:id="rId26"/>
    <p:sldId id="292" r:id="rId27"/>
    <p:sldId id="294" r:id="rId28"/>
    <p:sldId id="295" r:id="rId29"/>
    <p:sldId id="314" r:id="rId30"/>
    <p:sldId id="315" r:id="rId31"/>
    <p:sldId id="316" r:id="rId32"/>
    <p:sldId id="317"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63" roundtripDataSignature="AMtx7miLAPrl4d+V1IstkCCj/PL+6qtYP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77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A433C-DF00-9C03-776B-C13C723852A2}" v="529" dt="2025-11-02T16:31:29.876"/>
  </p1510:revLst>
</p1510:revInfo>
</file>

<file path=ppt/tableStyles.xml><?xml version="1.0" encoding="utf-8"?>
<a:tblStyleLst xmlns:a="http://schemas.openxmlformats.org/drawingml/2006/main" def="{E1EA1CD8-9A49-4420-9597-29AC4BAAC592}">
  <a:tblStyle styleId="{E1EA1CD8-9A49-4420-9597-29AC4BAAC59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63" Type="http://customschemas.google.com/relationships/presentationmetadata" Target="metadata"/><Relationship Id="rId68"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6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64"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2400"/>
              <a:buNone/>
              <a:defRPr sz="2400"/>
            </a:lvl1pPr>
            <a:lvl2pPr lvl="1" algn="ctr">
              <a:lnSpc>
                <a:spcPct val="90000"/>
              </a:lnSpc>
              <a:spcBef>
                <a:spcPts val="500"/>
              </a:spcBef>
              <a:spcAft>
                <a:spcPts val="0"/>
              </a:spcAft>
              <a:buClr>
                <a:srgbClr val="548135"/>
              </a:buClr>
              <a:buSzPts val="2000"/>
              <a:buNone/>
              <a:defRPr sz="2000"/>
            </a:lvl2pPr>
            <a:lvl3pPr lvl="2" algn="ctr">
              <a:lnSpc>
                <a:spcPct val="90000"/>
              </a:lnSpc>
              <a:spcBef>
                <a:spcPts val="500"/>
              </a:spcBef>
              <a:spcAft>
                <a:spcPts val="0"/>
              </a:spcAft>
              <a:buClr>
                <a:srgbClr val="FFC000"/>
              </a:buClr>
              <a:buSzPts val="1800"/>
              <a:buNone/>
              <a:defRPr sz="1800"/>
            </a:lvl3pPr>
            <a:lvl4pPr lvl="3" algn="ctr">
              <a:lnSpc>
                <a:spcPct val="90000"/>
              </a:lnSpc>
              <a:spcBef>
                <a:spcPts val="500"/>
              </a:spcBef>
              <a:spcAft>
                <a:spcPts val="0"/>
              </a:spcAft>
              <a:buClr>
                <a:srgbClr val="C00000"/>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0"/>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0"/>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2"/>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70C0"/>
              </a:buClr>
              <a:buSzPts val="2400"/>
              <a:buNone/>
              <a:defRPr sz="2400" b="1"/>
            </a:lvl1pPr>
            <a:lvl2pPr marL="914400" lvl="1" indent="-228600" algn="l">
              <a:lnSpc>
                <a:spcPct val="90000"/>
              </a:lnSpc>
              <a:spcBef>
                <a:spcPts val="500"/>
              </a:spcBef>
              <a:spcAft>
                <a:spcPts val="0"/>
              </a:spcAft>
              <a:buClr>
                <a:srgbClr val="548135"/>
              </a:buClr>
              <a:buSzPts val="2000"/>
              <a:buNone/>
              <a:defRPr sz="2000" b="1"/>
            </a:lvl2pPr>
            <a:lvl3pPr marL="1371600" lvl="2" indent="-228600" algn="l">
              <a:lnSpc>
                <a:spcPct val="90000"/>
              </a:lnSpc>
              <a:spcBef>
                <a:spcPts val="500"/>
              </a:spcBef>
              <a:spcAft>
                <a:spcPts val="0"/>
              </a:spcAft>
              <a:buClr>
                <a:srgbClr val="FFC000"/>
              </a:buClr>
              <a:buSzPts val="1800"/>
              <a:buNone/>
              <a:defRPr sz="1800" b="1"/>
            </a:lvl3pPr>
            <a:lvl4pPr marL="1828800" lvl="3" indent="-228600" algn="l">
              <a:lnSpc>
                <a:spcPct val="90000"/>
              </a:lnSpc>
              <a:spcBef>
                <a:spcPts val="500"/>
              </a:spcBef>
              <a:spcAft>
                <a:spcPts val="0"/>
              </a:spcAft>
              <a:buClr>
                <a:srgbClr val="C00000"/>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4"/>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rgbClr val="0070C0"/>
              </a:buClr>
              <a:buSzPts val="3200"/>
              <a:buChar char="•"/>
              <a:defRPr sz="3200"/>
            </a:lvl1pPr>
            <a:lvl2pPr marL="914400" lvl="1" indent="-406400" algn="l">
              <a:lnSpc>
                <a:spcPct val="90000"/>
              </a:lnSpc>
              <a:spcBef>
                <a:spcPts val="500"/>
              </a:spcBef>
              <a:spcAft>
                <a:spcPts val="0"/>
              </a:spcAft>
              <a:buClr>
                <a:srgbClr val="548135"/>
              </a:buClr>
              <a:buSzPts val="2800"/>
              <a:buChar char="•"/>
              <a:defRPr sz="2800"/>
            </a:lvl2pPr>
            <a:lvl3pPr marL="1371600" lvl="2" indent="-381000" algn="l">
              <a:lnSpc>
                <a:spcPct val="90000"/>
              </a:lnSpc>
              <a:spcBef>
                <a:spcPts val="500"/>
              </a:spcBef>
              <a:spcAft>
                <a:spcPts val="0"/>
              </a:spcAft>
              <a:buClr>
                <a:srgbClr val="FFC000"/>
              </a:buClr>
              <a:buSzPts val="2400"/>
              <a:buChar char="•"/>
              <a:defRPr sz="2400"/>
            </a:lvl3pPr>
            <a:lvl4pPr marL="1828800" lvl="3" indent="-355600" algn="l">
              <a:lnSpc>
                <a:spcPct val="90000"/>
              </a:lnSpc>
              <a:spcBef>
                <a:spcPts val="500"/>
              </a:spcBef>
              <a:spcAft>
                <a:spcPts val="0"/>
              </a:spcAft>
              <a:buClr>
                <a:srgbClr val="C00000"/>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67"/>
          <p:cNvSpPr>
            <a:spLocks noGrp="1"/>
          </p:cNvSpPr>
          <p:nvPr>
            <p:ph type="pic" idx="2"/>
          </p:nvPr>
        </p:nvSpPr>
        <p:spPr>
          <a:xfrm>
            <a:off x="5183188" y="987425"/>
            <a:ext cx="6172200" cy="4873625"/>
          </a:xfrm>
          <a:prstGeom prst="rect">
            <a:avLst/>
          </a:prstGeom>
          <a:noFill/>
          <a:ln>
            <a:noFill/>
          </a:ln>
        </p:spPr>
      </p:sp>
      <p:sp>
        <p:nvSpPr>
          <p:cNvPr id="70" name="Google Shape;70;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70C0"/>
              </a:buClr>
              <a:buSzPts val="1600"/>
              <a:buNone/>
              <a:defRPr sz="1600"/>
            </a:lvl1pPr>
            <a:lvl2pPr marL="914400" lvl="1" indent="-228600" algn="l">
              <a:lnSpc>
                <a:spcPct val="90000"/>
              </a:lnSpc>
              <a:spcBef>
                <a:spcPts val="500"/>
              </a:spcBef>
              <a:spcAft>
                <a:spcPts val="0"/>
              </a:spcAft>
              <a:buClr>
                <a:srgbClr val="548135"/>
              </a:buClr>
              <a:buSzPts val="1400"/>
              <a:buNone/>
              <a:defRPr sz="1400"/>
            </a:lvl2pPr>
            <a:lvl3pPr marL="1371600" lvl="2" indent="-228600" algn="l">
              <a:lnSpc>
                <a:spcPct val="90000"/>
              </a:lnSpc>
              <a:spcBef>
                <a:spcPts val="500"/>
              </a:spcBef>
              <a:spcAft>
                <a:spcPts val="0"/>
              </a:spcAft>
              <a:buClr>
                <a:srgbClr val="FFC000"/>
              </a:buClr>
              <a:buSzPts val="1200"/>
              <a:buNone/>
              <a:defRPr sz="1200"/>
            </a:lvl3pPr>
            <a:lvl4pPr marL="1828800" lvl="3" indent="-228600" algn="l">
              <a:lnSpc>
                <a:spcPct val="90000"/>
              </a:lnSpc>
              <a:spcBef>
                <a:spcPts val="500"/>
              </a:spcBef>
              <a:spcAft>
                <a:spcPts val="0"/>
              </a:spcAft>
              <a:buClr>
                <a:srgbClr val="C00000"/>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6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8"/>
          <p:cNvSpPr txBox="1">
            <a:spLocks noGrp="1"/>
          </p:cNvSpPr>
          <p:nvPr>
            <p:ph type="body" idx="1"/>
          </p:nvPr>
        </p:nvSpPr>
        <p:spPr>
          <a:xfrm rot="5400000">
            <a:off x="3727452" y="-1922463"/>
            <a:ext cx="5237162" cy="1132046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0070C0"/>
              </a:buClr>
              <a:buSzPts val="1800"/>
              <a:buChar char="•"/>
              <a:defRPr/>
            </a:lvl1pPr>
            <a:lvl2pPr marL="914400" lvl="1" indent="-342900" algn="l">
              <a:lnSpc>
                <a:spcPct val="90000"/>
              </a:lnSpc>
              <a:spcBef>
                <a:spcPts val="500"/>
              </a:spcBef>
              <a:spcAft>
                <a:spcPts val="0"/>
              </a:spcAft>
              <a:buClr>
                <a:srgbClr val="548135"/>
              </a:buClr>
              <a:buSzPts val="1800"/>
              <a:buChar char="•"/>
              <a:defRPr/>
            </a:lvl2pPr>
            <a:lvl3pPr marL="1371600" lvl="2" indent="-342900" algn="l">
              <a:lnSpc>
                <a:spcPct val="90000"/>
              </a:lnSpc>
              <a:spcBef>
                <a:spcPts val="500"/>
              </a:spcBef>
              <a:spcAft>
                <a:spcPts val="0"/>
              </a:spcAft>
              <a:buClr>
                <a:srgbClr val="FFC000"/>
              </a:buClr>
              <a:buSzPts val="18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1278720" y="155520"/>
            <a:ext cx="10515240" cy="52524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1" name="PlaceHolder 2"/>
          <p:cNvSpPr>
            <a:spLocks noGrp="1"/>
          </p:cNvSpPr>
          <p:nvPr>
            <p:ph type="subTitle"/>
          </p:nvPr>
        </p:nvSpPr>
        <p:spPr>
          <a:xfrm>
            <a:off x="685800" y="1119240"/>
            <a:ext cx="11320200" cy="5236920"/>
          </a:xfrm>
          <a:prstGeom prst="rect">
            <a:avLst/>
          </a:prstGeom>
        </p:spPr>
        <p:txBody>
          <a:bodyPr lIns="0" tIns="0" rIns="0" bIns="0" anchor="ctr">
            <a:noAutofit/>
          </a:bodyPr>
          <a:lstStyle/>
          <a:p>
            <a:pPr algn="ctr"/>
            <a:endParaRPr lang="en-US" sz="3200" b="0" strike="noStrike" spc="-1">
              <a:latin typeface="Arial"/>
            </a:endParaRPr>
          </a:p>
        </p:txBody>
      </p:sp>
    </p:spTree>
    <p:extLst>
      <p:ext uri="{BB962C8B-B14F-4D97-AF65-F5344CB8AC3E}">
        <p14:creationId xmlns:p14="http://schemas.microsoft.com/office/powerpoint/2010/main" val="2246284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1278733" y="155574"/>
            <a:ext cx="10515600" cy="525463"/>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rgbClr val="002060"/>
              </a:buClr>
              <a:buSzPts val="4400"/>
              <a:buFont typeface="Calibri"/>
              <a:buNone/>
              <a:defRPr sz="44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685800" y="1119188"/>
            <a:ext cx="11320465" cy="523716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0070C0"/>
              </a:buClr>
              <a:buSzPts val="2800"/>
              <a:buFont typeface="Arial"/>
              <a:buChar char="•"/>
              <a:defRPr sz="28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rgbClr val="548135"/>
              </a:buClr>
              <a:buSzPts val="2400"/>
              <a:buFont typeface="Arial"/>
              <a:buChar char="•"/>
              <a:defRPr sz="2400" b="0" i="0" u="none" strike="noStrike" cap="none">
                <a:solidFill>
                  <a:srgbClr val="548135"/>
                </a:solidFill>
                <a:latin typeface="Calibri"/>
                <a:ea typeface="Calibri"/>
                <a:cs typeface="Calibri"/>
                <a:sym typeface="Calibri"/>
              </a:defRPr>
            </a:lvl2pPr>
            <a:lvl3pPr marL="1371600" marR="0" lvl="2" indent="-355600" algn="l" rtl="0">
              <a:lnSpc>
                <a:spcPct val="90000"/>
              </a:lnSpc>
              <a:spcBef>
                <a:spcPts val="500"/>
              </a:spcBef>
              <a:spcAft>
                <a:spcPts val="0"/>
              </a:spcAft>
              <a:buClr>
                <a:srgbClr val="FFC000"/>
              </a:buClr>
              <a:buSzPts val="2000"/>
              <a:buFont typeface="Arial"/>
              <a:buChar char="•"/>
              <a:defRPr sz="2000" b="0" i="0" u="none" strike="noStrike" cap="none">
                <a:solidFill>
                  <a:srgbClr val="FFC000"/>
                </a:solidFill>
                <a:latin typeface="Calibri"/>
                <a:ea typeface="Calibri"/>
                <a:cs typeface="Calibri"/>
                <a:sym typeface="Calibri"/>
              </a:defRPr>
            </a:lvl3pPr>
            <a:lvl4pPr marL="1828800" marR="0" lvl="3" indent="-342900" algn="l" rtl="0">
              <a:lnSpc>
                <a:spcPct val="90000"/>
              </a:lnSpc>
              <a:spcBef>
                <a:spcPts val="500"/>
              </a:spcBef>
              <a:spcAft>
                <a:spcPts val="0"/>
              </a:spcAft>
              <a:buClr>
                <a:srgbClr val="C00000"/>
              </a:buClr>
              <a:buSzPts val="1800"/>
              <a:buFont typeface="Arial"/>
              <a:buChar char="•"/>
              <a:defRPr sz="1800" b="0" i="0" u="none" strike="noStrike" cap="none">
                <a:solidFill>
                  <a:srgbClr val="C00000"/>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58" descr="http://www.northsouth.edu/newassets/images/nsu-photo/logo-4.png"/>
          <p:cNvPicPr preferRelativeResize="0"/>
          <p:nvPr/>
        </p:nvPicPr>
        <p:blipFill rotWithShape="1">
          <a:blip r:embed="rId14">
            <a:alphaModFix/>
          </a:blip>
          <a:srcRect/>
          <a:stretch/>
        </p:blipFill>
        <p:spPr>
          <a:xfrm>
            <a:off x="1" y="0"/>
            <a:ext cx="495300" cy="396240"/>
          </a:xfrm>
          <a:prstGeom prst="rect">
            <a:avLst/>
          </a:prstGeom>
          <a:noFill/>
          <a:ln>
            <a:noFill/>
          </a:ln>
        </p:spPr>
      </p:pic>
      <p:cxnSp>
        <p:nvCxnSpPr>
          <p:cNvPr id="16" name="Google Shape;16;p58"/>
          <p:cNvCxnSpPr/>
          <p:nvPr/>
        </p:nvCxnSpPr>
        <p:spPr>
          <a:xfrm rot="10800000" flipH="1">
            <a:off x="792958" y="54768"/>
            <a:ext cx="11001375" cy="46037"/>
          </a:xfrm>
          <a:prstGeom prst="straightConnector1">
            <a:avLst/>
          </a:prstGeom>
          <a:noFill/>
          <a:ln w="19050" cap="flat" cmpd="sng">
            <a:solidFill>
              <a:schemeClr val="accent1"/>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245809"/>
            <a:ext cx="9144000" cy="1445963"/>
          </a:xfrm>
          <a:prstGeom prst="rect">
            <a:avLst/>
          </a:prstGeom>
          <a:noFill/>
          <a:ln>
            <a:noFill/>
          </a:ln>
        </p:spPr>
        <p:txBody>
          <a:bodyPr spcFirstLastPara="1" wrap="square" lIns="91425" tIns="45700" rIns="91425" bIns="45700" anchor="b" anchorCtr="0">
            <a:normAutofit fontScale="90000"/>
          </a:bodyPr>
          <a:lstStyle/>
          <a:p>
            <a:pPr marL="0" lvl="0" indent="0" rtl="0">
              <a:lnSpc>
                <a:spcPct val="90000"/>
              </a:lnSpc>
              <a:spcBef>
                <a:spcPts val="0"/>
              </a:spcBef>
              <a:spcAft>
                <a:spcPts val="0"/>
              </a:spcAft>
              <a:buClr>
                <a:srgbClr val="002060"/>
              </a:buClr>
              <a:buSzPct val="100000"/>
              <a:buFont typeface="Calibri"/>
              <a:buNone/>
            </a:pPr>
            <a:r>
              <a:rPr lang="en-US" sz="4800" dirty="0"/>
              <a:t>CSE495B (Natural Language Processing)</a:t>
            </a:r>
            <a:br>
              <a:rPr lang="en-US" sz="4800" dirty="0"/>
            </a:br>
            <a:r>
              <a:rPr lang="en-US" sz="4800" dirty="0"/>
              <a:t>Lecture 6</a:t>
            </a:r>
            <a:endParaRPr lang="en-US" dirty="0"/>
          </a:p>
        </p:txBody>
      </p:sp>
      <p:sp>
        <p:nvSpPr>
          <p:cNvPr id="91" name="Google Shape;91;p1"/>
          <p:cNvSpPr txBox="1">
            <a:spLocks noGrp="1"/>
          </p:cNvSpPr>
          <p:nvPr>
            <p:ph type="subTitle" idx="1"/>
          </p:nvPr>
        </p:nvSpPr>
        <p:spPr>
          <a:xfrm>
            <a:off x="1524000" y="4194453"/>
            <a:ext cx="9144000" cy="572583"/>
          </a:xfrm>
          <a:prstGeom prst="rect">
            <a:avLst/>
          </a:prstGeom>
          <a:noFill/>
          <a:ln>
            <a:noFill/>
          </a:ln>
        </p:spPr>
        <p:txBody>
          <a:bodyPr spcFirstLastPara="1" wrap="square" lIns="91425" tIns="45700" rIns="91425" bIns="45700" anchor="t" anchorCtr="0">
            <a:normAutofit/>
          </a:bodyPr>
          <a:lstStyle/>
          <a:p>
            <a:pPr marL="0" indent="0" algn="l">
              <a:spcBef>
                <a:spcPts val="0"/>
              </a:spcBef>
            </a:pPr>
            <a:r>
              <a:rPr lang="en-US" sz="2000" dirty="0"/>
              <a:t>Word Embedding: Word2Vec</a:t>
            </a:r>
            <a:endParaRPr lang="en-US" dirty="0"/>
          </a:p>
        </p:txBody>
      </p:sp>
      <p:sp>
        <p:nvSpPr>
          <p:cNvPr id="92" name="Google Shape;92;p1"/>
          <p:cNvSpPr/>
          <p:nvPr/>
        </p:nvSpPr>
        <p:spPr>
          <a:xfrm>
            <a:off x="0" y="1"/>
            <a:ext cx="5920619" cy="2130951"/>
          </a:xfrm>
          <a:custGeom>
            <a:avLst/>
            <a:gdLst/>
            <a:ahLst/>
            <a:cxnLst/>
            <a:rect l="l" t="t" r="r" b="b"/>
            <a:pathLst>
              <a:path w="5920619" h="2130951" extrusionOk="0">
                <a:moveTo>
                  <a:pt x="0" y="0"/>
                </a:moveTo>
                <a:lnTo>
                  <a:pt x="3191370" y="0"/>
                </a:lnTo>
                <a:lnTo>
                  <a:pt x="3346315" y="0"/>
                </a:lnTo>
                <a:lnTo>
                  <a:pt x="5920619" y="0"/>
                </a:lnTo>
                <a:lnTo>
                  <a:pt x="4936971" y="2130951"/>
                </a:lnTo>
                <a:lnTo>
                  <a:pt x="0" y="2130951"/>
                </a:lnTo>
                <a:close/>
              </a:path>
            </a:pathLst>
          </a:cu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a:off x="5097839" y="0"/>
            <a:ext cx="7094160" cy="2130952"/>
          </a:xfrm>
          <a:custGeom>
            <a:avLst/>
            <a:gdLst/>
            <a:ahLst/>
            <a:cxnLst/>
            <a:rect l="l" t="t" r="r" b="b"/>
            <a:pathLst>
              <a:path w="7094160" h="2130952" extrusionOk="0">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flipH="1">
            <a:off x="6149721" y="4682920"/>
            <a:ext cx="4522796" cy="2175080"/>
          </a:xfrm>
          <a:custGeom>
            <a:avLst/>
            <a:gdLst/>
            <a:ahLst/>
            <a:cxnLst/>
            <a:rect l="l" t="t" r="r" b="b"/>
            <a:pathLst>
              <a:path w="4522796" h="2175080" extrusionOk="0">
                <a:moveTo>
                  <a:pt x="3515449" y="0"/>
                </a:moveTo>
                <a:lnTo>
                  <a:pt x="0" y="0"/>
                </a:lnTo>
                <a:lnTo>
                  <a:pt x="0" y="2175080"/>
                </a:lnTo>
                <a:lnTo>
                  <a:pt x="4522796" y="217508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Calibri"/>
              <a:ea typeface="Calibri"/>
              <a:cs typeface="Calibri"/>
              <a:sym typeface="Calibri"/>
            </a:endParaRPr>
          </a:p>
        </p:txBody>
      </p:sp>
      <p:sp>
        <p:nvSpPr>
          <p:cNvPr id="95" name="Google Shape;95;p1"/>
          <p:cNvSpPr/>
          <p:nvPr/>
        </p:nvSpPr>
        <p:spPr>
          <a:xfrm>
            <a:off x="6266810" y="4682920"/>
            <a:ext cx="5925190" cy="2175080"/>
          </a:xfrm>
          <a:custGeom>
            <a:avLst/>
            <a:gdLst/>
            <a:ahLst/>
            <a:cxnLst/>
            <a:rect l="l" t="t" r="r" b="b"/>
            <a:pathLst>
              <a:path w="5925190" h="2175080" extrusionOk="0">
                <a:moveTo>
                  <a:pt x="1007347" y="0"/>
                </a:moveTo>
                <a:lnTo>
                  <a:pt x="5925190" y="0"/>
                </a:lnTo>
                <a:lnTo>
                  <a:pt x="5925190" y="2175080"/>
                </a:lnTo>
                <a:lnTo>
                  <a:pt x="0" y="2175080"/>
                </a:ln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p:nvPr/>
        </p:nvSpPr>
        <p:spPr>
          <a:xfrm>
            <a:off x="0" y="4682920"/>
            <a:ext cx="7114535" cy="2175080"/>
          </a:xfrm>
          <a:custGeom>
            <a:avLst/>
            <a:gdLst/>
            <a:ahLst/>
            <a:cxnLst/>
            <a:rect l="l" t="t" r="r" b="b"/>
            <a:pathLst>
              <a:path w="7114535" h="2175080" extrusionOk="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Shape 1"/>
          <p:cNvSpPr txBox="1"/>
          <p:nvPr/>
        </p:nvSpPr>
        <p:spPr>
          <a:xfrm>
            <a:off x="8610480" y="6356520"/>
            <a:ext cx="2742840" cy="364680"/>
          </a:xfrm>
          <a:prstGeom prst="rect">
            <a:avLst/>
          </a:prstGeom>
          <a:noFill/>
          <a:ln>
            <a:noFill/>
          </a:ln>
        </p:spPr>
        <p:txBody>
          <a:bodyPr anchor="ctr">
            <a:noAutofit/>
          </a:bodyPr>
          <a:lstStyle/>
          <a:p>
            <a:pPr algn="r">
              <a:lnSpc>
                <a:spcPct val="100000"/>
              </a:lnSpc>
            </a:pPr>
            <a:fld id="{F4ACEC1E-FE97-4978-ABE1-ADDADD3F14EC}" type="slidenum">
              <a:rPr lang="en-US" sz="1200" b="0" strike="noStrike" spc="-1">
                <a:solidFill>
                  <a:srgbClr val="8B8B8B"/>
                </a:solidFill>
                <a:latin typeface="Garamond"/>
              </a:rPr>
              <a:t>2</a:t>
            </a:fld>
            <a:endParaRPr lang="en-US" sz="1200" b="0" strike="noStrike" spc="-1">
              <a:latin typeface="Times New Roman"/>
            </a:endParaRPr>
          </a:p>
        </p:txBody>
      </p:sp>
      <p:sp>
        <p:nvSpPr>
          <p:cNvPr id="102" name="TextShape 2"/>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What is a word?</a:t>
            </a:r>
            <a:endParaRPr lang="en-US" sz="4400" b="0" strike="noStrike" spc="-1">
              <a:solidFill>
                <a:srgbClr val="000000"/>
              </a:solidFill>
              <a:latin typeface="Calibri"/>
            </a:endParaRPr>
          </a:p>
        </p:txBody>
      </p:sp>
      <p:sp>
        <p:nvSpPr>
          <p:cNvPr id="103" name="TextShape 3"/>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85000"/>
              </a:lnSpc>
              <a:spcBef>
                <a:spcPts val="391"/>
              </a:spcBef>
              <a:buClr>
                <a:srgbClr val="0070C0"/>
              </a:buClr>
              <a:buFont typeface="Arial"/>
              <a:buChar char="•"/>
            </a:pPr>
            <a:r>
              <a:rPr lang="en-US" sz="2600" spc="-1">
                <a:solidFill>
                  <a:srgbClr val="0070C0"/>
                </a:solidFill>
                <a:latin typeface="Calibri"/>
              </a:rPr>
              <a:t>We already covered it in the previous lectures</a:t>
            </a:r>
          </a:p>
          <a:p>
            <a:pPr marL="685800" lvl="1" indent="-227965">
              <a:lnSpc>
                <a:spcPct val="85000"/>
              </a:lnSpc>
              <a:spcBef>
                <a:spcPts val="391"/>
              </a:spcBef>
              <a:buClr>
                <a:srgbClr val="0070C0"/>
              </a:buClr>
              <a:buFont typeface="Arial"/>
              <a:buChar char="•"/>
            </a:pPr>
            <a:r>
              <a:rPr lang="en-US" sz="2600" b="0" strike="noStrike" spc="-1">
                <a:solidFill>
                  <a:schemeClr val="accent6">
                    <a:lumMod val="76000"/>
                  </a:schemeClr>
                </a:solidFill>
                <a:latin typeface="Calibri"/>
              </a:rPr>
              <a:t>An idea</a:t>
            </a:r>
            <a:endParaRPr lang="en-US">
              <a:solidFill>
                <a:schemeClr val="accent6">
                  <a:lumMod val="76000"/>
                </a:schemeClr>
              </a:solidFill>
            </a:endParaRPr>
          </a:p>
          <a:p>
            <a:pPr marL="1143000" lvl="2" indent="-227965">
              <a:lnSpc>
                <a:spcPct val="85000"/>
              </a:lnSpc>
              <a:spcBef>
                <a:spcPts val="329"/>
              </a:spcBef>
              <a:buClr>
                <a:srgbClr val="548235"/>
              </a:buClr>
              <a:buFont typeface="Arial"/>
              <a:buChar char="•"/>
            </a:pPr>
            <a:r>
              <a:rPr lang="en-US" sz="2200" b="0" strike="noStrike" spc="-1">
                <a:solidFill>
                  <a:srgbClr val="F27735"/>
                </a:solidFill>
                <a:latin typeface="Calibri"/>
              </a:rPr>
              <a:t>Represented by the word or the phrase</a:t>
            </a:r>
          </a:p>
          <a:p>
            <a:pPr marL="1143000" lvl="2" indent="-227965">
              <a:lnSpc>
                <a:spcPct val="85000"/>
              </a:lnSpc>
              <a:spcBef>
                <a:spcPts val="329"/>
              </a:spcBef>
              <a:buClr>
                <a:srgbClr val="548235"/>
              </a:buClr>
              <a:buFont typeface="Arial"/>
              <a:buChar char="•"/>
            </a:pPr>
            <a:r>
              <a:rPr lang="en-US" sz="2200" b="0" strike="noStrike" spc="-1">
                <a:solidFill>
                  <a:srgbClr val="F27735"/>
                </a:solidFill>
                <a:latin typeface="Calibri"/>
              </a:rPr>
              <a:t>A person wants to express by using that word or the phrase</a:t>
            </a:r>
          </a:p>
          <a:p>
            <a:pPr marL="1143000" lvl="2" indent="-227965">
              <a:lnSpc>
                <a:spcPct val="85000"/>
              </a:lnSpc>
              <a:spcBef>
                <a:spcPts val="329"/>
              </a:spcBef>
              <a:buClr>
                <a:srgbClr val="548235"/>
              </a:buClr>
              <a:buFont typeface="Arial"/>
              <a:buChar char="•"/>
            </a:pPr>
            <a:r>
              <a:rPr lang="en-US" sz="2200" b="0" strike="noStrike" spc="-1">
                <a:solidFill>
                  <a:srgbClr val="F27735"/>
                </a:solidFill>
                <a:latin typeface="Calibri"/>
              </a:rPr>
              <a:t>That is expressed in a work of writing, art, etc.</a:t>
            </a:r>
          </a:p>
          <a:p>
            <a:pPr marL="685800" lvl="1" indent="-227965">
              <a:lnSpc>
                <a:spcPct val="85000"/>
              </a:lnSpc>
              <a:spcBef>
                <a:spcPts val="391"/>
              </a:spcBef>
              <a:buClr>
                <a:srgbClr val="0070C0"/>
              </a:buClr>
              <a:buFont typeface="Arial"/>
              <a:buChar char="•"/>
            </a:pPr>
            <a:r>
              <a:rPr lang="en-US" sz="2600" b="0" strike="noStrike" spc="-1">
                <a:solidFill>
                  <a:schemeClr val="accent6">
                    <a:lumMod val="76000"/>
                  </a:schemeClr>
                </a:solidFill>
                <a:latin typeface="Calibri"/>
              </a:rPr>
              <a:t>But all those are for human</a:t>
            </a:r>
          </a:p>
          <a:p>
            <a:pPr marL="685800" lvl="1" indent="-227965">
              <a:lnSpc>
                <a:spcPct val="85000"/>
              </a:lnSpc>
              <a:spcBef>
                <a:spcPts val="391"/>
              </a:spcBef>
              <a:buClr>
                <a:srgbClr val="0070C0"/>
              </a:buClr>
              <a:buFont typeface="Arial"/>
              <a:buChar char="•"/>
            </a:pPr>
            <a:r>
              <a:rPr lang="en-US" sz="2600" b="0" strike="noStrike" spc="-1">
                <a:solidFill>
                  <a:schemeClr val="accent6">
                    <a:lumMod val="76000"/>
                  </a:schemeClr>
                </a:solidFill>
                <a:latin typeface="Calibri"/>
              </a:rPr>
              <a:t>How does a computer interpret words?</a:t>
            </a:r>
          </a:p>
          <a:p>
            <a:pPr marL="1257935" lvl="2" indent="-342900">
              <a:lnSpc>
                <a:spcPct val="85000"/>
              </a:lnSpc>
              <a:spcBef>
                <a:spcPts val="329"/>
              </a:spcBef>
              <a:buClr>
                <a:srgbClr val="548235"/>
              </a:buClr>
              <a:buFont typeface="Arial"/>
              <a:buChar char="•"/>
            </a:pPr>
            <a:r>
              <a:rPr lang="en-US" sz="2200" b="0" strike="noStrike" spc="-1">
                <a:solidFill>
                  <a:schemeClr val="accent2"/>
                </a:solidFill>
                <a:latin typeface="Calibri"/>
              </a:rPr>
              <a:t>It cannot…</a:t>
            </a:r>
          </a:p>
          <a:p>
            <a:pPr marL="1257935" lvl="2" indent="-342900">
              <a:lnSpc>
                <a:spcPct val="85000"/>
              </a:lnSpc>
              <a:spcBef>
                <a:spcPts val="329"/>
              </a:spcBef>
              <a:buClr>
                <a:srgbClr val="548235"/>
              </a:buClr>
              <a:buFont typeface="Arial"/>
              <a:buChar char="•"/>
            </a:pPr>
            <a:r>
              <a:rPr lang="en-US" sz="2200" b="0" strike="noStrike" spc="-1">
                <a:solidFill>
                  <a:schemeClr val="accent2"/>
                </a:solidFill>
                <a:latin typeface="Calibri"/>
              </a:rPr>
              <a:t>We need a representation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Shape 1"/>
          <p:cNvSpPr txBox="1"/>
          <p:nvPr/>
        </p:nvSpPr>
        <p:spPr>
          <a:xfrm>
            <a:off x="1278720" y="15552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trike="noStrike" spc="-1">
                <a:solidFill>
                  <a:srgbClr val="002060"/>
                </a:solidFill>
                <a:latin typeface="Calibri Light"/>
              </a:rPr>
              <a:t>WordNet</a:t>
            </a:r>
            <a:r>
              <a:rPr lang="en-US" sz="4400" b="1" spc="-1">
                <a:solidFill>
                  <a:srgbClr val="002060"/>
                </a:solidFill>
                <a:latin typeface="Calibri Light"/>
              </a:rPr>
              <a:t>: Human made thesaurus</a:t>
            </a:r>
            <a:endParaRPr lang="en-US" sz="4400" b="1" strike="noStrike" spc="-1">
              <a:solidFill>
                <a:srgbClr val="002060"/>
              </a:solidFill>
              <a:latin typeface="Calibri Light"/>
            </a:endParaRPr>
          </a:p>
        </p:txBody>
      </p:sp>
      <p:sp>
        <p:nvSpPr>
          <p:cNvPr id="105" name="TextShape 2"/>
          <p:cNvSpPr txBox="1"/>
          <p:nvPr/>
        </p:nvSpPr>
        <p:spPr>
          <a:xfrm>
            <a:off x="685800" y="802080"/>
            <a:ext cx="11320200" cy="55537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WordNet helps computers understand words </a:t>
            </a:r>
            <a:r>
              <a:rPr lang="en-US" sz="2800" b="0" strike="noStrike" spc="-1" err="1">
                <a:solidFill>
                  <a:srgbClr val="0070C0"/>
                </a:solidFill>
                <a:latin typeface="Calibri"/>
              </a:rPr>
              <a:t>w.r.t.</a:t>
            </a:r>
            <a:r>
              <a:rPr lang="en-US" sz="2800" b="0" strike="noStrike" spc="-1">
                <a:solidFill>
                  <a:srgbClr val="0070C0"/>
                </a:solidFill>
                <a:latin typeface="Calibri"/>
              </a:rPr>
              <a:t> words</a:t>
            </a:r>
            <a:endParaRPr lang="en-US"/>
          </a:p>
          <a:p>
            <a:pPr marL="228600" lvl="1" indent="-227965">
              <a:lnSpc>
                <a:spcPct val="90000"/>
              </a:lnSpc>
              <a:spcBef>
                <a:spcPts val="1001"/>
              </a:spcBef>
              <a:buClr>
                <a:srgbClr val="0070C0"/>
              </a:buClr>
              <a:buFont typeface="Arial"/>
              <a:buChar char="•"/>
            </a:pPr>
            <a:r>
              <a:rPr lang="en-US" sz="2800" spc="-1">
                <a:solidFill>
                  <a:srgbClr val="0070C0"/>
                </a:solidFill>
                <a:latin typeface="Calibri"/>
              </a:rPr>
              <a:t>A</a:t>
            </a:r>
            <a:r>
              <a:rPr lang="en-US" sz="2800" b="0" strike="noStrike" spc="-1">
                <a:solidFill>
                  <a:srgbClr val="0070C0"/>
                </a:solidFill>
                <a:latin typeface="Calibri"/>
              </a:rPr>
              <a:t> thesaurus containing lists of synonyms sets and hypernyms (“is a” relationships)</a:t>
            </a:r>
            <a:r>
              <a:rPr lang="en-US" sz="2800" spc="-1">
                <a:solidFill>
                  <a:srgbClr val="0070C0"/>
                </a:solidFill>
                <a:latin typeface="Calibri"/>
              </a:rPr>
              <a:t> and some others</a:t>
            </a:r>
            <a:endParaRPr lang="en-US" sz="2800" b="0" strike="noStrike" spc="-1">
              <a:solidFill>
                <a:srgbClr val="0070C0"/>
              </a:solidFill>
              <a:latin typeface="Calibri"/>
            </a:endParaRPr>
          </a:p>
        </p:txBody>
      </p:sp>
      <p:pic>
        <p:nvPicPr>
          <p:cNvPr id="106" name="Picture 3"/>
          <p:cNvPicPr/>
          <p:nvPr/>
        </p:nvPicPr>
        <p:blipFill>
          <a:blip r:embed="rId2"/>
          <a:stretch/>
        </p:blipFill>
        <p:spPr>
          <a:xfrm>
            <a:off x="2098080" y="2119680"/>
            <a:ext cx="8088480" cy="435744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Problems with WordNet</a:t>
            </a:r>
            <a:endParaRPr lang="en-US" sz="4400" b="0" strike="noStrike" spc="-1">
              <a:solidFill>
                <a:srgbClr val="000000"/>
              </a:solidFill>
              <a:latin typeface="Calibri"/>
            </a:endParaRPr>
          </a:p>
        </p:txBody>
      </p:sp>
      <p:sp>
        <p:nvSpPr>
          <p:cNvPr id="108" name="TextShape 2"/>
          <p:cNvSpPr txBox="1"/>
          <p:nvPr/>
        </p:nvSpPr>
        <p:spPr>
          <a:xfrm>
            <a:off x="685800" y="1119240"/>
            <a:ext cx="11320200" cy="5236920"/>
          </a:xfrm>
          <a:prstGeom prst="rect">
            <a:avLst/>
          </a:prstGeom>
          <a:noFill/>
          <a:ln>
            <a:noFill/>
          </a:ln>
        </p:spPr>
        <p:txBody>
          <a:bodyPr>
            <a:noAutofit/>
          </a:bodyPr>
          <a:lstStyle/>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Great as a resource but missing nuance</a:t>
            </a:r>
          </a:p>
          <a:p>
            <a:pPr marL="685800" lvl="1" indent="-228240">
              <a:lnSpc>
                <a:spcPct val="90000"/>
              </a:lnSpc>
              <a:spcBef>
                <a:spcPts val="499"/>
              </a:spcBef>
              <a:buClr>
                <a:srgbClr val="548235"/>
              </a:buClr>
              <a:buFont typeface="Arial"/>
              <a:buChar char="•"/>
            </a:pPr>
            <a:r>
              <a:rPr lang="en-US" sz="2400" b="0" strike="noStrike" spc="-1">
                <a:solidFill>
                  <a:srgbClr val="548235"/>
                </a:solidFill>
                <a:latin typeface="Calibri"/>
              </a:rPr>
              <a:t>“proficient” is listed as a synonym for “good”</a:t>
            </a:r>
            <a:endParaRPr lang="en-US" sz="2400" b="0" strike="noStrike" spc="-1">
              <a:solidFill>
                <a:srgbClr val="C00000"/>
              </a:solidFill>
              <a:latin typeface="Calibri"/>
            </a:endParaRPr>
          </a:p>
          <a:p>
            <a:pPr marL="685800" lvl="1" indent="-228240">
              <a:lnSpc>
                <a:spcPct val="90000"/>
              </a:lnSpc>
              <a:spcBef>
                <a:spcPts val="499"/>
              </a:spcBef>
              <a:buClr>
                <a:srgbClr val="548235"/>
              </a:buClr>
              <a:buFont typeface="Arial"/>
              <a:buChar char="•"/>
            </a:pPr>
            <a:r>
              <a:rPr lang="en-US" sz="2400" b="0" strike="noStrike" spc="-1">
                <a:solidFill>
                  <a:srgbClr val="548235"/>
                </a:solidFill>
                <a:latin typeface="Calibri"/>
              </a:rPr>
              <a:t>This is only correct in some contexts</a:t>
            </a:r>
            <a:endParaRPr lang="en-US" sz="2400" b="0" strike="noStrike" spc="-1">
              <a:solidFill>
                <a:srgbClr val="C00000"/>
              </a:solidFill>
              <a:latin typeface="Calibri"/>
            </a:endParaRP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Missing new meanings of words</a:t>
            </a:r>
          </a:p>
          <a:p>
            <a:pPr marL="685800" lvl="1" indent="-228240">
              <a:lnSpc>
                <a:spcPct val="90000"/>
              </a:lnSpc>
              <a:spcBef>
                <a:spcPts val="499"/>
              </a:spcBef>
              <a:buClr>
                <a:srgbClr val="548235"/>
              </a:buClr>
              <a:buFont typeface="Arial"/>
              <a:buChar char="•"/>
            </a:pPr>
            <a:r>
              <a:rPr lang="en-US" sz="2400" b="0" strike="noStrike" spc="-1">
                <a:solidFill>
                  <a:srgbClr val="548235"/>
                </a:solidFill>
                <a:latin typeface="Calibri"/>
              </a:rPr>
              <a:t>Wicked, nifty, wizard, genius, ninja, bombast </a:t>
            </a:r>
            <a:endParaRPr lang="en-US" sz="2400" b="0" strike="noStrike" spc="-1">
              <a:solidFill>
                <a:srgbClr val="C00000"/>
              </a:solidFill>
              <a:latin typeface="Calibri"/>
            </a:endParaRPr>
          </a:p>
          <a:p>
            <a:pPr marL="685800" lvl="1" indent="-228240">
              <a:lnSpc>
                <a:spcPct val="90000"/>
              </a:lnSpc>
              <a:spcBef>
                <a:spcPts val="499"/>
              </a:spcBef>
              <a:buClr>
                <a:srgbClr val="548235"/>
              </a:buClr>
              <a:buFont typeface="Arial"/>
              <a:buChar char="•"/>
            </a:pPr>
            <a:r>
              <a:rPr lang="en-US" sz="2400" b="0" strike="noStrike" spc="-1">
                <a:solidFill>
                  <a:srgbClr val="548235"/>
                </a:solidFill>
                <a:latin typeface="Calibri"/>
              </a:rPr>
              <a:t>Impossible to keep up-to-date</a:t>
            </a:r>
            <a:endParaRPr lang="en-US" sz="2400" b="0" strike="noStrike" spc="-1">
              <a:solidFill>
                <a:srgbClr val="C00000"/>
              </a:solidFill>
              <a:latin typeface="Calibri"/>
            </a:endParaRP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Subjective</a:t>
            </a: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Requires human labor to create and adapt</a:t>
            </a: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Can’t compute accurate word similarity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Shape 1"/>
          <p:cNvSpPr txBox="1"/>
          <p:nvPr/>
        </p:nvSpPr>
        <p:spPr>
          <a:xfrm>
            <a:off x="1278720" y="15552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Representing words as discrete symbols</a:t>
            </a:r>
            <a:endParaRPr lang="en-US" sz="4400" b="0" strike="noStrike" spc="-1">
              <a:solidFill>
                <a:srgbClr val="000000"/>
              </a:solidFill>
              <a:latin typeface="Calibri"/>
            </a:endParaRPr>
          </a:p>
        </p:txBody>
      </p:sp>
      <p:sp>
        <p:nvSpPr>
          <p:cNvPr id="110"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In traditional NLP</a:t>
            </a:r>
            <a:r>
              <a:rPr lang="en-US" sz="2800" spc="-1">
                <a:solidFill>
                  <a:srgbClr val="0070C0"/>
                </a:solidFill>
                <a:latin typeface="Calibri"/>
              </a:rPr>
              <a:t>,</a:t>
            </a:r>
            <a:r>
              <a:rPr lang="en-US" sz="2800" b="0" strike="noStrike" spc="-1">
                <a:solidFill>
                  <a:srgbClr val="0070C0"/>
                </a:solidFill>
                <a:latin typeface="Calibri"/>
              </a:rPr>
              <a:t> </a:t>
            </a:r>
            <a:r>
              <a:rPr lang="en-US" sz="2800" spc="-1">
                <a:solidFill>
                  <a:srgbClr val="0070C0"/>
                </a:solidFill>
                <a:latin typeface="Calibri"/>
              </a:rPr>
              <a:t>we</a:t>
            </a:r>
            <a:r>
              <a:rPr lang="en-US" sz="2800" b="0" strike="noStrike" spc="-1">
                <a:solidFill>
                  <a:srgbClr val="0070C0"/>
                </a:solidFill>
                <a:latin typeface="Calibri"/>
              </a:rPr>
              <a:t> regard words as discrete symbols</a:t>
            </a:r>
            <a:endParaRPr lang="en-US"/>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Hotel, motel, conference room</a:t>
            </a:r>
            <a:r>
              <a:rPr lang="en-US" sz="2400" spc="-1">
                <a:solidFill>
                  <a:srgbClr val="548235"/>
                </a:solidFill>
                <a:latin typeface="Calibri"/>
              </a:rPr>
              <a:t> </a:t>
            </a:r>
            <a:r>
              <a:rPr lang="en-US" sz="2400" b="0" strike="noStrike" spc="-1">
                <a:solidFill>
                  <a:srgbClr val="548235"/>
                </a:solidFill>
                <a:latin typeface="Calibri"/>
              </a:rPr>
              <a:t> - all are separate</a:t>
            </a:r>
            <a:r>
              <a:rPr lang="en-US" sz="2400" spc="-1">
                <a:solidFill>
                  <a:srgbClr val="548235"/>
                </a:solidFill>
                <a:latin typeface="Calibri"/>
              </a:rPr>
              <a:t> </a:t>
            </a:r>
            <a:endParaRPr lang="en-US" sz="2400" b="0" strike="noStrike" spc="-1">
              <a:solidFill>
                <a:srgbClr val="C0000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Words can be represented by one-hot</a:t>
            </a:r>
            <a:r>
              <a:rPr lang="en-US" sz="2800" spc="-1">
                <a:solidFill>
                  <a:srgbClr val="0070C0"/>
                </a:solidFill>
                <a:latin typeface="Calibri"/>
              </a:rPr>
              <a:t>/weighted-frequency</a:t>
            </a:r>
            <a:r>
              <a:rPr lang="en-US" sz="2800" b="0" strike="noStrike" spc="-1">
                <a:solidFill>
                  <a:srgbClr val="0070C0"/>
                </a:solidFill>
                <a:latin typeface="Calibri"/>
              </a:rPr>
              <a:t> vectors</a:t>
            </a:r>
          </a:p>
          <a:p>
            <a:pPr>
              <a:lnSpc>
                <a:spcPct val="90000"/>
              </a:lnSpc>
              <a:spcBef>
                <a:spcPts val="1001"/>
              </a:spcBef>
            </a:pPr>
            <a:endParaRPr lang="en-US" sz="2800" b="0" strike="noStrike" spc="-1">
              <a:solidFill>
                <a:srgbClr val="0070C0"/>
              </a:solidFill>
              <a:latin typeface="Calibri"/>
            </a:endParaRPr>
          </a:p>
          <a:p>
            <a:pPr>
              <a:lnSpc>
                <a:spcPct val="90000"/>
              </a:lnSpc>
              <a:spcBef>
                <a:spcPts val="1001"/>
              </a:spcBef>
            </a:pPr>
            <a:endParaRPr lang="en-US" sz="2800" b="0" strike="noStrike" spc="-1">
              <a:solidFill>
                <a:srgbClr val="0070C0"/>
              </a:solidFill>
              <a:latin typeface="Calibri"/>
            </a:endParaRPr>
          </a:p>
          <a:p>
            <a:pPr>
              <a:lnSpc>
                <a:spcPct val="90000"/>
              </a:lnSpc>
              <a:spcBef>
                <a:spcPts val="1001"/>
              </a:spcBef>
            </a:pPr>
            <a:endParaRPr lang="en-US" sz="2800" spc="-1">
              <a:solidFill>
                <a:srgbClr val="0070C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Vector dimension = number of words in vocabulary</a:t>
            </a:r>
          </a:p>
        </p:txBody>
      </p:sp>
      <p:pic>
        <p:nvPicPr>
          <p:cNvPr id="111" name="Picture 3"/>
          <p:cNvPicPr/>
          <p:nvPr/>
        </p:nvPicPr>
        <p:blipFill>
          <a:blip r:embed="rId2"/>
          <a:stretch/>
        </p:blipFill>
        <p:spPr>
          <a:xfrm>
            <a:off x="2543040" y="2927520"/>
            <a:ext cx="4667040" cy="83772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Shape 1"/>
          <p:cNvSpPr txBox="1"/>
          <p:nvPr/>
        </p:nvSpPr>
        <p:spPr>
          <a:xfrm>
            <a:off x="1278720" y="15552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Problems with words as discrete symbols</a:t>
            </a:r>
            <a:endParaRPr lang="en-US" sz="4400" b="0" strike="noStrike" spc="-1">
              <a:solidFill>
                <a:srgbClr val="000000"/>
              </a:solidFill>
              <a:latin typeface="Calibri"/>
            </a:endParaRPr>
          </a:p>
        </p:txBody>
      </p:sp>
      <p:sp>
        <p:nvSpPr>
          <p:cNvPr id="113"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If someone wants to search for “hotel in Dhaka”, we would </a:t>
            </a:r>
            <a:r>
              <a:rPr lang="en-US" sz="2800" spc="-1">
                <a:solidFill>
                  <a:srgbClr val="0070C0"/>
                </a:solidFill>
                <a:latin typeface="Calibri"/>
              </a:rPr>
              <a:t>also like</a:t>
            </a:r>
            <a:r>
              <a:rPr lang="en-US" sz="2800" b="0" strike="noStrike" spc="-1">
                <a:solidFill>
                  <a:srgbClr val="0070C0"/>
                </a:solidFill>
                <a:latin typeface="Calibri"/>
              </a:rPr>
              <a:t> to match documents containing “</a:t>
            </a:r>
            <a:r>
              <a:rPr lang="en-US" sz="2800" spc="-1">
                <a:solidFill>
                  <a:srgbClr val="0070C0"/>
                </a:solidFill>
                <a:latin typeface="Calibri"/>
              </a:rPr>
              <a:t>motel</a:t>
            </a:r>
            <a:r>
              <a:rPr lang="en-US" sz="2800" b="0" strike="noStrike" spc="-1">
                <a:solidFill>
                  <a:srgbClr val="0070C0"/>
                </a:solidFill>
                <a:latin typeface="Calibri"/>
              </a:rPr>
              <a:t>” &amp; “Dhaka”</a:t>
            </a:r>
            <a:endParaRPr lang="en-US"/>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But</a:t>
            </a:r>
          </a:p>
          <a:p>
            <a:pPr>
              <a:lnSpc>
                <a:spcPct val="90000"/>
              </a:lnSpc>
              <a:spcBef>
                <a:spcPts val="1001"/>
              </a:spcBef>
            </a:pPr>
            <a:endParaRPr lang="en-US" sz="2800" b="0" strike="noStrike" spc="-1">
              <a:solidFill>
                <a:srgbClr val="0070C0"/>
              </a:solidFill>
              <a:latin typeface="Calibri"/>
            </a:endParaRPr>
          </a:p>
          <a:p>
            <a:pPr>
              <a:lnSpc>
                <a:spcPct val="90000"/>
              </a:lnSpc>
              <a:spcBef>
                <a:spcPts val="1001"/>
              </a:spcBef>
            </a:pPr>
            <a:endParaRPr lang="en-US" sz="2800" b="0" strike="noStrike" spc="-1">
              <a:solidFill>
                <a:srgbClr val="0070C0"/>
              </a:solidFill>
              <a:latin typeface="Calibri"/>
            </a:endParaRPr>
          </a:p>
          <a:p>
            <a:pPr>
              <a:lnSpc>
                <a:spcPct val="90000"/>
              </a:lnSpc>
              <a:spcBef>
                <a:spcPts val="1001"/>
              </a:spcBef>
            </a:pPr>
            <a:endParaRPr lang="en-US" sz="2800" b="0" strike="noStrike" spc="-1">
              <a:solidFill>
                <a:srgbClr val="0070C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These two vectors are orthogonal</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There is no natural notion of similarity for one-hot vectors</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Solution</a:t>
            </a:r>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Could try to rely on WordNet’s list of synonyms to get similarity</a:t>
            </a:r>
            <a:endParaRPr lang="en-US" sz="2400" b="0" strike="noStrike" spc="-1">
              <a:solidFill>
                <a:srgbClr val="C00000"/>
              </a:solidFill>
              <a:latin typeface="Calibri"/>
            </a:endParaRPr>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Instead: learn to encode similarity in the vectors themselves</a:t>
            </a:r>
            <a:endParaRPr lang="en-US" sz="2400" b="0" strike="noStrike" spc="-1">
              <a:solidFill>
                <a:srgbClr val="C00000"/>
              </a:solidFill>
              <a:latin typeface="Calibri"/>
            </a:endParaRPr>
          </a:p>
        </p:txBody>
      </p:sp>
      <p:pic>
        <p:nvPicPr>
          <p:cNvPr id="114" name="Picture 3"/>
          <p:cNvPicPr/>
          <p:nvPr/>
        </p:nvPicPr>
        <p:blipFill>
          <a:blip r:embed="rId2"/>
          <a:stretch/>
        </p:blipFill>
        <p:spPr>
          <a:xfrm>
            <a:off x="2145600" y="2658240"/>
            <a:ext cx="4390560" cy="77112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1278720" y="15552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trike="noStrike" spc="-1">
                <a:solidFill>
                  <a:srgbClr val="002060"/>
                </a:solidFill>
                <a:latin typeface="Calibri Light"/>
              </a:rPr>
              <a:t>Similarity measurements</a:t>
            </a:r>
            <a:r>
              <a:rPr lang="en-US" sz="4400" b="1" spc="-1">
                <a:solidFill>
                  <a:srgbClr val="002060"/>
                </a:solidFill>
                <a:latin typeface="Calibri Light"/>
              </a:rPr>
              <a:t> for one-hot vectors</a:t>
            </a:r>
            <a:endParaRPr lang="en-US" sz="4400" b="0" strike="noStrike" spc="-1">
              <a:solidFill>
                <a:srgbClr val="000000"/>
              </a:solidFill>
              <a:latin typeface="Calibri"/>
            </a:endParaRPr>
          </a:p>
        </p:txBody>
      </p:sp>
      <p:sp>
        <p:nvSpPr>
          <p:cNvPr id="130" name="TextShape 2"/>
          <p:cNvSpPr txBox="1"/>
          <p:nvPr/>
        </p:nvSpPr>
        <p:spPr>
          <a:xfrm>
            <a:off x="685800" y="3898080"/>
            <a:ext cx="11320200" cy="2457720"/>
          </a:xfrm>
          <a:prstGeom prst="rect">
            <a:avLst/>
          </a:prstGeom>
          <a:noFill/>
          <a:ln>
            <a:noFill/>
          </a:ln>
        </p:spPr>
        <p:txBody>
          <a:bodyPr>
            <a:normAutofit fontScale="85000" lnSpcReduction="10000"/>
          </a:bodyPr>
          <a:lstStyle/>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Here comes the idea of generating </a:t>
            </a:r>
            <a:r>
              <a:rPr lang="en-US" sz="2800" b="0" i="1" strike="noStrike" spc="-1">
                <a:solidFill>
                  <a:srgbClr val="0070C0"/>
                </a:solidFill>
                <a:latin typeface="Calibri"/>
              </a:rPr>
              <a:t>distributed representations</a:t>
            </a:r>
            <a:r>
              <a:rPr lang="en-US" sz="2800" b="0" strike="noStrike" spc="-1">
                <a:solidFill>
                  <a:srgbClr val="0070C0"/>
                </a:solidFill>
                <a:latin typeface="Calibri"/>
              </a:rPr>
              <a:t> </a:t>
            </a: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Intuitively, we introduce some </a:t>
            </a:r>
            <a:r>
              <a:rPr lang="en-US" sz="2800" b="0" i="1" strike="noStrike" spc="-1">
                <a:solidFill>
                  <a:srgbClr val="0070C0"/>
                </a:solidFill>
                <a:latin typeface="Calibri"/>
              </a:rPr>
              <a:t>dependence</a:t>
            </a:r>
            <a:r>
              <a:rPr lang="en-US" sz="2800" b="0" strike="noStrike" spc="-1">
                <a:solidFill>
                  <a:srgbClr val="0070C0"/>
                </a:solidFill>
                <a:latin typeface="Calibri"/>
              </a:rPr>
              <a:t> of one word on the other words</a:t>
            </a: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The words in the context of this word would get a greater share of this </a:t>
            </a:r>
            <a:r>
              <a:rPr lang="en-US" sz="2800" b="0" i="1" strike="noStrike" spc="-1">
                <a:solidFill>
                  <a:srgbClr val="0070C0"/>
                </a:solidFill>
                <a:latin typeface="Calibri"/>
              </a:rPr>
              <a:t>dependence</a:t>
            </a:r>
            <a:endParaRPr lang="en-US" sz="2800" b="0" strike="noStrike" spc="-1">
              <a:solidFill>
                <a:srgbClr val="0070C0"/>
              </a:solidFill>
              <a:latin typeface="Calibri"/>
            </a:endParaRP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In one hot encoding representation, all the words are </a:t>
            </a:r>
            <a:r>
              <a:rPr lang="en-US" sz="2800" b="0" i="1" strike="noStrike" spc="-1">
                <a:solidFill>
                  <a:srgbClr val="0070C0"/>
                </a:solidFill>
                <a:latin typeface="Calibri"/>
              </a:rPr>
              <a:t>independent </a:t>
            </a:r>
            <a:r>
              <a:rPr lang="en-US" sz="2800" b="0" strike="noStrike" spc="-1">
                <a:solidFill>
                  <a:srgbClr val="0070C0"/>
                </a:solidFill>
                <a:latin typeface="Calibri"/>
              </a:rPr>
              <a:t>of one another</a:t>
            </a:r>
          </a:p>
          <a:p>
            <a:pPr marL="228600" lvl="8" indent="-228240">
              <a:lnSpc>
                <a:spcPct val="90000"/>
              </a:lnSpc>
              <a:spcBef>
                <a:spcPts val="1001"/>
              </a:spcBef>
              <a:buClr>
                <a:srgbClr val="0070C0"/>
              </a:buClr>
              <a:buFont typeface="Arial"/>
              <a:buChar char="•"/>
            </a:pPr>
            <a:r>
              <a:rPr lang="en-US" sz="2800" b="0" strike="noStrike" spc="-1">
                <a:solidFill>
                  <a:srgbClr val="0070C0"/>
                </a:solidFill>
                <a:latin typeface="Calibri"/>
              </a:rPr>
              <a:t>Their similarity is 0</a:t>
            </a:r>
          </a:p>
          <a:p>
            <a:pPr marL="360" lvl="4">
              <a:lnSpc>
                <a:spcPct val="90000"/>
              </a:lnSpc>
              <a:spcBef>
                <a:spcPts val="1001"/>
              </a:spcBef>
              <a:buClr>
                <a:srgbClr val="0070C0"/>
              </a:buClr>
            </a:pPr>
            <a:endParaRPr lang="en-US" sz="2800" b="0" strike="noStrike" spc="-1">
              <a:solidFill>
                <a:srgbClr val="0070C0"/>
              </a:solidFill>
              <a:latin typeface="Calibri"/>
            </a:endParaRPr>
          </a:p>
        </p:txBody>
      </p:sp>
      <p:pic>
        <p:nvPicPr>
          <p:cNvPr id="131" name="Picture 4" descr="Building a Song Recommendation System using Cosine Similarity and ..."/>
          <p:cNvPicPr/>
          <p:nvPr/>
        </p:nvPicPr>
        <p:blipFill>
          <a:blip r:embed="rId2"/>
          <a:stretch/>
        </p:blipFill>
        <p:spPr>
          <a:xfrm>
            <a:off x="2265120" y="995040"/>
            <a:ext cx="3453480" cy="258876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Shape 1"/>
          <p:cNvSpPr txBox="1"/>
          <p:nvPr/>
        </p:nvSpPr>
        <p:spPr>
          <a:xfrm>
            <a:off x="1278720" y="155520"/>
            <a:ext cx="10515240" cy="525240"/>
          </a:xfrm>
          <a:prstGeom prst="rect">
            <a:avLst/>
          </a:prstGeom>
          <a:noFill/>
          <a:ln>
            <a:noFill/>
          </a:ln>
        </p:spPr>
        <p:txBody>
          <a:bodyPr anchor="ctr">
            <a:normAutofit fontScale="85000" lnSpcReduction="20000"/>
          </a:bodyPr>
          <a:lstStyle/>
          <a:p>
            <a:pPr algn="ctr">
              <a:lnSpc>
                <a:spcPct val="90000"/>
              </a:lnSpc>
            </a:pPr>
            <a:r>
              <a:rPr lang="en-US" sz="4400" b="1" strike="noStrike" spc="-1">
                <a:solidFill>
                  <a:srgbClr val="002060"/>
                </a:solidFill>
                <a:latin typeface="Calibri Light"/>
              </a:rPr>
              <a:t>Representing words by their context</a:t>
            </a:r>
            <a:endParaRPr lang="en-US" sz="4400" b="0" strike="noStrike" spc="-1">
              <a:solidFill>
                <a:srgbClr val="000000"/>
              </a:solidFill>
              <a:latin typeface="Calibri"/>
            </a:endParaRPr>
          </a:p>
        </p:txBody>
      </p:sp>
      <p:sp>
        <p:nvSpPr>
          <p:cNvPr id="116"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Distributional semantics: A word’s meaning is given by the words that frequently appear close-by</a:t>
            </a:r>
            <a:endParaRPr lang="en-US"/>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“You shall know a word by the company it keeps”</a:t>
            </a:r>
            <a:endParaRPr lang="en-US" sz="2400" b="0" strike="noStrike" spc="-1">
              <a:solidFill>
                <a:srgbClr val="C00000"/>
              </a:solidFill>
              <a:latin typeface="Calibri"/>
            </a:endParaRPr>
          </a:p>
          <a:p>
            <a:pPr marL="685800" lvl="6" indent="-227965">
              <a:lnSpc>
                <a:spcPct val="90000"/>
              </a:lnSpc>
              <a:spcBef>
                <a:spcPts val="499"/>
              </a:spcBef>
              <a:buClr>
                <a:srgbClr val="548235"/>
              </a:buClr>
              <a:buFont typeface="Arial"/>
              <a:buChar char="•"/>
            </a:pPr>
            <a:r>
              <a:rPr lang="en-US" sz="2400" b="0" strike="noStrike" spc="-1">
                <a:solidFill>
                  <a:srgbClr val="548235"/>
                </a:solidFill>
                <a:latin typeface="Calibri"/>
              </a:rPr>
              <a:t>One of the most successful ideas of modern statistical NLP</a:t>
            </a:r>
            <a:endParaRPr lang="en-US" sz="2400" b="0" strike="noStrike" spc="-1">
              <a:solidFill>
                <a:srgbClr val="C0000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When a</a:t>
            </a:r>
            <a:r>
              <a:rPr lang="en-US" sz="2800" spc="-1">
                <a:solidFill>
                  <a:srgbClr val="0070C0"/>
                </a:solidFill>
                <a:latin typeface="Calibri"/>
              </a:rPr>
              <a:t> </a:t>
            </a:r>
            <a:r>
              <a:rPr lang="en-US" sz="2800" b="0" strike="noStrike" spc="-1">
                <a:solidFill>
                  <a:srgbClr val="0070C0"/>
                </a:solidFill>
                <a:latin typeface="Calibri"/>
              </a:rPr>
              <a:t> word </a:t>
            </a:r>
            <a:r>
              <a:rPr lang="en-US" sz="2800" spc="-1">
                <a:solidFill>
                  <a:srgbClr val="FF0000"/>
                </a:solidFill>
                <a:latin typeface="Calibri"/>
              </a:rPr>
              <a:t>'w'</a:t>
            </a:r>
            <a:r>
              <a:rPr lang="en-US" sz="2800" b="0" strike="noStrike" spc="-1">
                <a:solidFill>
                  <a:srgbClr val="0070C0"/>
                </a:solidFill>
                <a:latin typeface="Calibri"/>
              </a:rPr>
              <a:t> appears in a text, its context is the set of words that appear nearby (within a fixed-size window)</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Use the many context of w to build up a representation of w</a:t>
            </a:r>
          </a:p>
        </p:txBody>
      </p:sp>
      <p:pic>
        <p:nvPicPr>
          <p:cNvPr id="117" name="Picture 3"/>
          <p:cNvPicPr/>
          <p:nvPr/>
        </p:nvPicPr>
        <p:blipFill>
          <a:blip r:embed="rId2"/>
          <a:stretch/>
        </p:blipFill>
        <p:spPr>
          <a:xfrm>
            <a:off x="2228760" y="4394520"/>
            <a:ext cx="7733880" cy="179028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C8481-6B9D-8DD3-418A-BFD784E73F8B}"/>
              </a:ext>
            </a:extLst>
          </p:cNvPr>
          <p:cNvSpPr>
            <a:spLocks noGrp="1"/>
          </p:cNvSpPr>
          <p:nvPr>
            <p:ph type="title"/>
          </p:nvPr>
        </p:nvSpPr>
        <p:spPr/>
        <p:txBody>
          <a:bodyPr>
            <a:normAutofit fontScale="90000"/>
          </a:bodyPr>
          <a:lstStyle/>
          <a:p>
            <a:r>
              <a:rPr lang="en-US"/>
              <a:t>Word Embeddings are Dense Vectors</a:t>
            </a:r>
          </a:p>
        </p:txBody>
      </p:sp>
      <p:sp>
        <p:nvSpPr>
          <p:cNvPr id="3" name="Text Placeholder 2">
            <a:extLst>
              <a:ext uri="{FF2B5EF4-FFF2-40B4-BE49-F238E27FC236}">
                <a16:creationId xmlns:a16="http://schemas.microsoft.com/office/drawing/2014/main" id="{6C63E431-8C14-FF7A-32A6-079194755F77}"/>
              </a:ext>
            </a:extLst>
          </p:cNvPr>
          <p:cNvSpPr>
            <a:spLocks noGrp="1"/>
          </p:cNvSpPr>
          <p:nvPr>
            <p:ph type="body" idx="1"/>
          </p:nvPr>
        </p:nvSpPr>
        <p:spPr/>
        <p:txBody>
          <a:bodyPr>
            <a:normAutofit/>
          </a:bodyPr>
          <a:lstStyle/>
          <a:p>
            <a:r>
              <a:rPr lang="en-US" dirty="0"/>
              <a:t>Word embeddings map individual words to real-valued vectors in a predefined vector space</a:t>
            </a:r>
          </a:p>
          <a:p>
            <a:r>
              <a:rPr lang="en-US" dirty="0"/>
              <a:t>Each word corresponds to one vector, and these vector-values are learned using neural networks</a:t>
            </a:r>
          </a:p>
          <a:p>
            <a:r>
              <a:rPr lang="en-US" dirty="0"/>
              <a:t>The central idea is to use a dense, distributed representation for each word, typically spanning tens or hundreds of dimensions</a:t>
            </a:r>
          </a:p>
          <a:p>
            <a:r>
              <a:rPr lang="en-US" dirty="0"/>
              <a:t>This contrasts sparse word representations (like one-hot encodings) that require thousands or millions of dimensions</a:t>
            </a:r>
          </a:p>
          <a:p>
            <a:endParaRPr lang="en-US"/>
          </a:p>
        </p:txBody>
      </p:sp>
    </p:spTree>
    <p:extLst>
      <p:ext uri="{BB962C8B-B14F-4D97-AF65-F5344CB8AC3E}">
        <p14:creationId xmlns:p14="http://schemas.microsoft.com/office/powerpoint/2010/main" val="512798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Shape 1"/>
          <p:cNvSpPr txBox="1"/>
          <p:nvPr/>
        </p:nvSpPr>
        <p:spPr>
          <a:xfrm>
            <a:off x="1278720" y="15552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trike="noStrike" spc="-1" dirty="0">
                <a:solidFill>
                  <a:srgbClr val="002060"/>
                </a:solidFill>
                <a:latin typeface="Calibri Light"/>
              </a:rPr>
              <a:t>Word vectors/embeddings</a:t>
            </a:r>
            <a:endParaRPr lang="en-US" sz="4400" b="1" strike="noStrike" spc="-1">
              <a:solidFill>
                <a:srgbClr val="000000"/>
              </a:solidFill>
              <a:latin typeface="Calibri"/>
            </a:endParaRPr>
          </a:p>
        </p:txBody>
      </p:sp>
      <p:sp>
        <p:nvSpPr>
          <p:cNvPr id="119" name="TextShape 2"/>
          <p:cNvSpPr txBox="1"/>
          <p:nvPr/>
        </p:nvSpPr>
        <p:spPr>
          <a:xfrm>
            <a:off x="685800" y="1119240"/>
            <a:ext cx="5907240" cy="5236920"/>
          </a:xfrm>
          <a:prstGeom prst="rect">
            <a:avLst/>
          </a:prstGeom>
          <a:noFill/>
          <a:ln>
            <a:noFill/>
          </a:ln>
        </p:spPr>
        <p:txBody>
          <a:bodyPr>
            <a:noAutofit/>
          </a:bodyPr>
          <a:lstStyle/>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We want to find vectors representing words</a:t>
            </a:r>
          </a:p>
          <a:p>
            <a:pPr marL="685800" lvl="1" indent="-228240">
              <a:lnSpc>
                <a:spcPct val="90000"/>
              </a:lnSpc>
              <a:spcBef>
                <a:spcPts val="499"/>
              </a:spcBef>
              <a:buClr>
                <a:srgbClr val="548235"/>
              </a:buClr>
              <a:buFont typeface="Arial"/>
              <a:buChar char="•"/>
            </a:pPr>
            <a:r>
              <a:rPr lang="en-US" sz="2400" b="0" strike="noStrike" spc="-1">
                <a:solidFill>
                  <a:srgbClr val="548235"/>
                </a:solidFill>
                <a:latin typeface="Calibri"/>
              </a:rPr>
              <a:t>And, we want the vectors to capture the context</a:t>
            </a:r>
            <a:endParaRPr lang="en-US" sz="2400" b="0" strike="noStrike" spc="-1">
              <a:solidFill>
                <a:srgbClr val="C00000"/>
              </a:solidFill>
              <a:latin typeface="Calibri"/>
            </a:endParaRP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We can do this by using word embeddings</a:t>
            </a: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They are distributed representation words</a:t>
            </a:r>
          </a:p>
          <a:p>
            <a:pPr marL="228600" indent="-228240">
              <a:lnSpc>
                <a:spcPct val="90000"/>
              </a:lnSpc>
              <a:spcBef>
                <a:spcPts val="1001"/>
              </a:spcBef>
              <a:buClr>
                <a:srgbClr val="0070C0"/>
              </a:buClr>
              <a:buFont typeface="Arial"/>
              <a:buChar char="•"/>
            </a:pPr>
            <a:r>
              <a:rPr lang="en-US" sz="2800" b="0" strike="noStrike" spc="-1">
                <a:solidFill>
                  <a:srgbClr val="0070C0"/>
                </a:solidFill>
                <a:latin typeface="Calibri"/>
              </a:rPr>
              <a:t>One popular example is word2vec</a:t>
            </a:r>
          </a:p>
          <a:p>
            <a:pPr marL="457200">
              <a:lnSpc>
                <a:spcPct val="90000"/>
              </a:lnSpc>
              <a:spcBef>
                <a:spcPts val="499"/>
              </a:spcBef>
              <a:tabLst>
                <a:tab pos="0" algn="l"/>
              </a:tabLst>
            </a:pPr>
            <a:r>
              <a:rPr lang="en-US" sz="2400" b="0" strike="noStrike" spc="-1">
                <a:solidFill>
                  <a:srgbClr val="548235"/>
                </a:solidFill>
                <a:latin typeface="Calibri"/>
              </a:rPr>
              <a:t> </a:t>
            </a:r>
            <a:endParaRPr lang="en-US" sz="2400" b="0" strike="noStrike" spc="-1">
              <a:solidFill>
                <a:srgbClr val="0070C0"/>
              </a:solidFill>
              <a:latin typeface="Calibri"/>
            </a:endParaRPr>
          </a:p>
        </p:txBody>
      </p:sp>
      <p:pic>
        <p:nvPicPr>
          <p:cNvPr id="120" name="Picture 3"/>
          <p:cNvPicPr/>
          <p:nvPr/>
        </p:nvPicPr>
        <p:blipFill>
          <a:blip r:embed="rId2"/>
          <a:stretch/>
        </p:blipFill>
        <p:spPr>
          <a:xfrm>
            <a:off x="7295040" y="1741680"/>
            <a:ext cx="4371480" cy="308592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1278720" y="15552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pc="-1" dirty="0">
                <a:solidFill>
                  <a:srgbClr val="002060"/>
                </a:solidFill>
                <a:latin typeface="Calibri Light"/>
              </a:rPr>
              <a:t>Word2vec</a:t>
            </a:r>
            <a:endParaRPr lang="en-US" sz="4400" b="0" strike="noStrike" spc="-1" dirty="0">
              <a:solidFill>
                <a:srgbClr val="000000"/>
              </a:solidFill>
              <a:latin typeface="Calibri"/>
            </a:endParaRPr>
          </a:p>
        </p:txBody>
      </p:sp>
      <p:sp>
        <p:nvSpPr>
          <p:cNvPr id="133" name="TextShape 2"/>
          <p:cNvSpPr txBox="1"/>
          <p:nvPr/>
        </p:nvSpPr>
        <p:spPr>
          <a:xfrm>
            <a:off x="685800" y="1141652"/>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dirty="0">
                <a:solidFill>
                  <a:srgbClr val="0070C0"/>
                </a:solidFill>
                <a:latin typeface="Calibri"/>
              </a:rPr>
              <a:t>Word2Vec is a method to construct such an embedding</a:t>
            </a:r>
          </a:p>
          <a:p>
            <a:pPr marL="228600" indent="-227965">
              <a:lnSpc>
                <a:spcPct val="90000"/>
              </a:lnSpc>
              <a:spcBef>
                <a:spcPts val="1001"/>
              </a:spcBef>
              <a:buClr>
                <a:srgbClr val="0070C0"/>
              </a:buClr>
              <a:buFont typeface="Arial"/>
              <a:buChar char="•"/>
            </a:pPr>
            <a:r>
              <a:rPr lang="en-US" sz="2800" b="0" strike="noStrike" spc="-1" dirty="0">
                <a:solidFill>
                  <a:srgbClr val="0070C0"/>
                </a:solidFill>
                <a:latin typeface="Calibri"/>
              </a:rPr>
              <a:t>Word2Vec uses a </a:t>
            </a:r>
            <a:r>
              <a:rPr lang="en-US" sz="2800" spc="-1" dirty="0">
                <a:solidFill>
                  <a:srgbClr val="0070C0"/>
                </a:solidFill>
                <a:latin typeface="Calibri"/>
              </a:rPr>
              <a:t>special kind of neural network</a:t>
            </a:r>
            <a:r>
              <a:rPr lang="en-US" sz="2800" b="0" strike="noStrike" spc="-1" dirty="0">
                <a:solidFill>
                  <a:srgbClr val="0070C0"/>
                </a:solidFill>
                <a:latin typeface="Calibri"/>
              </a:rPr>
              <a:t>: </a:t>
            </a:r>
            <a:r>
              <a:rPr lang="en-US" sz="2800" b="0" strike="noStrike" spc="-1" dirty="0">
                <a:solidFill>
                  <a:srgbClr val="C00000"/>
                </a:solidFill>
                <a:latin typeface="Calibri"/>
              </a:rPr>
              <a:t>auto-encoder</a:t>
            </a:r>
            <a:r>
              <a:rPr lang="en-US" sz="2800" b="0" strike="noStrike" spc="-1" dirty="0">
                <a:solidFill>
                  <a:srgbClr val="0070C0"/>
                </a:solidFill>
                <a:latin typeface="Calibri"/>
              </a:rPr>
              <a:t> </a:t>
            </a:r>
            <a:endParaRPr lang="en-US" sz="2800" spc="-1">
              <a:solidFill>
                <a:schemeClr val="accent6">
                  <a:lumMod val="76000"/>
                </a:schemeClr>
              </a:solidFill>
              <a:latin typeface="Calibri"/>
            </a:endParaRPr>
          </a:p>
          <a:p>
            <a:pPr marL="685800" lvl="1" indent="-227965">
              <a:lnSpc>
                <a:spcPct val="90000"/>
              </a:lnSpc>
              <a:spcBef>
                <a:spcPts val="1001"/>
              </a:spcBef>
              <a:buClr>
                <a:srgbClr val="0070C0"/>
              </a:buClr>
              <a:buFont typeface="Arial"/>
              <a:buChar char="•"/>
            </a:pPr>
            <a:r>
              <a:rPr lang="en-US" sz="2800" spc="-1" dirty="0">
                <a:solidFill>
                  <a:schemeClr val="accent6">
                    <a:lumMod val="76000"/>
                  </a:schemeClr>
                </a:solidFill>
                <a:latin typeface="Calibri"/>
              </a:rPr>
              <a:t>A </a:t>
            </a:r>
            <a:r>
              <a:rPr lang="en-US" sz="2800" b="0" strike="noStrike" spc="-1" dirty="0">
                <a:solidFill>
                  <a:schemeClr val="accent6">
                    <a:lumMod val="76000"/>
                  </a:schemeClr>
                </a:solidFill>
                <a:latin typeface="Calibri"/>
              </a:rPr>
              <a:t>simple neural network with a single hidden layer </a:t>
            </a:r>
            <a:r>
              <a:rPr lang="en-US" sz="2800" spc="-1" dirty="0">
                <a:solidFill>
                  <a:schemeClr val="accent6">
                    <a:lumMod val="76000"/>
                  </a:schemeClr>
                </a:solidFill>
                <a:latin typeface="Calibri"/>
              </a:rPr>
              <a:t>will be trained </a:t>
            </a:r>
            <a:r>
              <a:rPr lang="en-US" sz="2800" b="0" strike="noStrike" spc="-1" dirty="0">
                <a:solidFill>
                  <a:schemeClr val="accent6">
                    <a:lumMod val="76000"/>
                  </a:schemeClr>
                </a:solidFill>
                <a:latin typeface="Calibri"/>
              </a:rPr>
              <a:t>to perform a </a:t>
            </a:r>
            <a:r>
              <a:rPr lang="en-US" sz="2800" spc="-1" dirty="0">
                <a:solidFill>
                  <a:schemeClr val="accent6">
                    <a:lumMod val="76000"/>
                  </a:schemeClr>
                </a:solidFill>
                <a:latin typeface="Calibri"/>
              </a:rPr>
              <a:t>specific </a:t>
            </a:r>
            <a:r>
              <a:rPr lang="en-US" sz="2800" b="0" strike="noStrike" spc="-1" dirty="0">
                <a:solidFill>
                  <a:schemeClr val="accent6">
                    <a:lumMod val="76000"/>
                  </a:schemeClr>
                </a:solidFill>
                <a:latin typeface="Calibri"/>
              </a:rPr>
              <a:t>task</a:t>
            </a:r>
            <a:r>
              <a:rPr lang="en-US" sz="2800" spc="-1" dirty="0">
                <a:solidFill>
                  <a:schemeClr val="accent6">
                    <a:lumMod val="76000"/>
                  </a:schemeClr>
                </a:solidFill>
                <a:latin typeface="Calibri"/>
              </a:rPr>
              <a:t>—but interestingly</a:t>
            </a:r>
            <a:r>
              <a:rPr lang="en-US" sz="2800" b="0" strike="noStrike" spc="-1" dirty="0">
                <a:solidFill>
                  <a:schemeClr val="accent6">
                    <a:lumMod val="76000"/>
                  </a:schemeClr>
                </a:solidFill>
                <a:latin typeface="Calibri"/>
              </a:rPr>
              <a:t>, </a:t>
            </a:r>
            <a:r>
              <a:rPr lang="en-US" sz="2800" spc="-1" dirty="0">
                <a:solidFill>
                  <a:schemeClr val="accent6">
                    <a:lumMod val="76000"/>
                  </a:schemeClr>
                </a:solidFill>
                <a:latin typeface="Calibri"/>
              </a:rPr>
              <a:t>it will </a:t>
            </a:r>
            <a:r>
              <a:rPr lang="en-US" sz="2800" b="0" strike="noStrike" spc="-1" dirty="0">
                <a:solidFill>
                  <a:schemeClr val="accent6">
                    <a:lumMod val="76000"/>
                  </a:schemeClr>
                </a:solidFill>
                <a:latin typeface="Calibri"/>
              </a:rPr>
              <a:t>not actually </a:t>
            </a:r>
            <a:r>
              <a:rPr lang="en-US" sz="2800" spc="-1" dirty="0">
                <a:solidFill>
                  <a:schemeClr val="accent6">
                    <a:lumMod val="76000"/>
                  </a:schemeClr>
                </a:solidFill>
                <a:latin typeface="Calibri"/>
              </a:rPr>
              <a:t>be used </a:t>
            </a:r>
            <a:r>
              <a:rPr lang="en-US" sz="2800" b="0" strike="noStrike" spc="-1" dirty="0">
                <a:solidFill>
                  <a:schemeClr val="accent6">
                    <a:lumMod val="76000"/>
                  </a:schemeClr>
                </a:solidFill>
                <a:latin typeface="Calibri"/>
              </a:rPr>
              <a:t>for the task it </a:t>
            </a:r>
            <a:r>
              <a:rPr lang="en-US" sz="2800" spc="-1" dirty="0">
                <a:solidFill>
                  <a:schemeClr val="accent6">
                    <a:lumMod val="76000"/>
                  </a:schemeClr>
                </a:solidFill>
                <a:latin typeface="Calibri"/>
              </a:rPr>
              <a:t>was trained </a:t>
            </a:r>
            <a:r>
              <a:rPr lang="en-US" sz="2800" b="0" strike="noStrike" spc="-1" dirty="0">
                <a:solidFill>
                  <a:schemeClr val="accent6">
                    <a:lumMod val="76000"/>
                  </a:schemeClr>
                </a:solidFill>
                <a:latin typeface="Calibri"/>
              </a:rPr>
              <a:t>on</a:t>
            </a:r>
            <a:r>
              <a:rPr lang="en-US" sz="2800" spc="-1" dirty="0">
                <a:solidFill>
                  <a:schemeClr val="accent6">
                    <a:lumMod val="76000"/>
                  </a:schemeClr>
                </a:solidFill>
                <a:latin typeface="Calibri"/>
              </a:rPr>
              <a:t>.</a:t>
            </a:r>
          </a:p>
          <a:p>
            <a:pPr marL="1143000" lvl="2" indent="-227965">
              <a:lnSpc>
                <a:spcPct val="90000"/>
              </a:lnSpc>
              <a:spcBef>
                <a:spcPts val="1001"/>
              </a:spcBef>
              <a:buClr>
                <a:srgbClr val="0070C0"/>
              </a:buClr>
              <a:buFont typeface="Arial"/>
              <a:buChar char="•"/>
            </a:pPr>
            <a:r>
              <a:rPr lang="en-US" sz="2800" b="0" strike="noStrike" spc="-1" dirty="0">
                <a:solidFill>
                  <a:srgbClr val="F27735"/>
                </a:solidFill>
                <a:latin typeface="Calibri"/>
              </a:rPr>
              <a:t>Instead, the </a:t>
            </a:r>
            <a:r>
              <a:rPr lang="en-US" sz="2800" spc="-1" dirty="0">
                <a:solidFill>
                  <a:srgbClr val="F27735"/>
                </a:solidFill>
                <a:latin typeface="Calibri"/>
              </a:rPr>
              <a:t>objective </a:t>
            </a:r>
            <a:r>
              <a:rPr lang="en-US" sz="2800" b="0" strike="noStrike" spc="-1" dirty="0">
                <a:solidFill>
                  <a:srgbClr val="F27735"/>
                </a:solidFill>
                <a:latin typeface="Calibri"/>
              </a:rPr>
              <a:t>is to learn the weights of the hidden layer</a:t>
            </a:r>
            <a:r>
              <a:rPr lang="en-US" sz="2800" spc="-1" dirty="0">
                <a:solidFill>
                  <a:srgbClr val="F27735"/>
                </a:solidFill>
                <a:latin typeface="Calibri"/>
              </a:rPr>
              <a:t>, which will turn out to be </a:t>
            </a:r>
            <a:r>
              <a:rPr lang="en-US" sz="2800" b="0" strike="noStrike" spc="-1" dirty="0">
                <a:solidFill>
                  <a:srgbClr val="F27735"/>
                </a:solidFill>
                <a:latin typeface="Calibri"/>
              </a:rPr>
              <a:t>the </a:t>
            </a:r>
            <a:r>
              <a:rPr lang="en-US" sz="2800" spc="-1" dirty="0">
                <a:solidFill>
                  <a:srgbClr val="F27735"/>
                </a:solidFill>
                <a:latin typeface="Calibri"/>
              </a:rPr>
              <a:t>very </a:t>
            </a:r>
            <a:r>
              <a:rPr lang="en-US" sz="2800" b="0" strike="noStrike" spc="-1" dirty="0">
                <a:solidFill>
                  <a:srgbClr val="F27735"/>
                </a:solidFill>
                <a:latin typeface="Calibri"/>
              </a:rPr>
              <a:t>“word vectors” </a:t>
            </a:r>
            <a:r>
              <a:rPr lang="en-US" sz="2800" spc="-1" dirty="0">
                <a:solidFill>
                  <a:srgbClr val="F27735"/>
                </a:solidFill>
                <a:latin typeface="Calibri"/>
              </a:rPr>
              <a:t>we aim </a:t>
            </a:r>
            <a:r>
              <a:rPr lang="en-US" sz="2800" b="0" strike="noStrike" spc="-1" dirty="0">
                <a:solidFill>
                  <a:srgbClr val="F27735"/>
                </a:solidFill>
                <a:latin typeface="Calibri"/>
              </a:rPr>
              <a:t>to </a:t>
            </a:r>
            <a:r>
              <a:rPr lang="en-US" sz="2800" spc="-1" dirty="0">
                <a:solidFill>
                  <a:srgbClr val="F27735"/>
                </a:solidFill>
                <a:latin typeface="Calibri"/>
              </a:rPr>
              <a:t>obtain.</a:t>
            </a:r>
            <a:endParaRPr lang="en-US" dirty="0">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dirty="0">
                <a:solidFill>
                  <a:srgbClr val="0070C0"/>
                </a:solidFill>
                <a:latin typeface="Calibri"/>
              </a:rPr>
              <a:t>We’re going to train the neural network to do the following:</a:t>
            </a:r>
            <a:endParaRPr lang="en-US" dirty="0"/>
          </a:p>
          <a:p>
            <a:pPr marL="685800" lvl="1" indent="-227965">
              <a:lnSpc>
                <a:spcPct val="90000"/>
              </a:lnSpc>
              <a:spcBef>
                <a:spcPts val="1001"/>
              </a:spcBef>
              <a:buClr>
                <a:srgbClr val="0070C0"/>
              </a:buClr>
              <a:buFont typeface="Arial"/>
              <a:buChar char="•"/>
            </a:pPr>
            <a:r>
              <a:rPr lang="en-US" sz="2800" spc="-1" dirty="0">
                <a:solidFill>
                  <a:schemeClr val="accent6">
                    <a:lumMod val="76000"/>
                  </a:schemeClr>
                </a:solidFill>
              </a:rPr>
              <a:t>Given </a:t>
            </a:r>
            <a:r>
              <a:rPr lang="en-US" sz="2800" b="0" strike="noStrike" spc="-1" dirty="0">
                <a:solidFill>
                  <a:schemeClr val="accent6">
                    <a:lumMod val="76000"/>
                  </a:schemeClr>
                </a:solidFill>
              </a:rPr>
              <a:t>a </a:t>
            </a:r>
            <a:r>
              <a:rPr lang="en-US" sz="2800" spc="-1" dirty="0">
                <a:solidFill>
                  <a:schemeClr val="accent6">
                    <a:lumMod val="76000"/>
                  </a:schemeClr>
                </a:solidFill>
              </a:rPr>
              <a:t>target word (the </a:t>
            </a:r>
            <a:r>
              <a:rPr lang="en-US" sz="2800" b="0" strike="noStrike" spc="-1" dirty="0">
                <a:solidFill>
                  <a:schemeClr val="accent6">
                    <a:lumMod val="76000"/>
                  </a:schemeClr>
                </a:solidFill>
              </a:rPr>
              <a:t>word in the middle of a sentence), </a:t>
            </a:r>
            <a:r>
              <a:rPr lang="en-US" sz="2800" spc="-1" dirty="0">
                <a:solidFill>
                  <a:schemeClr val="accent6">
                    <a:lumMod val="76000"/>
                  </a:schemeClr>
                </a:solidFill>
              </a:rPr>
              <a:t>sample one of its surrounding </a:t>
            </a:r>
            <a:r>
              <a:rPr lang="en-US" sz="2800" b="0" strike="noStrike" spc="-1" dirty="0">
                <a:solidFill>
                  <a:schemeClr val="accent6">
                    <a:lumMod val="76000"/>
                  </a:schemeClr>
                </a:solidFill>
              </a:rPr>
              <a:t>words at random</a:t>
            </a:r>
            <a:r>
              <a:rPr lang="en-US" sz="2800" spc="-1" dirty="0">
                <a:solidFill>
                  <a:schemeClr val="accent6">
                    <a:lumMod val="76000"/>
                  </a:schemeClr>
                </a:solidFill>
              </a:rPr>
              <a:t> (context).</a:t>
            </a:r>
            <a:r>
              <a:rPr lang="en-US" sz="2800" spc="-1" dirty="0">
                <a:solidFill>
                  <a:schemeClr val="accent6">
                    <a:lumMod val="76000"/>
                  </a:schemeClr>
                </a:solidFill>
                <a:latin typeface="Calibri"/>
              </a:rPr>
              <a:t> </a:t>
            </a:r>
            <a:endParaRPr lang="en-US" sz="2800" b="0" strike="noStrike" spc="-1" dirty="0">
              <a:solidFill>
                <a:schemeClr val="accent6">
                  <a:lumMod val="76000"/>
                </a:schemeClr>
              </a:solidFill>
              <a:latin typeface="Calibri"/>
            </a:endParaRPr>
          </a:p>
          <a:p>
            <a:pPr marL="1143000" lvl="2" indent="-227965">
              <a:lnSpc>
                <a:spcPct val="90000"/>
              </a:lnSpc>
              <a:spcBef>
                <a:spcPts val="1001"/>
              </a:spcBef>
              <a:buClr>
                <a:srgbClr val="0070C0"/>
              </a:buClr>
              <a:buFont typeface="Arial"/>
              <a:buChar char="•"/>
            </a:pPr>
            <a:r>
              <a:rPr lang="en-US" sz="2800" spc="-1" dirty="0">
                <a:solidFill>
                  <a:schemeClr val="accent2"/>
                </a:solidFill>
              </a:rPr>
              <a:t>The network outputs a probability for every vocabulary word being that sampled “context” word.</a:t>
            </a:r>
            <a:r>
              <a:rPr lang="en-US" sz="2800" spc="-1" dirty="0">
                <a:solidFill>
                  <a:schemeClr val="accent2"/>
                </a:solidFill>
                <a:latin typeface="Calibri"/>
              </a:rPr>
              <a:t>  </a:t>
            </a:r>
          </a:p>
          <a:p>
            <a:pPr marL="1143000" lvl="2" indent="-227965">
              <a:lnSpc>
                <a:spcPct val="90000"/>
              </a:lnSpc>
              <a:spcBef>
                <a:spcPts val="1001"/>
              </a:spcBef>
              <a:buClr>
                <a:srgbClr val="0070C0"/>
              </a:buClr>
              <a:buFont typeface="Arial"/>
              <a:buChar char="•"/>
            </a:pPr>
            <a:r>
              <a:rPr lang="en-US" sz="2800" spc="-1" dirty="0">
                <a:solidFill>
                  <a:schemeClr val="accent2"/>
                </a:solidFill>
              </a:rPr>
              <a:t>These probabilities reflect how likely each vocabulary word is to appear near the target word.</a:t>
            </a:r>
            <a:r>
              <a:rPr lang="en-US" sz="2800" spc="-1" dirty="0">
                <a:solidFill>
                  <a:schemeClr val="accent2"/>
                </a:solidFill>
                <a:latin typeface="Calibri"/>
              </a:rPr>
              <a:t> </a:t>
            </a:r>
          </a:p>
          <a:p>
            <a:pPr marL="685800" lvl="1" indent="-227965">
              <a:lnSpc>
                <a:spcPct val="90000"/>
              </a:lnSpc>
              <a:spcBef>
                <a:spcPts val="1001"/>
              </a:spcBef>
              <a:buClr>
                <a:srgbClr val="0070C0"/>
              </a:buClr>
              <a:buFont typeface="Arial"/>
              <a:buChar char="•"/>
            </a:pPr>
            <a:r>
              <a:rPr lang="en-US" sz="2800" b="0" strike="noStrike" spc="-1" dirty="0">
                <a:solidFill>
                  <a:schemeClr val="accent6">
                    <a:lumMod val="76000"/>
                  </a:schemeClr>
                </a:solidFill>
                <a:latin typeface="Calibri"/>
              </a:rPr>
              <a:t>For example, if we gave the trained network the input word “Soviet”, the output probabilities are going to be much higher for words like “Union” and “Russia” than for unrelated words like “watermelon” and “kangaroo”</a:t>
            </a:r>
          </a:p>
        </p:txBody>
      </p:sp>
      <p:sp>
        <p:nvSpPr>
          <p:cNvPr id="4" name="TextShape 1"/>
          <p:cNvSpPr txBox="1"/>
          <p:nvPr/>
        </p:nvSpPr>
        <p:spPr>
          <a:xfrm>
            <a:off x="1315296" y="265248"/>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What do we expect from Word2Vec</a:t>
            </a:r>
            <a:endParaRPr lang="en-US" sz="4400" b="0" strike="noStrike" spc="-1">
              <a:solidFill>
                <a:srgbClr val="0000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Shape 1"/>
          <p:cNvSpPr txBox="1"/>
          <p:nvPr/>
        </p:nvSpPr>
        <p:spPr>
          <a:xfrm>
            <a:off x="1278720" y="155520"/>
            <a:ext cx="10515240" cy="525240"/>
          </a:xfrm>
          <a:prstGeom prst="rect">
            <a:avLst/>
          </a:prstGeom>
          <a:noFill/>
          <a:ln>
            <a:noFill/>
          </a:ln>
        </p:spPr>
        <p:txBody>
          <a:bodyPr anchor="ctr">
            <a:normAutofit fontScale="99500"/>
          </a:bodyPr>
          <a:lstStyle/>
          <a:p>
            <a:endParaRPr lang="en-US" sz="1800" b="0" strike="noStrike" spc="-1">
              <a:solidFill>
                <a:srgbClr val="000000"/>
              </a:solidFill>
              <a:latin typeface="Calibri"/>
            </a:endParaRPr>
          </a:p>
        </p:txBody>
      </p:sp>
      <p:pic>
        <p:nvPicPr>
          <p:cNvPr id="137" name="Picture 3"/>
          <p:cNvPicPr/>
          <p:nvPr/>
        </p:nvPicPr>
        <p:blipFill>
          <a:blip r:embed="rId2"/>
          <a:stretch/>
        </p:blipFill>
        <p:spPr>
          <a:xfrm>
            <a:off x="2169360" y="1198800"/>
            <a:ext cx="7981560" cy="5086080"/>
          </a:xfrm>
          <a:prstGeom prst="rect">
            <a:avLst/>
          </a:prstGeom>
          <a:ln>
            <a:noFill/>
          </a:ln>
        </p:spPr>
      </p:pic>
      <p:sp>
        <p:nvSpPr>
          <p:cNvPr id="4" name="TextShape 1"/>
          <p:cNvSpPr txBox="1"/>
          <p:nvPr/>
        </p:nvSpPr>
        <p:spPr>
          <a:xfrm>
            <a:off x="1431120" y="3079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Training word2vec</a:t>
            </a:r>
            <a:endParaRPr lang="en-US" sz="4400" b="0" strike="noStrike" spc="-1">
              <a:solidFill>
                <a:srgbClr val="000000"/>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extShape 1"/>
          <p:cNvSpPr txBox="1"/>
          <p:nvPr/>
        </p:nvSpPr>
        <p:spPr>
          <a:xfrm>
            <a:off x="1278720" y="155520"/>
            <a:ext cx="10515240" cy="525240"/>
          </a:xfrm>
          <a:prstGeom prst="rect">
            <a:avLst/>
          </a:prstGeom>
          <a:noFill/>
          <a:ln>
            <a:noFill/>
          </a:ln>
        </p:spPr>
        <p:txBody>
          <a:bodyPr anchor="ctr">
            <a:normAutofit fontScale="99500"/>
          </a:bodyPr>
          <a:lstStyle/>
          <a:p>
            <a:endParaRPr lang="en-US" sz="1800" b="0" strike="noStrike" spc="-1">
              <a:solidFill>
                <a:srgbClr val="000000"/>
              </a:solidFill>
              <a:latin typeface="Calibri"/>
            </a:endParaRPr>
          </a:p>
        </p:txBody>
      </p:sp>
      <p:sp>
        <p:nvSpPr>
          <p:cNvPr id="139"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spc="-1" dirty="0">
                <a:solidFill>
                  <a:srgbClr val="0070C0"/>
                </a:solidFill>
              </a:rPr>
              <a:t>The network is trained on (target, context) word pairs extracted from the training corpus.</a:t>
            </a:r>
            <a:endParaRPr lang="en-US"/>
          </a:p>
          <a:p>
            <a:pPr marL="228600" indent="-227965">
              <a:lnSpc>
                <a:spcPct val="90000"/>
              </a:lnSpc>
              <a:spcBef>
                <a:spcPts val="1001"/>
              </a:spcBef>
              <a:buClr>
                <a:srgbClr val="0070C0"/>
              </a:buClr>
              <a:buFont typeface="Arial"/>
              <a:buChar char="•"/>
            </a:pPr>
            <a:r>
              <a:rPr lang="en-US" sz="2800" spc="-1" dirty="0">
                <a:solidFill>
                  <a:srgbClr val="0070C0"/>
                </a:solidFill>
              </a:rPr>
              <a:t>For each sentence, we slide a window around each target word and pair it with nearby words. (A window size of 5 here means up to two words on either side, as available.)</a:t>
            </a:r>
          </a:p>
          <a:p>
            <a:pPr marL="228600" indent="-227965">
              <a:lnSpc>
                <a:spcPct val="90000"/>
              </a:lnSpc>
              <a:spcBef>
                <a:spcPts val="1001"/>
              </a:spcBef>
              <a:buClr>
                <a:srgbClr val="0070C0"/>
              </a:buClr>
              <a:buFont typeface="Arial"/>
              <a:buChar char="•"/>
            </a:pPr>
            <a:r>
              <a:rPr lang="en-US" sz="2800" spc="-1" dirty="0">
                <a:solidFill>
                  <a:srgbClr val="0070C0"/>
                </a:solidFill>
              </a:rPr>
              <a:t>The previous slide illustrates pairs taken from “The quick brown fox jumps over the lazy dog.”</a:t>
            </a:r>
            <a:endParaRPr lang="en-US" dirty="0"/>
          </a:p>
          <a:p>
            <a:pPr marL="228600" indent="-227965">
              <a:lnSpc>
                <a:spcPct val="90000"/>
              </a:lnSpc>
              <a:spcBef>
                <a:spcPts val="1001"/>
              </a:spcBef>
              <a:buClr>
                <a:srgbClr val="0070C0"/>
              </a:buClr>
              <a:buFont typeface="Arial"/>
              <a:buChar char="•"/>
            </a:pPr>
            <a:r>
              <a:rPr lang="en-US" sz="2800" spc="-1" dirty="0">
                <a:solidFill>
                  <a:srgbClr val="0070C0"/>
                </a:solidFill>
              </a:rPr>
              <a:t>In the figure, the blue word is the input/target word; the words within the window are its context.</a:t>
            </a:r>
            <a:endParaRPr lang="en-US">
              <a:latin typeface="Calibri"/>
            </a:endParaRPr>
          </a:p>
        </p:txBody>
      </p:sp>
      <p:sp>
        <p:nvSpPr>
          <p:cNvPr id="4" name="TextShape 1"/>
          <p:cNvSpPr txBox="1"/>
          <p:nvPr/>
        </p:nvSpPr>
        <p:spPr>
          <a:xfrm>
            <a:off x="1431120" y="3079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Training word2vec</a:t>
            </a:r>
            <a:endParaRPr lang="en-US" sz="4400" b="0" strike="noStrike" spc="-1">
              <a:solidFill>
                <a:srgbClr val="0000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TextShape 1"/>
          <p:cNvSpPr txBox="1"/>
          <p:nvPr/>
        </p:nvSpPr>
        <p:spPr>
          <a:xfrm>
            <a:off x="1278720" y="155520"/>
            <a:ext cx="10515240" cy="525240"/>
          </a:xfrm>
          <a:prstGeom prst="rect">
            <a:avLst/>
          </a:prstGeom>
          <a:noFill/>
          <a:ln>
            <a:noFill/>
          </a:ln>
        </p:spPr>
        <p:txBody>
          <a:bodyPr anchor="ctr">
            <a:normAutofit fontScale="99500"/>
          </a:bodyPr>
          <a:lstStyle/>
          <a:p>
            <a:endParaRPr lang="en-US" sz="1800" b="0" strike="noStrike" spc="-1">
              <a:solidFill>
                <a:srgbClr val="000000"/>
              </a:solidFill>
              <a:latin typeface="Calibri"/>
            </a:endParaRPr>
          </a:p>
        </p:txBody>
      </p:sp>
      <p:sp>
        <p:nvSpPr>
          <p:cNvPr id="141"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spc="-1" dirty="0">
                <a:solidFill>
                  <a:srgbClr val="0070C0"/>
                </a:solidFill>
              </a:rPr>
              <a:t>The network learns from how often word pairs co-occur in the corpus.</a:t>
            </a:r>
          </a:p>
          <a:p>
            <a:pPr marL="228600" indent="-227965">
              <a:lnSpc>
                <a:spcPct val="90000"/>
              </a:lnSpc>
              <a:spcBef>
                <a:spcPts val="1001"/>
              </a:spcBef>
              <a:buClr>
                <a:srgbClr val="0070C0"/>
              </a:buClr>
              <a:buFont typeface="Arial"/>
              <a:buChar char="•"/>
            </a:pPr>
            <a:r>
              <a:rPr lang="en-US" sz="2800" spc="-1" dirty="0">
                <a:solidFill>
                  <a:srgbClr val="0070C0"/>
                </a:solidFill>
              </a:rPr>
              <a:t>Common pairs generate many training examples; rare pairs generate few.</a:t>
            </a:r>
            <a:endParaRPr lang="en-US" dirty="0"/>
          </a:p>
          <a:p>
            <a:pPr marL="228600" indent="-227965">
              <a:lnSpc>
                <a:spcPct val="90000"/>
              </a:lnSpc>
              <a:spcBef>
                <a:spcPts val="1001"/>
              </a:spcBef>
              <a:buClr>
                <a:srgbClr val="0070C0"/>
              </a:buClr>
              <a:buFont typeface="Arial"/>
              <a:buChar char="•"/>
            </a:pPr>
            <a:r>
              <a:rPr lang="en-US" sz="2800" spc="-1" dirty="0">
                <a:solidFill>
                  <a:srgbClr val="0070C0"/>
                </a:solidFill>
              </a:rPr>
              <a:t>For instance, (“Soviet”, “Union”) will appear far more often than (“Soviet”, “Sasquatch”).</a:t>
            </a:r>
            <a:endParaRPr lang="en-US" dirty="0"/>
          </a:p>
          <a:p>
            <a:pPr marL="228600" indent="-227965">
              <a:lnSpc>
                <a:spcPct val="90000"/>
              </a:lnSpc>
              <a:spcBef>
                <a:spcPts val="1001"/>
              </a:spcBef>
              <a:buClr>
                <a:srgbClr val="0070C0"/>
              </a:buClr>
              <a:buFont typeface="Arial"/>
              <a:buChar char="•"/>
            </a:pPr>
            <a:r>
              <a:rPr lang="en-US" sz="2800" spc="-1" dirty="0">
                <a:solidFill>
                  <a:srgbClr val="0070C0"/>
                </a:solidFill>
              </a:rPr>
              <a:t>After training, given the input “Soviet,” the model assigns much higher probability to “Union” or “Russia” than to “Sasquatch,” reflecting these observed co-occurrence patterns.</a:t>
            </a:r>
            <a:endParaRPr lang="en-US" dirty="0"/>
          </a:p>
        </p:txBody>
      </p:sp>
      <p:sp>
        <p:nvSpPr>
          <p:cNvPr id="4" name="TextShape 1"/>
          <p:cNvSpPr txBox="1"/>
          <p:nvPr/>
        </p:nvSpPr>
        <p:spPr>
          <a:xfrm>
            <a:off x="1431120" y="298776"/>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Training word2vec</a:t>
            </a:r>
            <a:endParaRPr lang="en-US" sz="4400" b="0" strike="noStrike" spc="-1">
              <a:solidFill>
                <a:srgbClr val="000000"/>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019E-113D-64B7-CFA6-8EEA3BD2410F}"/>
              </a:ext>
            </a:extLst>
          </p:cNvPr>
          <p:cNvSpPr>
            <a:spLocks noGrp="1"/>
          </p:cNvSpPr>
          <p:nvPr>
            <p:ph type="title"/>
          </p:nvPr>
        </p:nvSpPr>
        <p:spPr/>
        <p:txBody>
          <a:bodyPr>
            <a:normAutofit fontScale="90000"/>
          </a:bodyPr>
          <a:lstStyle/>
          <a:p>
            <a:r>
              <a:rPr lang="en-US" dirty="0"/>
              <a:t>Autoencoder Model</a:t>
            </a:r>
          </a:p>
        </p:txBody>
      </p:sp>
      <p:sp>
        <p:nvSpPr>
          <p:cNvPr id="3" name="Text Placeholder 2">
            <a:extLst>
              <a:ext uri="{FF2B5EF4-FFF2-40B4-BE49-F238E27FC236}">
                <a16:creationId xmlns:a16="http://schemas.microsoft.com/office/drawing/2014/main" id="{FFDB452F-4904-DA03-0F7A-0659C39EAA29}"/>
              </a:ext>
            </a:extLst>
          </p:cNvPr>
          <p:cNvSpPr>
            <a:spLocks noGrp="1"/>
          </p:cNvSpPr>
          <p:nvPr>
            <p:ph type="body" idx="1"/>
          </p:nvPr>
        </p:nvSpPr>
        <p:spPr/>
        <p:txBody>
          <a:bodyPr/>
          <a:lstStyle/>
          <a:p>
            <a:r>
              <a:rPr lang="en-US" dirty="0"/>
              <a:t>Neural networks can’t read raw text, so words must be converted to numeric vectors.</a:t>
            </a:r>
          </a:p>
          <a:p>
            <a:r>
              <a:rPr lang="en-US" dirty="0"/>
              <a:t>Build a vocabulary from the corpus—say 10,000 unique words.</a:t>
            </a:r>
          </a:p>
          <a:p>
            <a:r>
              <a:rPr lang="en-US" dirty="0"/>
              <a:t>Represent each input word (e.g., “Soviet”) as a one-hot vector of length </a:t>
            </a:r>
            <a:r>
              <a:rPr lang="en-US"/>
              <a:t>10,000: all zeros except a single 1 at the index for “Soviet.”</a:t>
            </a:r>
          </a:p>
          <a:p>
            <a:r>
              <a:rPr lang="en-US" dirty="0"/>
              <a:t>The network outputs a single 10,000-dimensional vector of probabilities—one entry per vocabulary word—indicating how likely each word is to be a randomly chosen context word near the input.</a:t>
            </a:r>
          </a:p>
          <a:p>
            <a:r>
              <a:rPr lang="en-US" dirty="0"/>
              <a:t>The next slide illustrates this network architecture.</a:t>
            </a:r>
          </a:p>
        </p:txBody>
      </p:sp>
    </p:spTree>
    <p:extLst>
      <p:ext uri="{BB962C8B-B14F-4D97-AF65-F5344CB8AC3E}">
        <p14:creationId xmlns:p14="http://schemas.microsoft.com/office/powerpoint/2010/main" val="3056957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Shape 1"/>
          <p:cNvSpPr txBox="1"/>
          <p:nvPr/>
        </p:nvSpPr>
        <p:spPr>
          <a:xfrm>
            <a:off x="1278720" y="155520"/>
            <a:ext cx="10515240" cy="525240"/>
          </a:xfrm>
          <a:prstGeom prst="rect">
            <a:avLst/>
          </a:prstGeom>
          <a:noFill/>
          <a:ln>
            <a:noFill/>
          </a:ln>
        </p:spPr>
        <p:txBody>
          <a:bodyPr anchor="ctr">
            <a:normAutofit fontScale="99500"/>
          </a:bodyPr>
          <a:lstStyle/>
          <a:p>
            <a:endParaRPr lang="en-US" sz="1800" b="0" strike="noStrike" spc="-1">
              <a:solidFill>
                <a:srgbClr val="000000"/>
              </a:solidFill>
              <a:latin typeface="Calibri"/>
            </a:endParaRPr>
          </a:p>
        </p:txBody>
      </p:sp>
      <p:pic>
        <p:nvPicPr>
          <p:cNvPr id="145" name="Picture 3"/>
          <p:cNvPicPr/>
          <p:nvPr/>
        </p:nvPicPr>
        <p:blipFill>
          <a:blip r:embed="rId2"/>
          <a:stretch/>
        </p:blipFill>
        <p:spPr>
          <a:xfrm>
            <a:off x="2019240" y="709560"/>
            <a:ext cx="8152920" cy="5438520"/>
          </a:xfrm>
          <a:prstGeom prst="rect">
            <a:avLst/>
          </a:prstGeom>
          <a:ln>
            <a:noFill/>
          </a:ln>
        </p:spPr>
      </p:pic>
      <p:sp>
        <p:nvSpPr>
          <p:cNvPr id="4" name="TextShape 1"/>
          <p:cNvSpPr txBox="1"/>
          <p:nvPr/>
        </p:nvSpPr>
        <p:spPr>
          <a:xfrm>
            <a:off x="1431120" y="307920"/>
            <a:ext cx="10515240" cy="525240"/>
          </a:xfrm>
          <a:prstGeom prst="rect">
            <a:avLst/>
          </a:prstGeom>
          <a:noFill/>
          <a:ln>
            <a:noFill/>
          </a:ln>
        </p:spPr>
        <p:txBody>
          <a:bodyPr anchor="ctr">
            <a:normAutofit fontScale="84500" lnSpcReduction="20000"/>
          </a:bodyPr>
          <a:lstStyle/>
          <a:p>
            <a:pPr algn="ctr">
              <a:lnSpc>
                <a:spcPct val="90000"/>
              </a:lnSpc>
            </a:pPr>
            <a:r>
              <a:rPr lang="en-US" sz="4400" b="1" spc="-1" err="1">
                <a:solidFill>
                  <a:srgbClr val="002060"/>
                </a:solidFill>
                <a:latin typeface="Calibri Light"/>
              </a:rPr>
              <a:t>Autoencoder</a:t>
            </a:r>
            <a:r>
              <a:rPr lang="en-US" sz="4400" b="1" spc="-1">
                <a:solidFill>
                  <a:srgbClr val="002060"/>
                </a:solidFill>
                <a:latin typeface="Calibri Light"/>
              </a:rPr>
              <a:t> to learn word2vec </a:t>
            </a:r>
            <a:r>
              <a:rPr lang="en-US" sz="4400" b="1" spc="-1" err="1">
                <a:solidFill>
                  <a:srgbClr val="002060"/>
                </a:solidFill>
                <a:latin typeface="Calibri Light"/>
              </a:rPr>
              <a:t>embeddings</a:t>
            </a:r>
            <a:endParaRPr lang="en-US" sz="4400" b="0" strike="noStrike" spc="-1">
              <a:solidFill>
                <a:srgbClr val="000000"/>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Weight lookup table</a:t>
            </a:r>
            <a:endParaRPr lang="en-US" sz="4400" b="0" strike="noStrike" spc="-1">
              <a:solidFill>
                <a:srgbClr val="000000"/>
              </a:solidFill>
              <a:latin typeface="Calibri"/>
            </a:endParaRPr>
          </a:p>
        </p:txBody>
      </p:sp>
      <p:sp>
        <p:nvSpPr>
          <p:cNvPr id="150" name="TextShape 2"/>
          <p:cNvSpPr txBox="1"/>
          <p:nvPr/>
        </p:nvSpPr>
        <p:spPr>
          <a:xfrm>
            <a:off x="203948" y="681120"/>
            <a:ext cx="11802052" cy="6056040"/>
          </a:xfrm>
          <a:prstGeom prst="rect">
            <a:avLst/>
          </a:prstGeom>
          <a:noFill/>
          <a:ln>
            <a:noFill/>
          </a:ln>
        </p:spPr>
        <p:txBody>
          <a:bodyPr lIns="91440" tIns="45720" rIns="91440" bIns="45720" anchor="t">
            <a:normAutofit lnSpcReduction="10000"/>
          </a:bodyPr>
          <a:lstStyle/>
          <a:p>
            <a:pPr marL="457200" indent="-457200">
              <a:buChar char="•"/>
            </a:pPr>
            <a:r>
              <a:rPr lang="en-US" sz="2800" spc="-1" dirty="0">
                <a:solidFill>
                  <a:srgbClr val="0070C0"/>
                </a:solidFill>
                <a:ea typeface="Calibri"/>
              </a:rPr>
              <a:t>The true objective is to learn the hidden-layer weight matrix (the output layer will be discarded afterward).</a:t>
            </a:r>
            <a:endParaRPr lang="en-US" sz="2800" spc="-1" dirty="0">
              <a:solidFill>
                <a:srgbClr val="0070C0"/>
              </a:solidFill>
              <a:latin typeface="Calibri"/>
              <a:ea typeface="Calibri"/>
              <a:cs typeface="Calibri"/>
            </a:endParaRPr>
          </a:p>
          <a:p>
            <a:pPr marL="457200" indent="-457200">
              <a:buChar char="•"/>
            </a:pPr>
            <a:r>
              <a:rPr lang="en-US" sz="2800" spc="-1" dirty="0">
                <a:solidFill>
                  <a:srgbClr val="0070C0"/>
                </a:solidFill>
                <a:ea typeface="Calibri"/>
              </a:rPr>
              <a:t>Because an input is a one-hot vector (almost all zeros), multiplying a 1X10000 one-hot vector by a 10000X300 weight matrix simply selects the single row corresponding to the “1.”</a:t>
            </a:r>
            <a:endParaRPr lang="en-US">
              <a:ea typeface="Calibri"/>
            </a:endParaRPr>
          </a:p>
          <a:p>
            <a:pPr marL="457200" indent="-457200">
              <a:buChar char="•"/>
            </a:pPr>
            <a:r>
              <a:rPr lang="en-US" sz="2800" spc="-1" dirty="0">
                <a:solidFill>
                  <a:srgbClr val="0070C0"/>
                </a:solidFill>
                <a:ea typeface="Calibri"/>
              </a:rPr>
              <a:t>In other words, the hidden layer just looks up the 300-dimensional row for the input word—this row is the word’s embedding (its “word vector”).</a:t>
            </a:r>
            <a:endParaRPr lang="en-US" dirty="0">
              <a:ea typeface="Calibri"/>
            </a:endParaRPr>
          </a:p>
          <a:p>
            <a:pPr marL="457200" indent="-457200">
              <a:buChar char="•"/>
            </a:pPr>
            <a:endParaRPr lang="en-US" sz="2800" spc="-1" dirty="0">
              <a:solidFill>
                <a:srgbClr val="0070C0"/>
              </a:solidFill>
              <a:ea typeface="Calibri"/>
            </a:endParaRPr>
          </a:p>
          <a:p>
            <a:pPr marL="457200" indent="-457200">
              <a:buChar char="•"/>
            </a:pPr>
            <a:endParaRPr lang="en-US" sz="2800" spc="-1" dirty="0">
              <a:solidFill>
                <a:srgbClr val="0070C0"/>
              </a:solidFill>
              <a:ea typeface="Calibri"/>
            </a:endParaRPr>
          </a:p>
          <a:p>
            <a:pPr marL="457200" indent="-457200">
              <a:buChar char="•"/>
            </a:pPr>
            <a:endParaRPr lang="en-US" sz="2800" spc="-1" dirty="0">
              <a:solidFill>
                <a:srgbClr val="0070C0"/>
              </a:solidFill>
              <a:ea typeface="Calibri"/>
            </a:endParaRPr>
          </a:p>
          <a:p>
            <a:pPr marL="457200" indent="-457200">
              <a:buChar char="•"/>
            </a:pPr>
            <a:endParaRPr lang="en-US" sz="2800" spc="-1" dirty="0">
              <a:solidFill>
                <a:srgbClr val="0070C0"/>
              </a:solidFill>
              <a:ea typeface="Calibri"/>
            </a:endParaRPr>
          </a:p>
          <a:p>
            <a:pPr marL="457200" indent="-457200">
              <a:buChar char="•"/>
            </a:pPr>
            <a:r>
              <a:rPr lang="en-US" sz="2800" spc="-1" dirty="0">
                <a:solidFill>
                  <a:srgbClr val="0070C0"/>
                </a:solidFill>
                <a:ea typeface="Calibri"/>
              </a:rPr>
              <a:t>Therefore, the hidden layer functions as a lookup table for embeddings; training adjusts this table so that semantically related words get similar vectors.</a:t>
            </a:r>
            <a:endParaRPr lang="en-US"/>
          </a:p>
          <a:p>
            <a:pPr marL="457835" indent="-457200">
              <a:lnSpc>
                <a:spcPct val="90000"/>
              </a:lnSpc>
              <a:spcBef>
                <a:spcPts val="1001"/>
              </a:spcBef>
              <a:buClr>
                <a:srgbClr val="0070C0"/>
              </a:buClr>
              <a:buChar char="•"/>
            </a:pPr>
            <a:endParaRPr lang="en-US" sz="2800" b="0" strike="noStrike" spc="-1" dirty="0">
              <a:solidFill>
                <a:srgbClr val="0070C0"/>
              </a:solidFill>
              <a:ea typeface="Calibri"/>
            </a:endParaRPr>
          </a:p>
        </p:txBody>
      </p:sp>
      <p:pic>
        <p:nvPicPr>
          <p:cNvPr id="151" name="Picture 3"/>
          <p:cNvPicPr/>
          <p:nvPr/>
        </p:nvPicPr>
        <p:blipFill>
          <a:blip r:embed="rId2"/>
          <a:stretch/>
        </p:blipFill>
        <p:spPr>
          <a:xfrm>
            <a:off x="2462959" y="3605317"/>
            <a:ext cx="6420156" cy="1612287"/>
          </a:xfrm>
          <a:prstGeom prst="rect">
            <a:avLst/>
          </a:prstGeom>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The Output Layer</a:t>
            </a:r>
            <a:endParaRPr lang="en-US" sz="4400" b="0" strike="noStrike" spc="-1">
              <a:solidFill>
                <a:srgbClr val="000000"/>
              </a:solidFill>
              <a:latin typeface="Calibri"/>
            </a:endParaRPr>
          </a:p>
        </p:txBody>
      </p:sp>
      <p:sp>
        <p:nvSpPr>
          <p:cNvPr id="153"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 1 x 300 word vector for the words then are fed to the output layer</a:t>
            </a:r>
            <a:r>
              <a:rPr lang="en-US" sz="2800" spc="-1">
                <a:solidFill>
                  <a:srgbClr val="0070C0"/>
                </a:solidFill>
                <a:latin typeface="Calibri"/>
              </a:rPr>
              <a:t> </a:t>
            </a:r>
            <a:endParaRPr lang="en-US"/>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 output layer is a </a:t>
            </a:r>
            <a:r>
              <a:rPr lang="en-US" sz="2800" b="0" strike="noStrike" spc="-1" err="1">
                <a:solidFill>
                  <a:srgbClr val="0070C0"/>
                </a:solidFill>
                <a:latin typeface="Calibri"/>
              </a:rPr>
              <a:t>softmax</a:t>
            </a:r>
            <a:r>
              <a:rPr lang="en-US" sz="2800" b="0" strike="noStrike" spc="-1">
                <a:solidFill>
                  <a:srgbClr val="0070C0"/>
                </a:solidFill>
                <a:latin typeface="Calibri"/>
              </a:rPr>
              <a:t> regression classifier</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Each output neuron (one per word in our vocabulary!) will produce an output between 0 and 1, and the sum of all these output values will add up to 1.</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Specifically, each output neuron has a weight vector which it multiplies against the word vector from the hidden layer, then it applies the function exp(x) to the result</a:t>
            </a:r>
            <a:r>
              <a:rPr lang="en-US" sz="2800" spc="-1">
                <a:solidFill>
                  <a:srgbClr val="0070C0"/>
                </a:solidFill>
                <a:latin typeface="Calibri"/>
              </a:rPr>
              <a:t> </a:t>
            </a:r>
            <a:endParaRPr lang="en-US" sz="2800" b="0" strike="noStrike" spc="-1">
              <a:solidFill>
                <a:srgbClr val="0070C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Finally, to get the outputs to sum up to 1, we divide this result by the sum of the results from all 10,000 output nodes.</a:t>
            </a:r>
          </a:p>
          <a:p>
            <a:pPr>
              <a:lnSpc>
                <a:spcPct val="90000"/>
              </a:lnSpc>
              <a:spcBef>
                <a:spcPts val="1001"/>
              </a:spcBef>
            </a:pPr>
            <a:endParaRPr lang="en-US" sz="2800" b="0" strike="noStrike" spc="-1">
              <a:solidFill>
                <a:srgbClr val="0070C0"/>
              </a:solidFill>
              <a:latin typeface="Calibri"/>
            </a:endParaRPr>
          </a:p>
          <a:p>
            <a:pPr>
              <a:lnSpc>
                <a:spcPct val="90000"/>
              </a:lnSpc>
              <a:spcBef>
                <a:spcPts val="1001"/>
              </a:spcBef>
            </a:pPr>
            <a:endParaRPr lang="en-US" sz="2800" b="0" strike="noStrike" spc="-1">
              <a:solidFill>
                <a:srgbClr val="0070C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The Output Layer</a:t>
            </a:r>
            <a:endParaRPr lang="en-US" sz="4400" b="0" strike="noStrike" spc="-1">
              <a:solidFill>
                <a:srgbClr val="000000"/>
              </a:solidFill>
              <a:latin typeface="Calibri"/>
            </a:endParaRPr>
          </a:p>
        </p:txBody>
      </p:sp>
      <p:pic>
        <p:nvPicPr>
          <p:cNvPr id="155" name="Picture 3"/>
          <p:cNvPicPr/>
          <p:nvPr/>
        </p:nvPicPr>
        <p:blipFill>
          <a:blip r:embed="rId2"/>
          <a:stretch/>
        </p:blipFill>
        <p:spPr>
          <a:xfrm>
            <a:off x="1904760" y="2209680"/>
            <a:ext cx="8334000" cy="2390400"/>
          </a:xfrm>
          <a:prstGeom prst="rect">
            <a:avLst/>
          </a:prstGeom>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Intuition: Why does this work</a:t>
            </a:r>
            <a:endParaRPr lang="en-US" sz="4400" b="0" strike="noStrike" spc="-1">
              <a:solidFill>
                <a:srgbClr val="000000"/>
              </a:solidFill>
              <a:latin typeface="Calibri"/>
            </a:endParaRPr>
          </a:p>
        </p:txBody>
      </p:sp>
      <p:sp>
        <p:nvSpPr>
          <p:cNvPr id="159" name="TextShape 2"/>
          <p:cNvSpPr txBox="1"/>
          <p:nvPr/>
        </p:nvSpPr>
        <p:spPr>
          <a:xfrm>
            <a:off x="685800" y="1119240"/>
            <a:ext cx="11320200" cy="5236920"/>
          </a:xfrm>
          <a:prstGeom prst="rect">
            <a:avLst/>
          </a:prstGeom>
          <a:noFill/>
          <a:ln>
            <a:noFill/>
          </a:ln>
        </p:spPr>
        <p:txBody>
          <a:bodyPr lIns="91440" tIns="45720" rIns="91440" bIns="45720" anchor="t">
            <a:normAutofit fontScale="92500" lnSpcReduction="20000"/>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If two different words have very </a:t>
            </a:r>
            <a:r>
              <a:rPr lang="en-US" sz="2800" b="0" strike="noStrike" spc="-1">
                <a:solidFill>
                  <a:srgbClr val="002060"/>
                </a:solidFill>
                <a:latin typeface="Calibri"/>
              </a:rPr>
              <a:t>similar “contexts”</a:t>
            </a:r>
            <a:r>
              <a:rPr lang="en-US" sz="2800" b="0" strike="noStrike" spc="-1">
                <a:solidFill>
                  <a:srgbClr val="C00000"/>
                </a:solidFill>
                <a:latin typeface="Calibri"/>
              </a:rPr>
              <a:t> </a:t>
            </a:r>
            <a:r>
              <a:rPr lang="en-US" sz="2800" b="0" strike="noStrike" spc="-1">
                <a:solidFill>
                  <a:srgbClr val="0070C0"/>
                </a:solidFill>
                <a:latin typeface="Calibri"/>
              </a:rPr>
              <a:t>(that is, what words are likely to appear around them), then </a:t>
            </a:r>
            <a:r>
              <a:rPr lang="en-US" sz="2800" spc="-1">
                <a:solidFill>
                  <a:srgbClr val="0070C0"/>
                </a:solidFill>
                <a:latin typeface="Calibri"/>
              </a:rPr>
              <a:t>this model</a:t>
            </a:r>
            <a:r>
              <a:rPr lang="en-US" sz="2800" b="0" strike="noStrike" spc="-1">
                <a:solidFill>
                  <a:srgbClr val="0070C0"/>
                </a:solidFill>
                <a:latin typeface="Calibri"/>
              </a:rPr>
              <a:t> needs to output </a:t>
            </a:r>
            <a:r>
              <a:rPr lang="en-US" sz="2800" b="0" strike="noStrike" spc="-1">
                <a:solidFill>
                  <a:srgbClr val="002060"/>
                </a:solidFill>
                <a:latin typeface="Calibri"/>
              </a:rPr>
              <a:t>very similar results for these two words</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And one way for the network to output similar context predictions for these two words is if </a:t>
            </a:r>
            <a:r>
              <a:rPr lang="en-US" sz="2800" b="0" i="1" strike="noStrike" spc="-1">
                <a:solidFill>
                  <a:srgbClr val="0070C0"/>
                </a:solidFill>
                <a:latin typeface="Calibri"/>
              </a:rPr>
              <a:t>the </a:t>
            </a:r>
            <a:r>
              <a:rPr lang="en-US" sz="2800" b="0" i="1" strike="noStrike" spc="-1">
                <a:solidFill>
                  <a:srgbClr val="002060"/>
                </a:solidFill>
                <a:latin typeface="Calibri"/>
              </a:rPr>
              <a:t>word vectors are similar</a:t>
            </a:r>
            <a:endParaRPr lang="en-US" sz="2800" b="0" strike="noStrike" spc="-1">
              <a:solidFill>
                <a:srgbClr val="00206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So, if two words have similar contexts, then this network is motivated to learn similar word vectors for these two words</a:t>
            </a:r>
            <a:r>
              <a:rPr lang="en-US" sz="2800" spc="-1">
                <a:solidFill>
                  <a:srgbClr val="0070C0"/>
                </a:solidFill>
                <a:latin typeface="Calibri"/>
              </a:rPr>
              <a:t> </a:t>
            </a:r>
            <a:endParaRPr lang="en-US" sz="2800" b="0" strike="noStrike" spc="-1">
              <a:solidFill>
                <a:srgbClr val="0070C0"/>
              </a:solidFill>
              <a:latin typeface="Calibri"/>
            </a:endParaRPr>
          </a:p>
          <a:p>
            <a:pPr marL="685800" lvl="1" indent="-227965">
              <a:lnSpc>
                <a:spcPct val="90000"/>
              </a:lnSpc>
              <a:spcBef>
                <a:spcPts val="1001"/>
              </a:spcBef>
              <a:buClr>
                <a:srgbClr val="0070C0"/>
              </a:buClr>
              <a:buFont typeface="Arial"/>
              <a:buChar char="•"/>
            </a:pPr>
            <a:r>
              <a:rPr lang="en-US" sz="2800" b="0" strike="noStrike" spc="-1">
                <a:solidFill>
                  <a:srgbClr val="0070C0"/>
                </a:solidFill>
                <a:latin typeface="Calibri"/>
              </a:rPr>
              <a:t>And what does it mean for two words to have similar contexts? </a:t>
            </a:r>
          </a:p>
          <a:p>
            <a:pPr marL="1143000" lvl="2" indent="-227965">
              <a:lnSpc>
                <a:spcPct val="90000"/>
              </a:lnSpc>
              <a:spcBef>
                <a:spcPts val="1001"/>
              </a:spcBef>
              <a:buClr>
                <a:srgbClr val="0070C0"/>
              </a:buClr>
              <a:buFont typeface="Arial"/>
              <a:buChar char="•"/>
            </a:pPr>
            <a:r>
              <a:rPr lang="en-US" sz="2800" b="0" strike="noStrike" spc="-1">
                <a:solidFill>
                  <a:srgbClr val="0070C0"/>
                </a:solidFill>
                <a:latin typeface="Calibri"/>
              </a:rPr>
              <a:t>Maybe –synonyms like “intelligent” and “smart” would have very similar contexts.</a:t>
            </a:r>
            <a:r>
              <a:rPr lang="en-US" sz="2800" spc="-1">
                <a:solidFill>
                  <a:srgbClr val="0070C0"/>
                </a:solidFill>
                <a:latin typeface="Calibri"/>
              </a:rPr>
              <a:t> </a:t>
            </a:r>
            <a:endParaRPr lang="en-US" sz="2800" b="0" strike="noStrike" spc="-1">
              <a:solidFill>
                <a:srgbClr val="0070C0"/>
              </a:solidFill>
              <a:latin typeface="Calibri"/>
            </a:endParaRPr>
          </a:p>
          <a:p>
            <a:pPr marL="1143000" lvl="2" indent="-227965">
              <a:lnSpc>
                <a:spcPct val="90000"/>
              </a:lnSpc>
              <a:spcBef>
                <a:spcPts val="1001"/>
              </a:spcBef>
              <a:buClr>
                <a:srgbClr val="0070C0"/>
              </a:buClr>
              <a:buFont typeface="Arial"/>
              <a:buChar char="•"/>
            </a:pPr>
            <a:r>
              <a:rPr lang="en-US" sz="2800" b="0" strike="noStrike" spc="-1">
                <a:solidFill>
                  <a:srgbClr val="0070C0"/>
                </a:solidFill>
                <a:latin typeface="Calibri"/>
              </a:rPr>
              <a:t>Or that words that are related, like “engine” and “transmission”, would probably have similar contexts as well</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This can also handle stemming– the network will likely learn similar word vectors for the words “ant” and “ants” because these should have similar contexts</a:t>
            </a:r>
          </a:p>
          <a:p>
            <a:pPr>
              <a:lnSpc>
                <a:spcPct val="90000"/>
              </a:lnSpc>
              <a:spcBef>
                <a:spcPts val="1001"/>
              </a:spcBef>
            </a:pPr>
            <a:endParaRPr lang="en-US" sz="2800" b="0" strike="noStrike" spc="-1">
              <a:solidFill>
                <a:srgbClr val="0070C0"/>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extShape 1"/>
          <p:cNvSpPr txBox="1"/>
          <p:nvPr/>
        </p:nvSpPr>
        <p:spPr>
          <a:xfrm>
            <a:off x="1278720" y="15552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pc="-1">
                <a:solidFill>
                  <a:srgbClr val="002060"/>
                </a:solidFill>
                <a:latin typeface="Calibri Light"/>
              </a:rPr>
              <a:t>Word2Vec issues</a:t>
            </a:r>
            <a:endParaRPr lang="en-US" sz="4400" b="1" strike="noStrike" spc="-1">
              <a:solidFill>
                <a:srgbClr val="002060"/>
              </a:solidFill>
              <a:latin typeface="Calibri Light"/>
            </a:endParaRPr>
          </a:p>
        </p:txBody>
      </p:sp>
      <p:sp>
        <p:nvSpPr>
          <p:cNvPr id="157"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Note that neural network does not know anything about the offset of the output word relative to the input word</a:t>
            </a:r>
            <a:endParaRPr lang="en-US"/>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It </a:t>
            </a:r>
            <a:r>
              <a:rPr lang="en-US" sz="2800" b="0" i="1" strike="noStrike" spc="-1">
                <a:solidFill>
                  <a:srgbClr val="0070C0"/>
                </a:solidFill>
                <a:latin typeface="Calibri"/>
              </a:rPr>
              <a:t>does not</a:t>
            </a:r>
            <a:r>
              <a:rPr lang="en-US" sz="2800" b="0" strike="noStrike" spc="-1">
                <a:solidFill>
                  <a:srgbClr val="0070C0"/>
                </a:solidFill>
                <a:latin typeface="Calibri"/>
              </a:rPr>
              <a:t> learn a different set of probabilities for the word before the input versus the word after</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To understand the implication, let's say that in our training corpus, </a:t>
            </a:r>
            <a:r>
              <a:rPr lang="en-US" sz="2800" b="0" i="1" strike="noStrike" spc="-1">
                <a:solidFill>
                  <a:srgbClr val="0070C0"/>
                </a:solidFill>
                <a:latin typeface="Calibri"/>
              </a:rPr>
              <a:t>every single occurrence</a:t>
            </a:r>
            <a:r>
              <a:rPr lang="en-US" sz="2800" b="0" strike="noStrike" spc="-1">
                <a:solidFill>
                  <a:srgbClr val="0070C0"/>
                </a:solidFill>
                <a:latin typeface="Calibri"/>
              </a:rPr>
              <a:t> of the word 'York' is preceded by the word 'New'. That is, at least according to the training data, there is a 100% probability that 'New' will be in the vicinity of 'York‘</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However,</a:t>
            </a:r>
            <a:r>
              <a:rPr lang="en-US" sz="2800" spc="-1">
                <a:solidFill>
                  <a:srgbClr val="0070C0"/>
                </a:solidFill>
                <a:latin typeface="Calibri"/>
              </a:rPr>
              <a:t> in general,</a:t>
            </a:r>
            <a:r>
              <a:rPr lang="en-US" sz="2800" b="0" strike="noStrike" spc="-1">
                <a:solidFill>
                  <a:srgbClr val="0070C0"/>
                </a:solidFill>
                <a:latin typeface="Calibri"/>
              </a:rPr>
              <a:t> if we take the 10 words in the vicinity of 'York' and randomly pick one of them, the probability of it being 'New' </a:t>
            </a:r>
            <a:r>
              <a:rPr lang="en-US" sz="2800" b="0" i="1" strike="noStrike" spc="-1">
                <a:solidFill>
                  <a:srgbClr val="0070C0"/>
                </a:solidFill>
                <a:latin typeface="Calibri"/>
              </a:rPr>
              <a:t>is not</a:t>
            </a:r>
            <a:r>
              <a:rPr lang="en-US" sz="2800" b="0" strike="noStrike" spc="-1">
                <a:solidFill>
                  <a:srgbClr val="0070C0"/>
                </a:solidFill>
                <a:latin typeface="Calibri"/>
              </a:rPr>
              <a:t> 100%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Optimization</a:t>
            </a:r>
            <a:endParaRPr lang="en-US" sz="4400" b="0" strike="noStrike" spc="-1">
              <a:solidFill>
                <a:srgbClr val="000000"/>
              </a:solidFill>
              <a:latin typeface="Calibri"/>
            </a:endParaRPr>
          </a:p>
        </p:txBody>
      </p:sp>
      <p:sp>
        <p:nvSpPr>
          <p:cNvPr id="161" name="TextShape 2"/>
          <p:cNvSpPr txBox="1"/>
          <p:nvPr/>
        </p:nvSpPr>
        <p:spPr>
          <a:xfrm>
            <a:off x="652182" y="715828"/>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Here we had word vectors with 300 features, and a vocabulary of 10,000 words</a:t>
            </a:r>
            <a:r>
              <a:rPr lang="en-US" sz="2800" spc="-1">
                <a:solidFill>
                  <a:srgbClr val="0070C0"/>
                </a:solidFill>
                <a:latin typeface="Calibri"/>
              </a:rPr>
              <a:t> </a:t>
            </a:r>
            <a:endParaRPr lang="en-US"/>
          </a:p>
          <a:p>
            <a:pPr marL="685800" lvl="1" indent="-227965">
              <a:lnSpc>
                <a:spcPct val="90000"/>
              </a:lnSpc>
              <a:spcBef>
                <a:spcPts val="1001"/>
              </a:spcBef>
              <a:buClr>
                <a:srgbClr val="0070C0"/>
              </a:buClr>
              <a:buFont typeface="Arial"/>
              <a:buChar char="•"/>
            </a:pPr>
            <a:r>
              <a:rPr lang="en-US" sz="2800" spc="-1">
                <a:solidFill>
                  <a:schemeClr val="accent6">
                    <a:lumMod val="76000"/>
                  </a:schemeClr>
                </a:solidFill>
                <a:latin typeface="Calibri"/>
              </a:rPr>
              <a:t>The</a:t>
            </a:r>
            <a:r>
              <a:rPr lang="en-US" sz="2800" b="0" strike="noStrike" spc="-1">
                <a:solidFill>
                  <a:schemeClr val="accent6">
                    <a:lumMod val="76000"/>
                  </a:schemeClr>
                </a:solidFill>
                <a:latin typeface="Calibri"/>
              </a:rPr>
              <a:t> neural network had two weight matrices–a hidden layer and output layer</a:t>
            </a:r>
            <a:r>
              <a:rPr lang="en-US" sz="2800" spc="-1">
                <a:solidFill>
                  <a:schemeClr val="accent6">
                    <a:lumMod val="76000"/>
                  </a:schemeClr>
                </a:solidFill>
                <a:latin typeface="Calibri"/>
              </a:rPr>
              <a:t> </a:t>
            </a:r>
            <a:endParaRPr lang="en-US" sz="2800" b="0" strike="noStrike" spc="-1">
              <a:solidFill>
                <a:schemeClr val="accent6">
                  <a:lumMod val="76000"/>
                </a:schemeClr>
              </a:solidFill>
              <a:latin typeface="Calibri"/>
            </a:endParaRPr>
          </a:p>
          <a:p>
            <a:pPr marL="685800" lvl="1" indent="-227965">
              <a:lnSpc>
                <a:spcPct val="90000"/>
              </a:lnSpc>
              <a:spcBef>
                <a:spcPts val="1001"/>
              </a:spcBef>
              <a:buClr>
                <a:srgbClr val="0070C0"/>
              </a:buClr>
              <a:buFont typeface="Arial"/>
              <a:buChar char="•"/>
            </a:pPr>
            <a:r>
              <a:rPr lang="en-US" sz="2800" b="0" strike="noStrike" spc="-1">
                <a:solidFill>
                  <a:schemeClr val="accent6">
                    <a:lumMod val="76000"/>
                  </a:schemeClr>
                </a:solidFill>
                <a:latin typeface="Calibri"/>
              </a:rPr>
              <a:t>Both layers would have a weight matrix with 300 x 10,000 = 3 million weights each!</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Running gradient descent on a neural network that large is going to be slow</a:t>
            </a:r>
          </a:p>
          <a:p>
            <a:pPr marL="685800" lvl="1" indent="-227965">
              <a:lnSpc>
                <a:spcPct val="90000"/>
              </a:lnSpc>
              <a:spcBef>
                <a:spcPts val="1001"/>
              </a:spcBef>
              <a:buClr>
                <a:srgbClr val="0070C0"/>
              </a:buClr>
              <a:buFont typeface="Arial"/>
              <a:buChar char="•"/>
            </a:pPr>
            <a:r>
              <a:rPr lang="en-US" sz="2800" spc="-1">
                <a:solidFill>
                  <a:schemeClr val="accent6">
                    <a:lumMod val="76000"/>
                  </a:schemeClr>
                </a:solidFill>
                <a:latin typeface="Calibri"/>
              </a:rPr>
              <a:t>Well, it was true 2013 but not anymore, still we need to know the optimizations</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And to make matters worse, we need a huge amount of training data to tune that many weights and avoid over-fitting</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Millions of weights times billions of training samples means that training this model is going to be difficult</a:t>
            </a:r>
          </a:p>
          <a:p>
            <a:pPr>
              <a:lnSpc>
                <a:spcPct val="90000"/>
              </a:lnSpc>
              <a:spcBef>
                <a:spcPts val="1001"/>
              </a:spcBef>
            </a:pPr>
            <a:endParaRPr lang="en-US" sz="2800" b="0" strike="noStrike" spc="-1">
              <a:solidFill>
                <a:srgbClr val="0070C0"/>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TextShape 1"/>
          <p:cNvSpPr txBox="1"/>
          <p:nvPr/>
        </p:nvSpPr>
        <p:spPr>
          <a:xfrm>
            <a:off x="1278720" y="155520"/>
            <a:ext cx="10515240" cy="525240"/>
          </a:xfrm>
          <a:prstGeom prst="rect">
            <a:avLst/>
          </a:prstGeom>
          <a:noFill/>
          <a:ln>
            <a:noFill/>
          </a:ln>
        </p:spPr>
        <p:txBody>
          <a:bodyPr anchor="ctr">
            <a:normAutofit fontScale="99500"/>
          </a:bodyPr>
          <a:lstStyle/>
          <a:p>
            <a:endParaRPr lang="en-US" sz="1800" b="0" strike="noStrike" spc="-1">
              <a:solidFill>
                <a:srgbClr val="000000"/>
              </a:solidFill>
              <a:latin typeface="Calibri"/>
            </a:endParaRPr>
          </a:p>
        </p:txBody>
      </p:sp>
      <p:sp>
        <p:nvSpPr>
          <p:cNvPr id="163" name="TextShape 2"/>
          <p:cNvSpPr txBox="1"/>
          <p:nvPr/>
        </p:nvSpPr>
        <p:spPr>
          <a:xfrm>
            <a:off x="685800" y="1119240"/>
            <a:ext cx="11320200" cy="5236920"/>
          </a:xfrm>
          <a:prstGeom prst="rect">
            <a:avLst/>
          </a:prstGeom>
          <a:noFill/>
          <a:ln>
            <a:noFill/>
          </a:ln>
        </p:spPr>
        <p:txBody>
          <a:bodyPr lIns="91440" tIns="45720" rIns="91440" bIns="45720" anchor="t">
            <a:no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 authors of Word2Vec addressed these issues </a:t>
            </a:r>
            <a:r>
              <a:rPr lang="en-US" sz="2800" spc="-1">
                <a:solidFill>
                  <a:srgbClr val="0070C0"/>
                </a:solidFill>
                <a:latin typeface="Calibri"/>
              </a:rPr>
              <a:t>in their </a:t>
            </a:r>
            <a:r>
              <a:rPr lang="en-US" sz="2800" b="0" strike="noStrike" spc="-1">
                <a:solidFill>
                  <a:srgbClr val="0070C0"/>
                </a:solidFill>
                <a:latin typeface="Calibri"/>
              </a:rPr>
              <a:t>second paper with the </a:t>
            </a:r>
            <a:r>
              <a:rPr lang="en-US" sz="2800" spc="-1">
                <a:solidFill>
                  <a:srgbClr val="0070C0"/>
                </a:solidFill>
                <a:latin typeface="Calibri"/>
              </a:rPr>
              <a:t>first two optimizations</a:t>
            </a:r>
            <a:r>
              <a:rPr lang="en-US" sz="2800" b="0" strike="noStrike" spc="-1">
                <a:solidFill>
                  <a:srgbClr val="0070C0"/>
                </a:solidFill>
                <a:latin typeface="Calibri"/>
              </a:rPr>
              <a:t>:</a:t>
            </a:r>
            <a:endParaRPr lang="en-US"/>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Subsampling frequent words to decrease the number of training examples</a:t>
            </a:r>
            <a:endParaRPr lang="en-US" sz="2400" b="0" strike="noStrike" spc="-1">
              <a:solidFill>
                <a:srgbClr val="C00000"/>
              </a:solidFill>
              <a:latin typeface="Calibri"/>
            </a:endParaRPr>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Modifying the optimization objective with a technique they called “Negative Sampling”, which causes some training sample to update only a small percentage of the model’s weights</a:t>
            </a:r>
          </a:p>
          <a:p>
            <a:pPr marL="685800" lvl="1" indent="-227965">
              <a:lnSpc>
                <a:spcPct val="90000"/>
              </a:lnSpc>
              <a:spcBef>
                <a:spcPts val="499"/>
              </a:spcBef>
              <a:buClr>
                <a:srgbClr val="548235"/>
              </a:buClr>
              <a:buFont typeface="Arial"/>
              <a:buChar char="•"/>
            </a:pPr>
            <a:r>
              <a:rPr lang="en-US" sz="2400" spc="-1">
                <a:solidFill>
                  <a:srgbClr val="548235"/>
                </a:solidFill>
                <a:latin typeface="Calibri"/>
              </a:rPr>
              <a:t>Hierarchical </a:t>
            </a:r>
            <a:r>
              <a:rPr lang="en-US" sz="2400" spc="-1" err="1">
                <a:solidFill>
                  <a:srgbClr val="548235"/>
                </a:solidFill>
                <a:latin typeface="Calibri"/>
              </a:rPr>
              <a:t>softmax</a:t>
            </a:r>
            <a:r>
              <a:rPr lang="en-US" sz="2400" spc="-1">
                <a:solidFill>
                  <a:srgbClr val="548235"/>
                </a:solidFill>
                <a:latin typeface="Calibri"/>
              </a:rPr>
              <a:t> (not by the original word2vec authors)</a:t>
            </a:r>
            <a:endParaRPr lang="en-US" sz="2400" b="0" strike="noStrike" spc="-1">
              <a:solidFill>
                <a:srgbClr val="C00000"/>
              </a:solidFill>
              <a:latin typeface="Calibri"/>
            </a:endParaRPr>
          </a:p>
          <a:p>
            <a:pPr>
              <a:lnSpc>
                <a:spcPct val="90000"/>
              </a:lnSpc>
              <a:spcBef>
                <a:spcPts val="1001"/>
              </a:spcBef>
            </a:pPr>
            <a:endParaRPr lang="en-US" sz="2400" b="0" strike="noStrike" spc="-1">
              <a:solidFill>
                <a:srgbClr val="0070C0"/>
              </a:solidFill>
              <a:latin typeface="Calibri"/>
            </a:endParaRPr>
          </a:p>
        </p:txBody>
      </p:sp>
      <p:sp>
        <p:nvSpPr>
          <p:cNvPr id="3" name="TextShape 1">
            <a:extLst>
              <a:ext uri="{FF2B5EF4-FFF2-40B4-BE49-F238E27FC236}">
                <a16:creationId xmlns:a16="http://schemas.microsoft.com/office/drawing/2014/main" id="{B700065F-5DB4-7F80-F21B-04681BFC5317}"/>
              </a:ext>
            </a:extLst>
          </p:cNvPr>
          <p:cNvSpPr txBox="1"/>
          <p:nvPr/>
        </p:nvSpPr>
        <p:spPr>
          <a:xfrm>
            <a:off x="1431120" y="307920"/>
            <a:ext cx="10515240" cy="525240"/>
          </a:xfrm>
          <a:prstGeom prst="rect">
            <a:avLst/>
          </a:prstGeom>
          <a:noFill/>
          <a:ln>
            <a:noFill/>
          </a:ln>
        </p:spPr>
        <p:txBody>
          <a:bodyPr lIns="91440" tIns="45720" rIns="91440" bIns="45720" anchor="ctr">
            <a:normAutofit fontScale="84500" lnSpcReduction="20000"/>
          </a:bodyPr>
          <a:lstStyle/>
          <a:p>
            <a:pPr algn="ctr">
              <a:lnSpc>
                <a:spcPct val="90000"/>
              </a:lnSpc>
            </a:pPr>
            <a:r>
              <a:rPr lang="en-US" sz="4400" b="1" spc="-1">
                <a:solidFill>
                  <a:srgbClr val="002060"/>
                </a:solidFill>
                <a:latin typeface="Calibri Light"/>
              </a:rPr>
              <a:t>Optimizations</a:t>
            </a:r>
            <a:endParaRPr lang="en-US" sz="4400" b="0" strike="noStrike" spc="-1">
              <a:solidFill>
                <a:srgbClr val="000000"/>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Subsampling</a:t>
            </a:r>
            <a:endParaRPr lang="en-US" sz="4400" b="0" strike="noStrike" spc="-1">
              <a:solidFill>
                <a:srgbClr val="000000"/>
              </a:solidFill>
              <a:latin typeface="Calibri"/>
            </a:endParaRPr>
          </a:p>
        </p:txBody>
      </p:sp>
      <p:sp>
        <p:nvSpPr>
          <p:cNvPr id="165" name="TextShape 2"/>
          <p:cNvSpPr txBox="1"/>
          <p:nvPr/>
        </p:nvSpPr>
        <p:spPr>
          <a:xfrm>
            <a:off x="685800" y="1119240"/>
            <a:ext cx="11320200" cy="5236920"/>
          </a:xfrm>
          <a:prstGeom prst="rect">
            <a:avLst/>
          </a:prstGeom>
          <a:noFill/>
          <a:ln>
            <a:noFill/>
          </a:ln>
        </p:spPr>
        <p:txBody>
          <a:bodyPr lIns="91440" tIns="45720" rIns="91440" bIns="45720" anchor="t">
            <a:normAutofit/>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There are two “problems” with common words like “the”:</a:t>
            </a:r>
            <a:endParaRPr lang="en-US"/>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When looking at word pairs, (“fox”, “the”) doesn’t tell us much about the meaning of “fox”. “the” appears in the context of pretty much every word.</a:t>
            </a:r>
            <a:endParaRPr lang="en-US" sz="2400" b="0" strike="noStrike" spc="-1">
              <a:solidFill>
                <a:srgbClr val="C00000"/>
              </a:solidFill>
              <a:latin typeface="Calibri"/>
            </a:endParaRPr>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We will have many more samples of (“the”, …) than we need to learn a good vector for “the”.</a:t>
            </a:r>
            <a:endParaRPr lang="en-US" sz="2400" b="0" strike="noStrike" spc="-1">
              <a:solidFill>
                <a:srgbClr val="C0000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Word2Vec implements a “subsampling” scheme to address this</a:t>
            </a:r>
            <a:r>
              <a:rPr lang="en-US" sz="2800" spc="-1">
                <a:solidFill>
                  <a:srgbClr val="0070C0"/>
                </a:solidFill>
                <a:latin typeface="Calibri"/>
              </a:rPr>
              <a:t> </a:t>
            </a:r>
            <a:endParaRPr lang="en-US" sz="2800" b="0" strike="noStrike" spc="-1">
              <a:solidFill>
                <a:srgbClr val="0070C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The probability that </a:t>
            </a:r>
            <a:r>
              <a:rPr lang="en-US" sz="2800" spc="-1">
                <a:solidFill>
                  <a:srgbClr val="0070C0"/>
                </a:solidFill>
                <a:latin typeface="Calibri"/>
              </a:rPr>
              <a:t>a </a:t>
            </a:r>
            <a:r>
              <a:rPr lang="en-US" sz="2800" b="0" strike="noStrike" spc="-1">
                <a:solidFill>
                  <a:srgbClr val="0070C0"/>
                </a:solidFill>
                <a:latin typeface="Calibri"/>
              </a:rPr>
              <a:t>word is </a:t>
            </a:r>
            <a:r>
              <a:rPr lang="en-US" sz="2800" spc="-1">
                <a:solidFill>
                  <a:srgbClr val="0070C0"/>
                </a:solidFill>
                <a:latin typeface="Calibri"/>
              </a:rPr>
              <a:t>removed is </a:t>
            </a:r>
            <a:r>
              <a:rPr lang="en-US" sz="2800" b="0" strike="noStrike" spc="-1">
                <a:solidFill>
                  <a:srgbClr val="0070C0"/>
                </a:solidFill>
                <a:latin typeface="Calibri"/>
              </a:rPr>
              <a:t>related to the word’s frequency.</a:t>
            </a:r>
          </a:p>
          <a:p>
            <a:pPr marL="685800" lvl="1" indent="-227965">
              <a:lnSpc>
                <a:spcPct val="90000"/>
              </a:lnSpc>
              <a:spcBef>
                <a:spcPts val="499"/>
              </a:spcBef>
              <a:buClr>
                <a:srgbClr val="548235"/>
              </a:buClr>
              <a:buFont typeface="Arial"/>
              <a:buChar char="•"/>
            </a:pPr>
            <a:r>
              <a:rPr lang="en-US" sz="2400" spc="-1">
                <a:solidFill>
                  <a:srgbClr val="548235"/>
                </a:solidFill>
                <a:latin typeface="Calibri"/>
              </a:rPr>
              <a:t>For</a:t>
            </a:r>
            <a:r>
              <a:rPr lang="en-US" sz="2400" b="0" strike="noStrike" spc="-1">
                <a:solidFill>
                  <a:srgbClr val="548235"/>
                </a:solidFill>
                <a:latin typeface="Calibri"/>
              </a:rPr>
              <a:t> a window size of 10, and we remove a specific instance of “the” from our text:</a:t>
            </a:r>
            <a:endParaRPr lang="en-US" sz="2400" b="0" strike="noStrike" spc="-1">
              <a:solidFill>
                <a:srgbClr val="C00000"/>
              </a:solidFill>
              <a:latin typeface="Calibri"/>
            </a:endParaRPr>
          </a:p>
          <a:p>
            <a:pPr marL="1143000" lvl="2" indent="-227965">
              <a:lnSpc>
                <a:spcPct val="90000"/>
              </a:lnSpc>
              <a:spcBef>
                <a:spcPts val="499"/>
              </a:spcBef>
              <a:buClr>
                <a:srgbClr val="C00000"/>
              </a:buClr>
              <a:buFont typeface="Arial"/>
              <a:buChar char="•"/>
            </a:pPr>
            <a:r>
              <a:rPr lang="en-US" sz="2000" b="0" strike="noStrike" spc="-1">
                <a:solidFill>
                  <a:schemeClr val="accent2"/>
                </a:solidFill>
                <a:latin typeface="Calibri"/>
              </a:rPr>
              <a:t>As we train on the remaining words, “the” will not appear in any of their context windows.</a:t>
            </a:r>
          </a:p>
          <a:p>
            <a:pPr marL="1143000" lvl="2" indent="-227965">
              <a:lnSpc>
                <a:spcPct val="90000"/>
              </a:lnSpc>
              <a:spcBef>
                <a:spcPts val="499"/>
              </a:spcBef>
              <a:buClr>
                <a:srgbClr val="C00000"/>
              </a:buClr>
              <a:buFont typeface="Arial"/>
              <a:buChar char="•"/>
            </a:pPr>
            <a:r>
              <a:rPr lang="en-US" sz="2000" b="0" strike="noStrike" spc="-1">
                <a:solidFill>
                  <a:schemeClr val="accent2"/>
                </a:solidFill>
                <a:latin typeface="Calibri"/>
              </a:rPr>
              <a:t>We’ll have 10 fewer training samples where “the” is the input word.</a:t>
            </a:r>
          </a:p>
          <a:p>
            <a:pPr>
              <a:lnSpc>
                <a:spcPct val="90000"/>
              </a:lnSpc>
              <a:spcBef>
                <a:spcPts val="1001"/>
              </a:spcBef>
            </a:pPr>
            <a:endParaRPr lang="en-US" sz="2000" b="0" strike="noStrike" spc="-1">
              <a:solidFill>
                <a:srgbClr val="0070C0"/>
              </a:solidFill>
              <a:latin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Negative Sampling</a:t>
            </a:r>
            <a:endParaRPr lang="en-US" sz="4400" b="0" strike="noStrike" spc="-1">
              <a:solidFill>
                <a:srgbClr val="000000"/>
              </a:solidFill>
              <a:latin typeface="Calibri"/>
            </a:endParaRPr>
          </a:p>
        </p:txBody>
      </p:sp>
      <p:sp>
        <p:nvSpPr>
          <p:cNvPr id="176" name="TextShape 2"/>
          <p:cNvSpPr txBox="1"/>
          <p:nvPr/>
        </p:nvSpPr>
        <p:spPr>
          <a:xfrm>
            <a:off x="685800" y="1119240"/>
            <a:ext cx="11320200" cy="5236920"/>
          </a:xfrm>
          <a:prstGeom prst="rect">
            <a:avLst/>
          </a:prstGeom>
          <a:noFill/>
          <a:ln>
            <a:noFill/>
          </a:ln>
        </p:spPr>
        <p:txBody>
          <a:bodyPr lIns="91440" tIns="45720" rIns="91440" bIns="45720" anchor="t">
            <a:normAutofit fontScale="84000" lnSpcReduction="20000"/>
          </a:bodyPr>
          <a:lstStyle/>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When training the network on the word pair (“fox”, “quick”), recall that the “label” or “correct output” of the network is a one-hot vector. That is, for the output neuron corresponding to “quick” to output a 1, and for </a:t>
            </a:r>
            <a:r>
              <a:rPr lang="en-US" sz="2800" b="0" i="1" strike="noStrike" spc="-1">
                <a:solidFill>
                  <a:srgbClr val="0070C0"/>
                </a:solidFill>
                <a:latin typeface="Calibri"/>
              </a:rPr>
              <a:t>all</a:t>
            </a:r>
            <a:r>
              <a:rPr lang="en-US" sz="2800" b="0" strike="noStrike" spc="-1">
                <a:solidFill>
                  <a:srgbClr val="0070C0"/>
                </a:solidFill>
                <a:latin typeface="Calibri"/>
              </a:rPr>
              <a:t> the other thousands of output neurons to output a 0.</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With negative sampling, we are instead going to randomly select just a small number of “negative” words (let’s say 5) to update the weights for. (In this context, a “negative” word is one for which we want the network to output a 0 for)</a:t>
            </a: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We will also still update the weights for our “positive” word (which is the word “quick” in our current example).</a:t>
            </a:r>
          </a:p>
          <a:p>
            <a:pPr marL="228600" indent="-227965">
              <a:lnSpc>
                <a:spcPct val="90000"/>
              </a:lnSpc>
              <a:spcBef>
                <a:spcPts val="1001"/>
              </a:spcBef>
              <a:buClr>
                <a:srgbClr val="0070C0"/>
              </a:buClr>
              <a:buFont typeface="Arial"/>
              <a:buChar char="•"/>
            </a:pPr>
            <a:r>
              <a:rPr lang="en-US" sz="2800" spc="-1">
                <a:solidFill>
                  <a:srgbClr val="0070C0"/>
                </a:solidFill>
                <a:latin typeface="Calibri"/>
              </a:rPr>
              <a:t>The</a:t>
            </a:r>
            <a:r>
              <a:rPr lang="en-US" sz="2800" b="0" strike="noStrike" spc="-1">
                <a:solidFill>
                  <a:srgbClr val="0070C0"/>
                </a:solidFill>
                <a:latin typeface="Calibri"/>
              </a:rPr>
              <a:t> output layer of our model has a weight matrix that’s 300 x 10,000</a:t>
            </a:r>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So we will just be updating the weights for our positive word (“quick”), plus the weights for 5 other words that we want to output 0</a:t>
            </a:r>
            <a:endParaRPr lang="en-US" sz="2400" b="0" strike="noStrike" spc="-1">
              <a:solidFill>
                <a:srgbClr val="C00000"/>
              </a:solidFill>
              <a:latin typeface="Calibri"/>
            </a:endParaRPr>
          </a:p>
          <a:p>
            <a:pPr marL="685800" lvl="1" indent="-227965">
              <a:lnSpc>
                <a:spcPct val="90000"/>
              </a:lnSpc>
              <a:spcBef>
                <a:spcPts val="499"/>
              </a:spcBef>
              <a:buClr>
                <a:srgbClr val="548235"/>
              </a:buClr>
              <a:buFont typeface="Arial"/>
              <a:buChar char="•"/>
            </a:pPr>
            <a:r>
              <a:rPr lang="en-US" sz="2400" b="0" strike="noStrike" spc="-1">
                <a:solidFill>
                  <a:srgbClr val="548235"/>
                </a:solidFill>
                <a:latin typeface="Calibri"/>
              </a:rPr>
              <a:t>That’s a total of 6 output neurons, and 1,800 weight values total. That’s only 0.06% of the 3M weights in the output layer!</a:t>
            </a:r>
            <a:endParaRPr lang="en-US" sz="2400" b="0" strike="noStrike" spc="-1">
              <a:solidFill>
                <a:srgbClr val="C00000"/>
              </a:solidFill>
              <a:latin typeface="Calibri"/>
            </a:endParaRPr>
          </a:p>
          <a:p>
            <a:pPr marL="228600" indent="-227965">
              <a:lnSpc>
                <a:spcPct val="90000"/>
              </a:lnSpc>
              <a:spcBef>
                <a:spcPts val="1001"/>
              </a:spcBef>
              <a:buClr>
                <a:srgbClr val="0070C0"/>
              </a:buClr>
              <a:buFont typeface="Arial"/>
              <a:buChar char="•"/>
            </a:pPr>
            <a:r>
              <a:rPr lang="en-US" sz="2800" b="0" strike="noStrike" spc="-1">
                <a:solidFill>
                  <a:srgbClr val="0070C0"/>
                </a:solidFill>
                <a:latin typeface="Calibri"/>
              </a:rPr>
              <a:t>In the hidden layer, only the weights for the input word are updated</a:t>
            </a:r>
            <a:r>
              <a:rPr lang="en-US" sz="2800" spc="-1">
                <a:solidFill>
                  <a:srgbClr val="0070C0"/>
                </a:solidFill>
                <a:latin typeface="Calibri"/>
              </a:rPr>
              <a:t> </a:t>
            </a:r>
          </a:p>
          <a:p>
            <a:pPr marL="228600" indent="-228240">
              <a:lnSpc>
                <a:spcPct val="90000"/>
              </a:lnSpc>
              <a:spcBef>
                <a:spcPts val="1001"/>
              </a:spcBef>
              <a:buClr>
                <a:srgbClr val="0070C0"/>
              </a:buClr>
              <a:buFont typeface="Arial"/>
              <a:buChar char="•"/>
            </a:pPr>
            <a:r>
              <a:rPr lang="en-US" sz="2400" b="0" strike="noStrike" spc="-1">
                <a:solidFill>
                  <a:srgbClr val="548235"/>
                </a:solidFill>
                <a:latin typeface="Calibri"/>
              </a:rPr>
              <a:t>This is true whether we are using Negative Sampling or not</a:t>
            </a:r>
            <a:br>
              <a:rPr/>
            </a:br>
            <a:r>
              <a:rPr lang="en-US" sz="2400" spc="-1">
                <a:solidFill>
                  <a:srgbClr val="548235"/>
                </a:solidFill>
                <a:latin typeface="Calibri"/>
              </a:rPr>
              <a:t> </a:t>
            </a:r>
            <a:endParaRPr lang="en-US" sz="2400" b="0" strike="noStrike" spc="-1">
              <a:solidFill>
                <a:srgbClr val="C00000"/>
              </a:solidFill>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Word2vec context </a:t>
            </a:r>
            <a:endParaRPr lang="en-US" sz="4400" b="0" strike="noStrike" spc="-1">
              <a:solidFill>
                <a:srgbClr val="000000"/>
              </a:solidFill>
              <a:latin typeface="Calibri"/>
            </a:endParaRPr>
          </a:p>
        </p:txBody>
      </p:sp>
      <p:pic>
        <p:nvPicPr>
          <p:cNvPr id="181" name="Picture 3"/>
          <p:cNvPicPr/>
          <p:nvPr/>
        </p:nvPicPr>
        <p:blipFill>
          <a:blip r:embed="rId2"/>
          <a:stretch/>
        </p:blipFill>
        <p:spPr>
          <a:xfrm>
            <a:off x="1278720" y="1247400"/>
            <a:ext cx="8772120" cy="4702680"/>
          </a:xfrm>
          <a:prstGeom prst="rect">
            <a:avLst/>
          </a:prstGeom>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Shape 1"/>
          <p:cNvSpPr txBox="1"/>
          <p:nvPr/>
        </p:nvSpPr>
        <p:spPr>
          <a:xfrm>
            <a:off x="1278720" y="155520"/>
            <a:ext cx="10515240" cy="525240"/>
          </a:xfrm>
          <a:prstGeom prst="rect">
            <a:avLst/>
          </a:prstGeom>
          <a:noFill/>
          <a:ln>
            <a:noFill/>
          </a:ln>
        </p:spPr>
        <p:txBody>
          <a:bodyPr anchor="ctr">
            <a:normAutofit fontScale="84500" lnSpcReduction="20000"/>
          </a:bodyPr>
          <a:lstStyle/>
          <a:p>
            <a:pPr algn="ctr">
              <a:lnSpc>
                <a:spcPct val="90000"/>
              </a:lnSpc>
            </a:pPr>
            <a:r>
              <a:rPr lang="en-US" sz="4400" b="1" strike="noStrike" spc="-1">
                <a:solidFill>
                  <a:srgbClr val="002060"/>
                </a:solidFill>
                <a:latin typeface="Calibri Light"/>
              </a:rPr>
              <a:t>Word2vec context</a:t>
            </a:r>
            <a:endParaRPr lang="en-US" sz="4400" b="0" strike="noStrike" spc="-1">
              <a:solidFill>
                <a:srgbClr val="000000"/>
              </a:solidFill>
              <a:latin typeface="Calibri"/>
            </a:endParaRPr>
          </a:p>
        </p:txBody>
      </p:sp>
      <p:pic>
        <p:nvPicPr>
          <p:cNvPr id="183" name="Picture 3"/>
          <p:cNvPicPr/>
          <p:nvPr/>
        </p:nvPicPr>
        <p:blipFill>
          <a:blip r:embed="rId2"/>
          <a:stretch/>
        </p:blipFill>
        <p:spPr>
          <a:xfrm>
            <a:off x="1616760" y="1251360"/>
            <a:ext cx="8961120" cy="4295880"/>
          </a:xfrm>
          <a:prstGeom prst="rect">
            <a:avLst/>
          </a:prstGeom>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Skip-gram model for generating vectors</a:t>
            </a:r>
          </a:p>
        </p:txBody>
      </p:sp>
      <p:sp>
        <p:nvSpPr>
          <p:cNvPr id="3" name="Text Placeholder 2"/>
          <p:cNvSpPr>
            <a:spLocks noGrp="1"/>
          </p:cNvSpPr>
          <p:nvPr>
            <p:ph type="body" idx="1"/>
          </p:nvPr>
        </p:nvSpPr>
        <p:spPr>
          <a:xfrm>
            <a:off x="321906" y="1016552"/>
            <a:ext cx="7842380" cy="5374918"/>
          </a:xfrm>
        </p:spPr>
        <p:txBody>
          <a:bodyPr>
            <a:normAutofit/>
          </a:bodyPr>
          <a:lstStyle/>
          <a:p>
            <a:r>
              <a:rPr lang="en-US"/>
              <a:t>For skip-gram, the input is the target word, while the outputs are the words surrounding (context) </a:t>
            </a:r>
          </a:p>
          <a:p>
            <a:r>
              <a:rPr lang="en-US"/>
              <a:t>For example, in the sentence “</a:t>
            </a:r>
            <a:r>
              <a:rPr lang="en-US" i="1"/>
              <a:t>I have </a:t>
            </a:r>
            <a:r>
              <a:rPr lang="en-US" i="1">
                <a:solidFill>
                  <a:srgbClr val="FF0000"/>
                </a:solidFill>
              </a:rPr>
              <a:t>a</a:t>
            </a:r>
            <a:r>
              <a:rPr lang="en-US" i="1"/>
              <a:t> cute dog</a:t>
            </a:r>
            <a:r>
              <a:rPr lang="en-US"/>
              <a:t>”, the input would be “</a:t>
            </a:r>
            <a:r>
              <a:rPr lang="en-US" i="1">
                <a:solidFill>
                  <a:srgbClr val="FF0000"/>
                </a:solidFill>
              </a:rPr>
              <a:t>a</a:t>
            </a:r>
            <a:r>
              <a:rPr lang="en-US"/>
              <a:t>”, whereas the outputs are “</a:t>
            </a:r>
            <a:r>
              <a:rPr lang="en-US" i="1"/>
              <a:t>I</a:t>
            </a:r>
            <a:r>
              <a:rPr lang="en-US"/>
              <a:t>”, “</a:t>
            </a:r>
            <a:r>
              <a:rPr lang="en-US" i="1"/>
              <a:t>have</a:t>
            </a:r>
            <a:r>
              <a:rPr lang="en-US"/>
              <a:t>”, “</a:t>
            </a:r>
            <a:r>
              <a:rPr lang="en-US" i="1"/>
              <a:t>cute</a:t>
            </a:r>
            <a:r>
              <a:rPr lang="en-US"/>
              <a:t>”, and “</a:t>
            </a:r>
            <a:r>
              <a:rPr lang="en-US" i="1"/>
              <a:t>dog</a:t>
            </a:r>
            <a:r>
              <a:rPr lang="en-US"/>
              <a:t>”, when the window size is 5</a:t>
            </a:r>
          </a:p>
          <a:p>
            <a:r>
              <a:rPr lang="en-US"/>
              <a:t>All the input and output data are of the same dimension and one-hot encoded </a:t>
            </a:r>
          </a:p>
        </p:txBody>
      </p:sp>
      <p:pic>
        <p:nvPicPr>
          <p:cNvPr id="4" name="Picture 3"/>
          <p:cNvPicPr>
            <a:picLocks noChangeAspect="1"/>
          </p:cNvPicPr>
          <p:nvPr/>
        </p:nvPicPr>
        <p:blipFill>
          <a:blip r:embed="rId2"/>
          <a:stretch>
            <a:fillRect/>
          </a:stretch>
        </p:blipFill>
        <p:spPr>
          <a:xfrm>
            <a:off x="8528180" y="1361784"/>
            <a:ext cx="3627135" cy="4224903"/>
          </a:xfrm>
          <a:prstGeom prst="rect">
            <a:avLst/>
          </a:prstGeom>
        </p:spPr>
      </p:pic>
    </p:spTree>
    <p:extLst>
      <p:ext uri="{BB962C8B-B14F-4D97-AF65-F5344CB8AC3E}">
        <p14:creationId xmlns:p14="http://schemas.microsoft.com/office/powerpoint/2010/main" val="2769920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CBOW model for generating vectors</a:t>
            </a:r>
          </a:p>
        </p:txBody>
      </p:sp>
      <p:sp>
        <p:nvSpPr>
          <p:cNvPr id="3" name="Text Placeholder 2"/>
          <p:cNvSpPr>
            <a:spLocks noGrp="1"/>
          </p:cNvSpPr>
          <p:nvPr>
            <p:ph type="body" idx="1"/>
          </p:nvPr>
        </p:nvSpPr>
        <p:spPr>
          <a:xfrm>
            <a:off x="685800" y="1119188"/>
            <a:ext cx="7394510" cy="5237162"/>
          </a:xfrm>
        </p:spPr>
        <p:txBody>
          <a:bodyPr/>
          <a:lstStyle/>
          <a:p>
            <a:r>
              <a:rPr lang="en-US"/>
              <a:t>Continuous Bag of Words (CBOW) is very similar to skip-gram, except that it swaps the input and output</a:t>
            </a:r>
          </a:p>
          <a:p>
            <a:r>
              <a:rPr lang="en-US"/>
              <a:t>The idea is that given a context, we want to know which word (target) is most likely to appear in it</a:t>
            </a:r>
          </a:p>
        </p:txBody>
      </p:sp>
      <p:pic>
        <p:nvPicPr>
          <p:cNvPr id="4" name="Picture 3"/>
          <p:cNvPicPr>
            <a:picLocks noChangeAspect="1"/>
          </p:cNvPicPr>
          <p:nvPr/>
        </p:nvPicPr>
        <p:blipFill>
          <a:blip r:embed="rId2"/>
          <a:stretch>
            <a:fillRect/>
          </a:stretch>
        </p:blipFill>
        <p:spPr>
          <a:xfrm>
            <a:off x="8742502" y="1369658"/>
            <a:ext cx="2880610" cy="3558848"/>
          </a:xfrm>
          <a:prstGeom prst="rect">
            <a:avLst/>
          </a:prstGeom>
        </p:spPr>
      </p:pic>
    </p:spTree>
    <p:extLst>
      <p:ext uri="{BB962C8B-B14F-4D97-AF65-F5344CB8AC3E}">
        <p14:creationId xmlns:p14="http://schemas.microsoft.com/office/powerpoint/2010/main" val="1488647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Skip-gram vs CBOW</a:t>
            </a:r>
          </a:p>
        </p:txBody>
      </p:sp>
      <p:sp>
        <p:nvSpPr>
          <p:cNvPr id="3" name="Text Placeholder 2"/>
          <p:cNvSpPr>
            <a:spLocks noGrp="1"/>
          </p:cNvSpPr>
          <p:nvPr>
            <p:ph type="body" idx="1"/>
          </p:nvPr>
        </p:nvSpPr>
        <p:spPr/>
        <p:txBody>
          <a:bodyPr>
            <a:normAutofit fontScale="92500" lnSpcReduction="10000"/>
          </a:bodyPr>
          <a:lstStyle/>
          <a:p>
            <a:r>
              <a:rPr lang="en-US"/>
              <a:t>Skip-gram and CBOW differ in processing the input</a:t>
            </a:r>
          </a:p>
          <a:p>
            <a:pPr lvl="1"/>
            <a:r>
              <a:rPr lang="en-US"/>
              <a:t>For CBOW, all the context words are fed into the network and an average of the activation values are passed to the next stage</a:t>
            </a:r>
          </a:p>
          <a:p>
            <a:pPr lvl="1"/>
            <a:r>
              <a:rPr lang="en-US"/>
              <a:t>For skip-gram, only the target word is fed to the network input while context words are expected as output</a:t>
            </a:r>
          </a:p>
          <a:p>
            <a:r>
              <a:rPr lang="en-US"/>
              <a:t>The dimensions of the hidden layer and the output layer are the same for both models</a:t>
            </a:r>
          </a:p>
          <a:p>
            <a:pPr lvl="1"/>
            <a:r>
              <a:rPr lang="en-US"/>
              <a:t>However there are some changes in the auto-encoder computations. If we have 4 target words, we will compute in the following way: </a:t>
            </a:r>
          </a:p>
          <a:p>
            <a:pPr lvl="2"/>
            <a:r>
              <a:rPr lang="en-US">
                <a:solidFill>
                  <a:schemeClr val="accent2"/>
                </a:solidFill>
              </a:rPr>
              <a:t>For 4 context words, we will have 4 1xV input vectors 	</a:t>
            </a:r>
          </a:p>
          <a:p>
            <a:pPr lvl="2"/>
            <a:r>
              <a:rPr lang="en-US">
                <a:solidFill>
                  <a:schemeClr val="accent2"/>
                </a:solidFill>
              </a:rPr>
              <a:t>Each will be multiplied with the </a:t>
            </a:r>
            <a:r>
              <a:rPr lang="en-US" err="1">
                <a:solidFill>
                  <a:schemeClr val="accent2"/>
                </a:solidFill>
              </a:rPr>
              <a:t>VxE</a:t>
            </a:r>
            <a:r>
              <a:rPr lang="en-US">
                <a:solidFill>
                  <a:schemeClr val="accent2"/>
                </a:solidFill>
              </a:rPr>
              <a:t> hidden layer producing 1xE vectors</a:t>
            </a:r>
          </a:p>
          <a:p>
            <a:pPr lvl="3"/>
            <a:r>
              <a:rPr lang="en-US">
                <a:solidFill>
                  <a:srgbClr val="002060"/>
                </a:solidFill>
              </a:rPr>
              <a:t>All 4 1xE vectors will be averaged element-wise to obtain the final activation which then will be fed into the </a:t>
            </a:r>
            <a:r>
              <a:rPr lang="en-US" err="1">
                <a:solidFill>
                  <a:srgbClr val="002060"/>
                </a:solidFill>
              </a:rPr>
              <a:t>softmax</a:t>
            </a:r>
            <a:r>
              <a:rPr lang="en-US">
                <a:solidFill>
                  <a:srgbClr val="002060"/>
                </a:solidFill>
              </a:rPr>
              <a:t> layer</a:t>
            </a:r>
          </a:p>
          <a:p>
            <a:r>
              <a:rPr lang="en-US"/>
              <a:t>It is claimed that Skip-gram tends to do better in rare words. Nevertheless, the performance of Skip-gram and CBOW are generally similar.</a:t>
            </a:r>
          </a:p>
          <a:p>
            <a:endParaRPr lang="en-US"/>
          </a:p>
        </p:txBody>
      </p:sp>
    </p:spTree>
    <p:extLst>
      <p:ext uri="{BB962C8B-B14F-4D97-AF65-F5344CB8AC3E}">
        <p14:creationId xmlns:p14="http://schemas.microsoft.com/office/powerpoint/2010/main" val="3312377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Fasttext</a:t>
            </a:r>
            <a:endParaRPr lang="en-US"/>
          </a:p>
        </p:txBody>
      </p:sp>
      <p:sp>
        <p:nvSpPr>
          <p:cNvPr id="3" name="Text Placeholder 2"/>
          <p:cNvSpPr>
            <a:spLocks noGrp="1"/>
          </p:cNvSpPr>
          <p:nvPr>
            <p:ph type="body" idx="1"/>
          </p:nvPr>
        </p:nvSpPr>
        <p:spPr/>
        <p:txBody>
          <a:bodyPr/>
          <a:lstStyle/>
          <a:p>
            <a:r>
              <a:rPr lang="en-US"/>
              <a:t>Each word is represented as a bag of character n-grams</a:t>
            </a:r>
          </a:p>
          <a:p>
            <a:r>
              <a:rPr lang="en-US"/>
              <a:t>A vector representation is associated with each character n-gram</a:t>
            </a:r>
          </a:p>
          <a:p>
            <a:pPr lvl="1"/>
            <a:r>
              <a:rPr lang="en-US"/>
              <a:t>Words being represented as the sum of these representations</a:t>
            </a:r>
          </a:p>
          <a:p>
            <a:pPr lvl="1"/>
            <a:r>
              <a:rPr lang="en-US"/>
              <a:t>Vectors found for the sub-words are added to get the vectors for the main word</a:t>
            </a:r>
          </a:p>
          <a:p>
            <a:r>
              <a:rPr lang="en-US"/>
              <a:t>The original embedding dimension was 300 and was trained using wiki datasets</a:t>
            </a:r>
          </a:p>
          <a:p>
            <a:r>
              <a:rPr lang="en-US"/>
              <a:t>They used negative sampling for optimization</a:t>
            </a:r>
          </a:p>
          <a:p>
            <a:r>
              <a:rPr lang="en-US"/>
              <a:t>Performance is not significantly better than the Word2Vec</a:t>
            </a:r>
          </a:p>
          <a:p>
            <a:r>
              <a:rPr lang="en-US" err="1"/>
              <a:t>FastText</a:t>
            </a:r>
            <a:r>
              <a:rPr lang="en-US"/>
              <a:t> originally used the </a:t>
            </a:r>
            <a:r>
              <a:rPr lang="en-US" err="1"/>
              <a:t>skipgram</a:t>
            </a:r>
            <a:r>
              <a:rPr lang="en-US"/>
              <a:t> model for training</a:t>
            </a:r>
          </a:p>
        </p:txBody>
      </p:sp>
    </p:spTree>
    <p:extLst>
      <p:ext uri="{BB962C8B-B14F-4D97-AF65-F5344CB8AC3E}">
        <p14:creationId xmlns:p14="http://schemas.microsoft.com/office/powerpoint/2010/main" val="335294609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1</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CSE495B (Natural Language Processing) Lecture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Word Embeddings are Dense Vectors</vt:lpstr>
      <vt:lpstr>PowerPoint Presentation</vt:lpstr>
      <vt:lpstr>PowerPoint Presentation</vt:lpstr>
      <vt:lpstr>PowerPoint Presentation</vt:lpstr>
      <vt:lpstr>PowerPoint Presentation</vt:lpstr>
      <vt:lpstr>PowerPoint Presentation</vt:lpstr>
      <vt:lpstr>PowerPoint Presentation</vt:lpstr>
      <vt:lpstr>Autoencoder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Skip-gram model for generating vectors</vt:lpstr>
      <vt:lpstr>CBOW model for generating vectors</vt:lpstr>
      <vt:lpstr>Skip-gram vs CBOW</vt:lpstr>
      <vt:lpstr>Fasttext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495 (Natural Language Processing) Lecture 2</dc:title>
  <dc:creator>Mohammad Khan</dc:creator>
  <cp:revision>136</cp:revision>
  <dcterms:created xsi:type="dcterms:W3CDTF">2018-11-03T12:07:21Z</dcterms:created>
  <dcterms:modified xsi:type="dcterms:W3CDTF">2025-11-04T13:27:43Z</dcterms:modified>
</cp:coreProperties>
</file>