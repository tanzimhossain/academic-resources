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9.xml" ContentType="application/inkml+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54"/>
  </p:notesMasterIdLst>
  <p:sldIdLst>
    <p:sldId id="256" r:id="rId5"/>
    <p:sldId id="325" r:id="rId6"/>
    <p:sldId id="326" r:id="rId7"/>
    <p:sldId id="327" r:id="rId8"/>
    <p:sldId id="328" r:id="rId9"/>
    <p:sldId id="619" r:id="rId10"/>
    <p:sldId id="276" r:id="rId11"/>
    <p:sldId id="639" r:id="rId12"/>
    <p:sldId id="621" r:id="rId13"/>
    <p:sldId id="563" r:id="rId14"/>
    <p:sldId id="277" r:id="rId15"/>
    <p:sldId id="278" r:id="rId16"/>
    <p:sldId id="568" r:id="rId17"/>
    <p:sldId id="279" r:id="rId18"/>
    <p:sldId id="280" r:id="rId19"/>
    <p:sldId id="281" r:id="rId20"/>
    <p:sldId id="282" r:id="rId21"/>
    <p:sldId id="640" r:id="rId22"/>
    <p:sldId id="641" r:id="rId23"/>
    <p:sldId id="642" r:id="rId24"/>
    <p:sldId id="644" r:id="rId25"/>
    <p:sldId id="649" r:id="rId26"/>
    <p:sldId id="648" r:id="rId27"/>
    <p:sldId id="645" r:id="rId28"/>
    <p:sldId id="646" r:id="rId29"/>
    <p:sldId id="650" r:id="rId30"/>
    <p:sldId id="660" r:id="rId31"/>
    <p:sldId id="661" r:id="rId32"/>
    <p:sldId id="662" r:id="rId33"/>
    <p:sldId id="663" r:id="rId34"/>
    <p:sldId id="664" r:id="rId35"/>
    <p:sldId id="665" r:id="rId36"/>
    <p:sldId id="643" r:id="rId37"/>
    <p:sldId id="651" r:id="rId38"/>
    <p:sldId id="652" r:id="rId39"/>
    <p:sldId id="654" r:id="rId40"/>
    <p:sldId id="655" r:id="rId41"/>
    <p:sldId id="656" r:id="rId42"/>
    <p:sldId id="657" r:id="rId43"/>
    <p:sldId id="658" r:id="rId44"/>
    <p:sldId id="659" r:id="rId45"/>
    <p:sldId id="666" r:id="rId46"/>
    <p:sldId id="667" r:id="rId47"/>
    <p:sldId id="673" r:id="rId48"/>
    <p:sldId id="674" r:id="rId49"/>
    <p:sldId id="677" r:id="rId50"/>
    <p:sldId id="675" r:id="rId51"/>
    <p:sldId id="676" r:id="rId52"/>
    <p:sldId id="669" r:id="rId5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2" roundtripDataSignature="AMtx7miLAPrl4d+V1IstkCCj/PL+6qtYP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21225-17F6-8312-9F26-3378BD1531EC}" v="81" dt="2025-10-06T08:40:16.082"/>
    <p1510:client id="{1D7B4017-8040-A9A7-75C8-39C7FBCBEA1B}" v="19" dt="2025-10-05T07:44:32.113"/>
    <p1510:client id="{99B1FE93-2E06-0192-B71F-0E346034CDFA}" v="136" dt="2025-10-06T18:36:06.633"/>
    <p1510:client id="{DC5E375B-7598-CE6F-E9D7-4F11D68AD039}" v="63" dt="2025-10-06T20:50:23.967"/>
  </p1510:revLst>
</p1510:revInfo>
</file>

<file path=ppt/tableStyles.xml><?xml version="1.0" encoding="utf-8"?>
<a:tblStyleLst xmlns:a="http://schemas.openxmlformats.org/drawingml/2006/main" def="{E1EA1CD8-9A49-4420-9597-29AC4BAAC592}">
  <a:tblStyle styleId="{E1EA1CD8-9A49-4420-9597-29AC4BAAC59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12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123" Type="http://schemas.openxmlformats.org/officeDocument/2006/relationships/presProps" Target="presProps.xml"/><Relationship Id="rId12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12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124"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2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12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Khan" userId="S::mohammad.khan02@northsouth.edu::66e9fb8e-4ed6-4e1e-bddc-ac99ec076f45" providerId="AD" clId="Web-{10A21225-17F6-8312-9F26-3378BD1531EC}"/>
    <pc:docChg chg="modSld">
      <pc:chgData name="Mohammad Khan" userId="S::mohammad.khan02@northsouth.edu::66e9fb8e-4ed6-4e1e-bddc-ac99ec076f45" providerId="AD" clId="Web-{10A21225-17F6-8312-9F26-3378BD1531EC}" dt="2025-10-06T08:40:15.910" v="79" actId="20577"/>
      <pc:docMkLst>
        <pc:docMk/>
      </pc:docMkLst>
      <pc:sldChg chg="modSp">
        <pc:chgData name="Mohammad Khan" userId="S::mohammad.khan02@northsouth.edu::66e9fb8e-4ed6-4e1e-bddc-ac99ec076f45" providerId="AD" clId="Web-{10A21225-17F6-8312-9F26-3378BD1531EC}" dt="2025-10-06T08:26:18.653" v="17" actId="20577"/>
        <pc:sldMkLst>
          <pc:docMk/>
          <pc:sldMk cId="3680060763" sldId="279"/>
        </pc:sldMkLst>
        <pc:spChg chg="mod">
          <ac:chgData name="Mohammad Khan" userId="S::mohammad.khan02@northsouth.edu::66e9fb8e-4ed6-4e1e-bddc-ac99ec076f45" providerId="AD" clId="Web-{10A21225-17F6-8312-9F26-3378BD1531EC}" dt="2025-10-06T08:26:18.653" v="17" actId="20577"/>
          <ac:spMkLst>
            <pc:docMk/>
            <pc:sldMk cId="3680060763" sldId="279"/>
            <ac:spMk id="3" creationId="{11B14828-126A-2343-BBF0-6E49F1149D7E}"/>
          </ac:spMkLst>
        </pc:spChg>
      </pc:sldChg>
      <pc:sldChg chg="modSp">
        <pc:chgData name="Mohammad Khan" userId="S::mohammad.khan02@northsouth.edu::66e9fb8e-4ed6-4e1e-bddc-ac99ec076f45" providerId="AD" clId="Web-{10A21225-17F6-8312-9F26-3378BD1531EC}" dt="2025-10-06T08:29:06.326" v="26" actId="20577"/>
        <pc:sldMkLst>
          <pc:docMk/>
          <pc:sldMk cId="4120298702" sldId="280"/>
        </pc:sldMkLst>
        <pc:spChg chg="mod">
          <ac:chgData name="Mohammad Khan" userId="S::mohammad.khan02@northsouth.edu::66e9fb8e-4ed6-4e1e-bddc-ac99ec076f45" providerId="AD" clId="Web-{10A21225-17F6-8312-9F26-3378BD1531EC}" dt="2025-10-06T08:29:06.326" v="26" actId="20577"/>
          <ac:spMkLst>
            <pc:docMk/>
            <pc:sldMk cId="4120298702" sldId="280"/>
            <ac:spMk id="3" creationId="{9C18861E-1F96-4748-94CC-84C3D155C7E1}"/>
          </ac:spMkLst>
        </pc:spChg>
      </pc:sldChg>
      <pc:sldChg chg="modSp">
        <pc:chgData name="Mohammad Khan" userId="S::mohammad.khan02@northsouth.edu::66e9fb8e-4ed6-4e1e-bddc-ac99ec076f45" providerId="AD" clId="Web-{10A21225-17F6-8312-9F26-3378BD1531EC}" dt="2025-10-06T08:29:51.827" v="33" actId="20577"/>
        <pc:sldMkLst>
          <pc:docMk/>
          <pc:sldMk cId="3851682717" sldId="281"/>
        </pc:sldMkLst>
        <pc:spChg chg="mod">
          <ac:chgData name="Mohammad Khan" userId="S::mohammad.khan02@northsouth.edu::66e9fb8e-4ed6-4e1e-bddc-ac99ec076f45" providerId="AD" clId="Web-{10A21225-17F6-8312-9F26-3378BD1531EC}" dt="2025-10-06T08:29:51.827" v="33" actId="20577"/>
          <ac:spMkLst>
            <pc:docMk/>
            <pc:sldMk cId="3851682717" sldId="281"/>
            <ac:spMk id="3" creationId="{2D684DF5-F27C-DC4F-928A-E269BE7F639B}"/>
          </ac:spMkLst>
        </pc:spChg>
      </pc:sldChg>
      <pc:sldChg chg="delAnim">
        <pc:chgData name="Mohammad Khan" userId="S::mohammad.khan02@northsouth.edu::66e9fb8e-4ed6-4e1e-bddc-ac99ec076f45" providerId="AD" clId="Web-{10A21225-17F6-8312-9F26-3378BD1531EC}" dt="2025-10-06T08:24:26.028" v="3"/>
        <pc:sldMkLst>
          <pc:docMk/>
          <pc:sldMk cId="306123449" sldId="563"/>
        </pc:sldMkLst>
      </pc:sldChg>
      <pc:sldChg chg="delAnim">
        <pc:chgData name="Mohammad Khan" userId="S::mohammad.khan02@northsouth.edu::66e9fb8e-4ed6-4e1e-bddc-ac99ec076f45" providerId="AD" clId="Web-{10A21225-17F6-8312-9F26-3378BD1531EC}" dt="2025-10-06T08:24:43.434" v="13"/>
        <pc:sldMkLst>
          <pc:docMk/>
          <pc:sldMk cId="1553407385" sldId="568"/>
        </pc:sldMkLst>
      </pc:sldChg>
      <pc:sldChg chg="modSp">
        <pc:chgData name="Mohammad Khan" userId="S::mohammad.khan02@northsouth.edu::66e9fb8e-4ed6-4e1e-bddc-ac99ec076f45" providerId="AD" clId="Web-{10A21225-17F6-8312-9F26-3378BD1531EC}" dt="2025-10-06T08:30:39.750" v="38" actId="20577"/>
        <pc:sldMkLst>
          <pc:docMk/>
          <pc:sldMk cId="333807930" sldId="640"/>
        </pc:sldMkLst>
        <pc:spChg chg="mod">
          <ac:chgData name="Mohammad Khan" userId="S::mohammad.khan02@northsouth.edu::66e9fb8e-4ed6-4e1e-bddc-ac99ec076f45" providerId="AD" clId="Web-{10A21225-17F6-8312-9F26-3378BD1531EC}" dt="2025-10-06T08:30:39.750" v="38" actId="20577"/>
          <ac:spMkLst>
            <pc:docMk/>
            <pc:sldMk cId="333807930" sldId="640"/>
            <ac:spMk id="3" creationId="{DBA97674-060D-3A3F-FE33-BC5FEC46048B}"/>
          </ac:spMkLst>
        </pc:spChg>
      </pc:sldChg>
      <pc:sldChg chg="modSp">
        <pc:chgData name="Mohammad Khan" userId="S::mohammad.khan02@northsouth.edu::66e9fb8e-4ed6-4e1e-bddc-ac99ec076f45" providerId="AD" clId="Web-{10A21225-17F6-8312-9F26-3378BD1531EC}" dt="2025-10-06T08:34:08.611" v="70" actId="20577"/>
        <pc:sldMkLst>
          <pc:docMk/>
          <pc:sldMk cId="76019846" sldId="641"/>
        </pc:sldMkLst>
        <pc:spChg chg="mod">
          <ac:chgData name="Mohammad Khan" userId="S::mohammad.khan02@northsouth.edu::66e9fb8e-4ed6-4e1e-bddc-ac99ec076f45" providerId="AD" clId="Web-{10A21225-17F6-8312-9F26-3378BD1531EC}" dt="2025-10-06T08:34:08.611" v="70" actId="20577"/>
          <ac:spMkLst>
            <pc:docMk/>
            <pc:sldMk cId="76019846" sldId="641"/>
            <ac:spMk id="2" creationId="{E9F284C2-9A1A-132A-A98D-A8F139D3BF48}"/>
          </ac:spMkLst>
        </pc:spChg>
        <pc:spChg chg="mod">
          <ac:chgData name="Mohammad Khan" userId="S::mohammad.khan02@northsouth.edu::66e9fb8e-4ed6-4e1e-bddc-ac99ec076f45" providerId="AD" clId="Web-{10A21225-17F6-8312-9F26-3378BD1531EC}" dt="2025-10-06T08:34:02.424" v="65" actId="20577"/>
          <ac:spMkLst>
            <pc:docMk/>
            <pc:sldMk cId="76019846" sldId="641"/>
            <ac:spMk id="3" creationId="{D3F283AE-4191-2FA6-B365-54CBCB894509}"/>
          </ac:spMkLst>
        </pc:spChg>
      </pc:sldChg>
      <pc:sldChg chg="delSp modSp">
        <pc:chgData name="Mohammad Khan" userId="S::mohammad.khan02@northsouth.edu::66e9fb8e-4ed6-4e1e-bddc-ac99ec076f45" providerId="AD" clId="Web-{10A21225-17F6-8312-9F26-3378BD1531EC}" dt="2025-10-06T08:34:35.705" v="74"/>
        <pc:sldMkLst>
          <pc:docMk/>
          <pc:sldMk cId="2562061995" sldId="642"/>
        </pc:sldMkLst>
        <pc:spChg chg="mod">
          <ac:chgData name="Mohammad Khan" userId="S::mohammad.khan02@northsouth.edu::66e9fb8e-4ed6-4e1e-bddc-ac99ec076f45" providerId="AD" clId="Web-{10A21225-17F6-8312-9F26-3378BD1531EC}" dt="2025-10-06T08:34:18.174" v="73" actId="20577"/>
          <ac:spMkLst>
            <pc:docMk/>
            <pc:sldMk cId="2562061995" sldId="642"/>
            <ac:spMk id="2" creationId="{F81A492B-ADFF-8EA6-A567-211780559507}"/>
          </ac:spMkLst>
        </pc:spChg>
        <pc:inkChg chg="del">
          <ac:chgData name="Mohammad Khan" userId="S::mohammad.khan02@northsouth.edu::66e9fb8e-4ed6-4e1e-bddc-ac99ec076f45" providerId="AD" clId="Web-{10A21225-17F6-8312-9F26-3378BD1531EC}" dt="2025-10-06T08:34:35.705" v="74"/>
          <ac:inkMkLst>
            <pc:docMk/>
            <pc:sldMk cId="2562061995" sldId="642"/>
            <ac:inkMk id="30" creationId="{85AAE1D8-2A1A-346B-760F-94AAC67E8C78}"/>
          </ac:inkMkLst>
        </pc:inkChg>
      </pc:sldChg>
      <pc:sldChg chg="addSp delSp modSp">
        <pc:chgData name="Mohammad Khan" userId="S::mohammad.khan02@northsouth.edu::66e9fb8e-4ed6-4e1e-bddc-ac99ec076f45" providerId="AD" clId="Web-{10A21225-17F6-8312-9F26-3378BD1531EC}" dt="2025-10-06T08:40:15.910" v="79" actId="20577"/>
        <pc:sldMkLst>
          <pc:docMk/>
          <pc:sldMk cId="893083900" sldId="648"/>
        </pc:sldMkLst>
        <pc:spChg chg="mod">
          <ac:chgData name="Mohammad Khan" userId="S::mohammad.khan02@northsouth.edu::66e9fb8e-4ed6-4e1e-bddc-ac99ec076f45" providerId="AD" clId="Web-{10A21225-17F6-8312-9F26-3378BD1531EC}" dt="2025-10-06T08:40:15.910" v="79" actId="20577"/>
          <ac:spMkLst>
            <pc:docMk/>
            <pc:sldMk cId="893083900" sldId="648"/>
            <ac:spMk id="3" creationId="{00000000-0000-0000-0000-000000000000}"/>
          </ac:spMkLst>
        </pc:spChg>
        <pc:inkChg chg="add">
          <ac:chgData name="Mohammad Khan" userId="S::mohammad.khan02@northsouth.edu::66e9fb8e-4ed6-4e1e-bddc-ac99ec076f45" providerId="AD" clId="Web-{10A21225-17F6-8312-9F26-3378BD1531EC}" dt="2025-10-06T08:39:31.910" v="76"/>
          <ac:inkMkLst>
            <pc:docMk/>
            <pc:sldMk cId="893083900" sldId="648"/>
            <ac:inkMk id="4" creationId="{F345CC25-3345-ADCC-C54D-B6684D26E11F}"/>
          </ac:inkMkLst>
        </pc:inkChg>
        <pc:inkChg chg="del">
          <ac:chgData name="Mohammad Khan" userId="S::mohammad.khan02@northsouth.edu::66e9fb8e-4ed6-4e1e-bddc-ac99ec076f45" providerId="AD" clId="Web-{10A21225-17F6-8312-9F26-3378BD1531EC}" dt="2025-10-06T08:39:25.081" v="75"/>
          <ac:inkMkLst>
            <pc:docMk/>
            <pc:sldMk cId="893083900" sldId="648"/>
            <ac:inkMk id="21" creationId="{26C2078A-0388-8CDA-91DB-E3B1303ECF85}"/>
          </ac:inkMkLst>
        </pc:inkChg>
      </pc:sldChg>
    </pc:docChg>
  </pc:docChgLst>
  <pc:docChgLst>
    <pc:chgData name="Mohammad Khan" userId="S::mohammad.khan02@northsouth.edu::66e9fb8e-4ed6-4e1e-bddc-ac99ec076f45" providerId="AD" clId="Web-{16766537-7C26-C2D0-6EF0-9746396A5B05}"/>
    <pc:docChg chg="addSld modSld">
      <pc:chgData name="Mohammad Khan" userId="S::mohammad.khan02@northsouth.edu::66e9fb8e-4ed6-4e1e-bddc-ac99ec076f45" providerId="AD" clId="Web-{16766537-7C26-C2D0-6EF0-9746396A5B05}" dt="2025-10-04T20:36:21.804" v="523"/>
      <pc:docMkLst>
        <pc:docMk/>
      </pc:docMkLst>
      <pc:sldChg chg="modSp">
        <pc:chgData name="Mohammad Khan" userId="S::mohammad.khan02@northsouth.edu::66e9fb8e-4ed6-4e1e-bddc-ac99ec076f45" providerId="AD" clId="Web-{16766537-7C26-C2D0-6EF0-9746396A5B05}" dt="2025-10-04T20:30:44.938" v="9" actId="20577"/>
        <pc:sldMkLst>
          <pc:docMk/>
          <pc:sldMk cId="0" sldId="256"/>
        </pc:sldMkLst>
        <pc:spChg chg="mod">
          <ac:chgData name="Mohammad Khan" userId="S::mohammad.khan02@northsouth.edu::66e9fb8e-4ed6-4e1e-bddc-ac99ec076f45" providerId="AD" clId="Web-{16766537-7C26-C2D0-6EF0-9746396A5B05}" dt="2025-10-04T20:30:44.938" v="9" actId="20577"/>
          <ac:spMkLst>
            <pc:docMk/>
            <pc:sldMk cId="0" sldId="256"/>
            <ac:spMk id="90" creationId="{00000000-0000-0000-0000-000000000000}"/>
          </ac:spMkLst>
        </pc:spChg>
        <pc:spChg chg="mod">
          <ac:chgData name="Mohammad Khan" userId="S::mohammad.khan02@northsouth.edu::66e9fb8e-4ed6-4e1e-bddc-ac99ec076f45" providerId="AD" clId="Web-{16766537-7C26-C2D0-6EF0-9746396A5B05}" dt="2025-10-04T20:27:44.071" v="3" actId="20577"/>
          <ac:spMkLst>
            <pc:docMk/>
            <pc:sldMk cId="0" sldId="256"/>
            <ac:spMk id="91" creationId="{00000000-0000-0000-0000-000000000000}"/>
          </ac:spMkLst>
        </pc:spChg>
      </pc:sldChg>
      <pc:sldChg chg="delSp">
        <pc:chgData name="Mohammad Khan" userId="S::mohammad.khan02@northsouth.edu::66e9fb8e-4ed6-4e1e-bddc-ac99ec076f45" providerId="AD" clId="Web-{16766537-7C26-C2D0-6EF0-9746396A5B05}" dt="2025-10-04T20:33:18.093" v="219"/>
        <pc:sldMkLst>
          <pc:docMk/>
          <pc:sldMk cId="3680060763" sldId="279"/>
        </pc:sldMkLst>
      </pc:sldChg>
      <pc:sldChg chg="delSp">
        <pc:chgData name="Mohammad Khan" userId="S::mohammad.khan02@northsouth.edu::66e9fb8e-4ed6-4e1e-bddc-ac99ec076f45" providerId="AD" clId="Web-{16766537-7C26-C2D0-6EF0-9746396A5B05}" dt="2025-10-04T20:33:23.156" v="225"/>
        <pc:sldMkLst>
          <pc:docMk/>
          <pc:sldMk cId="4120298702" sldId="280"/>
        </pc:sldMkLst>
      </pc:sldChg>
      <pc:sldChg chg="delSp">
        <pc:chgData name="Mohammad Khan" userId="S::mohammad.khan02@northsouth.edu::66e9fb8e-4ed6-4e1e-bddc-ac99ec076f45" providerId="AD" clId="Web-{16766537-7C26-C2D0-6EF0-9746396A5B05}" dt="2025-10-04T20:33:11.463" v="213"/>
        <pc:sldMkLst>
          <pc:docMk/>
          <pc:sldMk cId="3851682717" sldId="281"/>
        </pc:sldMkLst>
      </pc:sldChg>
      <pc:sldChg chg="delSp">
        <pc:chgData name="Mohammad Khan" userId="S::mohammad.khan02@northsouth.edu::66e9fb8e-4ed6-4e1e-bddc-ac99ec076f45" providerId="AD" clId="Web-{16766537-7C26-C2D0-6EF0-9746396A5B05}" dt="2025-10-04T20:33:05.041" v="196"/>
        <pc:sldMkLst>
          <pc:docMk/>
          <pc:sldMk cId="3343380527" sldId="282"/>
        </pc:sldMkLst>
      </pc:sldChg>
      <pc:sldChg chg="add">
        <pc:chgData name="Mohammad Khan" userId="S::mohammad.khan02@northsouth.edu::66e9fb8e-4ed6-4e1e-bddc-ac99ec076f45" providerId="AD" clId="Web-{16766537-7C26-C2D0-6EF0-9746396A5B05}" dt="2025-10-04T20:28:30.557" v="4"/>
        <pc:sldMkLst>
          <pc:docMk/>
          <pc:sldMk cId="177946181" sldId="325"/>
        </pc:sldMkLst>
      </pc:sldChg>
      <pc:sldChg chg="add">
        <pc:chgData name="Mohammad Khan" userId="S::mohammad.khan02@northsouth.edu::66e9fb8e-4ed6-4e1e-bddc-ac99ec076f45" providerId="AD" clId="Web-{16766537-7C26-C2D0-6EF0-9746396A5B05}" dt="2025-10-04T20:28:30.604" v="5"/>
        <pc:sldMkLst>
          <pc:docMk/>
          <pc:sldMk cId="4053677933" sldId="326"/>
        </pc:sldMkLst>
      </pc:sldChg>
      <pc:sldChg chg="add">
        <pc:chgData name="Mohammad Khan" userId="S::mohammad.khan02@northsouth.edu::66e9fb8e-4ed6-4e1e-bddc-ac99ec076f45" providerId="AD" clId="Web-{16766537-7C26-C2D0-6EF0-9746396A5B05}" dt="2025-10-04T20:28:30.667" v="6"/>
        <pc:sldMkLst>
          <pc:docMk/>
          <pc:sldMk cId="1856886256" sldId="327"/>
        </pc:sldMkLst>
      </pc:sldChg>
      <pc:sldChg chg="add">
        <pc:chgData name="Mohammad Khan" userId="S::mohammad.khan02@northsouth.edu::66e9fb8e-4ed6-4e1e-bddc-ac99ec076f45" providerId="AD" clId="Web-{16766537-7C26-C2D0-6EF0-9746396A5B05}" dt="2025-10-04T20:28:30.729" v="7"/>
        <pc:sldMkLst>
          <pc:docMk/>
          <pc:sldMk cId="159303690" sldId="328"/>
        </pc:sldMkLst>
      </pc:sldChg>
      <pc:sldChg chg="delSp">
        <pc:chgData name="Mohammad Khan" userId="S::mohammad.khan02@northsouth.edu::66e9fb8e-4ed6-4e1e-bddc-ac99ec076f45" providerId="AD" clId="Web-{16766537-7C26-C2D0-6EF0-9746396A5B05}" dt="2025-10-04T20:33:02.479" v="194"/>
        <pc:sldMkLst>
          <pc:docMk/>
          <pc:sldMk cId="333807930" sldId="640"/>
        </pc:sldMkLst>
      </pc:sldChg>
      <pc:sldChg chg="delSp">
        <pc:chgData name="Mohammad Khan" userId="S::mohammad.khan02@northsouth.edu::66e9fb8e-4ed6-4e1e-bddc-ac99ec076f45" providerId="AD" clId="Web-{16766537-7C26-C2D0-6EF0-9746396A5B05}" dt="2025-10-04T20:32:54.463" v="188"/>
        <pc:sldMkLst>
          <pc:docMk/>
          <pc:sldMk cId="76019846" sldId="641"/>
        </pc:sldMkLst>
      </pc:sldChg>
      <pc:sldChg chg="delSp">
        <pc:chgData name="Mohammad Khan" userId="S::mohammad.khan02@northsouth.edu::66e9fb8e-4ed6-4e1e-bddc-ac99ec076f45" providerId="AD" clId="Web-{16766537-7C26-C2D0-6EF0-9746396A5B05}" dt="2025-10-04T20:32:48.322" v="185"/>
        <pc:sldMkLst>
          <pc:docMk/>
          <pc:sldMk cId="2562061995" sldId="642"/>
        </pc:sldMkLst>
      </pc:sldChg>
      <pc:sldChg chg="delSp">
        <pc:chgData name="Mohammad Khan" userId="S::mohammad.khan02@northsouth.edu::66e9fb8e-4ed6-4e1e-bddc-ac99ec076f45" providerId="AD" clId="Web-{16766537-7C26-C2D0-6EF0-9746396A5B05}" dt="2025-10-04T20:34:05.063" v="277"/>
        <pc:sldMkLst>
          <pc:docMk/>
          <pc:sldMk cId="2342758560" sldId="643"/>
        </pc:sldMkLst>
      </pc:sldChg>
      <pc:sldChg chg="delSp">
        <pc:chgData name="Mohammad Khan" userId="S::mohammad.khan02@northsouth.edu::66e9fb8e-4ed6-4e1e-bddc-ac99ec076f45" providerId="AD" clId="Web-{16766537-7C26-C2D0-6EF0-9746396A5B05}" dt="2025-10-04T20:32:30.681" v="143"/>
        <pc:sldMkLst>
          <pc:docMk/>
          <pc:sldMk cId="3380374143" sldId="644"/>
        </pc:sldMkLst>
      </pc:sldChg>
      <pc:sldChg chg="delSp">
        <pc:chgData name="Mohammad Khan" userId="S::mohammad.khan02@northsouth.edu::66e9fb8e-4ed6-4e1e-bddc-ac99ec076f45" providerId="AD" clId="Web-{16766537-7C26-C2D0-6EF0-9746396A5B05}" dt="2025-10-04T20:32:07.629" v="96"/>
        <pc:sldMkLst>
          <pc:docMk/>
          <pc:sldMk cId="2285303741" sldId="645"/>
        </pc:sldMkLst>
      </pc:sldChg>
      <pc:sldChg chg="delSp">
        <pc:chgData name="Mohammad Khan" userId="S::mohammad.khan02@northsouth.edu::66e9fb8e-4ed6-4e1e-bddc-ac99ec076f45" providerId="AD" clId="Web-{16766537-7C26-C2D0-6EF0-9746396A5B05}" dt="2025-10-04T20:31:38.455" v="44"/>
        <pc:sldMkLst>
          <pc:docMk/>
          <pc:sldMk cId="3440170570" sldId="646"/>
        </pc:sldMkLst>
      </pc:sldChg>
      <pc:sldChg chg="delSp">
        <pc:chgData name="Mohammad Khan" userId="S::mohammad.khan02@northsouth.edu::66e9fb8e-4ed6-4e1e-bddc-ac99ec076f45" providerId="AD" clId="Web-{16766537-7C26-C2D0-6EF0-9746396A5B05}" dt="2025-10-04T20:32:13.321" v="103"/>
        <pc:sldMkLst>
          <pc:docMk/>
          <pc:sldMk cId="893083900" sldId="648"/>
        </pc:sldMkLst>
      </pc:sldChg>
      <pc:sldChg chg="delSp">
        <pc:chgData name="Mohammad Khan" userId="S::mohammad.khan02@northsouth.edu::66e9fb8e-4ed6-4e1e-bddc-ac99ec076f45" providerId="AD" clId="Web-{16766537-7C26-C2D0-6EF0-9746396A5B05}" dt="2025-10-04T20:32:22.415" v="120"/>
        <pc:sldMkLst>
          <pc:docMk/>
          <pc:sldMk cId="3445137436" sldId="649"/>
        </pc:sldMkLst>
      </pc:sldChg>
      <pc:sldChg chg="delSp">
        <pc:chgData name="Mohammad Khan" userId="S::mohammad.khan02@northsouth.edu::66e9fb8e-4ed6-4e1e-bddc-ac99ec076f45" providerId="AD" clId="Web-{16766537-7C26-C2D0-6EF0-9746396A5B05}" dt="2025-10-04T20:31:20.860" v="21"/>
        <pc:sldMkLst>
          <pc:docMk/>
          <pc:sldMk cId="544209126" sldId="650"/>
        </pc:sldMkLst>
      </pc:sldChg>
      <pc:sldChg chg="delSp">
        <pc:chgData name="Mohammad Khan" userId="S::mohammad.khan02@northsouth.edu::66e9fb8e-4ed6-4e1e-bddc-ac99ec076f45" providerId="AD" clId="Web-{16766537-7C26-C2D0-6EF0-9746396A5B05}" dt="2025-10-04T20:34:14.001" v="290"/>
        <pc:sldMkLst>
          <pc:docMk/>
          <pc:sldMk cId="163443345" sldId="651"/>
        </pc:sldMkLst>
      </pc:sldChg>
      <pc:sldChg chg="delSp">
        <pc:chgData name="Mohammad Khan" userId="S::mohammad.khan02@northsouth.edu::66e9fb8e-4ed6-4e1e-bddc-ac99ec076f45" providerId="AD" clId="Web-{16766537-7C26-C2D0-6EF0-9746396A5B05}" dt="2025-10-04T20:34:23.048" v="305"/>
        <pc:sldMkLst>
          <pc:docMk/>
          <pc:sldMk cId="4011240395" sldId="652"/>
        </pc:sldMkLst>
      </pc:sldChg>
      <pc:sldChg chg="delSp">
        <pc:chgData name="Mohammad Khan" userId="S::mohammad.khan02@northsouth.edu::66e9fb8e-4ed6-4e1e-bddc-ac99ec076f45" providerId="AD" clId="Web-{16766537-7C26-C2D0-6EF0-9746396A5B05}" dt="2025-10-04T20:34:37.923" v="343"/>
        <pc:sldMkLst>
          <pc:docMk/>
          <pc:sldMk cId="3363208649" sldId="654"/>
        </pc:sldMkLst>
      </pc:sldChg>
      <pc:sldChg chg="delSp">
        <pc:chgData name="Mohammad Khan" userId="S::mohammad.khan02@northsouth.edu::66e9fb8e-4ed6-4e1e-bddc-ac99ec076f45" providerId="AD" clId="Web-{16766537-7C26-C2D0-6EF0-9746396A5B05}" dt="2025-10-04T20:34:56.657" v="371"/>
        <pc:sldMkLst>
          <pc:docMk/>
          <pc:sldMk cId="3329326846" sldId="655"/>
        </pc:sldMkLst>
      </pc:sldChg>
      <pc:sldChg chg="delSp">
        <pc:chgData name="Mohammad Khan" userId="S::mohammad.khan02@northsouth.edu::66e9fb8e-4ed6-4e1e-bddc-ac99ec076f45" providerId="AD" clId="Web-{16766537-7C26-C2D0-6EF0-9746396A5B05}" dt="2025-10-04T20:35:13.251" v="401"/>
        <pc:sldMkLst>
          <pc:docMk/>
          <pc:sldMk cId="233874310" sldId="656"/>
        </pc:sldMkLst>
      </pc:sldChg>
      <pc:sldChg chg="delSp">
        <pc:chgData name="Mohammad Khan" userId="S::mohammad.khan02@northsouth.edu::66e9fb8e-4ed6-4e1e-bddc-ac99ec076f45" providerId="AD" clId="Web-{16766537-7C26-C2D0-6EF0-9746396A5B05}" dt="2025-10-04T20:35:18.595" v="405"/>
        <pc:sldMkLst>
          <pc:docMk/>
          <pc:sldMk cId="297327435" sldId="657"/>
        </pc:sldMkLst>
      </pc:sldChg>
      <pc:sldChg chg="delSp">
        <pc:chgData name="Mohammad Khan" userId="S::mohammad.khan02@northsouth.edu::66e9fb8e-4ed6-4e1e-bddc-ac99ec076f45" providerId="AD" clId="Web-{16766537-7C26-C2D0-6EF0-9746396A5B05}" dt="2025-10-04T20:35:35.017" v="443"/>
        <pc:sldMkLst>
          <pc:docMk/>
          <pc:sldMk cId="1119544370" sldId="658"/>
        </pc:sldMkLst>
      </pc:sldChg>
      <pc:sldChg chg="delSp">
        <pc:chgData name="Mohammad Khan" userId="S::mohammad.khan02@northsouth.edu::66e9fb8e-4ed6-4e1e-bddc-ac99ec076f45" providerId="AD" clId="Web-{16766537-7C26-C2D0-6EF0-9746396A5B05}" dt="2025-10-04T20:35:49.929" v="473"/>
        <pc:sldMkLst>
          <pc:docMk/>
          <pc:sldMk cId="3067389171" sldId="659"/>
        </pc:sldMkLst>
      </pc:sldChg>
      <pc:sldChg chg="delSp">
        <pc:chgData name="Mohammad Khan" userId="S::mohammad.khan02@northsouth.edu::66e9fb8e-4ed6-4e1e-bddc-ac99ec076f45" providerId="AD" clId="Web-{16766537-7C26-C2D0-6EF0-9746396A5B05}" dt="2025-10-04T20:31:15.970" v="17"/>
        <pc:sldMkLst>
          <pc:docMk/>
          <pc:sldMk cId="3413924147" sldId="660"/>
        </pc:sldMkLst>
      </pc:sldChg>
      <pc:sldChg chg="delSp">
        <pc:chgData name="Mohammad Khan" userId="S::mohammad.khan02@northsouth.edu::66e9fb8e-4ed6-4e1e-bddc-ac99ec076f45" providerId="AD" clId="Web-{16766537-7C26-C2D0-6EF0-9746396A5B05}" dt="2025-10-04T20:33:32" v="235"/>
        <pc:sldMkLst>
          <pc:docMk/>
          <pc:sldMk cId="713883125" sldId="661"/>
        </pc:sldMkLst>
      </pc:sldChg>
      <pc:sldChg chg="delSp">
        <pc:chgData name="Mohammad Khan" userId="S::mohammad.khan02@northsouth.edu::66e9fb8e-4ed6-4e1e-bddc-ac99ec076f45" providerId="AD" clId="Web-{16766537-7C26-C2D0-6EF0-9746396A5B05}" dt="2025-10-04T20:33:37.672" v="241"/>
        <pc:sldMkLst>
          <pc:docMk/>
          <pc:sldMk cId="1818873861" sldId="662"/>
        </pc:sldMkLst>
      </pc:sldChg>
      <pc:sldChg chg="delSp">
        <pc:chgData name="Mohammad Khan" userId="S::mohammad.khan02@northsouth.edu::66e9fb8e-4ed6-4e1e-bddc-ac99ec076f45" providerId="AD" clId="Web-{16766537-7C26-C2D0-6EF0-9746396A5B05}" dt="2025-10-04T20:33:41.219" v="243"/>
        <pc:sldMkLst>
          <pc:docMk/>
          <pc:sldMk cId="1103960089" sldId="663"/>
        </pc:sldMkLst>
      </pc:sldChg>
      <pc:sldChg chg="delSp">
        <pc:chgData name="Mohammad Khan" userId="S::mohammad.khan02@northsouth.edu::66e9fb8e-4ed6-4e1e-bddc-ac99ec076f45" providerId="AD" clId="Web-{16766537-7C26-C2D0-6EF0-9746396A5B05}" dt="2025-10-04T20:33:49.188" v="260"/>
        <pc:sldMkLst>
          <pc:docMk/>
          <pc:sldMk cId="2208712720" sldId="664"/>
        </pc:sldMkLst>
      </pc:sldChg>
      <pc:sldChg chg="delSp">
        <pc:chgData name="Mohammad Khan" userId="S::mohammad.khan02@northsouth.edu::66e9fb8e-4ed6-4e1e-bddc-ac99ec076f45" providerId="AD" clId="Web-{16766537-7C26-C2D0-6EF0-9746396A5B05}" dt="2025-10-04T20:33:53.563" v="265"/>
        <pc:sldMkLst>
          <pc:docMk/>
          <pc:sldMk cId="144109168" sldId="665"/>
        </pc:sldMkLst>
      </pc:sldChg>
      <pc:sldChg chg="delSp">
        <pc:chgData name="Mohammad Khan" userId="S::mohammad.khan02@northsouth.edu::66e9fb8e-4ed6-4e1e-bddc-ac99ec076f45" providerId="AD" clId="Web-{16766537-7C26-C2D0-6EF0-9746396A5B05}" dt="2025-10-04T20:35:55.382" v="481"/>
        <pc:sldMkLst>
          <pc:docMk/>
          <pc:sldMk cId="2355378990" sldId="666"/>
        </pc:sldMkLst>
      </pc:sldChg>
      <pc:sldChg chg="delSp">
        <pc:chgData name="Mohammad Khan" userId="S::mohammad.khan02@northsouth.edu::66e9fb8e-4ed6-4e1e-bddc-ac99ec076f45" providerId="AD" clId="Web-{16766537-7C26-C2D0-6EF0-9746396A5B05}" dt="2025-10-04T20:36:01.398" v="490"/>
        <pc:sldMkLst>
          <pc:docMk/>
          <pc:sldMk cId="1164991440" sldId="667"/>
        </pc:sldMkLst>
      </pc:sldChg>
      <pc:sldChg chg="delSp">
        <pc:chgData name="Mohammad Khan" userId="S::mohammad.khan02@northsouth.edu::66e9fb8e-4ed6-4e1e-bddc-ac99ec076f45" providerId="AD" clId="Web-{16766537-7C26-C2D0-6EF0-9746396A5B05}" dt="2025-10-04T20:36:12.773" v="514"/>
        <pc:sldMkLst>
          <pc:docMk/>
          <pc:sldMk cId="25980690" sldId="669"/>
        </pc:sldMkLst>
      </pc:sldChg>
      <pc:sldChg chg="delSp">
        <pc:chgData name="Mohammad Khan" userId="S::mohammad.khan02@northsouth.edu::66e9fb8e-4ed6-4e1e-bddc-ac99ec076f45" providerId="AD" clId="Web-{16766537-7C26-C2D0-6EF0-9746396A5B05}" dt="2025-10-04T20:36:08.851" v="501"/>
        <pc:sldMkLst>
          <pc:docMk/>
          <pc:sldMk cId="3661267794" sldId="673"/>
        </pc:sldMkLst>
      </pc:sldChg>
      <pc:sldChg chg="delSp">
        <pc:chgData name="Mohammad Khan" userId="S::mohammad.khan02@northsouth.edu::66e9fb8e-4ed6-4e1e-bddc-ac99ec076f45" providerId="AD" clId="Web-{16766537-7C26-C2D0-6EF0-9746396A5B05}" dt="2025-10-04T20:36:21.804" v="523"/>
        <pc:sldMkLst>
          <pc:docMk/>
          <pc:sldMk cId="371580119" sldId="674"/>
        </pc:sldMkLst>
      </pc:sldChg>
    </pc:docChg>
  </pc:docChgLst>
  <pc:docChgLst>
    <pc:chgData name="Mohammad Khan" userId="S::mohammad.khan02@northsouth.edu::66e9fb8e-4ed6-4e1e-bddc-ac99ec076f45" providerId="AD" clId="Web-{99B1FE93-2E06-0192-B71F-0E346034CDFA}"/>
    <pc:docChg chg="addSld modSld">
      <pc:chgData name="Mohammad Khan" userId="S::mohammad.khan02@northsouth.edu::66e9fb8e-4ed6-4e1e-bddc-ac99ec076f45" providerId="AD" clId="Web-{99B1FE93-2E06-0192-B71F-0E346034CDFA}" dt="2025-10-06T18:36:06.633" v="158" actId="20577"/>
      <pc:docMkLst>
        <pc:docMk/>
      </pc:docMkLst>
      <pc:sldChg chg="modSp new">
        <pc:chgData name="Mohammad Khan" userId="S::mohammad.khan02@northsouth.edu::66e9fb8e-4ed6-4e1e-bddc-ac99ec076f45" providerId="AD" clId="Web-{99B1FE93-2E06-0192-B71F-0E346034CDFA}" dt="2025-10-06T18:32:05.908" v="92" actId="20577"/>
        <pc:sldMkLst>
          <pc:docMk/>
          <pc:sldMk cId="4197413287" sldId="675"/>
        </pc:sldMkLst>
        <pc:spChg chg="mod">
          <ac:chgData name="Mohammad Khan" userId="S::mohammad.khan02@northsouth.edu::66e9fb8e-4ed6-4e1e-bddc-ac99ec076f45" providerId="AD" clId="Web-{99B1FE93-2E06-0192-B71F-0E346034CDFA}" dt="2025-10-06T18:29:54.776" v="29" actId="20577"/>
          <ac:spMkLst>
            <pc:docMk/>
            <pc:sldMk cId="4197413287" sldId="675"/>
            <ac:spMk id="2" creationId="{64517049-1DFA-906E-8674-3DA503525019}"/>
          </ac:spMkLst>
        </pc:spChg>
        <pc:spChg chg="mod">
          <ac:chgData name="Mohammad Khan" userId="S::mohammad.khan02@northsouth.edu::66e9fb8e-4ed6-4e1e-bddc-ac99ec076f45" providerId="AD" clId="Web-{99B1FE93-2E06-0192-B71F-0E346034CDFA}" dt="2025-10-06T18:32:05.908" v="92" actId="20577"/>
          <ac:spMkLst>
            <pc:docMk/>
            <pc:sldMk cId="4197413287" sldId="675"/>
            <ac:spMk id="3" creationId="{6B589C63-6D1B-8D7F-2AF3-38E1685F40FF}"/>
          </ac:spMkLst>
        </pc:spChg>
      </pc:sldChg>
      <pc:sldChg chg="modSp new">
        <pc:chgData name="Mohammad Khan" userId="S::mohammad.khan02@northsouth.edu::66e9fb8e-4ed6-4e1e-bddc-ac99ec076f45" providerId="AD" clId="Web-{99B1FE93-2E06-0192-B71F-0E346034CDFA}" dt="2025-10-06T18:36:06.633" v="158" actId="20577"/>
        <pc:sldMkLst>
          <pc:docMk/>
          <pc:sldMk cId="287036945" sldId="676"/>
        </pc:sldMkLst>
        <pc:spChg chg="mod">
          <ac:chgData name="Mohammad Khan" userId="S::mohammad.khan02@northsouth.edu::66e9fb8e-4ed6-4e1e-bddc-ac99ec076f45" providerId="AD" clId="Web-{99B1FE93-2E06-0192-B71F-0E346034CDFA}" dt="2025-10-06T18:33:22.926" v="110" actId="20577"/>
          <ac:spMkLst>
            <pc:docMk/>
            <pc:sldMk cId="287036945" sldId="676"/>
            <ac:spMk id="2" creationId="{9ED53484-EB54-A362-DB41-AF17570CF1C0}"/>
          </ac:spMkLst>
        </pc:spChg>
        <pc:spChg chg="mod">
          <ac:chgData name="Mohammad Khan" userId="S::mohammad.khan02@northsouth.edu::66e9fb8e-4ed6-4e1e-bddc-ac99ec076f45" providerId="AD" clId="Web-{99B1FE93-2E06-0192-B71F-0E346034CDFA}" dt="2025-10-06T18:36:06.633" v="158" actId="20577"/>
          <ac:spMkLst>
            <pc:docMk/>
            <pc:sldMk cId="287036945" sldId="676"/>
            <ac:spMk id="3" creationId="{5202C9F4-E29C-3DAF-309B-1E91C95D310E}"/>
          </ac:spMkLst>
        </pc:spChg>
      </pc:sldChg>
    </pc:docChg>
  </pc:docChgLst>
  <pc:docChgLst>
    <pc:chgData name="Mohammad Khan" userId="S::mohammad.khan02@northsouth.edu::66e9fb8e-4ed6-4e1e-bddc-ac99ec076f45" providerId="AD" clId="Web-{DC5E375B-7598-CE6F-E9D7-4F11D68AD039}"/>
    <pc:docChg chg="addSld modSld">
      <pc:chgData name="Mohammad Khan" userId="S::mohammad.khan02@northsouth.edu::66e9fb8e-4ed6-4e1e-bddc-ac99ec076f45" providerId="AD" clId="Web-{DC5E375B-7598-CE6F-E9D7-4F11D68AD039}" dt="2025-10-06T20:50:23.967" v="73" actId="20577"/>
      <pc:docMkLst>
        <pc:docMk/>
      </pc:docMkLst>
      <pc:sldChg chg="modSp new">
        <pc:chgData name="Mohammad Khan" userId="S::mohammad.khan02@northsouth.edu::66e9fb8e-4ed6-4e1e-bddc-ac99ec076f45" providerId="AD" clId="Web-{DC5E375B-7598-CE6F-E9D7-4F11D68AD039}" dt="2025-10-06T20:50:23.967" v="73" actId="20577"/>
        <pc:sldMkLst>
          <pc:docMk/>
          <pc:sldMk cId="1667688984" sldId="677"/>
        </pc:sldMkLst>
        <pc:spChg chg="mod">
          <ac:chgData name="Mohammad Khan" userId="S::mohammad.khan02@northsouth.edu::66e9fb8e-4ed6-4e1e-bddc-ac99ec076f45" providerId="AD" clId="Web-{DC5E375B-7598-CE6F-E9D7-4F11D68AD039}" dt="2025-10-06T20:50:23.967" v="73" actId="20577"/>
          <ac:spMkLst>
            <pc:docMk/>
            <pc:sldMk cId="1667688984" sldId="677"/>
            <ac:spMk id="2" creationId="{8959C094-51E6-A3D9-4D4E-9DB6EDA9FAA8}"/>
          </ac:spMkLst>
        </pc:spChg>
        <pc:spChg chg="mod">
          <ac:chgData name="Mohammad Khan" userId="S::mohammad.khan02@northsouth.edu::66e9fb8e-4ed6-4e1e-bddc-ac99ec076f45" providerId="AD" clId="Web-{DC5E375B-7598-CE6F-E9D7-4F11D68AD039}" dt="2025-10-06T20:50:15.013" v="68" actId="20577"/>
          <ac:spMkLst>
            <pc:docMk/>
            <pc:sldMk cId="1667688984" sldId="677"/>
            <ac:spMk id="3" creationId="{8F275E58-56A4-5DFC-BDDD-BFA2F67C579B}"/>
          </ac:spMkLst>
        </pc:spChg>
      </pc:sldChg>
    </pc:docChg>
  </pc:docChgLst>
  <pc:docChgLst>
    <pc:chgData name="Mohammad Khan" userId="S::mohammad.khan02@northsouth.edu::66e9fb8e-4ed6-4e1e-bddc-ac99ec076f45" providerId="AD" clId="Web-{1D7B4017-8040-A9A7-75C8-39C7FBCBEA1B}"/>
    <pc:docChg chg="modSld">
      <pc:chgData name="Mohammad Khan" userId="S::mohammad.khan02@northsouth.edu::66e9fb8e-4ed6-4e1e-bddc-ac99ec076f45" providerId="AD" clId="Web-{1D7B4017-8040-A9A7-75C8-39C7FBCBEA1B}" dt="2025-10-05T07:44:32.098" v="18" actId="20577"/>
      <pc:docMkLst>
        <pc:docMk/>
      </pc:docMkLst>
      <pc:sldChg chg="modSp">
        <pc:chgData name="Mohammad Khan" userId="S::mohammad.khan02@northsouth.edu::66e9fb8e-4ed6-4e1e-bddc-ac99ec076f45" providerId="AD" clId="Web-{1D7B4017-8040-A9A7-75C8-39C7FBCBEA1B}" dt="2025-10-05T07:44:32.098" v="18" actId="20577"/>
        <pc:sldMkLst>
          <pc:docMk/>
          <pc:sldMk cId="159303690" sldId="328"/>
        </pc:sldMkLst>
        <pc:spChg chg="mod">
          <ac:chgData name="Mohammad Khan" userId="S::mohammad.khan02@northsouth.edu::66e9fb8e-4ed6-4e1e-bddc-ac99ec076f45" providerId="AD" clId="Web-{1D7B4017-8040-A9A7-75C8-39C7FBCBEA1B}" dt="2025-10-05T07:44:32.098" v="18" actId="20577"/>
          <ac:spMkLst>
            <pc:docMk/>
            <pc:sldMk cId="159303690" sldId="328"/>
            <ac:spMk id="3" creationId="{3C1ED260-50F7-C120-03DA-7E00A95D68A4}"/>
          </ac:spMkLst>
        </pc:spChg>
      </pc:sldChg>
    </pc:docChg>
  </pc:docChgLst>
  <pc:docChgLst>
    <pc:chgData name="Mohammad Khan" userId="S::mohammad.khan02@northsouth.edu::66e9fb8e-4ed6-4e1e-bddc-ac99ec076f45" providerId="AD" clId="Web-{48061501-AEDD-6338-C74B-4E5D8D07DFEB}"/>
    <pc:docChg chg="modSld">
      <pc:chgData name="Mohammad Khan" userId="S::mohammad.khan02@northsouth.edu::66e9fb8e-4ed6-4e1e-bddc-ac99ec076f45" providerId="AD" clId="Web-{48061501-AEDD-6338-C74B-4E5D8D07DFEB}" dt="2025-10-04T20:26:21.218" v="151"/>
      <pc:docMkLst>
        <pc:docMk/>
      </pc:docMkLst>
      <pc:sldChg chg="delSp">
        <pc:chgData name="Mohammad Khan" userId="S::mohammad.khan02@northsouth.edu::66e9fb8e-4ed6-4e1e-bddc-ac99ec076f45" providerId="AD" clId="Web-{48061501-AEDD-6338-C74B-4E5D8D07DFEB}" dt="2025-10-04T20:25:26.544" v="49"/>
        <pc:sldMkLst>
          <pc:docMk/>
          <pc:sldMk cId="3215903663" sldId="276"/>
        </pc:sldMkLst>
      </pc:sldChg>
      <pc:sldChg chg="delSp">
        <pc:chgData name="Mohammad Khan" userId="S::mohammad.khan02@northsouth.edu::66e9fb8e-4ed6-4e1e-bddc-ac99ec076f45" providerId="AD" clId="Web-{48061501-AEDD-6338-C74B-4E5D8D07DFEB}" dt="2025-10-04T20:26:10.421" v="123"/>
        <pc:sldMkLst>
          <pc:docMk/>
          <pc:sldMk cId="2244873770" sldId="277"/>
        </pc:sldMkLst>
      </pc:sldChg>
      <pc:sldChg chg="delSp">
        <pc:chgData name="Mohammad Khan" userId="S::mohammad.khan02@northsouth.edu::66e9fb8e-4ed6-4e1e-bddc-ac99ec076f45" providerId="AD" clId="Web-{48061501-AEDD-6338-C74B-4E5D8D07DFEB}" dt="2025-10-04T20:26:13.811" v="129"/>
        <pc:sldMkLst>
          <pc:docMk/>
          <pc:sldMk cId="3527855093" sldId="278"/>
        </pc:sldMkLst>
      </pc:sldChg>
      <pc:sldChg chg="delSp">
        <pc:chgData name="Mohammad Khan" userId="S::mohammad.khan02@northsouth.edu::66e9fb8e-4ed6-4e1e-bddc-ac99ec076f45" providerId="AD" clId="Web-{48061501-AEDD-6338-C74B-4E5D8D07DFEB}" dt="2025-10-04T20:26:03.045" v="113"/>
        <pc:sldMkLst>
          <pc:docMk/>
          <pc:sldMk cId="306123449" sldId="563"/>
        </pc:sldMkLst>
      </pc:sldChg>
      <pc:sldChg chg="delSp">
        <pc:chgData name="Mohammad Khan" userId="S::mohammad.khan02@northsouth.edu::66e9fb8e-4ed6-4e1e-bddc-ac99ec076f45" providerId="AD" clId="Web-{48061501-AEDD-6338-C74B-4E5D8D07DFEB}" dt="2025-10-04T20:26:21.218" v="151"/>
        <pc:sldMkLst>
          <pc:docMk/>
          <pc:sldMk cId="1553407385" sldId="568"/>
        </pc:sldMkLst>
      </pc:sldChg>
      <pc:sldChg chg="delSp">
        <pc:chgData name="Mohammad Khan" userId="S::mohammad.khan02@northsouth.edu::66e9fb8e-4ed6-4e1e-bddc-ac99ec076f45" providerId="AD" clId="Web-{48061501-AEDD-6338-C74B-4E5D8D07DFEB}" dt="2025-10-04T20:25:19.044" v="20"/>
        <pc:sldMkLst>
          <pc:docMk/>
          <pc:sldMk cId="3339337615" sldId="619"/>
        </pc:sldMkLst>
      </pc:sldChg>
      <pc:sldChg chg="delSp">
        <pc:chgData name="Mohammad Khan" userId="S::mohammad.khan02@northsouth.edu::66e9fb8e-4ed6-4e1e-bddc-ac99ec076f45" providerId="AD" clId="Web-{48061501-AEDD-6338-C74B-4E5D8D07DFEB}" dt="2025-10-04T20:25:54.483" v="102"/>
        <pc:sldMkLst>
          <pc:docMk/>
          <pc:sldMk cId="2404019815" sldId="621"/>
        </pc:sldMkLst>
      </pc:sldChg>
      <pc:sldChg chg="delSp">
        <pc:chgData name="Mohammad Khan" userId="S::mohammad.khan02@northsouth.edu::66e9fb8e-4ed6-4e1e-bddc-ac99ec076f45" providerId="AD" clId="Web-{48061501-AEDD-6338-C74B-4E5D8D07DFEB}" dt="2025-10-04T20:25:38.263" v="75"/>
        <pc:sldMkLst>
          <pc:docMk/>
          <pc:sldMk cId="743798059" sldId="63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3T14:18:33.681"/>
    </inkml:context>
    <inkml:brush xml:id="br0">
      <inkml:brushProperty name="width" value="0.08" units="cm"/>
      <inkml:brushProperty name="height" value="0.08" units="cm"/>
      <inkml:brushProperty name="color" value="#E71224"/>
    </inkml:brush>
  </inkml:definitions>
  <inkml:trace contextRef="#ctx0" brushRef="#br0">141 74 11588,'-15'-23'-20,"1"3"0,-3 6-666,-2 4 1,2 3-1125,-2 7 1359,3 0 430,1 7 259,7-5 1,8 11 0,8-5-1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3T14:34:07.822"/>
    </inkml:context>
    <inkml:brush xml:id="br0">
      <inkml:brushProperty name="width" value="0.06" units="cm"/>
      <inkml:brushProperty name="height" value="0.06" units="cm"/>
      <inkml:brushProperty name="color" value="#E71224"/>
    </inkml:brush>
  </inkml:definitions>
  <inkml:trace contextRef="#ctx0" brushRef="#br0">89 74 7986,'-7'-9'-452,"5"1"493,-2 3 1,-3 2-107,2-7 1,0 5-24,5-4 23,-6 5 0,2-7 204,-5 6-164,5 0 0,-4 5 11,3 0 86,4 0 0,-7 0-151,3 0 0,3 7 100,-3 2 1,3 0-63,2 0 1,0 1 15,0 5 1,0 1-79,0 4 1,0-4-2,0 4 1,0-4-319,0-1 422,0-7 0,7 5 0,1-5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3T14:34:12.499"/>
    </inkml:context>
    <inkml:brush xml:id="br0">
      <inkml:brushProperty name="width" value="0.06" units="cm"/>
      <inkml:brushProperty name="height" value="0.06" units="cm"/>
      <inkml:brushProperty name="color" value="#E71224"/>
    </inkml:brush>
  </inkml:definitions>
  <inkml:trace contextRef="#ctx0" brushRef="#br0">45 80 8051,'-13'-27'-291,"3"2"1,-1 9-87,6 6 0,0 8 377,5 2 0,6 7 0,2 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3T14:44:57.694"/>
    </inkml:context>
    <inkml:brush xml:id="br0">
      <inkml:brushProperty name="width" value="0.06" units="cm"/>
      <inkml:brushProperty name="height" value="0.06" units="cm"/>
      <inkml:brushProperty name="color" value="#E71224"/>
    </inkml:brush>
  </inkml:definitions>
  <inkml:trace contextRef="#ctx0" brushRef="#br0">1 15 8159,'19'0'-303,"1"0"0,-1 0 303,-4 0 0,0-6 0,0-2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3T14:51:11.864"/>
    </inkml:context>
    <inkml:brush xml:id="br0">
      <inkml:brushProperty name="width" value="0.06" units="cm"/>
      <inkml:brushProperty name="height" value="0.06" units="cm"/>
      <inkml:brushProperty name="color" value="#E71224"/>
    </inkml:brush>
  </inkml:definitions>
  <inkml:trace contextRef="#ctx0" brushRef="#br0">104 133 8369,'-28'-20'-542,"3"0"1,4-4 724,6 4-129,7 1 1,2 9-136,6 0 147,0 7-215,6-4 1,-2 7 145,5 0 1,-4 0-5,5 0 1,-5 0-76,5 0 0,-5 0-8,4 0 0,1 0-458,5 0 548,0 0 0,6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4T08:56:31.434"/>
    </inkml:context>
    <inkml:brush xml:id="br0">
      <inkml:brushProperty name="width" value="0.06" units="cm"/>
      <inkml:brushProperty name="height" value="0.06" units="cm"/>
      <inkml:brushProperty name="color" value="#E71224"/>
    </inkml:brush>
  </inkml:definitions>
  <inkml:trace contextRef="#ctx0" brushRef="#br0">1 104 8547,'8'-7'0,"5"5"0,-3-3 0,-2 2-603,2-2 1,-2 2 371,2-7 0,3 5 257,-3-4 1,-2 5 92,2-1-55,-1-3 1,6 5-148,0-7 1,-5 7 218,-1-2-136,-5 3 0,15-4 0,-2-2 0</inkml:trace>
  <inkml:trace contextRef="#ctx0" brushRef="#br0" timeOffset="158">515 118 7878,'-10'0'-481,"1"0"1039,-1 0 1,-5-1-1560,0-4 589,1 3 412,-1-4 0,0 12 0,1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6T18:28:18.734"/>
    </inkml:context>
    <inkml:brush xml:id="br0">
      <inkml:brushProperty name="width" value="0.1" units="cm"/>
      <inkml:brushProperty name="height" value="0.1" units="cm"/>
      <inkml:brushProperty name="color" value="#E71224"/>
    </inkml:brush>
  </inkml:definitions>
  <inkml:trace contextRef="#ctx0" brushRef="#br0">8361 5080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4T09:17:50.836"/>
    </inkml:context>
    <inkml:brush xml:id="br0">
      <inkml:brushProperty name="width" value="0.06" units="cm"/>
      <inkml:brushProperty name="height" value="0.06" units="cm"/>
      <inkml:brushProperty name="color" value="#E71224"/>
    </inkml:brush>
  </inkml:definitions>
  <inkml:trace contextRef="#ctx0" brushRef="#br0">618 207 8224,'-10'-2'-715,"0"-3"0,0-2 392,-4-2 0,4-4 213,0 3 0,5-3 318,-5-2 1,2 5-144,-2 0 1,2 1-31,3-6 0,2 0-32,-7 1 1,5-1 3,-4 0 1,0 5 32,0 1 1,-4 5-29,3-1 0,-8 4 96,-2 1 1,-1 1-89,1 4 1,2 0-4,-6 10 0,-1-4 36,-4 9 0,0 3 16,-1 1 0,6 4-28,-1 1 0,2 1-8,-1-1 1,3 2-61,6 4 1,0 2 59,1 7 1,0 7-82,5 3 1,1 3 38,3 2 1,3 4-2,-3 1 0,3 5 4,2-6 1,2-1-3,3-8 0,2-3 23,2-7 0,4 3-14,-3-2 0,5 0 42,4-10 1,-1-1-37,7-5 1,-5 4 97,4-4 1,1-1-60,4-8 1,5-6 15,1 1 0,-1-2-29,-5-8 0,1 0 1,-1-5 0,0-2-15,1-3 1,-2-4 15,-4-11 1,-3-3-3,-6-6 1,-2-7-1,-3-3 0,3-9 60,-3-1 0,-4-5-30,-1 5 0,2-6 7,-2 1 0,0-2-52,-5 3 0,0-3 5,0 7 1,-7-7-230,-3 3 0,-1 0 78,1-1 1,-3 12-257,3-2 0,2 8 103,-2-3 1,7 11 280,-2-1 0,-3 9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4T09:54:30.065"/>
    </inkml:context>
    <inkml:brush xml:id="br0">
      <inkml:brushProperty name="width" value="0.06" units="cm"/>
      <inkml:brushProperty name="height" value="0.06" units="cm"/>
      <inkml:brushProperty name="color" value="#E71224"/>
    </inkml:brush>
  </inkml:definitions>
  <inkml:trace contextRef="#ctx0" brushRef="#br0">1 60 7867,'0'-10'-526,"0"0"0,0 5 263,0-5 1,0 5-67,0-4 302,0 5 1,1-2 26,4 6 0,-2 0 0,7 0 0,6 0 0,7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rxiv.org/pdf/1609.08144.pdf"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arxiv.org/pdf/1508.07909.pdf" TargetMode="External"/><Relationship Id="rId4" Type="http://schemas.openxmlformats.org/officeDocument/2006/relationships/hyperlink" Target="https://arxiv.org/pdf/2012.15524.pdf"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xiv.org/pdf/2004.03720.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rxiv.org/pdf/1808.06226.pd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B9031F-EB71-7642-8F3C-6FDC1408CB92}" type="slidenum">
              <a:rPr lang="en-US" smtClean="0"/>
              <a:pPr/>
              <a:t>10</a:t>
            </a:fld>
            <a:endParaRPr lang="en-US"/>
          </a:p>
        </p:txBody>
      </p:sp>
    </p:spTree>
    <p:extLst>
      <p:ext uri="{BB962C8B-B14F-4D97-AF65-F5344CB8AC3E}">
        <p14:creationId xmlns:p14="http://schemas.microsoft.com/office/powerpoint/2010/main" val="3982802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B9031F-EB71-7642-8F3C-6FDC1408CB92}" type="slidenum">
              <a:rPr lang="en-US" smtClean="0"/>
              <a:pPr/>
              <a:t>13</a:t>
            </a:fld>
            <a:endParaRPr lang="en-US"/>
          </a:p>
        </p:txBody>
      </p:sp>
    </p:spTree>
    <p:extLst>
      <p:ext uri="{BB962C8B-B14F-4D97-AF65-F5344CB8AC3E}">
        <p14:creationId xmlns:p14="http://schemas.microsoft.com/office/powerpoint/2010/main" val="231370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51460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Original </a:t>
            </a:r>
            <a:r>
              <a:rPr lang="en-US" err="1"/>
              <a:t>wordpiece</a:t>
            </a:r>
            <a:r>
              <a:rPr lang="en-US"/>
              <a:t>: </a:t>
            </a:r>
            <a:r>
              <a:rPr lang="en-US">
                <a:hlinkClick r:id="rId3"/>
              </a:rPr>
              <a:t>1609.08144.pdf (arxiv.org)</a:t>
            </a:r>
            <a:endParaRPr lang="en-US"/>
          </a:p>
          <a:p>
            <a:r>
              <a:rPr lang="en-US"/>
              <a:t>Improved one</a:t>
            </a:r>
            <a:r>
              <a:rPr lang="en-US" baseline="0"/>
              <a:t> </a:t>
            </a:r>
            <a:r>
              <a:rPr lang="en-US">
                <a:hlinkClick r:id="rId4"/>
              </a:rPr>
              <a:t>2012.15524.pdf (arxiv.org)</a:t>
            </a:r>
            <a:r>
              <a:rPr lang="en-US"/>
              <a:t> </a:t>
            </a:r>
          </a:p>
          <a:p>
            <a:r>
              <a:rPr lang="en-US"/>
              <a:t>Helpful:</a:t>
            </a:r>
            <a:r>
              <a:rPr lang="en-US" baseline="0"/>
              <a:t> </a:t>
            </a:r>
            <a:r>
              <a:rPr lang="en-US">
                <a:hlinkClick r:id="rId5"/>
              </a:rPr>
              <a:t>1508.07909.pdf (arxiv.org)</a:t>
            </a:r>
            <a:endParaRPr lang="en-US"/>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74703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4930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Interesting</a:t>
            </a:r>
            <a:r>
              <a:rPr lang="en-US" baseline="0"/>
              <a:t> paper on this topic: </a:t>
            </a:r>
            <a:r>
              <a:rPr lang="en-US">
                <a:hlinkClick r:id="rId3"/>
              </a:rPr>
              <a:t>2004.03720.pdf (arxiv.org)</a:t>
            </a:r>
            <a:endParaRPr lang="en-US"/>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5866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1808.06226.pdf (arxiv.org)</a:t>
            </a:r>
            <a:endParaRPr lang="en-US"/>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3095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2400"/>
              <a:buNone/>
              <a:defRPr sz="2400"/>
            </a:lvl1pPr>
            <a:lvl2pPr lvl="1" algn="ctr">
              <a:lnSpc>
                <a:spcPct val="90000"/>
              </a:lnSpc>
              <a:spcBef>
                <a:spcPts val="500"/>
              </a:spcBef>
              <a:spcAft>
                <a:spcPts val="0"/>
              </a:spcAft>
              <a:buClr>
                <a:srgbClr val="548135"/>
              </a:buClr>
              <a:buSzPts val="2000"/>
              <a:buNone/>
              <a:defRPr sz="2000"/>
            </a:lvl2pPr>
            <a:lvl3pPr lvl="2" algn="ctr">
              <a:lnSpc>
                <a:spcPct val="90000"/>
              </a:lnSpc>
              <a:spcBef>
                <a:spcPts val="500"/>
              </a:spcBef>
              <a:spcAft>
                <a:spcPts val="0"/>
              </a:spcAft>
              <a:buClr>
                <a:srgbClr val="FFC000"/>
              </a:buClr>
              <a:buSzPts val="1800"/>
              <a:buNone/>
              <a:defRPr sz="1800"/>
            </a:lvl3pPr>
            <a:lvl4pPr lvl="3" algn="ctr">
              <a:lnSpc>
                <a:spcPct val="90000"/>
              </a:lnSpc>
              <a:spcBef>
                <a:spcPts val="500"/>
              </a:spcBef>
              <a:spcAft>
                <a:spcPts val="0"/>
              </a:spcAft>
              <a:buClr>
                <a:srgbClr val="C00000"/>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0"/>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0"/>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2"/>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67"/>
          <p:cNvSpPr>
            <a:spLocks noGrp="1"/>
          </p:cNvSpPr>
          <p:nvPr>
            <p:ph type="pic" idx="2"/>
          </p:nvPr>
        </p:nvSpPr>
        <p:spPr>
          <a:xfrm>
            <a:off x="5183188" y="987425"/>
            <a:ext cx="6172200" cy="4873625"/>
          </a:xfrm>
          <a:prstGeom prst="rect">
            <a:avLst/>
          </a:prstGeom>
          <a:noFill/>
          <a:ln>
            <a:noFill/>
          </a:ln>
        </p:spPr>
      </p:sp>
      <p:sp>
        <p:nvSpPr>
          <p:cNvPr id="70" name="Google Shape;70;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6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8"/>
          <p:cNvSpPr txBox="1">
            <a:spLocks noGrp="1"/>
          </p:cNvSpPr>
          <p:nvPr>
            <p:ph type="body" idx="1"/>
          </p:nvPr>
        </p:nvSpPr>
        <p:spPr>
          <a:xfrm rot="5400000">
            <a:off x="3727452" y="-1922463"/>
            <a:ext cx="5237162" cy="1132046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002060"/>
              </a:buClr>
              <a:buSzPts val="4400"/>
              <a:buFont typeface="Calibri"/>
              <a:buNone/>
              <a:defRPr sz="44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0C0"/>
              </a:buClr>
              <a:buSzPts val="2800"/>
              <a:buFont typeface="Arial"/>
              <a:buChar char="•"/>
              <a:defRPr sz="28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548135"/>
              </a:buClr>
              <a:buSzPts val="2400"/>
              <a:buFont typeface="Arial"/>
              <a:buChar char="•"/>
              <a:defRPr sz="2400" b="0" i="0" u="none" strike="noStrike" cap="none">
                <a:solidFill>
                  <a:srgbClr val="548135"/>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C000"/>
              </a:buClr>
              <a:buSzPts val="2000"/>
              <a:buFont typeface="Arial"/>
              <a:buChar char="•"/>
              <a:defRPr sz="2000" b="0" i="0" u="none" strike="noStrike" cap="none">
                <a:solidFill>
                  <a:srgbClr val="FFC0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C00000"/>
              </a:buClr>
              <a:buSzPts val="1800"/>
              <a:buFont typeface="Arial"/>
              <a:buChar char="•"/>
              <a:defRPr sz="1800" b="0" i="0" u="none" strike="noStrike" cap="none">
                <a:solidFill>
                  <a:srgbClr val="C00000"/>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8" descr="http://www.northsouth.edu/newassets/images/nsu-photo/logo-4.png"/>
          <p:cNvPicPr preferRelativeResize="0"/>
          <p:nvPr/>
        </p:nvPicPr>
        <p:blipFill rotWithShape="1">
          <a:blip r:embed="rId11">
            <a:alphaModFix/>
          </a:blip>
          <a:srcRect/>
          <a:stretch/>
        </p:blipFill>
        <p:spPr>
          <a:xfrm>
            <a:off x="1" y="0"/>
            <a:ext cx="495300" cy="396240"/>
          </a:xfrm>
          <a:prstGeom prst="rect">
            <a:avLst/>
          </a:prstGeom>
          <a:noFill/>
          <a:ln>
            <a:noFill/>
          </a:ln>
        </p:spPr>
      </p:pic>
      <p:cxnSp>
        <p:nvCxnSpPr>
          <p:cNvPr id="16" name="Google Shape;16;p58"/>
          <p:cNvCxnSpPr/>
          <p:nvPr/>
        </p:nvCxnSpPr>
        <p:spPr>
          <a:xfrm rot="10800000" flipH="1">
            <a:off x="792958" y="54768"/>
            <a:ext cx="11001375" cy="46037"/>
          </a:xfrm>
          <a:prstGeom prst="straightConnector1">
            <a:avLst/>
          </a:prstGeom>
          <a:noFill/>
          <a:ln w="19050"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simonwillison.net/2023/Jun/8/gpt-tokenizers/" TargetMode="External"/><Relationship Id="rId2" Type="http://schemas.openxmlformats.org/officeDocument/2006/relationships/hyperlink" Target="https://github.com/openai/tiktoken"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8.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245809"/>
            <a:ext cx="9144000" cy="1445963"/>
          </a:xfrm>
          <a:prstGeom prst="rect">
            <a:avLst/>
          </a:prstGeom>
          <a:noFill/>
          <a:ln>
            <a:noFill/>
          </a:ln>
        </p:spPr>
        <p:txBody>
          <a:bodyPr spcFirstLastPara="1" wrap="square" lIns="91425" tIns="45700" rIns="91425" bIns="45700" anchor="b" anchorCtr="0">
            <a:normAutofit fontScale="90000"/>
          </a:bodyPr>
          <a:lstStyle/>
          <a:p>
            <a:pPr marL="0" lvl="0" indent="0" rtl="0">
              <a:lnSpc>
                <a:spcPct val="90000"/>
              </a:lnSpc>
              <a:spcBef>
                <a:spcPts val="0"/>
              </a:spcBef>
              <a:spcAft>
                <a:spcPts val="0"/>
              </a:spcAft>
              <a:buClr>
                <a:srgbClr val="002060"/>
              </a:buClr>
              <a:buSzPct val="100000"/>
              <a:buFont typeface="Calibri"/>
              <a:buNone/>
            </a:pPr>
            <a:r>
              <a:rPr lang="en-US" sz="4800"/>
              <a:t>CSE495B (Natural Language Processing)</a:t>
            </a:r>
            <a:br>
              <a:rPr lang="en-US" sz="4800"/>
            </a:br>
            <a:r>
              <a:rPr lang="en-US" sz="4800"/>
              <a:t>Lecture 3</a:t>
            </a:r>
            <a:endParaRPr lang="en-US"/>
          </a:p>
        </p:txBody>
      </p:sp>
      <p:sp>
        <p:nvSpPr>
          <p:cNvPr id="91" name="Google Shape;91;p1"/>
          <p:cNvSpPr txBox="1">
            <a:spLocks noGrp="1"/>
          </p:cNvSpPr>
          <p:nvPr>
            <p:ph type="subTitle" idx="1"/>
          </p:nvPr>
        </p:nvSpPr>
        <p:spPr>
          <a:xfrm>
            <a:off x="1524000" y="4194453"/>
            <a:ext cx="9144000" cy="572583"/>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US" sz="2000"/>
              <a:t>NLP Pipeline &amp; Tokenization (Features for NLP)</a:t>
            </a:r>
            <a:endParaRPr lang="en-US"/>
          </a:p>
        </p:txBody>
      </p:sp>
      <p:sp>
        <p:nvSpPr>
          <p:cNvPr id="92" name="Google Shape;92;p1"/>
          <p:cNvSpPr/>
          <p:nvPr/>
        </p:nvSpPr>
        <p:spPr>
          <a:xfrm>
            <a:off x="0" y="1"/>
            <a:ext cx="5920619" cy="2130951"/>
          </a:xfrm>
          <a:custGeom>
            <a:avLst/>
            <a:gdLst/>
            <a:ahLst/>
            <a:cxnLst/>
            <a:rect l="l" t="t" r="r" b="b"/>
            <a:pathLst>
              <a:path w="5920619" h="2130951" extrusionOk="0">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097839" y="0"/>
            <a:ext cx="7094160" cy="2130952"/>
          </a:xfrm>
          <a:custGeom>
            <a:avLst/>
            <a:gdLst/>
            <a:ahLst/>
            <a:cxnLst/>
            <a:rect l="l" t="t" r="r" b="b"/>
            <a:pathLst>
              <a:path w="7094160" h="2130952" extrusionOk="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flipH="1">
            <a:off x="6149721" y="4682920"/>
            <a:ext cx="4522796" cy="2175080"/>
          </a:xfrm>
          <a:custGeom>
            <a:avLst/>
            <a:gdLst/>
            <a:ahLst/>
            <a:cxnLst/>
            <a:rect l="l" t="t" r="r" b="b"/>
            <a:pathLst>
              <a:path w="4522796" h="2175080" extrusionOk="0">
                <a:moveTo>
                  <a:pt x="3515449" y="0"/>
                </a:moveTo>
                <a:lnTo>
                  <a:pt x="0" y="0"/>
                </a:lnTo>
                <a:lnTo>
                  <a:pt x="0" y="2175080"/>
                </a:lnTo>
                <a:lnTo>
                  <a:pt x="4522796" y="217508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Calibri"/>
              <a:ea typeface="Calibri"/>
              <a:cs typeface="Calibri"/>
              <a:sym typeface="Calibri"/>
            </a:endParaRPr>
          </a:p>
        </p:txBody>
      </p:sp>
      <p:sp>
        <p:nvSpPr>
          <p:cNvPr id="95" name="Google Shape;95;p1"/>
          <p:cNvSpPr/>
          <p:nvPr/>
        </p:nvSpPr>
        <p:spPr>
          <a:xfrm>
            <a:off x="6266810" y="4682920"/>
            <a:ext cx="5925190" cy="2175080"/>
          </a:xfrm>
          <a:custGeom>
            <a:avLst/>
            <a:gdLst/>
            <a:ahLst/>
            <a:cxnLst/>
            <a:rect l="l" t="t" r="r" b="b"/>
            <a:pathLst>
              <a:path w="5925190" h="2175080" extrusionOk="0">
                <a:moveTo>
                  <a:pt x="1007347" y="0"/>
                </a:moveTo>
                <a:lnTo>
                  <a:pt x="5925190" y="0"/>
                </a:lnTo>
                <a:lnTo>
                  <a:pt x="5925190" y="2175080"/>
                </a:lnTo>
                <a:lnTo>
                  <a:pt x="0" y="217508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0" y="4682920"/>
            <a:ext cx="7114535" cy="2175080"/>
          </a:xfrm>
          <a:custGeom>
            <a:avLst/>
            <a:gdLst/>
            <a:ahLst/>
            <a:cxnLst/>
            <a:rect l="l" t="t" r="r" b="b"/>
            <a:pathLst>
              <a:path w="7114535" h="2175080" extrusionOk="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F4F1E-E5C4-25B8-56E0-30D18C540055}"/>
              </a:ext>
            </a:extLst>
          </p:cNvPr>
          <p:cNvSpPr>
            <a:spLocks noGrp="1"/>
          </p:cNvSpPr>
          <p:nvPr>
            <p:ph type="title"/>
          </p:nvPr>
        </p:nvSpPr>
        <p:spPr/>
        <p:txBody>
          <a:bodyPr>
            <a:normAutofit fontScale="90000"/>
          </a:bodyPr>
          <a:lstStyle/>
          <a:p>
            <a:r>
              <a:rPr lang="en-US"/>
              <a:t>NLP Applications</a:t>
            </a:r>
          </a:p>
        </p:txBody>
      </p:sp>
      <p:pic>
        <p:nvPicPr>
          <p:cNvPr id="4" name="Picture 3">
            <a:extLst>
              <a:ext uri="{FF2B5EF4-FFF2-40B4-BE49-F238E27FC236}">
                <a16:creationId xmlns:a16="http://schemas.microsoft.com/office/drawing/2014/main" id="{9F093334-2F44-4D13-208D-18683F01423C}"/>
              </a:ext>
            </a:extLst>
          </p:cNvPr>
          <p:cNvPicPr>
            <a:picLocks noChangeAspect="1"/>
          </p:cNvPicPr>
          <p:nvPr/>
        </p:nvPicPr>
        <p:blipFill>
          <a:blip r:embed="rId2"/>
          <a:stretch>
            <a:fillRect/>
          </a:stretch>
        </p:blipFill>
        <p:spPr>
          <a:xfrm>
            <a:off x="3155269" y="1170442"/>
            <a:ext cx="5881460" cy="5478689"/>
          </a:xfrm>
          <a:prstGeom prst="rect">
            <a:avLst/>
          </a:prstGeom>
        </p:spPr>
      </p:pic>
    </p:spTree>
    <p:extLst>
      <p:ext uri="{BB962C8B-B14F-4D97-AF65-F5344CB8AC3E}">
        <p14:creationId xmlns:p14="http://schemas.microsoft.com/office/powerpoint/2010/main" val="177946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DEA1-9026-461A-4332-DE4E85B54A9E}"/>
              </a:ext>
            </a:extLst>
          </p:cNvPr>
          <p:cNvSpPr>
            <a:spLocks noGrp="1"/>
          </p:cNvSpPr>
          <p:nvPr>
            <p:ph type="title"/>
          </p:nvPr>
        </p:nvSpPr>
        <p:spPr/>
        <p:txBody>
          <a:bodyPr>
            <a:normAutofit fontScale="90000"/>
          </a:bodyPr>
          <a:lstStyle/>
          <a:p>
            <a:r>
              <a:rPr lang="en-US"/>
              <a:t>NLP Applications</a:t>
            </a:r>
          </a:p>
        </p:txBody>
      </p:sp>
      <p:sp>
        <p:nvSpPr>
          <p:cNvPr id="3" name="Text Placeholder 2">
            <a:extLst>
              <a:ext uri="{FF2B5EF4-FFF2-40B4-BE49-F238E27FC236}">
                <a16:creationId xmlns:a16="http://schemas.microsoft.com/office/drawing/2014/main" id="{FAABF1B5-5A78-874E-902C-DFFB8A0CE5D2}"/>
              </a:ext>
            </a:extLst>
          </p:cNvPr>
          <p:cNvSpPr>
            <a:spLocks noGrp="1"/>
          </p:cNvSpPr>
          <p:nvPr>
            <p:ph type="body" idx="1"/>
          </p:nvPr>
        </p:nvSpPr>
        <p:spPr>
          <a:xfrm>
            <a:off x="622301" y="865189"/>
            <a:ext cx="11383964" cy="5491161"/>
          </a:xfrm>
        </p:spPr>
        <p:txBody>
          <a:bodyPr>
            <a:normAutofit/>
          </a:bodyPr>
          <a:lstStyle/>
          <a:p>
            <a:pPr>
              <a:lnSpc>
                <a:spcPct val="70000"/>
              </a:lnSpc>
            </a:pPr>
            <a:r>
              <a:rPr lang="en-US"/>
              <a:t>At the heart of NLP lie two complementary components: Natural Language Understanding (NLU) and Natural Language Generation (NLG).</a:t>
            </a:r>
          </a:p>
          <a:p>
            <a:pPr lvl="1"/>
            <a:r>
              <a:rPr lang="en-US" b="1">
                <a:solidFill>
                  <a:schemeClr val="accent6">
                    <a:lumMod val="76000"/>
                  </a:schemeClr>
                </a:solidFill>
              </a:rPr>
              <a:t>NLU</a:t>
            </a:r>
            <a:r>
              <a:rPr lang="en-US">
                <a:solidFill>
                  <a:schemeClr val="accent6">
                    <a:lumMod val="76000"/>
                  </a:schemeClr>
                </a:solidFill>
              </a:rPr>
              <a:t> underpins foundational applications such as sentiment analysis, intent detection, and semantic search, enabling machines to interpret and reason over human language.</a:t>
            </a:r>
          </a:p>
          <a:p>
            <a:pPr lvl="1"/>
            <a:r>
              <a:rPr lang="en-US" b="1">
                <a:solidFill>
                  <a:schemeClr val="accent6">
                    <a:lumMod val="76000"/>
                  </a:schemeClr>
                </a:solidFill>
              </a:rPr>
              <a:t>NLG</a:t>
            </a:r>
            <a:r>
              <a:rPr lang="en-US">
                <a:solidFill>
                  <a:schemeClr val="accent6">
                    <a:lumMod val="76000"/>
                  </a:schemeClr>
                </a:solidFill>
              </a:rPr>
              <a:t>, in turn, powers systems like spelling correctors, grammar checkers, automatic summarizers, and even advanced tools such as code generators or pair-programming assistants. </a:t>
            </a:r>
          </a:p>
          <a:p>
            <a:pPr lvl="2"/>
            <a:r>
              <a:rPr lang="en-US"/>
              <a:t>Together, NLU and NLG form the backbone of conversational AI.</a:t>
            </a:r>
          </a:p>
          <a:p>
            <a:r>
              <a:rPr lang="en-US"/>
              <a:t>A search engine, for instance, can deliver more meaningful results when it indexes web pages or document archives based on the underlying meaning of natural language text rather than keywords alone (NLU). </a:t>
            </a:r>
          </a:p>
          <a:p>
            <a:pPr lvl="1"/>
            <a:r>
              <a:rPr lang="en-US"/>
              <a:t>Similarly, auto-complete—now standard in search engines and smartphone keyboards—relies on NLP to predict and complete user input in real time (NLG).</a:t>
            </a:r>
          </a:p>
        </p:txBody>
      </p:sp>
    </p:spTree>
    <p:extLst>
      <p:ext uri="{BB962C8B-B14F-4D97-AF65-F5344CB8AC3E}">
        <p14:creationId xmlns:p14="http://schemas.microsoft.com/office/powerpoint/2010/main" val="405367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504BA-838D-5897-6C02-E50D176D5C42}"/>
              </a:ext>
            </a:extLst>
          </p:cNvPr>
          <p:cNvSpPr>
            <a:spLocks noGrp="1"/>
          </p:cNvSpPr>
          <p:nvPr>
            <p:ph type="title"/>
          </p:nvPr>
        </p:nvSpPr>
        <p:spPr/>
        <p:txBody>
          <a:bodyPr>
            <a:normAutofit fontScale="90000"/>
          </a:bodyPr>
          <a:lstStyle/>
          <a:p>
            <a:r>
              <a:rPr lang="en-US"/>
              <a:t>NLP Applications</a:t>
            </a:r>
          </a:p>
        </p:txBody>
      </p:sp>
      <p:sp>
        <p:nvSpPr>
          <p:cNvPr id="3" name="Text Placeholder 2">
            <a:extLst>
              <a:ext uri="{FF2B5EF4-FFF2-40B4-BE49-F238E27FC236}">
                <a16:creationId xmlns:a16="http://schemas.microsoft.com/office/drawing/2014/main" id="{9C0E9308-EC0F-E44B-15D1-FBAED285DC05}"/>
              </a:ext>
            </a:extLst>
          </p:cNvPr>
          <p:cNvSpPr>
            <a:spLocks noGrp="1"/>
          </p:cNvSpPr>
          <p:nvPr>
            <p:ph type="body" idx="1"/>
          </p:nvPr>
        </p:nvSpPr>
        <p:spPr/>
        <p:txBody>
          <a:bodyPr>
            <a:normAutofit fontScale="85000" lnSpcReduction="20000"/>
          </a:bodyPr>
          <a:lstStyle/>
          <a:p>
            <a:r>
              <a:rPr lang="en-US"/>
              <a:t>Many word processors and text editors now embed NLP-powered features. </a:t>
            </a:r>
          </a:p>
          <a:p>
            <a:pPr lvl="1"/>
            <a:r>
              <a:rPr lang="en-US"/>
              <a:t>These range from basic spelling and grammar correction (using NLU to detect errors) to more advanced functions such as concordance generation, style guidance, and real-time writing suggestions (leveraging NLG to propose improved phrasing).</a:t>
            </a:r>
          </a:p>
          <a:p>
            <a:r>
              <a:rPr lang="en-US"/>
              <a:t>Recent advances extend these tools even further. </a:t>
            </a:r>
          </a:p>
          <a:p>
            <a:pPr lvl="1"/>
            <a:r>
              <a:rPr lang="en-US"/>
              <a:t>AI-assisted paraphrasing and summarization can help writers quickly reframe their ideas or condense long passages.</a:t>
            </a:r>
          </a:p>
          <a:p>
            <a:pPr lvl="1"/>
            <a:r>
              <a:rPr lang="en-US"/>
              <a:t>Predictive academic writing assistants can recommend citations, suggest topic-specific vocabulary, or generate coherent drafts based on outlines. </a:t>
            </a:r>
          </a:p>
          <a:p>
            <a:pPr lvl="2"/>
            <a:r>
              <a:rPr lang="en-US"/>
              <a:t>These two tools illustrate how NLU and NLG are evolving from simple editing aids to intelligent collaborators in creative and scholarly work.</a:t>
            </a:r>
          </a:p>
          <a:p>
            <a:r>
              <a:rPr lang="en-US"/>
              <a:t>Modern dialogue systems (chatbots) extend these capabilities by leveraging natural language search to retrieve and formulate contextually relevant responses for ongoing conversations.</a:t>
            </a:r>
          </a:p>
          <a:p>
            <a:r>
              <a:rPr lang="en-US"/>
              <a:t>Machine translation (Google Translate, </a:t>
            </a:r>
            <a:r>
              <a:rPr lang="en-US" err="1"/>
              <a:t>DeepL</a:t>
            </a:r>
            <a:r>
              <a:rPr lang="en-US"/>
              <a:t>) combines NLU to grasp the meaning of the source language and NLG to fluently render it in the target language. </a:t>
            </a:r>
          </a:p>
          <a:p>
            <a:pPr lvl="1"/>
            <a:r>
              <a:rPr lang="en-US">
                <a:solidFill>
                  <a:schemeClr val="accent6">
                    <a:lumMod val="76000"/>
                  </a:schemeClr>
                </a:solidFill>
              </a:rPr>
              <a:t>This enables real-time multilingual communication across diverse platforms.</a:t>
            </a:r>
          </a:p>
          <a:p>
            <a:endParaRPr lang="en-US"/>
          </a:p>
        </p:txBody>
      </p:sp>
    </p:spTree>
    <p:extLst>
      <p:ext uri="{BB962C8B-B14F-4D97-AF65-F5344CB8AC3E}">
        <p14:creationId xmlns:p14="http://schemas.microsoft.com/office/powerpoint/2010/main" val="185688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D077C-E9B1-C129-F7BA-E6AF1F9D759F}"/>
              </a:ext>
            </a:extLst>
          </p:cNvPr>
          <p:cNvSpPr>
            <a:spLocks noGrp="1"/>
          </p:cNvSpPr>
          <p:nvPr>
            <p:ph type="title"/>
          </p:nvPr>
        </p:nvSpPr>
        <p:spPr/>
        <p:txBody>
          <a:bodyPr>
            <a:normAutofit fontScale="90000"/>
          </a:bodyPr>
          <a:lstStyle/>
          <a:p>
            <a:r>
              <a:rPr lang="en-US"/>
              <a:t>NLP Pipeline</a:t>
            </a:r>
          </a:p>
        </p:txBody>
      </p:sp>
      <p:sp>
        <p:nvSpPr>
          <p:cNvPr id="3" name="Text Placeholder 2">
            <a:extLst>
              <a:ext uri="{FF2B5EF4-FFF2-40B4-BE49-F238E27FC236}">
                <a16:creationId xmlns:a16="http://schemas.microsoft.com/office/drawing/2014/main" id="{3C1ED260-50F7-C120-03DA-7E00A95D68A4}"/>
              </a:ext>
            </a:extLst>
          </p:cNvPr>
          <p:cNvSpPr>
            <a:spLocks noGrp="1"/>
          </p:cNvSpPr>
          <p:nvPr>
            <p:ph type="body" idx="1"/>
          </p:nvPr>
        </p:nvSpPr>
        <p:spPr/>
        <p:txBody>
          <a:bodyPr>
            <a:normAutofit fontScale="92500" lnSpcReduction="20000"/>
          </a:bodyPr>
          <a:lstStyle/>
          <a:p>
            <a:r>
              <a:rPr lang="en-US" dirty="0"/>
              <a:t>In Natural Language Processing (NLP), a pipeline refers to a </a:t>
            </a:r>
            <a:r>
              <a:rPr lang="en-US" dirty="0">
                <a:solidFill>
                  <a:srgbClr val="002060"/>
                </a:solidFill>
              </a:rPr>
              <a:t>structured sequence of steps</a:t>
            </a:r>
            <a:r>
              <a:rPr lang="en-US" dirty="0"/>
              <a:t> that progressively transform raw text into meaningful outputs for analysis or real-world applications. </a:t>
            </a:r>
          </a:p>
          <a:p>
            <a:pPr lvl="1"/>
            <a:r>
              <a:rPr lang="en-US" dirty="0"/>
              <a:t>It works much like a factory assembly line—each stage transforms the data, preparing it for the next until the final output is ready.</a:t>
            </a:r>
          </a:p>
          <a:p>
            <a:r>
              <a:rPr lang="en-US" dirty="0"/>
              <a:t>Typical stages of an NLP pipeline include:</a:t>
            </a:r>
          </a:p>
          <a:p>
            <a:pPr lvl="1"/>
            <a:r>
              <a:rPr lang="en-US" dirty="0">
                <a:solidFill>
                  <a:schemeClr val="accent6">
                    <a:lumMod val="76000"/>
                  </a:schemeClr>
                </a:solidFill>
              </a:rPr>
              <a:t>Data Acquisition – Collecting raw textual data from sources such as documents, social media, or speech transcripts.</a:t>
            </a:r>
          </a:p>
          <a:p>
            <a:pPr lvl="1"/>
            <a:r>
              <a:rPr lang="en-US" dirty="0">
                <a:solidFill>
                  <a:schemeClr val="accent6">
                    <a:lumMod val="76000"/>
                  </a:schemeClr>
                </a:solidFill>
              </a:rPr>
              <a:t>Text Preprocessing – Cleaning and normalizing text (e.g., </a:t>
            </a:r>
            <a:r>
              <a:rPr lang="en-US" b="1" dirty="0">
                <a:solidFill>
                  <a:srgbClr val="C00000"/>
                </a:solidFill>
              </a:rPr>
              <a:t>tokenization</a:t>
            </a:r>
            <a:r>
              <a:rPr lang="en-US" dirty="0">
                <a:solidFill>
                  <a:schemeClr val="accent6">
                    <a:lumMod val="76000"/>
                  </a:schemeClr>
                </a:solidFill>
              </a:rPr>
              <a:t>, </a:t>
            </a:r>
            <a:r>
              <a:rPr lang="en-US" err="1">
                <a:solidFill>
                  <a:schemeClr val="accent6">
                    <a:lumMod val="76000"/>
                  </a:schemeClr>
                </a:solidFill>
              </a:rPr>
              <a:t>stopword</a:t>
            </a:r>
            <a:r>
              <a:rPr lang="en-US" dirty="0">
                <a:solidFill>
                  <a:schemeClr val="accent6">
                    <a:lumMod val="76000"/>
                  </a:schemeClr>
                </a:solidFill>
              </a:rPr>
              <a:t> removal, lemmatization).</a:t>
            </a:r>
          </a:p>
          <a:p>
            <a:pPr lvl="1"/>
            <a:r>
              <a:rPr lang="en-US" b="1" dirty="0">
                <a:solidFill>
                  <a:srgbClr val="C00000"/>
                </a:solidFill>
              </a:rPr>
              <a:t>Feature Engineering</a:t>
            </a:r>
            <a:r>
              <a:rPr lang="en-US" dirty="0">
                <a:solidFill>
                  <a:schemeClr val="accent6">
                    <a:lumMod val="76000"/>
                  </a:schemeClr>
                </a:solidFill>
              </a:rPr>
              <a:t> – Representing text in a machine-readable form, such as word embeddings or vector encodings.</a:t>
            </a:r>
          </a:p>
          <a:p>
            <a:pPr lvl="1"/>
            <a:r>
              <a:rPr lang="en-US" b="1" dirty="0">
                <a:solidFill>
                  <a:srgbClr val="C00000"/>
                </a:solidFill>
              </a:rPr>
              <a:t>Modeling </a:t>
            </a:r>
            <a:r>
              <a:rPr lang="en-US" dirty="0">
                <a:solidFill>
                  <a:schemeClr val="accent6">
                    <a:lumMod val="76000"/>
                  </a:schemeClr>
                </a:solidFill>
              </a:rPr>
              <a:t>– Applying statistical or machine learning models to perform tasks like classification, translation, or summarization.</a:t>
            </a:r>
          </a:p>
          <a:p>
            <a:pPr lvl="1"/>
            <a:r>
              <a:rPr lang="en-US" b="1" dirty="0">
                <a:solidFill>
                  <a:srgbClr val="C00000"/>
                </a:solidFill>
              </a:rPr>
              <a:t>Evaluation </a:t>
            </a:r>
            <a:r>
              <a:rPr lang="en-US" dirty="0">
                <a:solidFill>
                  <a:schemeClr val="accent6">
                    <a:lumMod val="76000"/>
                  </a:schemeClr>
                </a:solidFill>
              </a:rPr>
              <a:t>– Assessing model performance using metrics such as accuracy, F1-score, or BLEU.</a:t>
            </a:r>
          </a:p>
          <a:p>
            <a:pPr lvl="1"/>
            <a:r>
              <a:rPr lang="en-US" dirty="0">
                <a:solidFill>
                  <a:schemeClr val="accent6">
                    <a:lumMod val="76000"/>
                  </a:schemeClr>
                </a:solidFill>
              </a:rPr>
              <a:t>Deployment – Integrating the trained model into applications, such as chatbots, search engines, or recommendation systems.</a:t>
            </a:r>
          </a:p>
          <a:p>
            <a:endParaRPr lang="en-US"/>
          </a:p>
        </p:txBody>
      </p:sp>
    </p:spTree>
    <p:extLst>
      <p:ext uri="{BB962C8B-B14F-4D97-AF65-F5344CB8AC3E}">
        <p14:creationId xmlns:p14="http://schemas.microsoft.com/office/powerpoint/2010/main" val="15930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96C5B-86D7-B217-38E2-F3D8A84D174B}"/>
              </a:ext>
            </a:extLst>
          </p:cNvPr>
          <p:cNvSpPr>
            <a:spLocks noGrp="1"/>
          </p:cNvSpPr>
          <p:nvPr>
            <p:ph type="title"/>
          </p:nvPr>
        </p:nvSpPr>
        <p:spPr/>
        <p:txBody>
          <a:bodyPr>
            <a:normAutofit fontScale="90000"/>
          </a:bodyPr>
          <a:lstStyle/>
          <a:p>
            <a:r>
              <a:rPr lang="en-US"/>
              <a:t>Tokenization</a:t>
            </a:r>
          </a:p>
        </p:txBody>
      </p:sp>
      <p:pic>
        <p:nvPicPr>
          <p:cNvPr id="4" name="Picture 3" descr="A diagram of a computer program&#10;&#10;AI-generated content may be incorrect.">
            <a:extLst>
              <a:ext uri="{FF2B5EF4-FFF2-40B4-BE49-F238E27FC236}">
                <a16:creationId xmlns:a16="http://schemas.microsoft.com/office/drawing/2014/main" id="{843A50F3-49AF-C6D2-8145-2A74EA62CE36}"/>
              </a:ext>
            </a:extLst>
          </p:cNvPr>
          <p:cNvPicPr>
            <a:picLocks noChangeAspect="1"/>
          </p:cNvPicPr>
          <p:nvPr/>
        </p:nvPicPr>
        <p:blipFill>
          <a:blip r:embed="rId2"/>
          <a:stretch>
            <a:fillRect/>
          </a:stretch>
        </p:blipFill>
        <p:spPr>
          <a:xfrm>
            <a:off x="2181450" y="1351416"/>
            <a:ext cx="7683953" cy="4164239"/>
          </a:xfrm>
          <a:prstGeom prst="rect">
            <a:avLst/>
          </a:prstGeom>
        </p:spPr>
      </p:pic>
    </p:spTree>
    <p:extLst>
      <p:ext uri="{BB962C8B-B14F-4D97-AF65-F5344CB8AC3E}">
        <p14:creationId xmlns:p14="http://schemas.microsoft.com/office/powerpoint/2010/main" val="3339337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9CB9D-C0A2-AB41-A978-A7DE3FC40A29}"/>
              </a:ext>
            </a:extLst>
          </p:cNvPr>
          <p:cNvSpPr>
            <a:spLocks noGrp="1"/>
          </p:cNvSpPr>
          <p:nvPr>
            <p:ph type="title"/>
          </p:nvPr>
        </p:nvSpPr>
        <p:spPr/>
        <p:txBody>
          <a:bodyPr>
            <a:normAutofit fontScale="90000"/>
          </a:bodyPr>
          <a:lstStyle/>
          <a:p>
            <a:r>
              <a:rPr lang="en-US"/>
              <a:t>Tokenization</a:t>
            </a:r>
          </a:p>
        </p:txBody>
      </p:sp>
      <p:sp>
        <p:nvSpPr>
          <p:cNvPr id="3" name="Content Placeholder 2">
            <a:extLst>
              <a:ext uri="{FF2B5EF4-FFF2-40B4-BE49-F238E27FC236}">
                <a16:creationId xmlns:a16="http://schemas.microsoft.com/office/drawing/2014/main" id="{612D8927-D4F9-4143-8E1A-F35277365C7D}"/>
              </a:ext>
            </a:extLst>
          </p:cNvPr>
          <p:cNvSpPr>
            <a:spLocks noGrp="1"/>
          </p:cNvSpPr>
          <p:nvPr>
            <p:ph idx="1"/>
          </p:nvPr>
        </p:nvSpPr>
        <p:spPr>
          <a:xfrm>
            <a:off x="442175" y="942767"/>
            <a:ext cx="11320529" cy="5480732"/>
          </a:xfrm>
        </p:spPr>
        <p:txBody>
          <a:bodyPr>
            <a:normAutofit fontScale="92500" lnSpcReduction="10000"/>
          </a:bodyPr>
          <a:lstStyle/>
          <a:p>
            <a:r>
              <a:rPr lang="en-US"/>
              <a:t>Tokenization is a kind of text document segmentation. </a:t>
            </a:r>
            <a:endParaRPr lang="en-US">
              <a:solidFill>
                <a:srgbClr val="000000"/>
              </a:solidFill>
            </a:endParaRPr>
          </a:p>
          <a:p>
            <a:pPr lvl="1"/>
            <a:r>
              <a:rPr lang="en-US"/>
              <a:t>To break down larger pieces of text chunks into smaller meaningful ones </a:t>
            </a:r>
            <a:endParaRPr lang="en-US">
              <a:solidFill>
                <a:srgbClr val="000000"/>
              </a:solidFill>
            </a:endParaRPr>
          </a:p>
          <a:p>
            <a:r>
              <a:rPr lang="en-US"/>
              <a:t>The set of valid tokens for a particular language is called the vocabulary for that language, or, more formally, its lexicon. </a:t>
            </a:r>
          </a:p>
          <a:p>
            <a:pPr lvl="1"/>
            <a:r>
              <a:rPr lang="en-US"/>
              <a:t>Linguistics and NLP researchers use the term lexicon to refer to a set of natural language tokens. </a:t>
            </a:r>
          </a:p>
          <a:p>
            <a:pPr lvl="1"/>
            <a:r>
              <a:rPr lang="en-US"/>
              <a:t>The term vocabulary is the more natural way to refer to a set of natural language words or tokens</a:t>
            </a:r>
          </a:p>
          <a:p>
            <a:r>
              <a:rPr lang="en-US"/>
              <a:t>To build up a vocabulary, the first thing to do is to break the documents or sentences into chunks called </a:t>
            </a:r>
            <a:r>
              <a:rPr lang="en-US" b="1"/>
              <a:t>tokens</a:t>
            </a:r>
            <a:endParaRPr lang="en-US"/>
          </a:p>
          <a:p>
            <a:pPr lvl="1"/>
            <a:r>
              <a:rPr lang="en-US"/>
              <a:t>Each token carries a semantic meaning associated with it </a:t>
            </a:r>
          </a:p>
          <a:p>
            <a:r>
              <a:rPr lang="en-US" b="1"/>
              <a:t>Tokenization </a:t>
            </a:r>
            <a:r>
              <a:rPr lang="en-US"/>
              <a:t>is one of the fundamental things to do in any text-processing activity</a:t>
            </a:r>
          </a:p>
          <a:p>
            <a:r>
              <a:rPr lang="en-US"/>
              <a:t>Tokens generally comprise words and numbers, but they can be extended to include punctuation marks, symbols, and, at times, understandable emoticons </a:t>
            </a:r>
          </a:p>
          <a:p>
            <a:endParaRPr lang="en-US"/>
          </a:p>
        </p:txBody>
      </p:sp>
    </p:spTree>
    <p:extLst>
      <p:ext uri="{BB962C8B-B14F-4D97-AF65-F5344CB8AC3E}">
        <p14:creationId xmlns:p14="http://schemas.microsoft.com/office/powerpoint/2010/main" val="321590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67188-5DD6-9A6B-0479-2B65B6A7DAEA}"/>
              </a:ext>
            </a:extLst>
          </p:cNvPr>
          <p:cNvSpPr>
            <a:spLocks noGrp="1"/>
          </p:cNvSpPr>
          <p:nvPr>
            <p:ph type="title"/>
          </p:nvPr>
        </p:nvSpPr>
        <p:spPr/>
        <p:txBody>
          <a:bodyPr>
            <a:normAutofit fontScale="90000"/>
          </a:bodyPr>
          <a:lstStyle/>
          <a:p>
            <a:r>
              <a:rPr lang="en-US"/>
              <a:t>Tokens in NLP are Features</a:t>
            </a:r>
          </a:p>
        </p:txBody>
      </p:sp>
      <p:sp>
        <p:nvSpPr>
          <p:cNvPr id="3" name="Text Placeholder 2">
            <a:extLst>
              <a:ext uri="{FF2B5EF4-FFF2-40B4-BE49-F238E27FC236}">
                <a16:creationId xmlns:a16="http://schemas.microsoft.com/office/drawing/2014/main" id="{AF72C390-A22C-F0C0-2320-4B685AE890CF}"/>
              </a:ext>
            </a:extLst>
          </p:cNvPr>
          <p:cNvSpPr>
            <a:spLocks noGrp="1"/>
          </p:cNvSpPr>
          <p:nvPr>
            <p:ph type="body" idx="1"/>
          </p:nvPr>
        </p:nvSpPr>
        <p:spPr/>
        <p:txBody>
          <a:bodyPr>
            <a:normAutofit/>
          </a:bodyPr>
          <a:lstStyle/>
          <a:p>
            <a:r>
              <a:rPr lang="en-US"/>
              <a:t>Tokens are the features for ML of NLP</a:t>
            </a:r>
          </a:p>
          <a:p>
            <a:r>
              <a:rPr lang="en-US"/>
              <a:t>NLP models cannot take raw strings as inputs</a:t>
            </a:r>
          </a:p>
          <a:p>
            <a:pPr lvl="1"/>
            <a:r>
              <a:rPr lang="en-US">
                <a:solidFill>
                  <a:schemeClr val="accent6">
                    <a:lumMod val="76000"/>
                  </a:schemeClr>
                </a:solidFill>
              </a:rPr>
              <a:t>These are machine learning models </a:t>
            </a:r>
          </a:p>
          <a:p>
            <a:pPr lvl="2"/>
            <a:r>
              <a:rPr lang="en-US"/>
              <a:t>They assume the text has been tokenized and encoded as numerical vectors</a:t>
            </a:r>
          </a:p>
          <a:p>
            <a:r>
              <a:rPr lang="en-US"/>
              <a:t>There are several tokenization strategies, and the optimal splitting of words into sub-units is usually learned from the corpus</a:t>
            </a:r>
          </a:p>
          <a:p>
            <a:r>
              <a:rPr lang="en-US"/>
              <a:t>Broadly, there are three kinds of tokenization</a:t>
            </a:r>
          </a:p>
          <a:p>
            <a:pPr lvl="1"/>
            <a:r>
              <a:rPr lang="en-US">
                <a:solidFill>
                  <a:schemeClr val="accent6">
                    <a:lumMod val="76000"/>
                  </a:schemeClr>
                </a:solidFill>
              </a:rPr>
              <a:t>Character level tokenization</a:t>
            </a:r>
          </a:p>
          <a:p>
            <a:pPr lvl="1"/>
            <a:r>
              <a:rPr lang="en-US">
                <a:solidFill>
                  <a:schemeClr val="accent6">
                    <a:lumMod val="76000"/>
                  </a:schemeClr>
                </a:solidFill>
              </a:rPr>
              <a:t>Word level tokenization</a:t>
            </a:r>
          </a:p>
          <a:p>
            <a:pPr lvl="1"/>
            <a:r>
              <a:rPr lang="en-US">
                <a:solidFill>
                  <a:schemeClr val="accent6">
                    <a:lumMod val="76000"/>
                  </a:schemeClr>
                </a:solidFill>
              </a:rPr>
              <a:t>Sub-word level tokenization</a:t>
            </a:r>
          </a:p>
        </p:txBody>
      </p:sp>
    </p:spTree>
    <p:extLst>
      <p:ext uri="{BB962C8B-B14F-4D97-AF65-F5344CB8AC3E}">
        <p14:creationId xmlns:p14="http://schemas.microsoft.com/office/powerpoint/2010/main" val="74379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5BE52-83E0-6CC7-73EA-7D39DA6B3DA5}"/>
              </a:ext>
            </a:extLst>
          </p:cNvPr>
          <p:cNvSpPr>
            <a:spLocks noGrp="1"/>
          </p:cNvSpPr>
          <p:nvPr>
            <p:ph type="title"/>
          </p:nvPr>
        </p:nvSpPr>
        <p:spPr/>
        <p:txBody>
          <a:bodyPr>
            <a:normAutofit fontScale="90000"/>
          </a:bodyPr>
          <a:lstStyle/>
          <a:p>
            <a:r>
              <a:rPr lang="en-US"/>
              <a:t>How do we use tokenization?</a:t>
            </a:r>
            <a:endParaRPr lang="en-US" b="0">
              <a:solidFill>
                <a:srgbClr val="000000"/>
              </a:solidFill>
            </a:endParaRPr>
          </a:p>
        </p:txBody>
      </p:sp>
      <p:pic>
        <p:nvPicPr>
          <p:cNvPr id="4" name="Picture 3" descr="A diagram of a computer program&#10;&#10;AI-generated content may be incorrect.">
            <a:extLst>
              <a:ext uri="{FF2B5EF4-FFF2-40B4-BE49-F238E27FC236}">
                <a16:creationId xmlns:a16="http://schemas.microsoft.com/office/drawing/2014/main" id="{6390287E-AC55-1AE0-9CA1-D19362820CB8}"/>
              </a:ext>
            </a:extLst>
          </p:cNvPr>
          <p:cNvPicPr>
            <a:picLocks noChangeAspect="1"/>
          </p:cNvPicPr>
          <p:nvPr/>
        </p:nvPicPr>
        <p:blipFill>
          <a:blip r:embed="rId2"/>
          <a:stretch>
            <a:fillRect/>
          </a:stretch>
        </p:blipFill>
        <p:spPr>
          <a:xfrm>
            <a:off x="566738" y="993095"/>
            <a:ext cx="11058525" cy="5724525"/>
          </a:xfrm>
          <a:prstGeom prst="rect">
            <a:avLst/>
          </a:prstGeom>
        </p:spPr>
      </p:pic>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495DEBF2-F3C4-7D22-5CC9-8B772883B56E}"/>
                  </a:ext>
                </a:extLst>
              </p14:cNvPr>
              <p14:cNvContentPartPr/>
              <p14:nvPr/>
            </p14:nvContentPartPr>
            <p14:xfrm>
              <a:off x="7542733" y="2123923"/>
              <a:ext cx="50760" cy="26640"/>
            </p14:xfrm>
          </p:contentPart>
        </mc:Choice>
        <mc:Fallback xmlns="">
          <p:pic>
            <p:nvPicPr>
              <p:cNvPr id="21" name="Ink 20">
                <a:extLst>
                  <a:ext uri="{FF2B5EF4-FFF2-40B4-BE49-F238E27FC236}">
                    <a16:creationId xmlns:a16="http://schemas.microsoft.com/office/drawing/2014/main" id="{495DEBF2-F3C4-7D22-5CC9-8B772883B56E}"/>
                  </a:ext>
                </a:extLst>
              </p:cNvPr>
              <p:cNvPicPr/>
              <p:nvPr/>
            </p:nvPicPr>
            <p:blipFill>
              <a:blip r:embed="rId4"/>
              <a:stretch>
                <a:fillRect/>
              </a:stretch>
            </p:blipFill>
            <p:spPr>
              <a:xfrm>
                <a:off x="7528333" y="2109715"/>
                <a:ext cx="79200" cy="54701"/>
              </a:xfrm>
              <a:prstGeom prst="rect">
                <a:avLst/>
              </a:prstGeom>
            </p:spPr>
          </p:pic>
        </mc:Fallback>
      </mc:AlternateContent>
    </p:spTree>
    <p:extLst>
      <p:ext uri="{BB962C8B-B14F-4D97-AF65-F5344CB8AC3E}">
        <p14:creationId xmlns:p14="http://schemas.microsoft.com/office/powerpoint/2010/main" val="2404019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Space-based tokenization</a:t>
            </a:r>
          </a:p>
        </p:txBody>
      </p:sp>
      <p:sp>
        <p:nvSpPr>
          <p:cNvPr id="9" name="Content Placeholder 8">
            <a:extLst>
              <a:ext uri="{FF2B5EF4-FFF2-40B4-BE49-F238E27FC236}">
                <a16:creationId xmlns:a16="http://schemas.microsoft.com/office/drawing/2014/main" id="{77E97B3B-C03B-DB48-84FB-2711464CFC8E}"/>
              </a:ext>
            </a:extLst>
          </p:cNvPr>
          <p:cNvSpPr>
            <a:spLocks noGrp="1"/>
          </p:cNvSpPr>
          <p:nvPr>
            <p:ph idx="1"/>
          </p:nvPr>
        </p:nvSpPr>
        <p:spPr>
          <a:xfrm>
            <a:off x="812800" y="1600200"/>
            <a:ext cx="10891520" cy="4876800"/>
          </a:xfrm>
        </p:spPr>
        <p:txBody>
          <a:bodyPr>
            <a:normAutofit/>
          </a:bodyPr>
          <a:lstStyle/>
          <a:p>
            <a:r>
              <a:rPr lang="en-US"/>
              <a:t>A very simple way to tokenize</a:t>
            </a:r>
          </a:p>
          <a:p>
            <a:pPr lvl="1"/>
            <a:r>
              <a:rPr lang="en-US"/>
              <a:t>For languages that use space characters between words</a:t>
            </a:r>
          </a:p>
          <a:p>
            <a:pPr lvl="2"/>
            <a:r>
              <a:rPr lang="en-US"/>
              <a:t>Arabic, Cyrillic, Greek, Latin, etc., based writing systems</a:t>
            </a:r>
          </a:p>
          <a:p>
            <a:pPr lvl="1"/>
            <a:r>
              <a:rPr lang="en-US"/>
              <a:t>Segment off a token between instances of spaces</a:t>
            </a:r>
          </a:p>
          <a:p>
            <a:r>
              <a:rPr lang="en-US"/>
              <a:t>Unix tools for space/punctuation-based tokenization</a:t>
            </a:r>
          </a:p>
          <a:p>
            <a:pPr lvl="1"/>
            <a:r>
              <a:rPr lang="en-US"/>
              <a:t>The "tr" command</a:t>
            </a:r>
          </a:p>
          <a:p>
            <a:pPr lvl="1"/>
            <a:r>
              <a:rPr lang="en-US"/>
              <a:t>Inspired by Ken Church's UNIX for Poets</a:t>
            </a:r>
          </a:p>
          <a:p>
            <a:pPr lvl="1"/>
            <a:r>
              <a:rPr lang="en-US"/>
              <a:t>Given a text file, output the word tokens and their frequencies</a:t>
            </a:r>
          </a:p>
          <a:p>
            <a:pPr marL="0" indent="0">
              <a:buNone/>
            </a:pPr>
            <a:endParaRPr lang="en-US"/>
          </a:p>
        </p:txBody>
      </p:sp>
    </p:spTree>
    <p:extLst>
      <p:ext uri="{BB962C8B-B14F-4D97-AF65-F5344CB8AC3E}">
        <p14:creationId xmlns:p14="http://schemas.microsoft.com/office/powerpoint/2010/main" val="30612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8B9A4-75FA-BF4B-A8D6-ABDB860C2A3E}"/>
              </a:ext>
            </a:extLst>
          </p:cNvPr>
          <p:cNvSpPr>
            <a:spLocks noGrp="1"/>
          </p:cNvSpPr>
          <p:nvPr>
            <p:ph type="title"/>
          </p:nvPr>
        </p:nvSpPr>
        <p:spPr/>
        <p:txBody>
          <a:bodyPr>
            <a:normAutofit fontScale="90000"/>
          </a:bodyPr>
          <a:lstStyle/>
          <a:p>
            <a:r>
              <a:rPr lang="en-US"/>
              <a:t>Space-based Tokenization</a:t>
            </a:r>
          </a:p>
        </p:txBody>
      </p:sp>
      <p:sp>
        <p:nvSpPr>
          <p:cNvPr id="3" name="Content Placeholder 2">
            <a:extLst>
              <a:ext uri="{FF2B5EF4-FFF2-40B4-BE49-F238E27FC236}">
                <a16:creationId xmlns:a16="http://schemas.microsoft.com/office/drawing/2014/main" id="{9D8D804E-C8A4-6D4B-AEEE-51D9BD9D9701}"/>
              </a:ext>
            </a:extLst>
          </p:cNvPr>
          <p:cNvSpPr>
            <a:spLocks noGrp="1"/>
          </p:cNvSpPr>
          <p:nvPr>
            <p:ph idx="1"/>
          </p:nvPr>
        </p:nvSpPr>
        <p:spPr/>
        <p:txBody>
          <a:bodyPr/>
          <a:lstStyle/>
          <a:p>
            <a:r>
              <a:rPr lang="en-US"/>
              <a:t>The simplest tokenization is to use space as a separator</a:t>
            </a:r>
          </a:p>
          <a:p>
            <a:pPr lvl="1"/>
            <a:r>
              <a:rPr lang="en-US"/>
              <a:t>sentence = "The capital of Bangladesh is Dhaka" </a:t>
            </a:r>
          </a:p>
          <a:p>
            <a:pPr lvl="1"/>
            <a:r>
              <a:rPr lang="en-US" err="1"/>
              <a:t>sentence.split</a:t>
            </a:r>
            <a:r>
              <a:rPr lang="en-US"/>
              <a:t>() </a:t>
            </a:r>
          </a:p>
          <a:p>
            <a:pPr lvl="1"/>
            <a:r>
              <a:rPr lang="en-US"/>
              <a:t>Here's the output. </a:t>
            </a:r>
          </a:p>
          <a:p>
            <a:pPr lvl="2"/>
            <a:r>
              <a:rPr lang="en-US"/>
              <a:t>['The', 'capital', 'of', ‘Bangladesh', 'is', ‘Dhaka’] </a:t>
            </a:r>
          </a:p>
          <a:p>
            <a:r>
              <a:rPr lang="en-US"/>
              <a:t>A </a:t>
            </a:r>
            <a:r>
              <a:rPr lang="en-US" err="1"/>
              <a:t>sentence.split</a:t>
            </a:r>
            <a:r>
              <a:rPr lang="en-US"/>
              <a:t>() provides all the different tokens in a sentence</a:t>
            </a:r>
          </a:p>
          <a:p>
            <a:pPr lvl="1"/>
            <a:r>
              <a:rPr lang="en-US"/>
              <a:t>Is it adequate?</a:t>
            </a:r>
          </a:p>
          <a:p>
            <a:r>
              <a:rPr lang="en-US"/>
              <a:t>Each token in the preceding split carries an intrinsic meaning; however, it is not always as straightforward as this </a:t>
            </a:r>
          </a:p>
          <a:p>
            <a:endParaRPr lang="en-US"/>
          </a:p>
        </p:txBody>
      </p:sp>
    </p:spTree>
    <p:extLst>
      <p:ext uri="{BB962C8B-B14F-4D97-AF65-F5344CB8AC3E}">
        <p14:creationId xmlns:p14="http://schemas.microsoft.com/office/powerpoint/2010/main" val="2244873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C0F31-15BF-0C47-9710-C599A452C6C7}"/>
              </a:ext>
            </a:extLst>
          </p:cNvPr>
          <p:cNvSpPr>
            <a:spLocks noGrp="1"/>
          </p:cNvSpPr>
          <p:nvPr>
            <p:ph type="title"/>
          </p:nvPr>
        </p:nvSpPr>
        <p:spPr/>
        <p:txBody>
          <a:bodyPr>
            <a:normAutofit fontScale="90000"/>
          </a:bodyPr>
          <a:lstStyle/>
          <a:p>
            <a:r>
              <a:rPr lang="en-US"/>
              <a:t>Simple Tokenization issues</a:t>
            </a:r>
          </a:p>
        </p:txBody>
      </p:sp>
      <p:sp>
        <p:nvSpPr>
          <p:cNvPr id="3" name="Content Placeholder 2">
            <a:extLst>
              <a:ext uri="{FF2B5EF4-FFF2-40B4-BE49-F238E27FC236}">
                <a16:creationId xmlns:a16="http://schemas.microsoft.com/office/drawing/2014/main" id="{D19C0BD4-90B1-944A-9869-19F6694E47A8}"/>
              </a:ext>
            </a:extLst>
          </p:cNvPr>
          <p:cNvSpPr>
            <a:spLocks noGrp="1"/>
          </p:cNvSpPr>
          <p:nvPr>
            <p:ph idx="1"/>
          </p:nvPr>
        </p:nvSpPr>
        <p:spPr/>
        <p:txBody>
          <a:bodyPr/>
          <a:lstStyle/>
          <a:p>
            <a:r>
              <a:rPr lang="en-US"/>
              <a:t>Consider the sentence and corresponding split in the following example: </a:t>
            </a:r>
          </a:p>
          <a:p>
            <a:pPr lvl="1"/>
            <a:r>
              <a:rPr lang="en-US"/>
              <a:t>sentence = "China's capital is Beijing" </a:t>
            </a:r>
          </a:p>
          <a:p>
            <a:pPr lvl="1"/>
            <a:r>
              <a:rPr lang="en-US"/>
              <a:t>Apply </a:t>
            </a:r>
            <a:r>
              <a:rPr lang="en-US" err="1"/>
              <a:t>sentence.split</a:t>
            </a:r>
            <a:r>
              <a:rPr lang="en-US"/>
              <a:t>() </a:t>
            </a:r>
          </a:p>
          <a:p>
            <a:r>
              <a:rPr lang="en-US"/>
              <a:t>Here's the output: </a:t>
            </a:r>
          </a:p>
          <a:p>
            <a:pPr lvl="1"/>
            <a:r>
              <a:rPr lang="en-US"/>
              <a:t>["China's", 'capital', 'is', 'Beijing’]</a:t>
            </a:r>
          </a:p>
          <a:p>
            <a:r>
              <a:rPr lang="en-US"/>
              <a:t>In the preceding example, should it be China, Chinas, or China’s? </a:t>
            </a:r>
          </a:p>
          <a:p>
            <a:r>
              <a:rPr lang="en-US"/>
              <a:t>A split method does not often know how to deal with situations containing apostrophes and special symbols</a:t>
            </a:r>
          </a:p>
          <a:p>
            <a:endParaRPr lang="en-US"/>
          </a:p>
        </p:txBody>
      </p:sp>
    </p:spTree>
    <p:extLst>
      <p:ext uri="{BB962C8B-B14F-4D97-AF65-F5344CB8AC3E}">
        <p14:creationId xmlns:p14="http://schemas.microsoft.com/office/powerpoint/2010/main" val="3527855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AB9BE-8B11-6A4D-B09A-61BA89812691}"/>
              </a:ext>
            </a:extLst>
          </p:cNvPr>
          <p:cNvSpPr>
            <a:spLocks noGrp="1"/>
          </p:cNvSpPr>
          <p:nvPr>
            <p:ph type="title"/>
          </p:nvPr>
        </p:nvSpPr>
        <p:spPr/>
        <p:txBody>
          <a:bodyPr>
            <a:normAutofit fontScale="90000"/>
          </a:bodyPr>
          <a:lstStyle/>
          <a:p>
            <a:r>
              <a:rPr lang="en-US"/>
              <a:t>More Issues for Space-based Tokenization</a:t>
            </a:r>
          </a:p>
        </p:txBody>
      </p:sp>
      <p:sp>
        <p:nvSpPr>
          <p:cNvPr id="3" name="Content Placeholder 2">
            <a:extLst>
              <a:ext uri="{FF2B5EF4-FFF2-40B4-BE49-F238E27FC236}">
                <a16:creationId xmlns:a16="http://schemas.microsoft.com/office/drawing/2014/main" id="{FBC2AD46-57B9-E94B-B914-E43733267BFB}"/>
              </a:ext>
            </a:extLst>
          </p:cNvPr>
          <p:cNvSpPr>
            <a:spLocks noGrp="1"/>
          </p:cNvSpPr>
          <p:nvPr>
            <p:ph idx="1"/>
          </p:nvPr>
        </p:nvSpPr>
        <p:spPr>
          <a:xfrm>
            <a:off x="1097280" y="1295400"/>
            <a:ext cx="10586720" cy="5562600"/>
          </a:xfrm>
        </p:spPr>
        <p:txBody>
          <a:bodyPr>
            <a:normAutofit/>
          </a:bodyPr>
          <a:lstStyle/>
          <a:p>
            <a:r>
              <a:rPr lang="en-US"/>
              <a:t>Can't just blindly remove punctuation:</a:t>
            </a:r>
          </a:p>
          <a:p>
            <a:pPr lvl="1"/>
            <a:r>
              <a:rPr lang="en-US">
                <a:solidFill>
                  <a:srgbClr val="0070C0"/>
                </a:solidFill>
              </a:rPr>
              <a:t>m.p.h., Ph.D., AT&amp;T, </a:t>
            </a:r>
            <a:r>
              <a:rPr lang="en-US" err="1">
                <a:solidFill>
                  <a:srgbClr val="0070C0"/>
                </a:solidFill>
              </a:rPr>
              <a:t>cap’n</a:t>
            </a:r>
            <a:endParaRPr lang="en-US"/>
          </a:p>
          <a:p>
            <a:pPr lvl="1"/>
            <a:r>
              <a:rPr lang="en-US"/>
              <a:t>prices </a:t>
            </a:r>
            <a:r>
              <a:rPr lang="en-US">
                <a:solidFill>
                  <a:srgbClr val="0070C0"/>
                </a:solidFill>
              </a:rPr>
              <a:t>($45.55</a:t>
            </a:r>
            <a:r>
              <a:rPr lang="en-US"/>
              <a:t>)</a:t>
            </a:r>
          </a:p>
          <a:p>
            <a:pPr lvl="1"/>
            <a:r>
              <a:rPr lang="en-US"/>
              <a:t>dates (</a:t>
            </a:r>
            <a:r>
              <a:rPr lang="en-US">
                <a:solidFill>
                  <a:srgbClr val="0070C0"/>
                </a:solidFill>
              </a:rPr>
              <a:t>01/02/06</a:t>
            </a:r>
            <a:r>
              <a:rPr lang="en-US"/>
              <a:t>)</a:t>
            </a:r>
          </a:p>
          <a:p>
            <a:pPr lvl="1"/>
            <a:r>
              <a:rPr lang="en-US"/>
              <a:t>URLs (</a:t>
            </a:r>
            <a:r>
              <a:rPr lang="en-US">
                <a:solidFill>
                  <a:srgbClr val="0070C0"/>
                </a:solidFill>
              </a:rPr>
              <a:t>http://www.stanford.edu</a:t>
            </a:r>
            <a:r>
              <a:rPr lang="en-US"/>
              <a:t>)</a:t>
            </a:r>
          </a:p>
          <a:p>
            <a:pPr lvl="1"/>
            <a:r>
              <a:rPr lang="en-US"/>
              <a:t>hashtags (</a:t>
            </a:r>
            <a:r>
              <a:rPr lang="en-US">
                <a:solidFill>
                  <a:srgbClr val="0070C0"/>
                </a:solidFill>
              </a:rPr>
              <a:t>#nlproc</a:t>
            </a:r>
            <a:r>
              <a:rPr lang="en-US"/>
              <a:t>)</a:t>
            </a:r>
          </a:p>
          <a:p>
            <a:pPr lvl="1"/>
            <a:r>
              <a:rPr lang="en-US"/>
              <a:t>email addresses (</a:t>
            </a:r>
            <a:r>
              <a:rPr lang="en-US">
                <a:solidFill>
                  <a:srgbClr val="0070C0"/>
                </a:solidFill>
              </a:rPr>
              <a:t>someone@cs.colorado.edu</a:t>
            </a:r>
            <a:r>
              <a:rPr lang="en-US"/>
              <a:t>)</a:t>
            </a:r>
          </a:p>
          <a:p>
            <a:r>
              <a:rPr lang="en-US"/>
              <a:t>Clitic: a word that doesn't stand on its own</a:t>
            </a:r>
          </a:p>
          <a:p>
            <a:pPr lvl="1"/>
            <a:r>
              <a:rPr lang="en-US">
                <a:solidFill>
                  <a:schemeClr val="accent6">
                    <a:lumMod val="76000"/>
                  </a:schemeClr>
                </a:solidFill>
              </a:rPr>
              <a:t>"are" in we're</a:t>
            </a:r>
          </a:p>
          <a:p>
            <a:r>
              <a:rPr lang="en-US">
                <a:sym typeface="Wingdings" pitchFamily="2" charset="2"/>
              </a:rPr>
              <a:t>When should multiword expressions (MWE) be words?</a:t>
            </a:r>
            <a:endParaRPr lang="en-US"/>
          </a:p>
          <a:p>
            <a:pPr lvl="1"/>
            <a:r>
              <a:rPr lang="en-US">
                <a:solidFill>
                  <a:schemeClr val="accent6">
                    <a:lumMod val="76000"/>
                  </a:schemeClr>
                </a:solidFill>
              </a:rPr>
              <a:t>New York, rock ’n’ roll </a:t>
            </a:r>
          </a:p>
          <a:p>
            <a:endParaRPr lang="en-US"/>
          </a:p>
          <a:p>
            <a:pPr lvl="1"/>
            <a:endParaRPr lang="en-US"/>
          </a:p>
          <a:p>
            <a:endParaRPr lang="en-US"/>
          </a:p>
          <a:p>
            <a:pPr lvl="1"/>
            <a:endParaRPr lang="en-US"/>
          </a:p>
        </p:txBody>
      </p:sp>
    </p:spTree>
    <p:extLst>
      <p:ext uri="{BB962C8B-B14F-4D97-AF65-F5344CB8AC3E}">
        <p14:creationId xmlns:p14="http://schemas.microsoft.com/office/powerpoint/2010/main" val="155340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F2961-1D81-494C-BB4B-0A940DF7F43C}"/>
              </a:ext>
            </a:extLst>
          </p:cNvPr>
          <p:cNvSpPr>
            <a:spLocks noGrp="1"/>
          </p:cNvSpPr>
          <p:nvPr>
            <p:ph type="title"/>
          </p:nvPr>
        </p:nvSpPr>
        <p:spPr/>
        <p:txBody>
          <a:bodyPr>
            <a:normAutofit fontScale="90000"/>
          </a:bodyPr>
          <a:lstStyle/>
          <a:p>
            <a:r>
              <a:rPr lang="en-US"/>
              <a:t>Different types of word tokenizers</a:t>
            </a:r>
          </a:p>
        </p:txBody>
      </p:sp>
      <p:sp>
        <p:nvSpPr>
          <p:cNvPr id="3" name="Content Placeholder 2">
            <a:extLst>
              <a:ext uri="{FF2B5EF4-FFF2-40B4-BE49-F238E27FC236}">
                <a16:creationId xmlns:a16="http://schemas.microsoft.com/office/drawing/2014/main" id="{11B14828-126A-2343-BBF0-6E49F1149D7E}"/>
              </a:ext>
            </a:extLst>
          </p:cNvPr>
          <p:cNvSpPr>
            <a:spLocks noGrp="1"/>
          </p:cNvSpPr>
          <p:nvPr>
            <p:ph idx="1"/>
          </p:nvPr>
        </p:nvSpPr>
        <p:spPr/>
        <p:txBody>
          <a:bodyPr/>
          <a:lstStyle/>
          <a:p>
            <a:r>
              <a:rPr lang="en-US" dirty="0"/>
              <a:t>There are different kind of tokenizers</a:t>
            </a:r>
          </a:p>
          <a:p>
            <a:pPr lvl="1"/>
            <a:r>
              <a:rPr lang="en-US" dirty="0"/>
              <a:t>Rule based</a:t>
            </a:r>
          </a:p>
          <a:p>
            <a:pPr lvl="2"/>
            <a:r>
              <a:rPr lang="en-US"/>
              <a:t>Regular expressions-based tokenizers</a:t>
            </a:r>
          </a:p>
          <a:p>
            <a:pPr lvl="2"/>
            <a:r>
              <a:rPr lang="en-US"/>
              <a:t>Treebank tokenizers</a:t>
            </a:r>
          </a:p>
          <a:p>
            <a:pPr lvl="2"/>
            <a:r>
              <a:rPr lang="en-US"/>
              <a:t>Tweet tokenizers</a:t>
            </a:r>
          </a:p>
          <a:p>
            <a:pPr lvl="1"/>
            <a:r>
              <a:rPr lang="en-US" dirty="0"/>
              <a:t>Character based</a:t>
            </a:r>
          </a:p>
          <a:p>
            <a:pPr lvl="1"/>
            <a:r>
              <a:rPr lang="en-US" dirty="0"/>
              <a:t>Word based</a:t>
            </a:r>
          </a:p>
          <a:p>
            <a:pPr lvl="1"/>
            <a:r>
              <a:rPr lang="en-US" dirty="0"/>
              <a:t>Sub-Word based</a:t>
            </a:r>
          </a:p>
        </p:txBody>
      </p:sp>
    </p:spTree>
    <p:extLst>
      <p:ext uri="{BB962C8B-B14F-4D97-AF65-F5344CB8AC3E}">
        <p14:creationId xmlns:p14="http://schemas.microsoft.com/office/powerpoint/2010/main" val="3680060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E985D-ED9F-594A-A779-8AD54CF715FE}"/>
              </a:ext>
            </a:extLst>
          </p:cNvPr>
          <p:cNvSpPr>
            <a:spLocks noGrp="1"/>
          </p:cNvSpPr>
          <p:nvPr>
            <p:ph type="title"/>
          </p:nvPr>
        </p:nvSpPr>
        <p:spPr/>
        <p:txBody>
          <a:bodyPr>
            <a:normAutofit fontScale="90000"/>
          </a:bodyPr>
          <a:lstStyle/>
          <a:p>
            <a:r>
              <a:rPr lang="en-US"/>
              <a:t>Regular expression-based tokenizers</a:t>
            </a:r>
          </a:p>
        </p:txBody>
      </p:sp>
      <p:sp>
        <p:nvSpPr>
          <p:cNvPr id="3" name="Content Placeholder 2">
            <a:extLst>
              <a:ext uri="{FF2B5EF4-FFF2-40B4-BE49-F238E27FC236}">
                <a16:creationId xmlns:a16="http://schemas.microsoft.com/office/drawing/2014/main" id="{9C18861E-1F96-4748-94CC-84C3D155C7E1}"/>
              </a:ext>
            </a:extLst>
          </p:cNvPr>
          <p:cNvSpPr>
            <a:spLocks noGrp="1"/>
          </p:cNvSpPr>
          <p:nvPr>
            <p:ph idx="1"/>
          </p:nvPr>
        </p:nvSpPr>
        <p:spPr/>
        <p:txBody>
          <a:bodyPr>
            <a:normAutofit/>
          </a:bodyPr>
          <a:lstStyle/>
          <a:p>
            <a:r>
              <a:rPr lang="en-US" b="1" dirty="0"/>
              <a:t>Regular expressions </a:t>
            </a:r>
            <a:r>
              <a:rPr lang="en-US" dirty="0"/>
              <a:t>are sequences of characters that define a search pattern</a:t>
            </a:r>
          </a:p>
          <a:p>
            <a:r>
              <a:rPr lang="en-US" dirty="0"/>
              <a:t>They are one of the earliest and are still one of the most effective tools for identifying patterns in text</a:t>
            </a:r>
          </a:p>
          <a:p>
            <a:r>
              <a:rPr lang="en-US" dirty="0"/>
              <a:t>It can be used to tokenize or split a sentence based on a provided regular expression </a:t>
            </a:r>
          </a:p>
          <a:p>
            <a:r>
              <a:rPr lang="en-US" dirty="0"/>
              <a:t>Take the following sentence: </a:t>
            </a:r>
          </a:p>
          <a:p>
            <a:pPr lvl="1"/>
            <a:r>
              <a:rPr lang="en-US" dirty="0"/>
              <a:t>A Rolex watch costs in the range of $30000 - $500000 in the USA. </a:t>
            </a:r>
          </a:p>
          <a:p>
            <a:pPr lvl="2"/>
            <a:r>
              <a:rPr lang="en-US" dirty="0"/>
              <a:t>Here, we would like to have expressions indicating money, alphabetic sequences, and abbreviations together</a:t>
            </a:r>
          </a:p>
          <a:p>
            <a:endParaRPr lang="en-US"/>
          </a:p>
        </p:txBody>
      </p:sp>
    </p:spTree>
    <p:extLst>
      <p:ext uri="{BB962C8B-B14F-4D97-AF65-F5344CB8AC3E}">
        <p14:creationId xmlns:p14="http://schemas.microsoft.com/office/powerpoint/2010/main" val="4120298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23F70-1D6D-9E49-99CB-4322BF290891}"/>
              </a:ext>
            </a:extLst>
          </p:cNvPr>
          <p:cNvSpPr>
            <a:spLocks noGrp="1"/>
          </p:cNvSpPr>
          <p:nvPr>
            <p:ph type="title"/>
          </p:nvPr>
        </p:nvSpPr>
        <p:spPr/>
        <p:txBody>
          <a:bodyPr>
            <a:normAutofit fontScale="90000"/>
          </a:bodyPr>
          <a:lstStyle/>
          <a:p>
            <a:r>
              <a:rPr lang="en-US"/>
              <a:t>Treebank tokenizer</a:t>
            </a:r>
          </a:p>
        </p:txBody>
      </p:sp>
      <p:sp>
        <p:nvSpPr>
          <p:cNvPr id="3" name="Content Placeholder 2">
            <a:extLst>
              <a:ext uri="{FF2B5EF4-FFF2-40B4-BE49-F238E27FC236}">
                <a16:creationId xmlns:a16="http://schemas.microsoft.com/office/drawing/2014/main" id="{2D684DF5-F27C-DC4F-928A-E269BE7F639B}"/>
              </a:ext>
            </a:extLst>
          </p:cNvPr>
          <p:cNvSpPr>
            <a:spLocks noGrp="1"/>
          </p:cNvSpPr>
          <p:nvPr>
            <p:ph idx="1"/>
          </p:nvPr>
        </p:nvSpPr>
        <p:spPr>
          <a:xfrm>
            <a:off x="435735" y="1262807"/>
            <a:ext cx="11320529" cy="3937843"/>
          </a:xfrm>
        </p:spPr>
        <p:txBody>
          <a:bodyPr>
            <a:normAutofit/>
          </a:bodyPr>
          <a:lstStyle/>
          <a:p>
            <a:r>
              <a:rPr lang="en-US" dirty="0"/>
              <a:t>The </a:t>
            </a:r>
            <a:r>
              <a:rPr lang="en-US" b="1" dirty="0"/>
              <a:t>Treebank </a:t>
            </a:r>
            <a:r>
              <a:rPr lang="en-US" dirty="0"/>
              <a:t>tokenizer also uses regular expressions to tokenize text according to the Penn Treebank (https:/​/​catalog.​</a:t>
            </a:r>
            <a:r>
              <a:rPr lang="en-US" dirty="0" err="1"/>
              <a:t>ldc</a:t>
            </a:r>
            <a:r>
              <a:rPr lang="en-US" dirty="0"/>
              <a:t>.​</a:t>
            </a:r>
            <a:r>
              <a:rPr lang="en-US" dirty="0" err="1"/>
              <a:t>upenn</a:t>
            </a:r>
            <a:r>
              <a:rPr lang="en-US" dirty="0"/>
              <a:t>.​</a:t>
            </a:r>
            <a:r>
              <a:rPr lang="en-US" dirty="0" err="1"/>
              <a:t>edu</a:t>
            </a:r>
            <a:r>
              <a:rPr lang="en-US" dirty="0"/>
              <a:t>/​docs/​LDC95T7/​cl93.​html)</a:t>
            </a:r>
          </a:p>
          <a:p>
            <a:pPr lvl="1"/>
            <a:r>
              <a:rPr lang="en-US" dirty="0">
                <a:solidFill>
                  <a:schemeClr val="accent6">
                    <a:lumMod val="76000"/>
                  </a:schemeClr>
                </a:solidFill>
              </a:rPr>
              <a:t>Here, words are mostly split based on punctuation. </a:t>
            </a:r>
          </a:p>
          <a:p>
            <a:r>
              <a:rPr lang="en-US" dirty="0"/>
              <a:t>The Treebank tokenizer does a great job of splitting contractions such as </a:t>
            </a:r>
            <a:r>
              <a:rPr lang="en-US" i="1" dirty="0"/>
              <a:t>doesn't </a:t>
            </a:r>
            <a:r>
              <a:rPr lang="en-US" dirty="0"/>
              <a:t>to </a:t>
            </a:r>
            <a:r>
              <a:rPr lang="en-US" i="1" dirty="0"/>
              <a:t>does </a:t>
            </a:r>
            <a:r>
              <a:rPr lang="en-US" dirty="0"/>
              <a:t>and </a:t>
            </a:r>
            <a:r>
              <a:rPr lang="en-US" i="1" dirty="0" err="1"/>
              <a:t>n’t</a:t>
            </a:r>
            <a:endParaRPr lang="en-US" i="1" dirty="0"/>
          </a:p>
          <a:p>
            <a:pPr lvl="1"/>
            <a:r>
              <a:rPr lang="en-US" dirty="0"/>
              <a:t>It further identifies periods at the ends of lines and eliminates them</a:t>
            </a:r>
          </a:p>
          <a:p>
            <a:pPr lvl="1"/>
            <a:r>
              <a:rPr lang="en-US" dirty="0"/>
              <a:t>Punctuation such as commas is split if followed by whitespaces</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DCC04973-E505-34CB-2C7D-E2C5E22D5CB0}"/>
                  </a:ext>
                </a:extLst>
              </p14:cNvPr>
              <p14:cNvContentPartPr/>
              <p14:nvPr/>
            </p14:nvContentPartPr>
            <p14:xfrm>
              <a:off x="1222213" y="2552683"/>
              <a:ext cx="32040" cy="69120"/>
            </p14:xfrm>
          </p:contentPart>
        </mc:Choice>
        <mc:Fallback xmlns="">
          <p:pic>
            <p:nvPicPr>
              <p:cNvPr id="7" name="Ink 6">
                <a:extLst>
                  <a:ext uri="{FF2B5EF4-FFF2-40B4-BE49-F238E27FC236}">
                    <a16:creationId xmlns:a16="http://schemas.microsoft.com/office/drawing/2014/main" id="{DCC04973-E505-34CB-2C7D-E2C5E22D5CB0}"/>
                  </a:ext>
                </a:extLst>
              </p:cNvPr>
              <p:cNvPicPr/>
              <p:nvPr/>
            </p:nvPicPr>
            <p:blipFill>
              <a:blip r:embed="rId3"/>
              <a:stretch>
                <a:fillRect/>
              </a:stretch>
            </p:blipFill>
            <p:spPr>
              <a:xfrm>
                <a:off x="1211533" y="2541883"/>
                <a:ext cx="53044"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F8CAA7E1-6577-4605-C323-50BF3C0878FA}"/>
                  </a:ext>
                </a:extLst>
              </p14:cNvPr>
              <p14:cNvContentPartPr/>
              <p14:nvPr/>
            </p14:nvContentPartPr>
            <p14:xfrm>
              <a:off x="1269733" y="2677243"/>
              <a:ext cx="16200" cy="29160"/>
            </p14:xfrm>
          </p:contentPart>
        </mc:Choice>
        <mc:Fallback xmlns="">
          <p:pic>
            <p:nvPicPr>
              <p:cNvPr id="9" name="Ink 8">
                <a:extLst>
                  <a:ext uri="{FF2B5EF4-FFF2-40B4-BE49-F238E27FC236}">
                    <a16:creationId xmlns:a16="http://schemas.microsoft.com/office/drawing/2014/main" id="{F8CAA7E1-6577-4605-C323-50BF3C0878FA}"/>
                  </a:ext>
                </a:extLst>
              </p:cNvPr>
              <p:cNvPicPr/>
              <p:nvPr/>
            </p:nvPicPr>
            <p:blipFill>
              <a:blip r:embed="rId5"/>
              <a:stretch>
                <a:fillRect/>
              </a:stretch>
            </p:blipFill>
            <p:spPr>
              <a:xfrm>
                <a:off x="1258933" y="2666443"/>
                <a:ext cx="37440" cy="50400"/>
              </a:xfrm>
              <a:prstGeom prst="rect">
                <a:avLst/>
              </a:prstGeom>
            </p:spPr>
          </p:pic>
        </mc:Fallback>
      </mc:AlternateContent>
    </p:spTree>
    <p:extLst>
      <p:ext uri="{BB962C8B-B14F-4D97-AF65-F5344CB8AC3E}">
        <p14:creationId xmlns:p14="http://schemas.microsoft.com/office/powerpoint/2010/main" val="3851682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36FE2-8977-EF45-99C8-2709E4108913}"/>
              </a:ext>
            </a:extLst>
          </p:cNvPr>
          <p:cNvSpPr>
            <a:spLocks noGrp="1"/>
          </p:cNvSpPr>
          <p:nvPr>
            <p:ph type="title"/>
          </p:nvPr>
        </p:nvSpPr>
        <p:spPr/>
        <p:txBody>
          <a:bodyPr>
            <a:normAutofit fontScale="90000"/>
          </a:bodyPr>
          <a:lstStyle/>
          <a:p>
            <a:r>
              <a:rPr lang="en-US"/>
              <a:t>Tweet Tokenizer</a:t>
            </a:r>
          </a:p>
        </p:txBody>
      </p:sp>
      <p:sp>
        <p:nvSpPr>
          <p:cNvPr id="3" name="Content Placeholder 2">
            <a:extLst>
              <a:ext uri="{FF2B5EF4-FFF2-40B4-BE49-F238E27FC236}">
                <a16:creationId xmlns:a16="http://schemas.microsoft.com/office/drawing/2014/main" id="{16B8798A-C981-CF4F-9E5E-90020244479A}"/>
              </a:ext>
            </a:extLst>
          </p:cNvPr>
          <p:cNvSpPr>
            <a:spLocks noGrp="1"/>
          </p:cNvSpPr>
          <p:nvPr>
            <p:ph idx="1"/>
          </p:nvPr>
        </p:nvSpPr>
        <p:spPr>
          <a:xfrm>
            <a:off x="442174" y="960119"/>
            <a:ext cx="11320529" cy="5337649"/>
          </a:xfrm>
        </p:spPr>
        <p:txBody>
          <a:bodyPr/>
          <a:lstStyle/>
          <a:p>
            <a:r>
              <a:rPr lang="en-US"/>
              <a:t>The rise of social media has given rise to an informal language where people tag each other using their social media handles and use a lot of emoticons, hashtags, and abbreviated text to express themselves</a:t>
            </a:r>
          </a:p>
          <a:p>
            <a:r>
              <a:rPr lang="en-US"/>
              <a:t>We need tokenizers in place that can parse such text and make things more understandable.</a:t>
            </a:r>
          </a:p>
          <a:p>
            <a:r>
              <a:rPr lang="en-US" err="1"/>
              <a:t>TweetTokenizer</a:t>
            </a:r>
            <a:r>
              <a:rPr lang="en-US"/>
              <a:t> caters to this use case significantly </a:t>
            </a:r>
          </a:p>
          <a:p>
            <a:endParaRPr lang="en-US"/>
          </a:p>
          <a:p>
            <a:endParaRPr lang="en-US"/>
          </a:p>
        </p:txBody>
      </p:sp>
    </p:spTree>
    <p:extLst>
      <p:ext uri="{BB962C8B-B14F-4D97-AF65-F5344CB8AC3E}">
        <p14:creationId xmlns:p14="http://schemas.microsoft.com/office/powerpoint/2010/main" val="3343380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4C74-C713-8CE7-0B6E-1C10D1FE3058}"/>
              </a:ext>
            </a:extLst>
          </p:cNvPr>
          <p:cNvSpPr>
            <a:spLocks noGrp="1"/>
          </p:cNvSpPr>
          <p:nvPr>
            <p:ph type="title"/>
          </p:nvPr>
        </p:nvSpPr>
        <p:spPr/>
        <p:txBody>
          <a:bodyPr>
            <a:normAutofit fontScale="90000"/>
          </a:bodyPr>
          <a:lstStyle/>
          <a:p>
            <a:r>
              <a:rPr lang="en-US"/>
              <a:t>Character level Tokenization</a:t>
            </a:r>
          </a:p>
        </p:txBody>
      </p:sp>
      <p:sp>
        <p:nvSpPr>
          <p:cNvPr id="3" name="Text Placeholder 2">
            <a:extLst>
              <a:ext uri="{FF2B5EF4-FFF2-40B4-BE49-F238E27FC236}">
                <a16:creationId xmlns:a16="http://schemas.microsoft.com/office/drawing/2014/main" id="{DBA97674-060D-3A3F-FE33-BC5FEC46048B}"/>
              </a:ext>
            </a:extLst>
          </p:cNvPr>
          <p:cNvSpPr>
            <a:spLocks noGrp="1"/>
          </p:cNvSpPr>
          <p:nvPr>
            <p:ph type="body" idx="1"/>
          </p:nvPr>
        </p:nvSpPr>
        <p:spPr/>
        <p:txBody>
          <a:bodyPr>
            <a:normAutofit/>
          </a:bodyPr>
          <a:lstStyle/>
          <a:p>
            <a:r>
              <a:rPr lang="en-US" dirty="0"/>
              <a:t>The most straightforward tokenization scheme is to feed the characters individually to the NLP models</a:t>
            </a:r>
          </a:p>
          <a:p>
            <a:pPr lvl="1"/>
            <a:r>
              <a:rPr lang="en-US" dirty="0">
                <a:solidFill>
                  <a:schemeClr val="accent6">
                    <a:lumMod val="76000"/>
                  </a:schemeClr>
                </a:solidFill>
              </a:rPr>
              <a:t>The tokens for the string "Character level" will have these tokens: ['c', 'h', 'a', 'r', 't', 'e', 'l', 'v']</a:t>
            </a:r>
          </a:p>
          <a:p>
            <a:r>
              <a:rPr lang="en-US" dirty="0"/>
              <a:t>Character level tokenization ignores any structure in the text and treats the whole string as a stream of characters</a:t>
            </a:r>
          </a:p>
          <a:p>
            <a:pPr lvl="1"/>
            <a:r>
              <a:rPr lang="en-US">
                <a:solidFill>
                  <a:schemeClr val="accent6">
                    <a:lumMod val="76000"/>
                  </a:schemeClr>
                </a:solidFill>
              </a:rPr>
              <a:t>It can deal with misspellings and rare words</a:t>
            </a:r>
          </a:p>
          <a:p>
            <a:r>
              <a:rPr lang="en-US" dirty="0"/>
              <a:t>But the linguistic structures such as words need to be learned from the data </a:t>
            </a:r>
          </a:p>
          <a:p>
            <a:pPr lvl="1"/>
            <a:r>
              <a:rPr lang="en-US">
                <a:solidFill>
                  <a:schemeClr val="accent6">
                    <a:lumMod val="76000"/>
                  </a:schemeClr>
                </a:solidFill>
              </a:rPr>
              <a:t>This requires significant compute, memory, and data</a:t>
            </a:r>
          </a:p>
        </p:txBody>
      </p:sp>
    </p:spTree>
    <p:extLst>
      <p:ext uri="{BB962C8B-B14F-4D97-AF65-F5344CB8AC3E}">
        <p14:creationId xmlns:p14="http://schemas.microsoft.com/office/powerpoint/2010/main" val="333807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84C2-9A1A-132A-A98D-A8F139D3BF48}"/>
              </a:ext>
            </a:extLst>
          </p:cNvPr>
          <p:cNvSpPr>
            <a:spLocks noGrp="1"/>
          </p:cNvSpPr>
          <p:nvPr>
            <p:ph type="title"/>
          </p:nvPr>
        </p:nvSpPr>
        <p:spPr/>
        <p:txBody>
          <a:bodyPr>
            <a:normAutofit fontScale="90000"/>
          </a:bodyPr>
          <a:lstStyle/>
          <a:p>
            <a:r>
              <a:rPr lang="en-US" dirty="0"/>
              <a:t>Full Word Tokenization</a:t>
            </a:r>
          </a:p>
        </p:txBody>
      </p:sp>
      <p:sp>
        <p:nvSpPr>
          <p:cNvPr id="3" name="Text Placeholder 2">
            <a:extLst>
              <a:ext uri="{FF2B5EF4-FFF2-40B4-BE49-F238E27FC236}">
                <a16:creationId xmlns:a16="http://schemas.microsoft.com/office/drawing/2014/main" id="{D3F283AE-4191-2FA6-B365-54CBCB894509}"/>
              </a:ext>
            </a:extLst>
          </p:cNvPr>
          <p:cNvSpPr>
            <a:spLocks noGrp="1"/>
          </p:cNvSpPr>
          <p:nvPr>
            <p:ph type="body" idx="1"/>
          </p:nvPr>
        </p:nvSpPr>
        <p:spPr/>
        <p:txBody>
          <a:bodyPr>
            <a:normAutofit/>
          </a:bodyPr>
          <a:lstStyle/>
          <a:p>
            <a:r>
              <a:rPr lang="en-US" dirty="0"/>
              <a:t>Word tokenization splits sentences into words </a:t>
            </a:r>
          </a:p>
          <a:p>
            <a:pPr lvl="1"/>
            <a:r>
              <a:rPr lang="en-US" dirty="0"/>
              <a:t>Whole words preserve the semantics of the languages</a:t>
            </a:r>
          </a:p>
          <a:p>
            <a:pPr lvl="1"/>
            <a:r>
              <a:rPr lang="en-US" dirty="0"/>
              <a:t>Reduces the complexity of the training process</a:t>
            </a:r>
          </a:p>
          <a:p>
            <a:r>
              <a:rPr lang="en-US" dirty="0"/>
              <a:t>One simple class of word tokenizers uses whitespace to tokenize the text </a:t>
            </a:r>
          </a:p>
          <a:p>
            <a:pPr lvl="1"/>
            <a:r>
              <a:rPr lang="en-US" dirty="0"/>
              <a:t>For example, the string "Tokenizing text is a core task of NLP" will have tokens: ['Tokenizing', 'text', 'is', 'a', 'core', 'task', 'of', 'NLP.']</a:t>
            </a:r>
          </a:p>
          <a:p>
            <a:r>
              <a:rPr lang="en-US" dirty="0"/>
              <a:t>Sometimes punctuation is not accounted for, so “NLP.” is treated as a single token and different than “NLP”</a:t>
            </a:r>
          </a:p>
          <a:p>
            <a:pPr lvl="1"/>
            <a:r>
              <a:rPr lang="en-US" dirty="0">
                <a:solidFill>
                  <a:schemeClr val="accent6">
                    <a:lumMod val="76000"/>
                  </a:schemeClr>
                </a:solidFill>
              </a:rPr>
              <a:t>Given that words can include conjugations, misspellings, etc., the size of the vocabulary can easily grow into the millions!</a:t>
            </a:r>
          </a:p>
          <a:p>
            <a:pPr lvl="2"/>
            <a:r>
              <a:rPr lang="en-US" dirty="0"/>
              <a:t>Stemming, lemmatization, spell-correction can reduce the size of vocabulary – </a:t>
            </a:r>
            <a:r>
              <a:rPr lang="en-US" dirty="0">
                <a:solidFill>
                  <a:srgbClr val="FF0000"/>
                </a:solidFill>
              </a:rPr>
              <a:t>traditional </a:t>
            </a:r>
            <a:r>
              <a:rPr lang="en-US" dirty="0" err="1">
                <a:solidFill>
                  <a:srgbClr val="FF0000"/>
                </a:solidFill>
              </a:rPr>
              <a:t>nlp</a:t>
            </a:r>
            <a:r>
              <a:rPr lang="en-US" dirty="0">
                <a:solidFill>
                  <a:srgbClr val="FF0000"/>
                </a:solidFill>
              </a:rPr>
              <a:t> mostly</a:t>
            </a:r>
          </a:p>
          <a:p>
            <a:endParaRPr lang="en-US"/>
          </a:p>
        </p:txBody>
      </p:sp>
    </p:spTree>
    <p:extLst>
      <p:ext uri="{BB962C8B-B14F-4D97-AF65-F5344CB8AC3E}">
        <p14:creationId xmlns:p14="http://schemas.microsoft.com/office/powerpoint/2010/main" val="76019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492B-ADFF-8EA6-A567-211780559507}"/>
              </a:ext>
            </a:extLst>
          </p:cNvPr>
          <p:cNvSpPr>
            <a:spLocks noGrp="1"/>
          </p:cNvSpPr>
          <p:nvPr>
            <p:ph type="title"/>
          </p:nvPr>
        </p:nvSpPr>
        <p:spPr/>
        <p:txBody>
          <a:bodyPr>
            <a:normAutofit fontScale="90000"/>
          </a:bodyPr>
          <a:lstStyle/>
          <a:p>
            <a:r>
              <a:rPr lang="en-US" dirty="0"/>
              <a:t>Sub Word Tokenization</a:t>
            </a:r>
          </a:p>
        </p:txBody>
      </p:sp>
      <p:sp>
        <p:nvSpPr>
          <p:cNvPr id="3" name="Text Placeholder 2">
            <a:extLst>
              <a:ext uri="{FF2B5EF4-FFF2-40B4-BE49-F238E27FC236}">
                <a16:creationId xmlns:a16="http://schemas.microsoft.com/office/drawing/2014/main" id="{77852188-7B1C-42A9-9EB2-16D598D6E7FA}"/>
              </a:ext>
            </a:extLst>
          </p:cNvPr>
          <p:cNvSpPr>
            <a:spLocks noGrp="1"/>
          </p:cNvSpPr>
          <p:nvPr>
            <p:ph type="body" idx="1"/>
          </p:nvPr>
        </p:nvSpPr>
        <p:spPr/>
        <p:txBody>
          <a:bodyPr>
            <a:normAutofit fontScale="92500" lnSpcReduction="20000"/>
          </a:bodyPr>
          <a:lstStyle/>
          <a:p>
            <a:r>
              <a:rPr lang="en-US"/>
              <a:t>Breaking text into words may feel natural as words have semantic meanings in any language</a:t>
            </a:r>
          </a:p>
          <a:p>
            <a:pPr lvl="1"/>
            <a:r>
              <a:rPr lang="en-US"/>
              <a:t>However, words that are not included in the vocabulary are treated by NLP </a:t>
            </a:r>
            <a:r>
              <a:rPr lang="en-US" err="1"/>
              <a:t>algortihms</a:t>
            </a:r>
            <a:r>
              <a:rPr lang="en-US"/>
              <a:t> as “unknown”</a:t>
            </a:r>
          </a:p>
          <a:p>
            <a:r>
              <a:rPr lang="en-US" err="1"/>
              <a:t>Subword</a:t>
            </a:r>
            <a:r>
              <a:rPr lang="en-US"/>
              <a:t> tokenization address this issue by combining the best aspects of character and full word tokenization</a:t>
            </a:r>
          </a:p>
          <a:p>
            <a:pPr lvl="1"/>
            <a:r>
              <a:rPr lang="en-US"/>
              <a:t>By tokenizing text into </a:t>
            </a:r>
            <a:r>
              <a:rPr lang="en-US" err="1"/>
              <a:t>subword</a:t>
            </a:r>
            <a:r>
              <a:rPr lang="en-US"/>
              <a:t> units, which often retain linguistic meaning (e.g., morphemes)</a:t>
            </a:r>
          </a:p>
          <a:p>
            <a:pPr lvl="1"/>
            <a:r>
              <a:rPr lang="en-US"/>
              <a:t>Even though a word may be unknown to the model, individual </a:t>
            </a:r>
            <a:r>
              <a:rPr lang="en-US" err="1"/>
              <a:t>subword</a:t>
            </a:r>
            <a:r>
              <a:rPr lang="en-US"/>
              <a:t> tokens may retain enough information for the model to infer the meaning to some extent</a:t>
            </a:r>
          </a:p>
          <a:p>
            <a:r>
              <a:rPr lang="en-US"/>
              <a:t>We want to split rare words into smaller units to allow the model to deal with complex words and misspellings </a:t>
            </a:r>
          </a:p>
          <a:p>
            <a:pPr lvl="1"/>
            <a:r>
              <a:rPr lang="en-US"/>
              <a:t>And we want to keep frequent words as unique entities so that we can keep the length of our inputs to a manageable size</a:t>
            </a:r>
          </a:p>
          <a:p>
            <a:r>
              <a:rPr lang="en-US"/>
              <a:t>The main distinguishing feature of </a:t>
            </a:r>
            <a:r>
              <a:rPr lang="en-US" err="1"/>
              <a:t>subword</a:t>
            </a:r>
            <a:r>
              <a:rPr lang="en-US"/>
              <a:t> tokenization is that it is learned from the training corpus using a mix of statistical rules and algorithms</a:t>
            </a:r>
          </a:p>
        </p:txBody>
      </p:sp>
      <mc:AlternateContent xmlns:mc="http://schemas.openxmlformats.org/markup-compatibility/2006" xmlns:p14="http://schemas.microsoft.com/office/powerpoint/2010/main">
        <mc:Choice Requires="p14">
          <p:contentPart p14:bwMode="auto" r:id="rId2">
            <p14:nvContentPartPr>
              <p14:cNvPr id="69" name="Ink 68">
                <a:extLst>
                  <a:ext uri="{FF2B5EF4-FFF2-40B4-BE49-F238E27FC236}">
                    <a16:creationId xmlns:a16="http://schemas.microsoft.com/office/drawing/2014/main" id="{B3B9D173-4640-0E57-0D41-212839575E15}"/>
                  </a:ext>
                </a:extLst>
              </p14:cNvPr>
              <p14:cNvContentPartPr/>
              <p14:nvPr/>
            </p14:nvContentPartPr>
            <p14:xfrm>
              <a:off x="7355173" y="3949483"/>
              <a:ext cx="37440" cy="5760"/>
            </p14:xfrm>
          </p:contentPart>
        </mc:Choice>
        <mc:Fallback xmlns="">
          <p:pic>
            <p:nvPicPr>
              <p:cNvPr id="69" name="Ink 68">
                <a:extLst>
                  <a:ext uri="{FF2B5EF4-FFF2-40B4-BE49-F238E27FC236}">
                    <a16:creationId xmlns:a16="http://schemas.microsoft.com/office/drawing/2014/main" id="{B3B9D173-4640-0E57-0D41-212839575E15}"/>
                  </a:ext>
                </a:extLst>
              </p:cNvPr>
              <p:cNvPicPr/>
              <p:nvPr/>
            </p:nvPicPr>
            <p:blipFill>
              <a:blip r:embed="rId5"/>
              <a:stretch>
                <a:fillRect/>
              </a:stretch>
            </p:blipFill>
            <p:spPr>
              <a:xfrm>
                <a:off x="7344373" y="3937963"/>
                <a:ext cx="58680" cy="28416"/>
              </a:xfrm>
              <a:prstGeom prst="rect">
                <a:avLst/>
              </a:prstGeom>
            </p:spPr>
          </p:pic>
        </mc:Fallback>
      </mc:AlternateContent>
    </p:spTree>
    <p:extLst>
      <p:ext uri="{BB962C8B-B14F-4D97-AF65-F5344CB8AC3E}">
        <p14:creationId xmlns:p14="http://schemas.microsoft.com/office/powerpoint/2010/main" val="2562061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Subword</a:t>
            </a:r>
            <a:r>
              <a:rPr lang="en-US"/>
              <a:t> Tokenizer: BPE</a:t>
            </a:r>
          </a:p>
        </p:txBody>
      </p:sp>
      <p:sp>
        <p:nvSpPr>
          <p:cNvPr id="3" name="Text Placeholder 2"/>
          <p:cNvSpPr>
            <a:spLocks noGrp="1"/>
          </p:cNvSpPr>
          <p:nvPr>
            <p:ph type="body" idx="1"/>
          </p:nvPr>
        </p:nvSpPr>
        <p:spPr/>
        <p:txBody>
          <a:bodyPr/>
          <a:lstStyle/>
          <a:p>
            <a:r>
              <a:rPr lang="en-US"/>
              <a:t>Byte-Pair Encoding (BPE) was initially developed for text compression, and then used by OpenAI for tokenization for the GPT model</a:t>
            </a:r>
          </a:p>
          <a:p>
            <a:r>
              <a:rPr lang="en-US"/>
              <a:t>It’s used by a lot of Transformer models, including GPT, GPT-2, </a:t>
            </a:r>
            <a:r>
              <a:rPr lang="en-US" err="1"/>
              <a:t>RoBERTa</a:t>
            </a:r>
            <a:r>
              <a:rPr lang="en-US"/>
              <a:t>, BART, and </a:t>
            </a:r>
            <a:r>
              <a:rPr lang="en-US" err="1"/>
              <a:t>DeBERTa</a:t>
            </a:r>
            <a:endParaRPr lang="en-US"/>
          </a:p>
          <a:p>
            <a:r>
              <a:rPr lang="en-US" err="1"/>
              <a:t>Subword</a:t>
            </a:r>
            <a:r>
              <a:rPr lang="en-US"/>
              <a:t> Tokenization:</a:t>
            </a:r>
          </a:p>
          <a:p>
            <a:pPr lvl="1"/>
            <a:r>
              <a:rPr lang="en-US"/>
              <a:t>BPE as a </a:t>
            </a:r>
            <a:r>
              <a:rPr lang="en-US" err="1"/>
              <a:t>subword</a:t>
            </a:r>
            <a:r>
              <a:rPr lang="en-US"/>
              <a:t> tokenization algorithm doesn’t tokenize text into words </a:t>
            </a:r>
          </a:p>
          <a:p>
            <a:pPr lvl="2"/>
            <a:r>
              <a:rPr lang="en-US"/>
              <a:t>But into </a:t>
            </a:r>
            <a:r>
              <a:rPr lang="en-US" err="1"/>
              <a:t>subword</a:t>
            </a:r>
            <a:r>
              <a:rPr lang="en-US"/>
              <a:t> units</a:t>
            </a:r>
          </a:p>
          <a:p>
            <a:pPr lvl="1"/>
            <a:r>
              <a:rPr lang="en-US"/>
              <a:t>It starts with a vocabulary where each character in the original text is initially treated as a token</a:t>
            </a:r>
          </a:p>
          <a:p>
            <a:pPr lvl="2"/>
            <a:r>
              <a:rPr lang="en-US"/>
              <a:t>Then use something like </a:t>
            </a:r>
            <a:r>
              <a:rPr lang="en-US" err="1"/>
              <a:t>huffman</a:t>
            </a:r>
            <a:r>
              <a:rPr lang="en-US"/>
              <a:t> encoding</a:t>
            </a:r>
          </a:p>
        </p:txBody>
      </p:sp>
      <mc:AlternateContent xmlns:mc="http://schemas.openxmlformats.org/markup-compatibility/2006" xmlns:p14="http://schemas.microsoft.com/office/powerpoint/2010/main">
        <mc:Choice Requires="p14">
          <p:contentPart p14:bwMode="auto" r:id="rId2">
            <p14:nvContentPartPr>
              <p14:cNvPr id="31" name="Ink 30">
                <a:extLst>
                  <a:ext uri="{FF2B5EF4-FFF2-40B4-BE49-F238E27FC236}">
                    <a16:creationId xmlns:a16="http://schemas.microsoft.com/office/drawing/2014/main" id="{FBF14065-A160-F369-1C36-5A7B0A47E428}"/>
                  </a:ext>
                </a:extLst>
              </p14:cNvPr>
              <p14:cNvContentPartPr/>
              <p14:nvPr/>
            </p14:nvContentPartPr>
            <p14:xfrm>
              <a:off x="1428493" y="2880643"/>
              <a:ext cx="53280" cy="47880"/>
            </p14:xfrm>
          </p:contentPart>
        </mc:Choice>
        <mc:Fallback xmlns="">
          <p:pic>
            <p:nvPicPr>
              <p:cNvPr id="31" name="Ink 30">
                <a:extLst>
                  <a:ext uri="{FF2B5EF4-FFF2-40B4-BE49-F238E27FC236}">
                    <a16:creationId xmlns:a16="http://schemas.microsoft.com/office/drawing/2014/main" id="{FBF14065-A160-F369-1C36-5A7B0A47E428}"/>
                  </a:ext>
                </a:extLst>
              </p:cNvPr>
              <p:cNvPicPr/>
              <p:nvPr/>
            </p:nvPicPr>
            <p:blipFill>
              <a:blip r:embed="rId3"/>
              <a:stretch>
                <a:fillRect/>
              </a:stretch>
            </p:blipFill>
            <p:spPr>
              <a:xfrm>
                <a:off x="1417693" y="2869924"/>
                <a:ext cx="74520" cy="68961"/>
              </a:xfrm>
              <a:prstGeom prst="rect">
                <a:avLst/>
              </a:prstGeom>
            </p:spPr>
          </p:pic>
        </mc:Fallback>
      </mc:AlternateContent>
    </p:spTree>
    <p:extLst>
      <p:ext uri="{BB962C8B-B14F-4D97-AF65-F5344CB8AC3E}">
        <p14:creationId xmlns:p14="http://schemas.microsoft.com/office/powerpoint/2010/main" val="3380374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 Algorithm</a:t>
            </a:r>
          </a:p>
        </p:txBody>
      </p:sp>
      <p:sp>
        <p:nvSpPr>
          <p:cNvPr id="3" name="Text Placeholder 2"/>
          <p:cNvSpPr>
            <a:spLocks noGrp="1"/>
          </p:cNvSpPr>
          <p:nvPr>
            <p:ph type="body" idx="1"/>
          </p:nvPr>
        </p:nvSpPr>
        <p:spPr/>
        <p:txBody>
          <a:bodyPr>
            <a:normAutofit/>
          </a:bodyPr>
          <a:lstStyle/>
          <a:p>
            <a:r>
              <a:rPr lang="en-US"/>
              <a:t>Merging Most Frequent Pairs:</a:t>
            </a:r>
          </a:p>
          <a:p>
            <a:pPr lvl="1"/>
            <a:r>
              <a:rPr lang="en-US"/>
              <a:t>Iteratively merges the most frequent pairs of consecutive tokens</a:t>
            </a:r>
          </a:p>
          <a:p>
            <a:pPr lvl="1"/>
            <a:r>
              <a:rPr lang="en-US"/>
              <a:t>The most frequent pair is merged to a new token</a:t>
            </a:r>
          </a:p>
          <a:p>
            <a:pPr lvl="2"/>
            <a:r>
              <a:rPr lang="en-US"/>
              <a:t>This process is repeated until a specified vocabulary size is reached</a:t>
            </a:r>
          </a:p>
          <a:p>
            <a:r>
              <a:rPr lang="en-US"/>
              <a:t>Handling Out-of-Vocabulary Words:</a:t>
            </a:r>
          </a:p>
          <a:p>
            <a:pPr lvl="1"/>
            <a:r>
              <a:rPr lang="en-US"/>
              <a:t>Effective in handling out-of-vocabulary words </a:t>
            </a:r>
          </a:p>
          <a:p>
            <a:pPr lvl="2"/>
            <a:r>
              <a:rPr lang="en-US"/>
              <a:t>Because it can represent any word by a sequence of </a:t>
            </a:r>
            <a:r>
              <a:rPr lang="en-US" err="1"/>
              <a:t>subword</a:t>
            </a:r>
            <a:r>
              <a:rPr lang="en-US"/>
              <a:t> tokens</a:t>
            </a:r>
          </a:p>
          <a:p>
            <a:pPr lvl="1"/>
            <a:r>
              <a:rPr lang="en-US"/>
              <a:t>Rare words or words not present in the training data can be represented using </a:t>
            </a:r>
            <a:r>
              <a:rPr lang="en-US" err="1"/>
              <a:t>subword</a:t>
            </a:r>
            <a:r>
              <a:rPr lang="en-US"/>
              <a:t> units that are part of the vocabulary</a:t>
            </a:r>
          </a:p>
          <a:p>
            <a:r>
              <a:rPr lang="en-US"/>
              <a:t>Variable-Length Representations:</a:t>
            </a:r>
          </a:p>
          <a:p>
            <a:pPr lvl="1"/>
            <a:r>
              <a:rPr lang="en-US"/>
              <a:t>BPE naturally handles variable-length representations of words</a:t>
            </a:r>
          </a:p>
          <a:p>
            <a:pPr lvl="1"/>
            <a:r>
              <a:rPr lang="en-US"/>
              <a:t>Very useful for NLP where length of text is different for the input data</a:t>
            </a:r>
          </a:p>
        </p:txBody>
      </p:sp>
      <mc:AlternateContent xmlns:mc="http://schemas.openxmlformats.org/markup-compatibility/2006" xmlns:p14="http://schemas.microsoft.com/office/powerpoint/2010/main">
        <mc:Choice Requires="p14">
          <p:contentPart p14:bwMode="auto" r:id="rId2">
            <p14:nvContentPartPr>
              <p14:cNvPr id="19" name="Ink 18">
                <a:extLst>
                  <a:ext uri="{FF2B5EF4-FFF2-40B4-BE49-F238E27FC236}">
                    <a16:creationId xmlns:a16="http://schemas.microsoft.com/office/drawing/2014/main" id="{59B2D09A-B1F0-FA91-9C3F-14A05408207C}"/>
                  </a:ext>
                </a:extLst>
              </p14:cNvPr>
              <p14:cNvContentPartPr/>
              <p14:nvPr/>
            </p14:nvContentPartPr>
            <p14:xfrm>
              <a:off x="11345053" y="695083"/>
              <a:ext cx="185760" cy="42840"/>
            </p14:xfrm>
          </p:contentPart>
        </mc:Choice>
        <mc:Fallback xmlns="">
          <p:pic>
            <p:nvPicPr>
              <p:cNvPr id="19" name="Ink 18">
                <a:extLst>
                  <a:ext uri="{FF2B5EF4-FFF2-40B4-BE49-F238E27FC236}">
                    <a16:creationId xmlns:a16="http://schemas.microsoft.com/office/drawing/2014/main" id="{59B2D09A-B1F0-FA91-9C3F-14A05408207C}"/>
                  </a:ext>
                </a:extLst>
              </p:cNvPr>
              <p:cNvPicPr/>
              <p:nvPr/>
            </p:nvPicPr>
            <p:blipFill>
              <a:blip r:embed="rId3"/>
              <a:stretch>
                <a:fillRect/>
              </a:stretch>
            </p:blipFill>
            <p:spPr>
              <a:xfrm>
                <a:off x="11334232" y="684191"/>
                <a:ext cx="207041" cy="64260"/>
              </a:xfrm>
              <a:prstGeom prst="rect">
                <a:avLst/>
              </a:prstGeom>
            </p:spPr>
          </p:pic>
        </mc:Fallback>
      </mc:AlternateContent>
    </p:spTree>
    <p:extLst>
      <p:ext uri="{BB962C8B-B14F-4D97-AF65-F5344CB8AC3E}">
        <p14:creationId xmlns:p14="http://schemas.microsoft.com/office/powerpoint/2010/main" val="3445137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 Algorithm</a:t>
            </a:r>
          </a:p>
        </p:txBody>
      </p:sp>
      <p:sp>
        <p:nvSpPr>
          <p:cNvPr id="3" name="Text Placeholder 2"/>
          <p:cNvSpPr>
            <a:spLocks noGrp="1"/>
          </p:cNvSpPr>
          <p:nvPr>
            <p:ph type="body" idx="1"/>
          </p:nvPr>
        </p:nvSpPr>
        <p:spPr/>
        <p:txBody>
          <a:bodyPr>
            <a:normAutofit/>
          </a:bodyPr>
          <a:lstStyle/>
          <a:p>
            <a:r>
              <a:rPr lang="en-US" dirty="0"/>
              <a:t>Words = [</a:t>
            </a:r>
            <a:r>
              <a:rPr lang="da-DK" dirty="0"/>
              <a:t>"hug", "pug", "</a:t>
            </a:r>
            <a:r>
              <a:rPr lang="da-DK" dirty="0" err="1"/>
              <a:t>pun</a:t>
            </a:r>
            <a:r>
              <a:rPr lang="da-DK" dirty="0"/>
              <a:t>", "</a:t>
            </a:r>
            <a:r>
              <a:rPr lang="da-DK" dirty="0" err="1"/>
              <a:t>bun</a:t>
            </a:r>
            <a:r>
              <a:rPr lang="da-DK" dirty="0"/>
              <a:t>", "hugs"</a:t>
            </a:r>
            <a:r>
              <a:rPr lang="en-US" dirty="0"/>
              <a:t>]</a:t>
            </a:r>
          </a:p>
          <a:p>
            <a:pPr lvl="1"/>
            <a:r>
              <a:rPr lang="en-US" dirty="0"/>
              <a:t>Initial Vocabulary: </a:t>
            </a:r>
            <a:r>
              <a:rPr lang="pt-BR" dirty="0"/>
              <a:t>["b", "g", "h", "n", "p", "s", "u"]</a:t>
            </a:r>
          </a:p>
          <a:p>
            <a:r>
              <a:rPr lang="en-US" dirty="0"/>
              <a:t>After getting this base vocabulary, the algorithm adds new tokens until the desired vocabulary size is reached</a:t>
            </a:r>
          </a:p>
          <a:p>
            <a:pPr lvl="1"/>
            <a:r>
              <a:rPr lang="en-US" dirty="0"/>
              <a:t>At the beginning these merges will create tokens with two characters, and then, as training progresses, longer </a:t>
            </a:r>
            <a:r>
              <a:rPr lang="en-US" dirty="0" err="1"/>
              <a:t>subwords</a:t>
            </a:r>
            <a:endParaRPr lang="en-US"/>
          </a:p>
          <a:p>
            <a:r>
              <a:rPr lang="en-US" dirty="0"/>
              <a:t>At any step during the tokenizer training, the BPE algorithm will search for the most frequent pair of existing tokens (by “pair,” here we mean two consecutive tokens in a word). </a:t>
            </a:r>
          </a:p>
          <a:p>
            <a:pPr lvl="1"/>
            <a:r>
              <a:rPr lang="en-US" dirty="0"/>
              <a:t>That most frequent pair is the one that will be merged, and we rinse and repeat for the next step</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345CC25-3345-ADCC-C54D-B6684D26E11F}"/>
                  </a:ext>
                </a:extLst>
              </p14:cNvPr>
              <p14:cNvContentPartPr/>
              <p14:nvPr/>
            </p14:nvContentPartPr>
            <p14:xfrm>
              <a:off x="1298221" y="1251184"/>
              <a:ext cx="9407" cy="9407"/>
            </p14:xfrm>
          </p:contentPart>
        </mc:Choice>
        <mc:Fallback xmlns="">
          <p:pic>
            <p:nvPicPr>
              <p:cNvPr id="4" name="Ink 3">
                <a:extLst>
                  <a:ext uri="{FF2B5EF4-FFF2-40B4-BE49-F238E27FC236}">
                    <a16:creationId xmlns:a16="http://schemas.microsoft.com/office/drawing/2014/main" id="{F345CC25-3345-ADCC-C54D-B6684D26E11F}"/>
                  </a:ext>
                </a:extLst>
              </p:cNvPr>
              <p:cNvPicPr/>
              <p:nvPr/>
            </p:nvPicPr>
            <p:blipFill>
              <a:blip r:embed="rId4"/>
              <a:stretch>
                <a:fillRect/>
              </a:stretch>
            </p:blipFill>
            <p:spPr>
              <a:xfrm>
                <a:off x="837278" y="780834"/>
                <a:ext cx="940700" cy="940700"/>
              </a:xfrm>
              <a:prstGeom prst="rect">
                <a:avLst/>
              </a:prstGeom>
            </p:spPr>
          </p:pic>
        </mc:Fallback>
      </mc:AlternateContent>
    </p:spTree>
    <p:extLst>
      <p:ext uri="{BB962C8B-B14F-4D97-AF65-F5344CB8AC3E}">
        <p14:creationId xmlns:p14="http://schemas.microsoft.com/office/powerpoint/2010/main" val="893083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 Algorithm (How)</a:t>
            </a:r>
          </a:p>
        </p:txBody>
      </p:sp>
      <p:sp>
        <p:nvSpPr>
          <p:cNvPr id="3" name="Text Placeholder 2"/>
          <p:cNvSpPr>
            <a:spLocks noGrp="1"/>
          </p:cNvSpPr>
          <p:nvPr>
            <p:ph type="body" idx="1"/>
          </p:nvPr>
        </p:nvSpPr>
        <p:spPr/>
        <p:txBody>
          <a:bodyPr>
            <a:normAutofit/>
          </a:bodyPr>
          <a:lstStyle/>
          <a:p>
            <a:r>
              <a:rPr lang="en-US"/>
              <a:t>For example, we have a corpus with: </a:t>
            </a:r>
            <a:r>
              <a:rPr lang="da-DK"/>
              <a:t>("hug", 10), ("pug", 5), ("pun", 12), ("bun", 4), ("hugs", 5)</a:t>
            </a:r>
          </a:p>
          <a:p>
            <a:pPr lvl="1"/>
            <a:r>
              <a:rPr lang="en-US"/>
              <a:t>Initial Vocabulary: </a:t>
            </a:r>
            <a:r>
              <a:rPr lang="pt-BR"/>
              <a:t>["b", "g", "h", "n", "p", "s", "u"]</a:t>
            </a:r>
            <a:endParaRPr lang="da-DK"/>
          </a:p>
          <a:p>
            <a:r>
              <a:rPr lang="en-US"/>
              <a:t>The pair ("h", "u") is present in the words "hug" and "hugs", so 15 times total in the corpus. </a:t>
            </a:r>
          </a:p>
          <a:p>
            <a:r>
              <a:rPr lang="en-US"/>
              <a:t>It’s not the most frequent pair, though: that belongs to </a:t>
            </a:r>
            <a:r>
              <a:rPr lang="en-US">
                <a:solidFill>
                  <a:srgbClr val="FF0000"/>
                </a:solidFill>
              </a:rPr>
              <a:t>("u", "g")</a:t>
            </a:r>
            <a:r>
              <a:rPr lang="en-US"/>
              <a:t>, which is present in "hug", "pug", and "hugs", for a grand total of </a:t>
            </a:r>
            <a:r>
              <a:rPr lang="en-US">
                <a:solidFill>
                  <a:srgbClr val="FF0000"/>
                </a:solidFill>
              </a:rPr>
              <a:t>20</a:t>
            </a:r>
            <a:r>
              <a:rPr lang="en-US"/>
              <a:t> times in the vocabulary.</a:t>
            </a:r>
          </a:p>
          <a:p>
            <a:r>
              <a:rPr lang="en-US"/>
              <a:t>The new set of vocabulary will be like: </a:t>
            </a:r>
          </a:p>
          <a:p>
            <a:pPr lvl="1"/>
            <a:r>
              <a:rPr lang="pt-BR"/>
              <a:t>Vocabulary: ["b", "g", "h", "n", "p", "s", "u", "</a:t>
            </a:r>
            <a:r>
              <a:rPr lang="pt-BR">
                <a:solidFill>
                  <a:srgbClr val="FF0000"/>
                </a:solidFill>
              </a:rPr>
              <a:t>ug</a:t>
            </a:r>
            <a:r>
              <a:rPr lang="pt-BR"/>
              <a:t>"]</a:t>
            </a:r>
          </a:p>
          <a:p>
            <a:pPr lvl="1"/>
            <a:r>
              <a:rPr lang="pt-BR"/>
              <a:t>Corpus: ("h" "ug", 10), ("p" "ug", 5), ("p" "u" "n", 12), ("b" "u" "n", 4), ("h" "ug" "s", 5)</a:t>
            </a:r>
            <a:endParaRPr lang="en-US"/>
          </a:p>
        </p:txBody>
      </p:sp>
    </p:spTree>
    <p:extLst>
      <p:ext uri="{BB962C8B-B14F-4D97-AF65-F5344CB8AC3E}">
        <p14:creationId xmlns:p14="http://schemas.microsoft.com/office/powerpoint/2010/main" val="2285303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a:t>
            </a:r>
          </a:p>
        </p:txBody>
      </p:sp>
      <p:sp>
        <p:nvSpPr>
          <p:cNvPr id="3" name="Text Placeholder 2"/>
          <p:cNvSpPr>
            <a:spLocks noGrp="1"/>
          </p:cNvSpPr>
          <p:nvPr>
            <p:ph type="body" idx="1"/>
          </p:nvPr>
        </p:nvSpPr>
        <p:spPr/>
        <p:txBody>
          <a:bodyPr/>
          <a:lstStyle/>
          <a:p>
            <a:r>
              <a:rPr lang="en-US"/>
              <a:t>Now we have some pairs that result in a token longer than two characters: the pair ("h", "ug"), for instance (present 15 times in the corpus). </a:t>
            </a:r>
          </a:p>
          <a:p>
            <a:r>
              <a:rPr lang="en-US"/>
              <a:t>The most frequent pair at this stage is ("u", "n"), however, present 16 times in the corpus, so the second merge rule learned is ("u", "n") -&gt; "un". Adding that to the vocabulary and merging all existing occurrences leads us to:</a:t>
            </a:r>
          </a:p>
          <a:p>
            <a:pPr lvl="1"/>
            <a:r>
              <a:rPr lang="en-US"/>
              <a:t>Vocabulary: ["b", "g", "h", "n", "p", "s", "u", "</a:t>
            </a:r>
            <a:r>
              <a:rPr lang="en-US">
                <a:solidFill>
                  <a:srgbClr val="FF0000"/>
                </a:solidFill>
              </a:rPr>
              <a:t>ug</a:t>
            </a:r>
            <a:r>
              <a:rPr lang="en-US"/>
              <a:t>", "</a:t>
            </a:r>
            <a:r>
              <a:rPr lang="en-US">
                <a:solidFill>
                  <a:srgbClr val="FF0000"/>
                </a:solidFill>
              </a:rPr>
              <a:t>un</a:t>
            </a:r>
            <a:r>
              <a:rPr lang="en-US"/>
              <a:t>"]</a:t>
            </a:r>
          </a:p>
          <a:p>
            <a:pPr lvl="1"/>
            <a:r>
              <a:rPr lang="en-US"/>
              <a:t>Corpus: ("h" "ug", 10), ("p" "ug", 5), ("p" "un", 12), ("b" "un", 4), ("h" "ug" "s", 5)</a:t>
            </a:r>
          </a:p>
          <a:p>
            <a:endParaRPr lang="en-US"/>
          </a:p>
        </p:txBody>
      </p:sp>
    </p:spTree>
    <p:extLst>
      <p:ext uri="{BB962C8B-B14F-4D97-AF65-F5344CB8AC3E}">
        <p14:creationId xmlns:p14="http://schemas.microsoft.com/office/powerpoint/2010/main" val="3440170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a:t>
            </a:r>
          </a:p>
        </p:txBody>
      </p:sp>
      <p:sp>
        <p:nvSpPr>
          <p:cNvPr id="3" name="Text Placeholder 2"/>
          <p:cNvSpPr>
            <a:spLocks noGrp="1"/>
          </p:cNvSpPr>
          <p:nvPr>
            <p:ph type="body" idx="1"/>
          </p:nvPr>
        </p:nvSpPr>
        <p:spPr/>
        <p:txBody>
          <a:bodyPr/>
          <a:lstStyle/>
          <a:p>
            <a:r>
              <a:rPr lang="en-US"/>
              <a:t>Now the most frequent pair is ("h", "</a:t>
            </a:r>
            <a:r>
              <a:rPr lang="en-US" err="1"/>
              <a:t>ug</a:t>
            </a:r>
            <a:r>
              <a:rPr lang="en-US"/>
              <a:t>"), so we learn the merge rule ("h", "</a:t>
            </a:r>
            <a:r>
              <a:rPr lang="en-US" err="1"/>
              <a:t>ug</a:t>
            </a:r>
            <a:r>
              <a:rPr lang="en-US"/>
              <a:t>") -&gt; "hug", which gives us our first three-letter token. After the merge, the corpus looks like this:</a:t>
            </a:r>
          </a:p>
          <a:p>
            <a:pPr lvl="1"/>
            <a:r>
              <a:rPr lang="en-US"/>
              <a:t>Vocabulary: ["b", "g", "h", "n", "p", "s", "u", "</a:t>
            </a:r>
            <a:r>
              <a:rPr lang="en-US" err="1">
                <a:solidFill>
                  <a:srgbClr val="FF0000"/>
                </a:solidFill>
              </a:rPr>
              <a:t>ug</a:t>
            </a:r>
            <a:r>
              <a:rPr lang="en-US"/>
              <a:t>", "</a:t>
            </a:r>
            <a:r>
              <a:rPr lang="en-US">
                <a:solidFill>
                  <a:srgbClr val="FF0000"/>
                </a:solidFill>
              </a:rPr>
              <a:t>un</a:t>
            </a:r>
            <a:r>
              <a:rPr lang="en-US"/>
              <a:t>", "</a:t>
            </a:r>
            <a:r>
              <a:rPr lang="en-US">
                <a:solidFill>
                  <a:srgbClr val="FF0000"/>
                </a:solidFill>
              </a:rPr>
              <a:t>hug</a:t>
            </a:r>
            <a:r>
              <a:rPr lang="en-US"/>
              <a:t>"]</a:t>
            </a:r>
          </a:p>
          <a:p>
            <a:pPr lvl="1"/>
            <a:r>
              <a:rPr lang="en-US"/>
              <a:t>Corpus: ("hug", 10), ("p" "</a:t>
            </a:r>
            <a:r>
              <a:rPr lang="en-US" err="1"/>
              <a:t>ug</a:t>
            </a:r>
            <a:r>
              <a:rPr lang="en-US"/>
              <a:t>", 5), ("p" "un", 12), ("b" "un", 4), ("hug" "s", 5)</a:t>
            </a:r>
          </a:p>
        </p:txBody>
      </p:sp>
    </p:spTree>
    <p:extLst>
      <p:ext uri="{BB962C8B-B14F-4D97-AF65-F5344CB8AC3E}">
        <p14:creationId xmlns:p14="http://schemas.microsoft.com/office/powerpoint/2010/main" val="544209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A588-CF79-6845-A0A9-764B0043A329}"/>
              </a:ext>
            </a:extLst>
          </p:cNvPr>
          <p:cNvSpPr>
            <a:spLocks noGrp="1"/>
          </p:cNvSpPr>
          <p:nvPr>
            <p:ph type="title"/>
          </p:nvPr>
        </p:nvSpPr>
        <p:spPr/>
        <p:txBody>
          <a:bodyPr>
            <a:normAutofit fontScale="90000"/>
          </a:bodyPr>
          <a:lstStyle/>
          <a:p>
            <a:r>
              <a:rPr lang="en-US"/>
              <a:t>BPE token learner</a:t>
            </a:r>
          </a:p>
        </p:txBody>
      </p:sp>
      <p:pic>
        <p:nvPicPr>
          <p:cNvPr id="5" name="Content Placeholder 4">
            <a:extLst>
              <a:ext uri="{FF2B5EF4-FFF2-40B4-BE49-F238E27FC236}">
                <a16:creationId xmlns:a16="http://schemas.microsoft.com/office/drawing/2014/main" id="{7D7611C3-7B80-1C45-B664-B5629AD860A0}"/>
              </a:ext>
            </a:extLst>
          </p:cNvPr>
          <p:cNvPicPr>
            <a:picLocks noGrp="1" noChangeAspect="1"/>
          </p:cNvPicPr>
          <p:nvPr>
            <p:ph idx="1"/>
          </p:nvPr>
        </p:nvPicPr>
        <p:blipFill>
          <a:blip r:embed="rId2"/>
          <a:stretch>
            <a:fillRect/>
          </a:stretch>
        </p:blipFill>
        <p:spPr>
          <a:xfrm>
            <a:off x="1193602" y="1284816"/>
            <a:ext cx="8576733" cy="2144184"/>
          </a:xfrm>
        </p:spPr>
      </p:pic>
      <p:sp>
        <p:nvSpPr>
          <p:cNvPr id="7" name="TextBox 6">
            <a:extLst>
              <a:ext uri="{FF2B5EF4-FFF2-40B4-BE49-F238E27FC236}">
                <a16:creationId xmlns:a16="http://schemas.microsoft.com/office/drawing/2014/main" id="{2A8FC4DC-36F7-3844-B27C-2F5130CA0D7E}"/>
              </a:ext>
            </a:extLst>
          </p:cNvPr>
          <p:cNvSpPr txBox="1"/>
          <p:nvPr/>
        </p:nvSpPr>
        <p:spPr>
          <a:xfrm>
            <a:off x="812800" y="3547985"/>
            <a:ext cx="1750800" cy="379656"/>
          </a:xfrm>
          <a:prstGeom prst="rect">
            <a:avLst/>
          </a:prstGeom>
          <a:noFill/>
        </p:spPr>
        <p:txBody>
          <a:bodyPr wrap="none" rtlCol="0">
            <a:spAutoFit/>
          </a:bodyPr>
          <a:lstStyle/>
          <a:p>
            <a:r>
              <a:rPr lang="en-US" sz="1867"/>
              <a:t>Merge </a:t>
            </a:r>
            <a:r>
              <a:rPr lang="en-US" sz="1867">
                <a:solidFill>
                  <a:srgbClr val="0070C0"/>
                </a:solidFill>
              </a:rPr>
              <a:t>e r</a:t>
            </a:r>
            <a:r>
              <a:rPr lang="en-US" sz="1867"/>
              <a:t> to </a:t>
            </a:r>
            <a:r>
              <a:rPr lang="en-US" sz="1867">
                <a:solidFill>
                  <a:srgbClr val="0070C0"/>
                </a:solidFill>
              </a:rPr>
              <a:t>er</a:t>
            </a:r>
          </a:p>
        </p:txBody>
      </p:sp>
      <p:pic>
        <p:nvPicPr>
          <p:cNvPr id="3" name="Picture 2">
            <a:extLst>
              <a:ext uri="{FF2B5EF4-FFF2-40B4-BE49-F238E27FC236}">
                <a16:creationId xmlns:a16="http://schemas.microsoft.com/office/drawing/2014/main" id="{21D99515-8604-9541-A4AB-613A44530D29}"/>
              </a:ext>
            </a:extLst>
          </p:cNvPr>
          <p:cNvPicPr>
            <a:picLocks noChangeAspect="1"/>
          </p:cNvPicPr>
          <p:nvPr/>
        </p:nvPicPr>
        <p:blipFill>
          <a:blip r:embed="rId3"/>
          <a:stretch>
            <a:fillRect/>
          </a:stretch>
        </p:blipFill>
        <p:spPr>
          <a:xfrm>
            <a:off x="1193602" y="4423036"/>
            <a:ext cx="9415764" cy="2144184"/>
          </a:xfrm>
          <a:prstGeom prst="rect">
            <a:avLst/>
          </a:prstGeom>
        </p:spPr>
      </p:pic>
    </p:spTree>
    <p:extLst>
      <p:ext uri="{BB962C8B-B14F-4D97-AF65-F5344CB8AC3E}">
        <p14:creationId xmlns:p14="http://schemas.microsoft.com/office/powerpoint/2010/main" val="3413924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A588-CF79-6845-A0A9-764B0043A329}"/>
              </a:ext>
            </a:extLst>
          </p:cNvPr>
          <p:cNvSpPr>
            <a:spLocks noGrp="1"/>
          </p:cNvSpPr>
          <p:nvPr>
            <p:ph type="title"/>
          </p:nvPr>
        </p:nvSpPr>
        <p:spPr/>
        <p:txBody>
          <a:bodyPr>
            <a:normAutofit fontScale="90000"/>
          </a:bodyPr>
          <a:lstStyle/>
          <a:p>
            <a:r>
              <a:rPr lang="en-US"/>
              <a:t>BPE</a:t>
            </a:r>
          </a:p>
        </p:txBody>
      </p:sp>
      <p:sp>
        <p:nvSpPr>
          <p:cNvPr id="7" name="TextBox 6">
            <a:extLst>
              <a:ext uri="{FF2B5EF4-FFF2-40B4-BE49-F238E27FC236}">
                <a16:creationId xmlns:a16="http://schemas.microsoft.com/office/drawing/2014/main" id="{2A8FC4DC-36F7-3844-B27C-2F5130CA0D7E}"/>
              </a:ext>
            </a:extLst>
          </p:cNvPr>
          <p:cNvSpPr txBox="1"/>
          <p:nvPr/>
        </p:nvSpPr>
        <p:spPr>
          <a:xfrm>
            <a:off x="812801" y="3547985"/>
            <a:ext cx="2082621" cy="379656"/>
          </a:xfrm>
          <a:prstGeom prst="rect">
            <a:avLst/>
          </a:prstGeom>
          <a:noFill/>
        </p:spPr>
        <p:txBody>
          <a:bodyPr wrap="none" rtlCol="0">
            <a:spAutoFit/>
          </a:bodyPr>
          <a:lstStyle/>
          <a:p>
            <a:r>
              <a:rPr lang="en-US" sz="1867"/>
              <a:t>Merge </a:t>
            </a:r>
            <a:r>
              <a:rPr lang="en-US" sz="1867">
                <a:solidFill>
                  <a:srgbClr val="0070C0"/>
                </a:solidFill>
              </a:rPr>
              <a:t>er  _</a:t>
            </a:r>
            <a:r>
              <a:rPr lang="en-US" sz="1867"/>
              <a:t> to </a:t>
            </a:r>
            <a:r>
              <a:rPr lang="en-US" sz="1867">
                <a:solidFill>
                  <a:srgbClr val="0070C0"/>
                </a:solidFill>
              </a:rPr>
              <a:t>er_</a:t>
            </a:r>
          </a:p>
        </p:txBody>
      </p:sp>
      <p:pic>
        <p:nvPicPr>
          <p:cNvPr id="3" name="Picture 2">
            <a:extLst>
              <a:ext uri="{FF2B5EF4-FFF2-40B4-BE49-F238E27FC236}">
                <a16:creationId xmlns:a16="http://schemas.microsoft.com/office/drawing/2014/main" id="{21D99515-8604-9541-A4AB-613A44530D29}"/>
              </a:ext>
            </a:extLst>
          </p:cNvPr>
          <p:cNvPicPr>
            <a:picLocks noChangeAspect="1"/>
          </p:cNvPicPr>
          <p:nvPr/>
        </p:nvPicPr>
        <p:blipFill>
          <a:blip r:embed="rId2"/>
          <a:stretch>
            <a:fillRect/>
          </a:stretch>
        </p:blipFill>
        <p:spPr>
          <a:xfrm>
            <a:off x="1097281" y="1404241"/>
            <a:ext cx="9415764" cy="2144184"/>
          </a:xfrm>
          <a:prstGeom prst="rect">
            <a:avLst/>
          </a:prstGeom>
        </p:spPr>
      </p:pic>
      <p:pic>
        <p:nvPicPr>
          <p:cNvPr id="9" name="Picture 8">
            <a:extLst>
              <a:ext uri="{FF2B5EF4-FFF2-40B4-BE49-F238E27FC236}">
                <a16:creationId xmlns:a16="http://schemas.microsoft.com/office/drawing/2014/main" id="{D35EFE4E-8F11-7E47-BFCD-4990551A4E4C}"/>
              </a:ext>
            </a:extLst>
          </p:cNvPr>
          <p:cNvPicPr>
            <a:picLocks noChangeAspect="1"/>
          </p:cNvPicPr>
          <p:nvPr/>
        </p:nvPicPr>
        <p:blipFill>
          <a:blip r:embed="rId3"/>
          <a:stretch>
            <a:fillRect/>
          </a:stretch>
        </p:blipFill>
        <p:spPr>
          <a:xfrm>
            <a:off x="1109233" y="4376344"/>
            <a:ext cx="8249920" cy="2154829"/>
          </a:xfrm>
          <a:prstGeom prst="rect">
            <a:avLst/>
          </a:prstGeom>
        </p:spPr>
      </p:pic>
    </p:spTree>
    <p:extLst>
      <p:ext uri="{BB962C8B-B14F-4D97-AF65-F5344CB8AC3E}">
        <p14:creationId xmlns:p14="http://schemas.microsoft.com/office/powerpoint/2010/main" val="713883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A588-CF79-6845-A0A9-764B0043A329}"/>
              </a:ext>
            </a:extLst>
          </p:cNvPr>
          <p:cNvSpPr>
            <a:spLocks noGrp="1"/>
          </p:cNvSpPr>
          <p:nvPr>
            <p:ph type="title"/>
          </p:nvPr>
        </p:nvSpPr>
        <p:spPr/>
        <p:txBody>
          <a:bodyPr>
            <a:normAutofit fontScale="90000"/>
          </a:bodyPr>
          <a:lstStyle/>
          <a:p>
            <a:r>
              <a:rPr lang="en-US"/>
              <a:t>BPE</a:t>
            </a:r>
          </a:p>
        </p:txBody>
      </p:sp>
      <p:sp>
        <p:nvSpPr>
          <p:cNvPr id="7" name="TextBox 6">
            <a:extLst>
              <a:ext uri="{FF2B5EF4-FFF2-40B4-BE49-F238E27FC236}">
                <a16:creationId xmlns:a16="http://schemas.microsoft.com/office/drawing/2014/main" id="{2A8FC4DC-36F7-3844-B27C-2F5130CA0D7E}"/>
              </a:ext>
            </a:extLst>
          </p:cNvPr>
          <p:cNvSpPr txBox="1"/>
          <p:nvPr/>
        </p:nvSpPr>
        <p:spPr>
          <a:xfrm>
            <a:off x="812801" y="3547985"/>
            <a:ext cx="1988045" cy="379656"/>
          </a:xfrm>
          <a:prstGeom prst="rect">
            <a:avLst/>
          </a:prstGeom>
          <a:noFill/>
        </p:spPr>
        <p:txBody>
          <a:bodyPr wrap="none" rtlCol="0">
            <a:spAutoFit/>
          </a:bodyPr>
          <a:lstStyle/>
          <a:p>
            <a:r>
              <a:rPr lang="en-US" sz="1867"/>
              <a:t>Merge </a:t>
            </a:r>
            <a:r>
              <a:rPr lang="en-US" sz="1867">
                <a:solidFill>
                  <a:srgbClr val="0070C0"/>
                </a:solidFill>
              </a:rPr>
              <a:t>n  e  </a:t>
            </a:r>
            <a:r>
              <a:rPr lang="en-US" sz="1867"/>
              <a:t>to </a:t>
            </a:r>
            <a:r>
              <a:rPr lang="en-US" sz="1867">
                <a:solidFill>
                  <a:srgbClr val="0070C0"/>
                </a:solidFill>
              </a:rPr>
              <a:t>ne</a:t>
            </a:r>
          </a:p>
        </p:txBody>
      </p:sp>
      <p:pic>
        <p:nvPicPr>
          <p:cNvPr id="9" name="Picture 8">
            <a:extLst>
              <a:ext uri="{FF2B5EF4-FFF2-40B4-BE49-F238E27FC236}">
                <a16:creationId xmlns:a16="http://schemas.microsoft.com/office/drawing/2014/main" id="{D35EFE4E-8F11-7E47-BFCD-4990551A4E4C}"/>
              </a:ext>
            </a:extLst>
          </p:cNvPr>
          <p:cNvPicPr>
            <a:picLocks noChangeAspect="1"/>
          </p:cNvPicPr>
          <p:nvPr/>
        </p:nvPicPr>
        <p:blipFill>
          <a:blip r:embed="rId2"/>
          <a:stretch>
            <a:fillRect/>
          </a:stretch>
        </p:blipFill>
        <p:spPr>
          <a:xfrm>
            <a:off x="1055445" y="1393156"/>
            <a:ext cx="8249920" cy="2154829"/>
          </a:xfrm>
          <a:prstGeom prst="rect">
            <a:avLst/>
          </a:prstGeom>
        </p:spPr>
      </p:pic>
      <p:pic>
        <p:nvPicPr>
          <p:cNvPr id="5" name="Picture 4">
            <a:extLst>
              <a:ext uri="{FF2B5EF4-FFF2-40B4-BE49-F238E27FC236}">
                <a16:creationId xmlns:a16="http://schemas.microsoft.com/office/drawing/2014/main" id="{66608184-02FD-BF40-ADBB-FA548AF57B8A}"/>
              </a:ext>
            </a:extLst>
          </p:cNvPr>
          <p:cNvPicPr>
            <a:picLocks noChangeAspect="1"/>
          </p:cNvPicPr>
          <p:nvPr/>
        </p:nvPicPr>
        <p:blipFill>
          <a:blip r:embed="rId3"/>
          <a:stretch>
            <a:fillRect/>
          </a:stretch>
        </p:blipFill>
        <p:spPr>
          <a:xfrm>
            <a:off x="839963" y="4241800"/>
            <a:ext cx="8680884" cy="2154829"/>
          </a:xfrm>
          <a:prstGeom prst="rect">
            <a:avLst/>
          </a:prstGeom>
        </p:spPr>
      </p:pic>
    </p:spTree>
    <p:extLst>
      <p:ext uri="{BB962C8B-B14F-4D97-AF65-F5344CB8AC3E}">
        <p14:creationId xmlns:p14="http://schemas.microsoft.com/office/powerpoint/2010/main" val="1818873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A588-CF79-6845-A0A9-764B0043A329}"/>
              </a:ext>
            </a:extLst>
          </p:cNvPr>
          <p:cNvSpPr>
            <a:spLocks noGrp="1"/>
          </p:cNvSpPr>
          <p:nvPr>
            <p:ph type="title"/>
          </p:nvPr>
        </p:nvSpPr>
        <p:spPr/>
        <p:txBody>
          <a:bodyPr>
            <a:normAutofit fontScale="90000"/>
          </a:bodyPr>
          <a:lstStyle/>
          <a:p>
            <a:r>
              <a:rPr lang="en-US"/>
              <a:t>BPE</a:t>
            </a:r>
          </a:p>
        </p:txBody>
      </p:sp>
      <p:sp>
        <p:nvSpPr>
          <p:cNvPr id="7" name="TextBox 6">
            <a:extLst>
              <a:ext uri="{FF2B5EF4-FFF2-40B4-BE49-F238E27FC236}">
                <a16:creationId xmlns:a16="http://schemas.microsoft.com/office/drawing/2014/main" id="{2A8FC4DC-36F7-3844-B27C-2F5130CA0D7E}"/>
              </a:ext>
            </a:extLst>
          </p:cNvPr>
          <p:cNvSpPr txBox="1"/>
          <p:nvPr/>
        </p:nvSpPr>
        <p:spPr>
          <a:xfrm>
            <a:off x="683019" y="1645804"/>
            <a:ext cx="2456122" cy="379656"/>
          </a:xfrm>
          <a:prstGeom prst="rect">
            <a:avLst/>
          </a:prstGeom>
          <a:noFill/>
        </p:spPr>
        <p:txBody>
          <a:bodyPr wrap="none" rtlCol="0">
            <a:spAutoFit/>
          </a:bodyPr>
          <a:lstStyle/>
          <a:p>
            <a:r>
              <a:rPr lang="en-US" sz="1867"/>
              <a:t>The next merges are:</a:t>
            </a:r>
            <a:endParaRPr lang="en-US" sz="1867">
              <a:solidFill>
                <a:srgbClr val="0070C0"/>
              </a:solidFill>
            </a:endParaRPr>
          </a:p>
        </p:txBody>
      </p:sp>
      <p:pic>
        <p:nvPicPr>
          <p:cNvPr id="4" name="Picture 3">
            <a:extLst>
              <a:ext uri="{FF2B5EF4-FFF2-40B4-BE49-F238E27FC236}">
                <a16:creationId xmlns:a16="http://schemas.microsoft.com/office/drawing/2014/main" id="{100A4A93-7DFF-3846-92BE-BD84C7DA068E}"/>
              </a:ext>
            </a:extLst>
          </p:cNvPr>
          <p:cNvPicPr>
            <a:picLocks noChangeAspect="1"/>
          </p:cNvPicPr>
          <p:nvPr/>
        </p:nvPicPr>
        <p:blipFill>
          <a:blip r:embed="rId2"/>
          <a:stretch>
            <a:fillRect/>
          </a:stretch>
        </p:blipFill>
        <p:spPr>
          <a:xfrm>
            <a:off x="508001" y="2807815"/>
            <a:ext cx="11570063" cy="2523067"/>
          </a:xfrm>
          <a:prstGeom prst="rect">
            <a:avLst/>
          </a:prstGeom>
        </p:spPr>
      </p:pic>
    </p:spTree>
    <p:extLst>
      <p:ext uri="{BB962C8B-B14F-4D97-AF65-F5344CB8AC3E}">
        <p14:creationId xmlns:p14="http://schemas.microsoft.com/office/powerpoint/2010/main" val="1103960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BPE Conclusion</a:t>
            </a:r>
          </a:p>
        </p:txBody>
      </p:sp>
      <p:sp>
        <p:nvSpPr>
          <p:cNvPr id="3" name="Text Placeholder 2"/>
          <p:cNvSpPr>
            <a:spLocks noGrp="1"/>
          </p:cNvSpPr>
          <p:nvPr>
            <p:ph type="body" idx="1"/>
          </p:nvPr>
        </p:nvSpPr>
        <p:spPr/>
        <p:txBody>
          <a:bodyPr>
            <a:normAutofit lnSpcReduction="10000"/>
          </a:bodyPr>
          <a:lstStyle/>
          <a:p>
            <a:r>
              <a:rPr lang="en-US"/>
              <a:t>It's reversible and lossless, so it is possible to convert tokens back into the original text</a:t>
            </a:r>
          </a:p>
          <a:p>
            <a:r>
              <a:rPr lang="en-US"/>
              <a:t>It works on arbitrary text, even text that is not in the tokenizer's training data</a:t>
            </a:r>
          </a:p>
          <a:p>
            <a:r>
              <a:rPr lang="en-US"/>
              <a:t>It compresses the text: the token sequence is shorter than the bytes corresponding to the original text</a:t>
            </a:r>
          </a:p>
          <a:p>
            <a:pPr lvl="1"/>
            <a:r>
              <a:rPr lang="en-US"/>
              <a:t>On average, each token corresponds to about 4 bytes</a:t>
            </a:r>
          </a:p>
          <a:p>
            <a:r>
              <a:rPr lang="en-US"/>
              <a:t>It attempts to let the model see common </a:t>
            </a:r>
            <a:r>
              <a:rPr lang="en-US" err="1"/>
              <a:t>subwords</a:t>
            </a:r>
            <a:endParaRPr lang="en-US"/>
          </a:p>
          <a:p>
            <a:pPr lvl="1"/>
            <a:r>
              <a:rPr lang="en-US"/>
              <a:t>For instance, "</a:t>
            </a:r>
            <a:r>
              <a:rPr lang="en-US" err="1"/>
              <a:t>ing</a:t>
            </a:r>
            <a:r>
              <a:rPr lang="en-US"/>
              <a:t>" is a common </a:t>
            </a:r>
            <a:r>
              <a:rPr lang="en-US" err="1"/>
              <a:t>subword</a:t>
            </a:r>
            <a:r>
              <a:rPr lang="en-US"/>
              <a:t> in English, so BPE encodings will often split "encoding" into tokens like "</a:t>
            </a:r>
            <a:r>
              <a:rPr lang="en-US" err="1"/>
              <a:t>encod</a:t>
            </a:r>
            <a:r>
              <a:rPr lang="en-US"/>
              <a:t>" and "</a:t>
            </a:r>
            <a:r>
              <a:rPr lang="en-US" err="1"/>
              <a:t>ing</a:t>
            </a:r>
            <a:r>
              <a:rPr lang="en-US"/>
              <a:t>" (instead of e.g. "enc" and "</a:t>
            </a:r>
            <a:r>
              <a:rPr lang="en-US" err="1"/>
              <a:t>oding</a:t>
            </a:r>
            <a:r>
              <a:rPr lang="en-US"/>
              <a:t>")</a:t>
            </a:r>
          </a:p>
          <a:p>
            <a:pPr lvl="2"/>
            <a:r>
              <a:rPr lang="en-US"/>
              <a:t>Because the model will then see the "</a:t>
            </a:r>
            <a:r>
              <a:rPr lang="en-US" err="1"/>
              <a:t>ing</a:t>
            </a:r>
            <a:r>
              <a:rPr lang="en-US"/>
              <a:t>" token again and again in different contexts, it helps models generalize and better understand grammar</a:t>
            </a:r>
          </a:p>
        </p:txBody>
      </p:sp>
    </p:spTree>
    <p:extLst>
      <p:ext uri="{BB962C8B-B14F-4D97-AF65-F5344CB8AC3E}">
        <p14:creationId xmlns:p14="http://schemas.microsoft.com/office/powerpoint/2010/main" val="2208712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Latest BPE: </a:t>
            </a:r>
            <a:r>
              <a:rPr lang="en-US" err="1"/>
              <a:t>tiktoken</a:t>
            </a:r>
            <a:endParaRPr lang="en-US"/>
          </a:p>
        </p:txBody>
      </p:sp>
      <p:sp>
        <p:nvSpPr>
          <p:cNvPr id="3" name="Text Placeholder 2"/>
          <p:cNvSpPr>
            <a:spLocks noGrp="1"/>
          </p:cNvSpPr>
          <p:nvPr>
            <p:ph type="body" idx="1"/>
          </p:nvPr>
        </p:nvSpPr>
        <p:spPr>
          <a:xfrm>
            <a:off x="685800" y="988559"/>
            <a:ext cx="11320465" cy="1372085"/>
          </a:xfrm>
        </p:spPr>
        <p:txBody>
          <a:bodyPr>
            <a:normAutofit lnSpcReduction="10000"/>
          </a:bodyPr>
          <a:lstStyle/>
          <a:p>
            <a:r>
              <a:rPr lang="en-US">
                <a:hlinkClick r:id="rId2"/>
              </a:rPr>
              <a:t>GitHub - </a:t>
            </a:r>
            <a:r>
              <a:rPr lang="en-US" err="1">
                <a:hlinkClick r:id="rId2"/>
              </a:rPr>
              <a:t>openai</a:t>
            </a:r>
            <a:r>
              <a:rPr lang="en-US">
                <a:hlinkClick r:id="rId2"/>
              </a:rPr>
              <a:t>/</a:t>
            </a:r>
            <a:r>
              <a:rPr lang="en-US" err="1">
                <a:hlinkClick r:id="rId2"/>
              </a:rPr>
              <a:t>tiktoken</a:t>
            </a:r>
            <a:r>
              <a:rPr lang="en-US">
                <a:hlinkClick r:id="rId2"/>
              </a:rPr>
              <a:t>: </a:t>
            </a:r>
            <a:r>
              <a:rPr lang="en-US" err="1">
                <a:hlinkClick r:id="rId2"/>
              </a:rPr>
              <a:t>tiktoken</a:t>
            </a:r>
            <a:r>
              <a:rPr lang="en-US">
                <a:hlinkClick r:id="rId2"/>
              </a:rPr>
              <a:t> is a fast BPE </a:t>
            </a:r>
            <a:r>
              <a:rPr lang="en-US" err="1">
                <a:hlinkClick r:id="rId2"/>
              </a:rPr>
              <a:t>tokeniser</a:t>
            </a:r>
            <a:r>
              <a:rPr lang="en-US">
                <a:hlinkClick r:id="rId2"/>
              </a:rPr>
              <a:t> for use with </a:t>
            </a:r>
            <a:r>
              <a:rPr lang="en-US" err="1">
                <a:hlinkClick r:id="rId2"/>
              </a:rPr>
              <a:t>OpenAI's</a:t>
            </a:r>
            <a:r>
              <a:rPr lang="en-US">
                <a:hlinkClick r:id="rId2"/>
              </a:rPr>
              <a:t> models.</a:t>
            </a:r>
            <a:endParaRPr lang="en-US"/>
          </a:p>
          <a:p>
            <a:r>
              <a:rPr lang="en-US"/>
              <a:t>Interesting read: </a:t>
            </a:r>
            <a:r>
              <a:rPr lang="en-US">
                <a:hlinkClick r:id="rId3"/>
              </a:rPr>
              <a:t>https://simonwillison.net/2023/Jun/8/gpt-tokenizers/</a:t>
            </a:r>
            <a:r>
              <a:rPr lang="en-US"/>
              <a:t> </a:t>
            </a:r>
          </a:p>
        </p:txBody>
      </p:sp>
      <p:pic>
        <p:nvPicPr>
          <p:cNvPr id="5" name="Picture 4"/>
          <p:cNvPicPr>
            <a:picLocks noChangeAspect="1"/>
          </p:cNvPicPr>
          <p:nvPr/>
        </p:nvPicPr>
        <p:blipFill>
          <a:blip r:embed="rId4"/>
          <a:stretch>
            <a:fillRect/>
          </a:stretch>
        </p:blipFill>
        <p:spPr>
          <a:xfrm>
            <a:off x="2677206" y="2929424"/>
            <a:ext cx="6326836" cy="3642724"/>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FC1E10C8-D917-34DC-4EE4-D65CF0A06BFA}"/>
                  </a:ext>
                </a:extLst>
              </p14:cNvPr>
              <p14:cNvContentPartPr/>
              <p14:nvPr/>
            </p14:nvContentPartPr>
            <p14:xfrm>
              <a:off x="6339253" y="5494603"/>
              <a:ext cx="227880" cy="524160"/>
            </p14:xfrm>
          </p:contentPart>
        </mc:Choice>
        <mc:Fallback xmlns="">
          <p:pic>
            <p:nvPicPr>
              <p:cNvPr id="12" name="Ink 11">
                <a:extLst>
                  <a:ext uri="{FF2B5EF4-FFF2-40B4-BE49-F238E27FC236}">
                    <a16:creationId xmlns:a16="http://schemas.microsoft.com/office/drawing/2014/main" id="{FC1E10C8-D917-34DC-4EE4-D65CF0A06BFA}"/>
                  </a:ext>
                </a:extLst>
              </p:cNvPr>
              <p:cNvPicPr/>
              <p:nvPr/>
            </p:nvPicPr>
            <p:blipFill>
              <a:blip r:embed="rId6"/>
              <a:stretch>
                <a:fillRect/>
              </a:stretch>
            </p:blipFill>
            <p:spPr>
              <a:xfrm>
                <a:off x="6328470" y="5483803"/>
                <a:ext cx="249086" cy="545400"/>
              </a:xfrm>
              <a:prstGeom prst="rect">
                <a:avLst/>
              </a:prstGeom>
            </p:spPr>
          </p:pic>
        </mc:Fallback>
      </mc:AlternateContent>
    </p:spTree>
    <p:extLst>
      <p:ext uri="{BB962C8B-B14F-4D97-AF65-F5344CB8AC3E}">
        <p14:creationId xmlns:p14="http://schemas.microsoft.com/office/powerpoint/2010/main" val="144109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C932E-27F8-1B35-6422-070C891CD38E}"/>
              </a:ext>
            </a:extLst>
          </p:cNvPr>
          <p:cNvSpPr>
            <a:spLocks noGrp="1"/>
          </p:cNvSpPr>
          <p:nvPr>
            <p:ph type="title"/>
          </p:nvPr>
        </p:nvSpPr>
        <p:spPr/>
        <p:txBody>
          <a:bodyPr>
            <a:normAutofit fontScale="90000"/>
          </a:bodyPr>
          <a:lstStyle/>
          <a:p>
            <a:r>
              <a:rPr lang="en-US" err="1"/>
              <a:t>Subword</a:t>
            </a:r>
            <a:r>
              <a:rPr lang="en-US"/>
              <a:t> Tokenizer: </a:t>
            </a:r>
            <a:r>
              <a:rPr lang="en-US" err="1"/>
              <a:t>WordPiece</a:t>
            </a:r>
            <a:endParaRPr lang="en-US"/>
          </a:p>
        </p:txBody>
      </p:sp>
      <p:sp>
        <p:nvSpPr>
          <p:cNvPr id="3" name="Text Placeholder 2">
            <a:extLst>
              <a:ext uri="{FF2B5EF4-FFF2-40B4-BE49-F238E27FC236}">
                <a16:creationId xmlns:a16="http://schemas.microsoft.com/office/drawing/2014/main" id="{14EF1E68-C485-09A0-951E-5C2CAF39A469}"/>
              </a:ext>
            </a:extLst>
          </p:cNvPr>
          <p:cNvSpPr>
            <a:spLocks noGrp="1"/>
          </p:cNvSpPr>
          <p:nvPr>
            <p:ph type="body" idx="1"/>
          </p:nvPr>
        </p:nvSpPr>
        <p:spPr/>
        <p:txBody>
          <a:bodyPr/>
          <a:lstStyle/>
          <a:p>
            <a:r>
              <a:rPr lang="en-US" err="1"/>
              <a:t>WordPiece</a:t>
            </a:r>
            <a:r>
              <a:rPr lang="en-US"/>
              <a:t> is the tokenization algorithm Google developed to </a:t>
            </a:r>
            <a:r>
              <a:rPr lang="en-US" err="1"/>
              <a:t>pretrain</a:t>
            </a:r>
            <a:r>
              <a:rPr lang="en-US"/>
              <a:t> BERT</a:t>
            </a:r>
          </a:p>
          <a:p>
            <a:pPr lvl="1"/>
            <a:r>
              <a:rPr lang="en-US"/>
              <a:t>Also used by </a:t>
            </a:r>
            <a:r>
              <a:rPr lang="en-US" err="1"/>
              <a:t>DistilBERT</a:t>
            </a:r>
            <a:r>
              <a:rPr lang="en-US"/>
              <a:t>, </a:t>
            </a:r>
            <a:r>
              <a:rPr lang="en-US" err="1"/>
              <a:t>MobileBERT</a:t>
            </a:r>
            <a:r>
              <a:rPr lang="en-US"/>
              <a:t>, Funnel Transformers, MPNET, etc.</a:t>
            </a:r>
          </a:p>
          <a:p>
            <a:pPr marL="114300" indent="0">
              <a:buNone/>
            </a:pPr>
            <a:endParaRPr lang="en-US"/>
          </a:p>
          <a:p>
            <a:endParaRPr lang="en-US"/>
          </a:p>
        </p:txBody>
      </p:sp>
      <p:pic>
        <p:nvPicPr>
          <p:cNvPr id="4" name="Picture 3"/>
          <p:cNvPicPr>
            <a:picLocks noChangeAspect="1"/>
          </p:cNvPicPr>
          <p:nvPr/>
        </p:nvPicPr>
        <p:blipFill>
          <a:blip r:embed="rId3"/>
          <a:stretch>
            <a:fillRect/>
          </a:stretch>
        </p:blipFill>
        <p:spPr>
          <a:xfrm>
            <a:off x="1620416" y="2930784"/>
            <a:ext cx="8669084" cy="3115452"/>
          </a:xfrm>
          <a:prstGeom prst="rect">
            <a:avLst/>
          </a:prstGeom>
        </p:spPr>
      </p:pic>
    </p:spTree>
    <p:extLst>
      <p:ext uri="{BB962C8B-B14F-4D97-AF65-F5344CB8AC3E}">
        <p14:creationId xmlns:p14="http://schemas.microsoft.com/office/powerpoint/2010/main" val="2342758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Wordpiece</a:t>
            </a:r>
            <a:r>
              <a:rPr lang="en-US"/>
              <a:t> Tokenization</a:t>
            </a:r>
          </a:p>
        </p:txBody>
      </p:sp>
      <p:sp>
        <p:nvSpPr>
          <p:cNvPr id="3" name="Text Placeholder 2"/>
          <p:cNvSpPr>
            <a:spLocks noGrp="1"/>
          </p:cNvSpPr>
          <p:nvPr>
            <p:ph type="body" idx="1"/>
          </p:nvPr>
        </p:nvSpPr>
        <p:spPr/>
        <p:txBody>
          <a:bodyPr/>
          <a:lstStyle/>
          <a:p>
            <a:r>
              <a:rPr lang="en-US" err="1"/>
              <a:t>Wordpiece</a:t>
            </a:r>
            <a:r>
              <a:rPr lang="en-US"/>
              <a:t> identifies </a:t>
            </a:r>
            <a:r>
              <a:rPr lang="en-US" err="1"/>
              <a:t>subwords</a:t>
            </a:r>
            <a:r>
              <a:rPr lang="en-US"/>
              <a:t> by adding a prefix (like ## for BERT), each word is initially split by adding that prefix to all the characters inside the word</a:t>
            </a:r>
          </a:p>
          <a:p>
            <a:r>
              <a:rPr lang="en-US"/>
              <a:t>So, for instance, "word" could split to: [w, ##o, ##r, ##d]</a:t>
            </a:r>
          </a:p>
          <a:p>
            <a:r>
              <a:rPr lang="en-US"/>
              <a:t>Similar to BPE, </a:t>
            </a:r>
            <a:r>
              <a:rPr lang="en-US" err="1"/>
              <a:t>WordPiece</a:t>
            </a:r>
            <a:r>
              <a:rPr lang="en-US"/>
              <a:t> learns merging rules (from the corpus)</a:t>
            </a:r>
          </a:p>
          <a:p>
            <a:pPr lvl="1"/>
            <a:r>
              <a:rPr lang="en-US"/>
              <a:t>The main difference is the way the pair to be merged is selected</a:t>
            </a:r>
          </a:p>
          <a:p>
            <a:pPr lvl="1"/>
            <a:r>
              <a:rPr lang="en-US"/>
              <a:t>Instead of selecting the most frequent pair, </a:t>
            </a:r>
            <a:r>
              <a:rPr lang="en-US" err="1"/>
              <a:t>WordPiece</a:t>
            </a:r>
            <a:r>
              <a:rPr lang="en-US"/>
              <a:t> computes a score for each pair using the following formula:</a:t>
            </a:r>
          </a:p>
          <a:p>
            <a:pPr lvl="2"/>
            <a:r>
              <a:rPr lang="en-US"/>
              <a:t>Score=(</a:t>
            </a:r>
            <a:r>
              <a:rPr lang="en-US" err="1"/>
              <a:t>freq_of_pair</a:t>
            </a:r>
            <a:r>
              <a:rPr lang="en-US"/>
              <a:t>)/(</a:t>
            </a:r>
            <a:r>
              <a:rPr lang="en-US" err="1"/>
              <a:t>freq_of_first_element×freq_of_second_element</a:t>
            </a:r>
            <a:r>
              <a:rPr lang="en-US"/>
              <a:t>)</a:t>
            </a:r>
          </a:p>
          <a:p>
            <a:pPr marL="114300" indent="0">
              <a:buNone/>
            </a:pPr>
            <a:endParaRPr lang="en-US"/>
          </a:p>
        </p:txBody>
      </p:sp>
    </p:spTree>
    <p:extLst>
      <p:ext uri="{BB962C8B-B14F-4D97-AF65-F5344CB8AC3E}">
        <p14:creationId xmlns:p14="http://schemas.microsoft.com/office/powerpoint/2010/main" val="163443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Wordpiece</a:t>
            </a:r>
            <a:r>
              <a:rPr lang="en-US"/>
              <a:t> Tokenization</a:t>
            </a:r>
          </a:p>
        </p:txBody>
      </p:sp>
      <p:sp>
        <p:nvSpPr>
          <p:cNvPr id="3" name="Text Placeholder 2"/>
          <p:cNvSpPr>
            <a:spLocks noGrp="1"/>
          </p:cNvSpPr>
          <p:nvPr>
            <p:ph type="body" idx="1"/>
          </p:nvPr>
        </p:nvSpPr>
        <p:spPr/>
        <p:txBody>
          <a:bodyPr/>
          <a:lstStyle/>
          <a:p>
            <a:r>
              <a:rPr lang="en-US">
                <a:solidFill>
                  <a:srgbClr val="C00000"/>
                </a:solidFill>
              </a:rPr>
              <a:t>Score=(</a:t>
            </a:r>
            <a:r>
              <a:rPr lang="en-US" err="1">
                <a:solidFill>
                  <a:srgbClr val="00B050"/>
                </a:solidFill>
              </a:rPr>
              <a:t>freq_of_pair</a:t>
            </a:r>
            <a:r>
              <a:rPr lang="en-US">
                <a:solidFill>
                  <a:srgbClr val="C00000"/>
                </a:solidFill>
              </a:rPr>
              <a:t>)/(</a:t>
            </a:r>
            <a:r>
              <a:rPr lang="en-US" err="1">
                <a:solidFill>
                  <a:srgbClr val="7030A0"/>
                </a:solidFill>
              </a:rPr>
              <a:t>freq_of_first_element</a:t>
            </a:r>
            <a:r>
              <a:rPr lang="en-US" err="1">
                <a:solidFill>
                  <a:srgbClr val="C00000"/>
                </a:solidFill>
              </a:rPr>
              <a:t>×</a:t>
            </a:r>
            <a:r>
              <a:rPr lang="en-US" err="1">
                <a:solidFill>
                  <a:srgbClr val="A21212"/>
                </a:solidFill>
              </a:rPr>
              <a:t>freq_of_second_element</a:t>
            </a:r>
            <a:r>
              <a:rPr lang="en-US">
                <a:solidFill>
                  <a:srgbClr val="C00000"/>
                </a:solidFill>
              </a:rPr>
              <a:t>)</a:t>
            </a:r>
          </a:p>
          <a:p>
            <a:r>
              <a:rPr lang="en-US"/>
              <a:t>By dividing the frequency of the pair by the product of the frequencies of each of its parts, the algorithm prioritizes the merging of pairs where the individual parts are less frequent in the vocabulary</a:t>
            </a:r>
          </a:p>
          <a:p>
            <a:r>
              <a:rPr lang="en-US"/>
              <a:t>For instance, it won’t necessarily merge ("un", "##able") even if that pair occurs very frequently in the vocabulary, because the two pairs "un" and "##able" will likely each appear in a lot of other words and have a high frequency. </a:t>
            </a:r>
          </a:p>
          <a:p>
            <a:r>
              <a:rPr lang="en-US"/>
              <a:t>In contrast, a pair like ("</a:t>
            </a:r>
            <a:r>
              <a:rPr lang="en-US" err="1"/>
              <a:t>hu</a:t>
            </a:r>
            <a:r>
              <a:rPr lang="en-US"/>
              <a:t>", "##</a:t>
            </a:r>
            <a:r>
              <a:rPr lang="en-US" err="1"/>
              <a:t>gging</a:t>
            </a:r>
            <a:r>
              <a:rPr lang="en-US"/>
              <a:t>") will probably be merged faster (assuming the word “hugging” appears often in the vocabulary) since "</a:t>
            </a:r>
            <a:r>
              <a:rPr lang="en-US" err="1"/>
              <a:t>hu</a:t>
            </a:r>
            <a:r>
              <a:rPr lang="en-US"/>
              <a:t>" and "##</a:t>
            </a:r>
            <a:r>
              <a:rPr lang="en-US" err="1"/>
              <a:t>gging</a:t>
            </a:r>
            <a:r>
              <a:rPr lang="en-US"/>
              <a:t>" are likely to be less frequent individually.</a:t>
            </a:r>
          </a:p>
          <a:p>
            <a:endParaRPr lang="en-US"/>
          </a:p>
          <a:p>
            <a:endParaRPr lang="en-US"/>
          </a:p>
        </p:txBody>
      </p:sp>
    </p:spTree>
    <p:extLst>
      <p:ext uri="{BB962C8B-B14F-4D97-AF65-F5344CB8AC3E}">
        <p14:creationId xmlns:p14="http://schemas.microsoft.com/office/powerpoint/2010/main" val="4011240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Unigram: Regularizing Tokens</a:t>
            </a:r>
          </a:p>
        </p:txBody>
      </p:sp>
      <p:sp>
        <p:nvSpPr>
          <p:cNvPr id="3" name="Text Placeholder 2"/>
          <p:cNvSpPr>
            <a:spLocks noGrp="1"/>
          </p:cNvSpPr>
          <p:nvPr>
            <p:ph type="body" idx="1"/>
          </p:nvPr>
        </p:nvSpPr>
        <p:spPr/>
        <p:txBody>
          <a:bodyPr>
            <a:normAutofit fontScale="85000" lnSpcReduction="20000"/>
          </a:bodyPr>
          <a:lstStyle/>
          <a:p>
            <a:r>
              <a:rPr lang="en-US"/>
              <a:t>The Unigram LM tokenizer utilizes statistical language modeling techniques to estimate the likelihood of different phrases and determine the optimal vocabulary size for tokenization </a:t>
            </a:r>
          </a:p>
          <a:p>
            <a:r>
              <a:rPr lang="en-US"/>
              <a:t>It starts from an extensive vocabulary and removes tokens until the size of the vocabulary reaches the limit (a regularization method)</a:t>
            </a:r>
          </a:p>
          <a:p>
            <a:r>
              <a:rPr lang="en-US"/>
              <a:t>Initial vocabulary may come from BPE </a:t>
            </a:r>
          </a:p>
          <a:p>
            <a:pPr lvl="1"/>
            <a:r>
              <a:rPr lang="en-US"/>
              <a:t>Alternatively, we can take the most common substrings in pre-tokenized words</a:t>
            </a:r>
          </a:p>
          <a:p>
            <a:r>
              <a:rPr lang="en-US"/>
              <a:t>At each step, it prunes the vocabulary</a:t>
            </a:r>
          </a:p>
          <a:p>
            <a:pPr lvl="1"/>
            <a:r>
              <a:rPr lang="en-US"/>
              <a:t>Uses negative log likelihood (like a language model)</a:t>
            </a:r>
          </a:p>
          <a:p>
            <a:pPr lvl="1"/>
            <a:r>
              <a:rPr lang="en-US"/>
              <a:t>For each token, it computes how much the overall loss would increase if the token is discarded</a:t>
            </a:r>
          </a:p>
          <a:p>
            <a:pPr lvl="1"/>
            <a:r>
              <a:rPr lang="en-US"/>
              <a:t>Finds the set of tokens that would increase the loss the least</a:t>
            </a:r>
          </a:p>
          <a:p>
            <a:pPr lvl="2"/>
            <a:r>
              <a:rPr lang="en-US"/>
              <a:t>These tokens have a lower contribution on the overall loss, so they are “less needed” and are the best candidates for the removal</a:t>
            </a:r>
          </a:p>
          <a:p>
            <a:pPr lvl="1"/>
            <a:r>
              <a:rPr lang="en-US"/>
              <a:t>The pruning of tokens is done on a bunch, not individual basis (to make the process efficient)</a:t>
            </a:r>
          </a:p>
          <a:p>
            <a:r>
              <a:rPr lang="en-US"/>
              <a:t>Some tokens are not removed at all</a:t>
            </a:r>
          </a:p>
          <a:p>
            <a:pPr lvl="1"/>
            <a:r>
              <a:rPr lang="en-US"/>
              <a:t>They are base tokens and discarding them may make the corpus non-tokenizable</a:t>
            </a:r>
          </a:p>
          <a:p>
            <a:endParaRPr lang="en-US"/>
          </a:p>
        </p:txBody>
      </p:sp>
    </p:spTree>
    <p:extLst>
      <p:ext uri="{BB962C8B-B14F-4D97-AF65-F5344CB8AC3E}">
        <p14:creationId xmlns:p14="http://schemas.microsoft.com/office/powerpoint/2010/main" val="3363208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Calculating Unigram Probability</a:t>
            </a:r>
          </a:p>
        </p:txBody>
      </p:sp>
      <p:sp>
        <p:nvSpPr>
          <p:cNvPr id="3" name="Text Placeholder 2"/>
          <p:cNvSpPr>
            <a:spLocks noGrp="1"/>
          </p:cNvSpPr>
          <p:nvPr>
            <p:ph type="body" idx="1"/>
          </p:nvPr>
        </p:nvSpPr>
        <p:spPr/>
        <p:txBody>
          <a:bodyPr/>
          <a:lstStyle/>
          <a:p>
            <a:r>
              <a:rPr lang="en-US"/>
              <a:t>Suppose we have this corpus: </a:t>
            </a:r>
            <a:r>
              <a:rPr lang="da-DK"/>
              <a:t>("hug", 10), ("pug", 5), ("pun", 12), ("bun", 4), ("hugs", 5)</a:t>
            </a:r>
          </a:p>
          <a:p>
            <a:r>
              <a:rPr lang="da-DK"/>
              <a:t>And, we use this base vocabulary: </a:t>
            </a:r>
            <a:r>
              <a:rPr lang="pl-PL"/>
              <a:t>["h", "u", "g", "hu", "ug", "p", "pu", "n", "un", "b", "bu", "s", "hug", "gs", "ugs"]</a:t>
            </a:r>
            <a:endParaRPr lang="en-US"/>
          </a:p>
          <a:p>
            <a:r>
              <a:rPr lang="en-US"/>
              <a:t>Unigram regularization uses probability to find the loss</a:t>
            </a:r>
          </a:p>
          <a:p>
            <a:r>
              <a:rPr lang="en-US"/>
              <a:t>The probability is calculated from its frequency in the current vocabulary divided by the sum of all frequencies of all tokens in the vocabulary </a:t>
            </a:r>
          </a:p>
          <a:p>
            <a:pPr lvl="1"/>
            <a:r>
              <a:rPr lang="en-US"/>
              <a:t>If "ug" is present 20 times in our corpus, which contains 210 tokens in total, “ug” will have a probability of 20/210</a:t>
            </a:r>
          </a:p>
          <a:p>
            <a:pPr lvl="1"/>
            <a:r>
              <a:rPr lang="en-US"/>
              <a:t>We are considering only the frequency of the interested token (“</a:t>
            </a:r>
            <a:r>
              <a:rPr lang="en-US" err="1"/>
              <a:t>ug</a:t>
            </a:r>
            <a:r>
              <a:rPr lang="en-US"/>
              <a:t>” in this case) without any dependency</a:t>
            </a:r>
          </a:p>
          <a:p>
            <a:pPr lvl="2"/>
            <a:r>
              <a:rPr lang="en-US"/>
              <a:t>That is why this scheme is called unigram</a:t>
            </a:r>
          </a:p>
        </p:txBody>
      </p:sp>
    </p:spTree>
    <p:extLst>
      <p:ext uri="{BB962C8B-B14F-4D97-AF65-F5344CB8AC3E}">
        <p14:creationId xmlns:p14="http://schemas.microsoft.com/office/powerpoint/2010/main" val="3329326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Calculating Unigram Probability</a:t>
            </a:r>
          </a:p>
        </p:txBody>
      </p:sp>
      <p:sp>
        <p:nvSpPr>
          <p:cNvPr id="3" name="Text Placeholder 2"/>
          <p:cNvSpPr>
            <a:spLocks noGrp="1"/>
          </p:cNvSpPr>
          <p:nvPr>
            <p:ph type="body" idx="1"/>
          </p:nvPr>
        </p:nvSpPr>
        <p:spPr/>
        <p:txBody>
          <a:bodyPr>
            <a:normAutofit/>
          </a:bodyPr>
          <a:lstStyle/>
          <a:p>
            <a:r>
              <a:rPr lang="en-US"/>
              <a:t>Suppose we have this vocabulary: </a:t>
            </a:r>
            <a:r>
              <a:rPr lang="pl-PL"/>
              <a:t>("h", 15) (</a:t>
            </a:r>
            <a:r>
              <a:rPr lang="pl-PL">
                <a:solidFill>
                  <a:srgbClr val="92D050"/>
                </a:solidFill>
              </a:rPr>
              <a:t>"u", 36</a:t>
            </a:r>
            <a:r>
              <a:rPr lang="pl-PL"/>
              <a:t>) (</a:t>
            </a:r>
            <a:r>
              <a:rPr lang="pl-PL">
                <a:solidFill>
                  <a:srgbClr val="92D050"/>
                </a:solidFill>
              </a:rPr>
              <a:t>"g", 20</a:t>
            </a:r>
            <a:r>
              <a:rPr lang="pl-PL"/>
              <a:t>) ("hu", 15) (</a:t>
            </a:r>
            <a:r>
              <a:rPr lang="pl-PL">
                <a:solidFill>
                  <a:srgbClr val="FFC000"/>
                </a:solidFill>
              </a:rPr>
              <a:t>"ug", 20</a:t>
            </a:r>
            <a:r>
              <a:rPr lang="pl-PL"/>
              <a:t>) (</a:t>
            </a:r>
            <a:r>
              <a:rPr lang="pl-PL">
                <a:solidFill>
                  <a:srgbClr val="92D050"/>
                </a:solidFill>
              </a:rPr>
              <a:t>"p", 17</a:t>
            </a:r>
            <a:r>
              <a:rPr lang="pl-PL"/>
              <a:t>) (</a:t>
            </a:r>
            <a:r>
              <a:rPr lang="pl-PL">
                <a:solidFill>
                  <a:srgbClr val="FF0000"/>
                </a:solidFill>
              </a:rPr>
              <a:t>"pu", 17</a:t>
            </a:r>
            <a:r>
              <a:rPr lang="pl-PL"/>
              <a:t>) ("n", 16)</a:t>
            </a:r>
            <a:r>
              <a:rPr lang="en-US"/>
              <a:t> </a:t>
            </a:r>
            <a:r>
              <a:rPr lang="pl-PL"/>
              <a:t>("un", 16) ("b", 4) ("bu", 4) ("s", 5) ("hug", 15) ("gs", 5) ("ugs", 5)</a:t>
            </a:r>
            <a:endParaRPr lang="en-US"/>
          </a:p>
          <a:p>
            <a:r>
              <a:rPr lang="en-US"/>
              <a:t>Suppose we want to tokenize the word “pug” and considering two schemes</a:t>
            </a:r>
          </a:p>
          <a:p>
            <a:pPr lvl="1"/>
            <a:r>
              <a:rPr lang="en-US"/>
              <a:t>Option 1: [“</a:t>
            </a:r>
            <a:r>
              <a:rPr lang="en-US" err="1"/>
              <a:t>p”,”u”,”g</a:t>
            </a:r>
            <a:r>
              <a:rPr lang="en-US"/>
              <a:t>”]</a:t>
            </a:r>
          </a:p>
          <a:p>
            <a:pPr lvl="1"/>
            <a:r>
              <a:rPr lang="en-US"/>
              <a:t>Option 2: [“</a:t>
            </a:r>
            <a:r>
              <a:rPr lang="en-US" err="1"/>
              <a:t>pu</a:t>
            </a:r>
            <a:r>
              <a:rPr lang="en-US"/>
              <a:t>”,”g”]</a:t>
            </a:r>
          </a:p>
          <a:p>
            <a:r>
              <a:rPr lang="en-US"/>
              <a:t>Option 1 has this probability for our corpus:</a:t>
            </a:r>
          </a:p>
          <a:p>
            <a:pPr lvl="1"/>
            <a:r>
              <a:rPr lang="en-US" sz="1800">
                <a:latin typeface="Monaco"/>
              </a:rPr>
              <a:t>P([‘</a:t>
            </a:r>
            <a:r>
              <a:rPr lang="en-US" sz="1800" err="1">
                <a:latin typeface="Monaco"/>
              </a:rPr>
              <a:t>p’,’u’,’g</a:t>
            </a:r>
            <a:r>
              <a:rPr lang="en-US" sz="1800">
                <a:latin typeface="Monaco"/>
              </a:rPr>
              <a:t>’])=P(‘p’)×P(‘u’)×P(‘g’)=  17/210 × 36/210 × 20/210 = 0.0013216</a:t>
            </a:r>
          </a:p>
          <a:p>
            <a:r>
              <a:rPr lang="en-US"/>
              <a:t>Option 2 has this probability w.r.t. our corpus:</a:t>
            </a:r>
          </a:p>
          <a:p>
            <a:pPr lvl="1"/>
            <a:r>
              <a:rPr lang="fr-FR" sz="2000">
                <a:latin typeface="Monaco"/>
              </a:rPr>
              <a:t>P([‘</a:t>
            </a:r>
            <a:r>
              <a:rPr lang="fr-FR" sz="2000" err="1">
                <a:latin typeface="Monaco"/>
              </a:rPr>
              <a:t>pu’,’g</a:t>
            </a:r>
            <a:r>
              <a:rPr lang="fr-FR" sz="2000">
                <a:latin typeface="Monaco"/>
              </a:rPr>
              <a:t>’])=P(‘pu’)×P(‘g’) = 17/210 × 20/210 = 0.007709</a:t>
            </a:r>
          </a:p>
          <a:p>
            <a:r>
              <a:rPr lang="en-US" sz="2400"/>
              <a:t>In general, tokenization with fewer tokens will have a higher probability </a:t>
            </a:r>
          </a:p>
          <a:p>
            <a:endParaRPr lang="en-US" sz="2400">
              <a:latin typeface="Monaco"/>
            </a:endParaRPr>
          </a:p>
        </p:txBody>
      </p:sp>
    </p:spTree>
    <p:extLst>
      <p:ext uri="{BB962C8B-B14F-4D97-AF65-F5344CB8AC3E}">
        <p14:creationId xmlns:p14="http://schemas.microsoft.com/office/powerpoint/2010/main" val="233874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Calculating Unigram Probability</a:t>
            </a:r>
          </a:p>
        </p:txBody>
      </p:sp>
      <p:sp>
        <p:nvSpPr>
          <p:cNvPr id="3" name="Text Placeholder 2"/>
          <p:cNvSpPr>
            <a:spLocks noGrp="1"/>
          </p:cNvSpPr>
          <p:nvPr>
            <p:ph type="body" idx="1"/>
          </p:nvPr>
        </p:nvSpPr>
        <p:spPr/>
        <p:txBody>
          <a:bodyPr/>
          <a:lstStyle/>
          <a:p>
            <a:r>
              <a:rPr lang="en-US"/>
              <a:t>The tokenization of a word with the Unigram model is basically the tokenization with the highest probability</a:t>
            </a:r>
          </a:p>
          <a:p>
            <a:r>
              <a:rPr lang="en-US"/>
              <a:t>In the example of "pug", here are the probabilities we would get for each possible segmentation</a:t>
            </a:r>
          </a:p>
          <a:p>
            <a:pPr lvl="1"/>
            <a:r>
              <a:rPr lang="pl-PL"/>
              <a:t>["p", "u", "g"] : </a:t>
            </a:r>
            <a:r>
              <a:rPr lang="en-US" sz="1800">
                <a:latin typeface="Monaco"/>
              </a:rPr>
              <a:t>0.0013216</a:t>
            </a:r>
          </a:p>
          <a:p>
            <a:pPr lvl="1"/>
            <a:r>
              <a:rPr lang="pl-PL"/>
              <a:t>["p", "</a:t>
            </a:r>
            <a:r>
              <a:rPr lang="pl-PL" err="1"/>
              <a:t>ug</a:t>
            </a:r>
            <a:r>
              <a:rPr lang="pl-PL"/>
              <a:t>"] : </a:t>
            </a:r>
            <a:r>
              <a:rPr lang="fr-FR" sz="2000">
                <a:latin typeface="Monaco"/>
              </a:rPr>
              <a:t>0.007709</a:t>
            </a:r>
            <a:endParaRPr lang="pl-PL" sz="2000">
              <a:solidFill>
                <a:srgbClr val="000000"/>
              </a:solidFill>
              <a:latin typeface="Monaco"/>
            </a:endParaRPr>
          </a:p>
          <a:p>
            <a:pPr lvl="1"/>
            <a:r>
              <a:rPr lang="pl-PL"/>
              <a:t>["</a:t>
            </a:r>
            <a:r>
              <a:rPr lang="pl-PL" err="1"/>
              <a:t>pu</a:t>
            </a:r>
            <a:r>
              <a:rPr lang="pl-PL"/>
              <a:t>", "g"] : </a:t>
            </a:r>
            <a:r>
              <a:rPr lang="fr-FR" sz="2000">
                <a:latin typeface="Monaco"/>
              </a:rPr>
              <a:t>0.007709</a:t>
            </a:r>
            <a:endParaRPr lang="pl-PL" sz="2000">
              <a:solidFill>
                <a:srgbClr val="000000"/>
              </a:solidFill>
              <a:latin typeface="Monaco"/>
            </a:endParaRPr>
          </a:p>
          <a:p>
            <a:r>
              <a:rPr lang="en-US"/>
              <a:t>So, "pug" would be tokenized as ["p", "ug"] or ["</a:t>
            </a:r>
            <a:r>
              <a:rPr lang="en-US" err="1"/>
              <a:t>pu</a:t>
            </a:r>
            <a:r>
              <a:rPr lang="en-US"/>
              <a:t>", "g"], depending on which of those segmentations is encountered first</a:t>
            </a:r>
          </a:p>
        </p:txBody>
      </p:sp>
    </p:spTree>
    <p:extLst>
      <p:ext uri="{BB962C8B-B14F-4D97-AF65-F5344CB8AC3E}">
        <p14:creationId xmlns:p14="http://schemas.microsoft.com/office/powerpoint/2010/main" val="297327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From probability to Loss</a:t>
            </a:r>
          </a:p>
        </p:txBody>
      </p:sp>
      <p:sp>
        <p:nvSpPr>
          <p:cNvPr id="3" name="Text Placeholder 2"/>
          <p:cNvSpPr>
            <a:spLocks noGrp="1"/>
          </p:cNvSpPr>
          <p:nvPr>
            <p:ph type="body" idx="1"/>
          </p:nvPr>
        </p:nvSpPr>
        <p:spPr/>
        <p:txBody>
          <a:bodyPr/>
          <a:lstStyle/>
          <a:p>
            <a:r>
              <a:rPr lang="en-US"/>
              <a:t>Each token has a probability score and the loss is the negative log of that probability</a:t>
            </a:r>
          </a:p>
          <a:p>
            <a:r>
              <a:rPr lang="en-US"/>
              <a:t>Suppose we have this corpus: </a:t>
            </a:r>
            <a:r>
              <a:rPr lang="da-DK"/>
              <a:t>("hug", 10), ("pug", 5), ("pun", 12), ("bun", 4), ("hugs", 5)</a:t>
            </a:r>
          </a:p>
          <a:p>
            <a:r>
              <a:rPr lang="da-DK"/>
              <a:t>And current probability scores are:  </a:t>
            </a:r>
          </a:p>
          <a:p>
            <a:pPr lvl="1"/>
            <a:r>
              <a:rPr lang="da-DK"/>
              <a:t>"hug": ["hug"] (score 0.071428)</a:t>
            </a:r>
          </a:p>
          <a:p>
            <a:pPr lvl="1"/>
            <a:r>
              <a:rPr lang="da-DK"/>
              <a:t>"pug": ["pu", "g"] (score 0.007710)</a:t>
            </a:r>
          </a:p>
          <a:p>
            <a:pPr lvl="1"/>
            <a:r>
              <a:rPr lang="da-DK"/>
              <a:t>"pun": ["pu", "n"] (score 0.006168)</a:t>
            </a:r>
          </a:p>
          <a:p>
            <a:pPr lvl="1"/>
            <a:r>
              <a:rPr lang="da-DK"/>
              <a:t>"bun": ["bu", "n"] (score 0.001451)</a:t>
            </a:r>
          </a:p>
          <a:p>
            <a:pPr lvl="1"/>
            <a:r>
              <a:rPr lang="da-DK"/>
              <a:t>"hugs": ["hug", "s"] (score 0.001701)</a:t>
            </a:r>
            <a:endParaRPr lang="en-US"/>
          </a:p>
        </p:txBody>
      </p:sp>
    </p:spTree>
    <p:extLst>
      <p:ext uri="{BB962C8B-B14F-4D97-AF65-F5344CB8AC3E}">
        <p14:creationId xmlns:p14="http://schemas.microsoft.com/office/powerpoint/2010/main" val="1119544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From probability to Loss</a:t>
            </a:r>
          </a:p>
        </p:txBody>
      </p:sp>
      <p:sp>
        <p:nvSpPr>
          <p:cNvPr id="3" name="Text Placeholder 2"/>
          <p:cNvSpPr>
            <a:spLocks noGrp="1"/>
          </p:cNvSpPr>
          <p:nvPr>
            <p:ph type="body" idx="1"/>
          </p:nvPr>
        </p:nvSpPr>
        <p:spPr/>
        <p:txBody>
          <a:bodyPr>
            <a:normAutofit/>
          </a:bodyPr>
          <a:lstStyle/>
          <a:p>
            <a:r>
              <a:rPr lang="en-US"/>
              <a:t>For the tokenization scheme of the previous slide</a:t>
            </a:r>
          </a:p>
          <a:p>
            <a:pPr lvl="1"/>
            <a:r>
              <a:rPr lang="en-US" sz="1800">
                <a:latin typeface="Monaco"/>
              </a:rPr>
              <a:t>Loss</a:t>
            </a:r>
            <a:r>
              <a:rPr lang="en-US" sz="1800" baseline="30000">
                <a:latin typeface="Monaco"/>
              </a:rPr>
              <a:t>1</a:t>
            </a:r>
            <a:r>
              <a:rPr lang="en-US" sz="1800">
                <a:latin typeface="Monaco"/>
              </a:rPr>
              <a:t> = 10 * (-log(0.071428)) + 5 * (-log(0.007710)) + 12 * (-log(0.006168)) + 4 * (-log(0.001451)) + 5 * (-log(0.001701)) = 169.8</a:t>
            </a:r>
          </a:p>
          <a:p>
            <a:r>
              <a:rPr lang="en-US"/>
              <a:t>Now if we remove “hug” from the vocabulary, we get the following tokens</a:t>
            </a:r>
            <a:endParaRPr lang="da-DK"/>
          </a:p>
          <a:p>
            <a:pPr lvl="1"/>
            <a:r>
              <a:rPr lang="da-DK" sz="1600" strike="sngStrike">
                <a:latin typeface="Monaco"/>
              </a:rPr>
              <a:t>"hug": ["hug"] (score 0.071428)</a:t>
            </a:r>
          </a:p>
          <a:p>
            <a:pPr lvl="1"/>
            <a:r>
              <a:rPr lang="da-DK" sz="1600">
                <a:latin typeface="Monaco"/>
              </a:rPr>
              <a:t>"hug": ["hu", "g"] (score 0.006802)</a:t>
            </a:r>
          </a:p>
          <a:p>
            <a:pPr lvl="1"/>
            <a:r>
              <a:rPr lang="da-DK" sz="1600">
                <a:latin typeface="Monaco"/>
              </a:rPr>
              <a:t>"pug": ["pu", "g"] (score 0.007710)</a:t>
            </a:r>
          </a:p>
          <a:p>
            <a:pPr lvl="1"/>
            <a:r>
              <a:rPr lang="da-DK" sz="1600">
                <a:latin typeface="Monaco"/>
              </a:rPr>
              <a:t>"pun": ["pu", "n"] (score 0.006168)</a:t>
            </a:r>
          </a:p>
          <a:p>
            <a:pPr lvl="1"/>
            <a:r>
              <a:rPr lang="da-DK" sz="1600">
                <a:latin typeface="Monaco"/>
              </a:rPr>
              <a:t>"bun": ["bu", "n"] (score 0.001451)</a:t>
            </a:r>
          </a:p>
          <a:p>
            <a:pPr lvl="1"/>
            <a:r>
              <a:rPr lang="da-DK" sz="1600">
                <a:latin typeface="Monaco"/>
              </a:rPr>
              <a:t>"hugs": ["hu", "g", "s"] (score 0.001701) </a:t>
            </a:r>
          </a:p>
          <a:p>
            <a:r>
              <a:rPr lang="en-US" sz="2400">
                <a:latin typeface="Calibri" panose="020F0502020204030204" pitchFamily="34" charset="0"/>
                <a:ea typeface="Calibri" panose="020F0502020204030204" pitchFamily="34" charset="0"/>
                <a:cs typeface="Calibri" panose="020F0502020204030204" pitchFamily="34" charset="0"/>
              </a:rPr>
              <a:t>The loss will increase by</a:t>
            </a:r>
          </a:p>
          <a:p>
            <a:pPr lvl="1"/>
            <a:r>
              <a:rPr lang="en-US" sz="1200">
                <a:latin typeface="Monaco"/>
              </a:rPr>
              <a:t>Loss = Loss</a:t>
            </a:r>
            <a:r>
              <a:rPr lang="en-US" sz="1200" baseline="30000">
                <a:latin typeface="Monaco"/>
              </a:rPr>
              <a:t>1 </a:t>
            </a:r>
            <a:r>
              <a:rPr lang="en-US" sz="1200">
                <a:latin typeface="Monaco"/>
              </a:rPr>
              <a:t> + -10 * (-log(0.0071428)) + 10 * (-log(0.006802)) = 169.8 + 23.5</a:t>
            </a:r>
          </a:p>
        </p:txBody>
      </p:sp>
    </p:spTree>
    <p:extLst>
      <p:ext uri="{BB962C8B-B14F-4D97-AF65-F5344CB8AC3E}">
        <p14:creationId xmlns:p14="http://schemas.microsoft.com/office/powerpoint/2010/main" val="3067389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Unigram Conclusion</a:t>
            </a:r>
          </a:p>
        </p:txBody>
      </p:sp>
      <p:sp>
        <p:nvSpPr>
          <p:cNvPr id="3" name="Text Placeholder 2"/>
          <p:cNvSpPr>
            <a:spLocks noGrp="1"/>
          </p:cNvSpPr>
          <p:nvPr>
            <p:ph type="body" idx="1"/>
          </p:nvPr>
        </p:nvSpPr>
        <p:spPr/>
        <p:txBody>
          <a:bodyPr/>
          <a:lstStyle/>
          <a:p>
            <a:r>
              <a:rPr lang="en-US"/>
              <a:t>The Unigram Language Model </a:t>
            </a:r>
            <a:r>
              <a:rPr lang="en-US" err="1"/>
              <a:t>subword</a:t>
            </a:r>
            <a:r>
              <a:rPr lang="en-US"/>
              <a:t> tokenization algorithm offers efficient and accurate tokenization.</a:t>
            </a:r>
          </a:p>
          <a:p>
            <a:r>
              <a:rPr lang="en-US"/>
              <a:t>The training strategy involves reducing the vocabulary size while maintaining language modeling integrity.</a:t>
            </a:r>
          </a:p>
          <a:p>
            <a:r>
              <a:rPr lang="en-US"/>
              <a:t>The Unigram LM model assumes independence among tokens, enabling probability estimation and tokenization.</a:t>
            </a:r>
          </a:p>
          <a:p>
            <a:r>
              <a:rPr lang="en-US"/>
              <a:t>Estimating token probabilities and calculating loss aid in evaluating tokenization effectiveness.</a:t>
            </a:r>
          </a:p>
          <a:p>
            <a:r>
              <a:rPr lang="en-US"/>
              <a:t>The Viterbi algorithm enhances the speed and efficiency of word tokenization in the Unigram model.</a:t>
            </a:r>
          </a:p>
          <a:p>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F15F12C-8E26-44F2-D21C-90996C5D06CE}"/>
                  </a:ext>
                </a:extLst>
              </p14:cNvPr>
              <p14:cNvContentPartPr/>
              <p14:nvPr/>
            </p14:nvContentPartPr>
            <p14:xfrm>
              <a:off x="3137773" y="3489043"/>
              <a:ext cx="21600" cy="21600"/>
            </p14:xfrm>
          </p:contentPart>
        </mc:Choice>
        <mc:Fallback xmlns="">
          <p:pic>
            <p:nvPicPr>
              <p:cNvPr id="7" name="Ink 6">
                <a:extLst>
                  <a:ext uri="{FF2B5EF4-FFF2-40B4-BE49-F238E27FC236}">
                    <a16:creationId xmlns:a16="http://schemas.microsoft.com/office/drawing/2014/main" id="{4F15F12C-8E26-44F2-D21C-90996C5D06CE}"/>
                  </a:ext>
                </a:extLst>
              </p:cNvPr>
              <p:cNvPicPr/>
              <p:nvPr/>
            </p:nvPicPr>
            <p:blipFill>
              <a:blip r:embed="rId3"/>
              <a:stretch>
                <a:fillRect/>
              </a:stretch>
            </p:blipFill>
            <p:spPr>
              <a:xfrm>
                <a:off x="3126790" y="3478243"/>
                <a:ext cx="43200" cy="42840"/>
              </a:xfrm>
              <a:prstGeom prst="rect">
                <a:avLst/>
              </a:prstGeom>
            </p:spPr>
          </p:pic>
        </mc:Fallback>
      </mc:AlternateContent>
    </p:spTree>
    <p:extLst>
      <p:ext uri="{BB962C8B-B14F-4D97-AF65-F5344CB8AC3E}">
        <p14:creationId xmlns:p14="http://schemas.microsoft.com/office/powerpoint/2010/main" val="2355378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Sentencepiece</a:t>
            </a:r>
            <a:r>
              <a:rPr lang="en-US"/>
              <a:t> Tokenizer</a:t>
            </a:r>
          </a:p>
        </p:txBody>
      </p:sp>
      <p:sp>
        <p:nvSpPr>
          <p:cNvPr id="3" name="Text Placeholder 2"/>
          <p:cNvSpPr>
            <a:spLocks noGrp="1"/>
          </p:cNvSpPr>
          <p:nvPr>
            <p:ph type="body" idx="1"/>
          </p:nvPr>
        </p:nvSpPr>
        <p:spPr/>
        <p:txBody>
          <a:bodyPr/>
          <a:lstStyle/>
          <a:p>
            <a:r>
              <a:rPr lang="en-US"/>
              <a:t>Not all languages use spaces to separate words. One possible solution is to use language-specific pre-tokenizers, e.g., XLM uses a specific Chinese, Japanese, and Thai pre-tokenizer). </a:t>
            </a:r>
          </a:p>
          <a:p>
            <a:r>
              <a:rPr lang="en-US"/>
              <a:t>To solve this problem more generally, </a:t>
            </a:r>
            <a:r>
              <a:rPr lang="en-US" err="1"/>
              <a:t>SentencePiece</a:t>
            </a:r>
            <a:r>
              <a:rPr lang="en-US"/>
              <a:t>: A simple and language independent </a:t>
            </a:r>
            <a:r>
              <a:rPr lang="en-US" err="1"/>
              <a:t>subword</a:t>
            </a:r>
            <a:r>
              <a:rPr lang="en-US"/>
              <a:t> tokenizer and </a:t>
            </a:r>
            <a:r>
              <a:rPr lang="en-US" err="1"/>
              <a:t>detokenizer</a:t>
            </a:r>
            <a:r>
              <a:rPr lang="en-US"/>
              <a:t> for Neural Text Processing (Kudo et al., 2018) treats the input as a raw input stream, thus including the space in the set of characters to use. </a:t>
            </a:r>
          </a:p>
          <a:p>
            <a:r>
              <a:rPr lang="en-US"/>
              <a:t>Then, use the BPE or unigram algorithm to construct the appropriate vocabulary.</a:t>
            </a:r>
          </a:p>
          <a:p>
            <a:endParaRPr lang="en-US"/>
          </a:p>
          <a:p>
            <a:endParaRPr lang="en-US"/>
          </a:p>
        </p:txBody>
      </p:sp>
    </p:spTree>
    <p:extLst>
      <p:ext uri="{BB962C8B-B14F-4D97-AF65-F5344CB8AC3E}">
        <p14:creationId xmlns:p14="http://schemas.microsoft.com/office/powerpoint/2010/main" val="1164991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F4AB0-04B1-5292-4E6E-AF3962C54927}"/>
              </a:ext>
            </a:extLst>
          </p:cNvPr>
          <p:cNvSpPr>
            <a:spLocks noGrp="1"/>
          </p:cNvSpPr>
          <p:nvPr>
            <p:ph type="title"/>
          </p:nvPr>
        </p:nvSpPr>
        <p:spPr/>
        <p:txBody>
          <a:bodyPr>
            <a:normAutofit fontScale="90000"/>
          </a:bodyPr>
          <a:lstStyle/>
          <a:p>
            <a:r>
              <a:rPr lang="en-US" err="1"/>
              <a:t>Sentencepiece</a:t>
            </a:r>
            <a:r>
              <a:rPr lang="en-US"/>
              <a:t> Tokenizer</a:t>
            </a:r>
          </a:p>
        </p:txBody>
      </p:sp>
      <p:sp>
        <p:nvSpPr>
          <p:cNvPr id="3" name="Text Placeholder 2">
            <a:extLst>
              <a:ext uri="{FF2B5EF4-FFF2-40B4-BE49-F238E27FC236}">
                <a16:creationId xmlns:a16="http://schemas.microsoft.com/office/drawing/2014/main" id="{CC99FD1F-6048-8963-9B4F-2F88B979F540}"/>
              </a:ext>
            </a:extLst>
          </p:cNvPr>
          <p:cNvSpPr>
            <a:spLocks noGrp="1"/>
          </p:cNvSpPr>
          <p:nvPr>
            <p:ph type="body" idx="1"/>
          </p:nvPr>
        </p:nvSpPr>
        <p:spPr/>
        <p:txBody>
          <a:bodyPr/>
          <a:lstStyle/>
          <a:p>
            <a:r>
              <a:rPr lang="en-US" err="1"/>
              <a:t>SentencePiece</a:t>
            </a:r>
            <a:r>
              <a:rPr lang="en-US"/>
              <a:t> is an unsupervised text tokenizer and de-tokenizer mainly for Neural Network-based text generation systems where the vocabulary size is predetermined before the neural model training</a:t>
            </a:r>
          </a:p>
          <a:p>
            <a:pPr lvl="1">
              <a:buFont typeface="Courier New"/>
              <a:buChar char="o"/>
            </a:pPr>
            <a:r>
              <a:rPr lang="en-US">
                <a:solidFill>
                  <a:schemeClr val="accent6"/>
                </a:solidFill>
              </a:rPr>
              <a:t>It acts as a framework</a:t>
            </a:r>
          </a:p>
          <a:p>
            <a:r>
              <a:rPr lang="en-US" err="1"/>
              <a:t>SentencePiece</a:t>
            </a:r>
            <a:r>
              <a:rPr lang="en-US"/>
              <a:t> implements </a:t>
            </a:r>
            <a:r>
              <a:rPr lang="en-US" err="1"/>
              <a:t>subword</a:t>
            </a:r>
            <a:r>
              <a:rPr lang="en-US"/>
              <a:t> units (e.g., BPE and unigram language model) with the extension of direct training from raw sentences</a:t>
            </a:r>
          </a:p>
          <a:p>
            <a:r>
              <a:rPr lang="en-US" err="1"/>
              <a:t>SentencePiece</a:t>
            </a:r>
            <a:r>
              <a:rPr lang="en-US"/>
              <a:t> allows us to make a purely end-to-end system without language-specific pre/postprocessing</a:t>
            </a:r>
          </a:p>
          <a:p>
            <a:endParaRPr lang="en-US"/>
          </a:p>
          <a:p>
            <a:endParaRPr lang="en-US"/>
          </a:p>
        </p:txBody>
      </p:sp>
    </p:spTree>
    <p:extLst>
      <p:ext uri="{BB962C8B-B14F-4D97-AF65-F5344CB8AC3E}">
        <p14:creationId xmlns:p14="http://schemas.microsoft.com/office/powerpoint/2010/main" val="36612677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2A10F-8F5F-0FAA-EF2A-A41C0E903887}"/>
              </a:ext>
            </a:extLst>
          </p:cNvPr>
          <p:cNvSpPr>
            <a:spLocks noGrp="1"/>
          </p:cNvSpPr>
          <p:nvPr>
            <p:ph type="title"/>
          </p:nvPr>
        </p:nvSpPr>
        <p:spPr>
          <a:xfrm>
            <a:off x="1232080" y="482145"/>
            <a:ext cx="10515600" cy="525463"/>
          </a:xfrm>
        </p:spPr>
        <p:txBody>
          <a:bodyPr>
            <a:normAutofit fontScale="90000"/>
          </a:bodyPr>
          <a:lstStyle/>
          <a:p>
            <a:r>
              <a:rPr lang="en-US"/>
              <a:t>BLT (Byte Latent Transformer)</a:t>
            </a:r>
            <a:br>
              <a:rPr lang="en-US"/>
            </a:br>
            <a:r>
              <a:rPr lang="en-US"/>
              <a:t>Patches compared to Tokens</a:t>
            </a:r>
          </a:p>
        </p:txBody>
      </p:sp>
      <p:pic>
        <p:nvPicPr>
          <p:cNvPr id="4" name="Picture 3" descr="A graph with blue lines and a red line&#10;&#10;AI-generated content may be incorrect.">
            <a:extLst>
              <a:ext uri="{FF2B5EF4-FFF2-40B4-BE49-F238E27FC236}">
                <a16:creationId xmlns:a16="http://schemas.microsoft.com/office/drawing/2014/main" id="{D80A1382-F755-F3FF-EADA-2B308FA8E707}"/>
              </a:ext>
            </a:extLst>
          </p:cNvPr>
          <p:cNvPicPr>
            <a:picLocks noChangeAspect="1"/>
          </p:cNvPicPr>
          <p:nvPr/>
        </p:nvPicPr>
        <p:blipFill>
          <a:blip r:embed="rId2"/>
          <a:stretch>
            <a:fillRect/>
          </a:stretch>
        </p:blipFill>
        <p:spPr>
          <a:xfrm>
            <a:off x="0" y="1690157"/>
            <a:ext cx="12192000" cy="3477685"/>
          </a:xfrm>
          <a:prstGeom prst="rect">
            <a:avLst/>
          </a:prstGeom>
        </p:spPr>
      </p:pic>
    </p:spTree>
    <p:extLst>
      <p:ext uri="{BB962C8B-B14F-4D97-AF65-F5344CB8AC3E}">
        <p14:creationId xmlns:p14="http://schemas.microsoft.com/office/powerpoint/2010/main" val="3715801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9C094-51E6-A3D9-4D4E-9DB6EDA9FAA8}"/>
              </a:ext>
            </a:extLst>
          </p:cNvPr>
          <p:cNvSpPr>
            <a:spLocks noGrp="1"/>
          </p:cNvSpPr>
          <p:nvPr>
            <p:ph type="title"/>
          </p:nvPr>
        </p:nvSpPr>
        <p:spPr/>
        <p:txBody>
          <a:bodyPr>
            <a:normAutofit fontScale="90000"/>
          </a:bodyPr>
          <a:lstStyle/>
          <a:p>
            <a:r>
              <a:rPr lang="en-US"/>
              <a:t>Special Tokens</a:t>
            </a:r>
          </a:p>
        </p:txBody>
      </p:sp>
      <p:sp>
        <p:nvSpPr>
          <p:cNvPr id="3" name="Text Placeholder 2">
            <a:extLst>
              <a:ext uri="{FF2B5EF4-FFF2-40B4-BE49-F238E27FC236}">
                <a16:creationId xmlns:a16="http://schemas.microsoft.com/office/drawing/2014/main" id="{8F275E58-56A4-5DFC-BDDD-BFA2F67C579B}"/>
              </a:ext>
            </a:extLst>
          </p:cNvPr>
          <p:cNvSpPr>
            <a:spLocks noGrp="1"/>
          </p:cNvSpPr>
          <p:nvPr>
            <p:ph type="body" idx="1"/>
          </p:nvPr>
        </p:nvSpPr>
        <p:spPr/>
        <p:txBody>
          <a:bodyPr>
            <a:normAutofit fontScale="85000" lnSpcReduction="20000"/>
          </a:bodyPr>
          <a:lstStyle/>
          <a:p>
            <a:r>
              <a:rPr lang="en-US"/>
              <a:t>Depending on the model, a few special tokens are added to the vocabulary to facilitate processing. These tokens can include:</a:t>
            </a:r>
          </a:p>
          <a:p>
            <a:pPr lvl="1"/>
            <a:r>
              <a:rPr lang="en-US" dirty="0"/>
              <a:t>&lt;PAD&gt; To indicate padding, in case the size of the input is less than the maximum sequence length.</a:t>
            </a:r>
          </a:p>
          <a:p>
            <a:pPr lvl="1"/>
            <a:r>
              <a:rPr lang="en-US"/>
              <a:t>&lt;EOS&gt; To indicate the end of the sequence. Generative models stop generating after outputting this token.</a:t>
            </a:r>
          </a:p>
          <a:p>
            <a:pPr lvl="1"/>
            <a:r>
              <a:rPr lang="en-US" dirty="0"/>
              <a:t>&lt;UNK&gt; To indicate an OOV term.</a:t>
            </a:r>
          </a:p>
          <a:p>
            <a:pPr lvl="1"/>
            <a:r>
              <a:rPr lang="en-US"/>
              <a:t>&lt;TOOL_CALL&gt;, &lt;/TOOL_CALL&gt; Content between these tokens is used as input to an external tool, like an API call or a query to a database.</a:t>
            </a:r>
          </a:p>
          <a:p>
            <a:pPr lvl="1"/>
            <a:r>
              <a:rPr lang="en-US" dirty="0"/>
              <a:t>&lt;TOOL_RESULT&gt;, &lt;/TOOL_RESULT&gt; Content between these tokens is used to represent the results from calling the </a:t>
            </a:r>
            <a:r>
              <a:rPr lang="en-US"/>
              <a:t>aforementioned tools.</a:t>
            </a:r>
          </a:p>
          <a:p>
            <a:r>
              <a:rPr lang="en-US"/>
              <a:t>GALACTICA by Meta introduced several domain-specific tokens in their model and special tokenization rules:</a:t>
            </a:r>
          </a:p>
          <a:p>
            <a:pPr lvl="1"/>
            <a:r>
              <a:rPr lang="en-US" dirty="0">
                <a:solidFill>
                  <a:schemeClr val="accent6">
                    <a:lumMod val="76000"/>
                  </a:schemeClr>
                </a:solidFill>
              </a:rPr>
              <a:t>[START_REF] and [END_REF] for wrapping citations.</a:t>
            </a:r>
          </a:p>
          <a:p>
            <a:pPr lvl="1"/>
            <a:r>
              <a:rPr lang="en-US">
                <a:solidFill>
                  <a:schemeClr val="accent6">
                    <a:lumMod val="76000"/>
                  </a:schemeClr>
                </a:solidFill>
              </a:rPr>
              <a:t>&lt;WORK&gt; to wrap tokens that make up an internal working memory, used for reasoning and code generation.</a:t>
            </a:r>
            <a:endParaRPr lang="en-US" dirty="0">
              <a:solidFill>
                <a:schemeClr val="accent6">
                  <a:lumMod val="76000"/>
                </a:schemeClr>
              </a:solidFill>
            </a:endParaRPr>
          </a:p>
          <a:p>
            <a:pPr lvl="1"/>
            <a:r>
              <a:rPr lang="en-US" dirty="0">
                <a:solidFill>
                  <a:schemeClr val="accent6">
                    <a:lumMod val="76000"/>
                  </a:schemeClr>
                </a:solidFill>
              </a:rPr>
              <a:t>Numbers are handled by assigning each digit in the number its own token.</a:t>
            </a:r>
          </a:p>
          <a:p>
            <a:pPr lvl="1"/>
            <a:r>
              <a:rPr lang="en-US">
                <a:solidFill>
                  <a:schemeClr val="accent6">
                    <a:lumMod val="76000"/>
                  </a:schemeClr>
                </a:solidFill>
              </a:rPr>
              <a:t>[START_SMILES], [START_DNA], [START_AMINO], [END_SMILES], [END_DNA], [END_AMINO] for protein sequences, DNA sequences, and amino acid sequences, respectively.</a:t>
            </a:r>
          </a:p>
          <a:p>
            <a:endParaRPr lang="en-US" dirty="0"/>
          </a:p>
        </p:txBody>
      </p:sp>
    </p:spTree>
    <p:extLst>
      <p:ext uri="{BB962C8B-B14F-4D97-AF65-F5344CB8AC3E}">
        <p14:creationId xmlns:p14="http://schemas.microsoft.com/office/powerpoint/2010/main" val="1667688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7049-1DFA-906E-8674-3DA503525019}"/>
              </a:ext>
            </a:extLst>
          </p:cNvPr>
          <p:cNvSpPr>
            <a:spLocks noGrp="1"/>
          </p:cNvSpPr>
          <p:nvPr>
            <p:ph type="title"/>
          </p:nvPr>
        </p:nvSpPr>
        <p:spPr/>
        <p:txBody>
          <a:bodyPr>
            <a:normAutofit fontScale="90000"/>
          </a:bodyPr>
          <a:lstStyle/>
          <a:p>
            <a:r>
              <a:rPr lang="en-US" dirty="0"/>
              <a:t>Evaluation (Intrinsic)</a:t>
            </a:r>
          </a:p>
        </p:txBody>
      </p:sp>
      <p:sp>
        <p:nvSpPr>
          <p:cNvPr id="3" name="Text Placeholder 2">
            <a:extLst>
              <a:ext uri="{FF2B5EF4-FFF2-40B4-BE49-F238E27FC236}">
                <a16:creationId xmlns:a16="http://schemas.microsoft.com/office/drawing/2014/main" id="{6B589C63-6D1B-8D7F-2AF3-38E1685F40FF}"/>
              </a:ext>
            </a:extLst>
          </p:cNvPr>
          <p:cNvSpPr>
            <a:spLocks noGrp="1"/>
          </p:cNvSpPr>
          <p:nvPr>
            <p:ph type="body" idx="1"/>
          </p:nvPr>
        </p:nvSpPr>
        <p:spPr/>
        <p:txBody>
          <a:bodyPr>
            <a:normAutofit fontScale="85000" lnSpcReduction="20000"/>
          </a:bodyPr>
          <a:lstStyle/>
          <a:p>
            <a:r>
              <a:rPr lang="en-US" dirty="0"/>
              <a:t>Intrinsic evaluation measures a tokenizer’s performance based on the properties of its output, independent of any downstream tasks or models. </a:t>
            </a:r>
            <a:endParaRPr lang="en-US"/>
          </a:p>
          <a:p>
            <a:r>
              <a:rPr lang="en-US"/>
              <a:t>Fertility: refers to the average number of tokens needed to represent a word </a:t>
            </a:r>
            <a:r>
              <a:rPr lang="en-US" dirty="0"/>
              <a:t>(or an entire document) after tokenization. </a:t>
            </a:r>
            <a:endParaRPr lang="en-US"/>
          </a:p>
          <a:p>
            <a:pPr lvl="1"/>
            <a:r>
              <a:rPr lang="en-US" dirty="0">
                <a:solidFill>
                  <a:schemeClr val="accent6">
                    <a:lumMod val="76000"/>
                  </a:schemeClr>
                </a:solidFill>
              </a:rPr>
              <a:t>Fertility = Total Tokens/Total Words </a:t>
            </a:r>
          </a:p>
          <a:p>
            <a:pPr lvl="2"/>
            <a:r>
              <a:rPr lang="en-US" dirty="0"/>
              <a:t>Lower fertility → more efficient representation, fewer tokens. </a:t>
            </a:r>
          </a:p>
          <a:p>
            <a:pPr lvl="2"/>
            <a:r>
              <a:rPr lang="en-US"/>
              <a:t>Higher fertility → longer sequences, which may </a:t>
            </a:r>
            <a:r>
              <a:rPr lang="en-US" dirty="0"/>
              <a:t>hinder the model’s ability to capture long-range dependencies and increase computational costs in training and inference. </a:t>
            </a:r>
            <a:endParaRPr lang="en-US" dirty="0">
              <a:solidFill>
                <a:srgbClr val="548135"/>
              </a:solidFill>
            </a:endParaRPr>
          </a:p>
          <a:p>
            <a:r>
              <a:rPr lang="en-US" dirty="0"/>
              <a:t>Parity Parity evaluates how consistently a tokenizer represents semantically equivalent sentences across different languages. </a:t>
            </a:r>
            <a:endParaRPr lang="en-US"/>
          </a:p>
          <a:p>
            <a:pPr lvl="1"/>
            <a:r>
              <a:rPr lang="en-US"/>
              <a:t>A parity score close to 1 indicates high cross-lingual consistency, meaning the </a:t>
            </a:r>
            <a:r>
              <a:rPr lang="en-US" dirty="0"/>
              <a:t>tokenizer treats equivalent content fairly across languages. </a:t>
            </a:r>
          </a:p>
          <a:p>
            <a:r>
              <a:rPr lang="en-US" dirty="0"/>
              <a:t>Vocabulary Overlap: quantifies the similarity between the vocabularies of different tokenizers. </a:t>
            </a:r>
            <a:endParaRPr lang="en-US"/>
          </a:p>
          <a:p>
            <a:pPr lvl="1"/>
            <a:r>
              <a:rPr lang="en-US" dirty="0"/>
              <a:t>Calculated by comparing the number of shared </a:t>
            </a:r>
            <a:r>
              <a:rPr lang="en-US" dirty="0" err="1"/>
              <a:t>subword</a:t>
            </a:r>
            <a:r>
              <a:rPr lang="en-US" dirty="0"/>
              <a:t> units across tokenizer vocabularies. </a:t>
            </a:r>
          </a:p>
          <a:p>
            <a:pPr lvl="1"/>
            <a:r>
              <a:rPr lang="en-US" dirty="0"/>
              <a:t>Higher overlap suggests tokenizers produce similar units and may exhibit comparable performance characteristics.</a:t>
            </a:r>
            <a:endParaRPr lang="en-US"/>
          </a:p>
        </p:txBody>
      </p:sp>
    </p:spTree>
    <p:extLst>
      <p:ext uri="{BB962C8B-B14F-4D97-AF65-F5344CB8AC3E}">
        <p14:creationId xmlns:p14="http://schemas.microsoft.com/office/powerpoint/2010/main" val="41974132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3484-EB54-A362-DB41-AF17570CF1C0}"/>
              </a:ext>
            </a:extLst>
          </p:cNvPr>
          <p:cNvSpPr>
            <a:spLocks noGrp="1"/>
          </p:cNvSpPr>
          <p:nvPr>
            <p:ph type="title"/>
          </p:nvPr>
        </p:nvSpPr>
        <p:spPr/>
        <p:txBody>
          <a:bodyPr>
            <a:normAutofit fontScale="90000"/>
          </a:bodyPr>
          <a:lstStyle/>
          <a:p>
            <a:r>
              <a:rPr lang="en-US" dirty="0"/>
              <a:t>Evaluation (Extrinsic)</a:t>
            </a:r>
          </a:p>
        </p:txBody>
      </p:sp>
      <p:sp>
        <p:nvSpPr>
          <p:cNvPr id="3" name="Text Placeholder 2">
            <a:extLst>
              <a:ext uri="{FF2B5EF4-FFF2-40B4-BE49-F238E27FC236}">
                <a16:creationId xmlns:a16="http://schemas.microsoft.com/office/drawing/2014/main" id="{5202C9F4-E29C-3DAF-309B-1E91C95D310E}"/>
              </a:ext>
            </a:extLst>
          </p:cNvPr>
          <p:cNvSpPr>
            <a:spLocks noGrp="1"/>
          </p:cNvSpPr>
          <p:nvPr>
            <p:ph type="body" idx="1"/>
          </p:nvPr>
        </p:nvSpPr>
        <p:spPr/>
        <p:txBody>
          <a:bodyPr>
            <a:normAutofit fontScale="92500" lnSpcReduction="20000"/>
          </a:bodyPr>
          <a:lstStyle/>
          <a:p>
            <a:r>
              <a:rPr lang="en-US" dirty="0"/>
              <a:t>Extrinsic evaluation measures a tokenizer’s performance based on its impact on downstream tasks and model efficiency. </a:t>
            </a:r>
          </a:p>
          <a:p>
            <a:r>
              <a:rPr lang="en-US"/>
              <a:t>Downstream Performance: Language models trained using different tokenizers and evaluated on a diverse set of NLP tasks, including </a:t>
            </a:r>
            <a:r>
              <a:rPr lang="en-US" dirty="0"/>
              <a:t>natural language inference, question answering, reading comprehension, and text classification.</a:t>
            </a:r>
          </a:p>
          <a:p>
            <a:pPr lvl="1"/>
            <a:r>
              <a:rPr lang="en-US">
                <a:solidFill>
                  <a:schemeClr val="accent6">
                    <a:lumMod val="76000"/>
                  </a:schemeClr>
                </a:solidFill>
              </a:rPr>
              <a:t>The results of these tasks reflect how effectively each tokenizer supports the model in learning meaningful representations.</a:t>
            </a:r>
          </a:p>
          <a:p>
            <a:pPr lvl="1"/>
            <a:r>
              <a:rPr lang="en-US">
                <a:solidFill>
                  <a:schemeClr val="accent6">
                    <a:lumMod val="76000"/>
                  </a:schemeClr>
                </a:solidFill>
              </a:rPr>
              <a:t>Stronger downstream performance indicates that the tokenizer enables the model to better generalize and solve real-world problems.</a:t>
            </a:r>
          </a:p>
          <a:p>
            <a:r>
              <a:rPr lang="en-US" dirty="0"/>
              <a:t>Computational </a:t>
            </a:r>
            <a:r>
              <a:rPr lang="en-US"/>
              <a:t>Costs: The computational overhead </a:t>
            </a:r>
            <a:r>
              <a:rPr lang="en-US" dirty="0"/>
              <a:t>introduced by different tokenizers when integrated into a given model architecture.</a:t>
            </a:r>
          </a:p>
          <a:p>
            <a:pPr lvl="1"/>
            <a:r>
              <a:rPr lang="en-US" dirty="0"/>
              <a:t>Costs are measured in terms of average floating-point operations (FLOPs) per word during training.</a:t>
            </a:r>
          </a:p>
          <a:p>
            <a:pPr lvl="2"/>
            <a:r>
              <a:rPr lang="en-US" dirty="0"/>
              <a:t>This metric incorporates both the tokenizer’s fertility and the model’s architectural features (e.g., number of layers, hidden size, vocabulary size).</a:t>
            </a:r>
          </a:p>
          <a:p>
            <a:pPr lvl="2"/>
            <a:r>
              <a:rPr lang="en-US" dirty="0"/>
              <a:t>Lower FLOPs signify greater efficiency, as the tokenizer allows the model to utilize resources more effectively.</a:t>
            </a:r>
          </a:p>
          <a:p>
            <a:endParaRPr lang="en-US" dirty="0"/>
          </a:p>
        </p:txBody>
      </p:sp>
    </p:spTree>
    <p:extLst>
      <p:ext uri="{BB962C8B-B14F-4D97-AF65-F5344CB8AC3E}">
        <p14:creationId xmlns:p14="http://schemas.microsoft.com/office/powerpoint/2010/main" val="287036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Conclusion</a:t>
            </a:r>
          </a:p>
        </p:txBody>
      </p:sp>
      <p:sp>
        <p:nvSpPr>
          <p:cNvPr id="3" name="Text Placeholder 2"/>
          <p:cNvSpPr>
            <a:spLocks noGrp="1"/>
          </p:cNvSpPr>
          <p:nvPr>
            <p:ph type="body" idx="1"/>
          </p:nvPr>
        </p:nvSpPr>
        <p:spPr/>
        <p:txBody>
          <a:bodyPr>
            <a:normAutofit fontScale="92500" lnSpcReduction="10000"/>
          </a:bodyPr>
          <a:lstStyle/>
          <a:p>
            <a:r>
              <a:rPr lang="en-US"/>
              <a:t>BPE and </a:t>
            </a:r>
            <a:r>
              <a:rPr lang="en-US" err="1"/>
              <a:t>WordPiece</a:t>
            </a:r>
            <a:r>
              <a:rPr lang="en-US"/>
              <a:t> all start from individual characters and merge them to form larger tokens</a:t>
            </a:r>
          </a:p>
          <a:p>
            <a:r>
              <a:rPr lang="en-US"/>
              <a:t>A merge is only added to the vocabulary if it maximizes:</a:t>
            </a:r>
          </a:p>
          <a:p>
            <a:pPr lvl="1"/>
            <a:r>
              <a:rPr lang="en-US"/>
              <a:t>BPE: P(A,B)</a:t>
            </a:r>
          </a:p>
          <a:p>
            <a:pPr lvl="1"/>
            <a:r>
              <a:rPr lang="en-US" err="1"/>
              <a:t>Wordpiece</a:t>
            </a:r>
            <a:r>
              <a:rPr lang="en-US"/>
              <a:t>: P(A,B) / [P(A) * P(B)]</a:t>
            </a:r>
          </a:p>
          <a:p>
            <a:pPr lvl="1"/>
            <a:r>
              <a:rPr lang="en-US" err="1"/>
              <a:t>Sentencepiece</a:t>
            </a:r>
            <a:r>
              <a:rPr lang="en-US"/>
              <a:t>: depends, uses either BPE or </a:t>
            </a:r>
            <a:r>
              <a:rPr lang="en-US" err="1"/>
              <a:t>Wordpiece</a:t>
            </a:r>
            <a:endParaRPr lang="en-US"/>
          </a:p>
          <a:p>
            <a:r>
              <a:rPr lang="en-US" err="1"/>
              <a:t>Sentencepiece</a:t>
            </a:r>
            <a:r>
              <a:rPr lang="en-US"/>
              <a:t> contains all BPE, </a:t>
            </a:r>
            <a:r>
              <a:rPr lang="en-US" err="1"/>
              <a:t>Wordpiece</a:t>
            </a:r>
            <a:r>
              <a:rPr lang="en-US"/>
              <a:t>, and Unigram (with Unigram as the main norm) and provides optimized versions</a:t>
            </a:r>
          </a:p>
          <a:p>
            <a:r>
              <a:rPr lang="en-US"/>
              <a:t>Unigram gets all possible combinations of substrings, then removes each if it maximizes the likelihood of the corpus the least.</a:t>
            </a:r>
          </a:p>
          <a:p>
            <a:r>
              <a:rPr lang="en-US"/>
              <a:t>Merges keep happening until the vocabulary's desired size is reached </a:t>
            </a:r>
          </a:p>
          <a:p>
            <a:pPr lvl="1"/>
            <a:r>
              <a:rPr lang="en-US"/>
              <a:t>P(A) means # times A appears in the entire corpus. P(A, B) means # times A </a:t>
            </a:r>
            <a:r>
              <a:rPr lang="en-US" err="1"/>
              <a:t>concat</a:t>
            </a:r>
            <a:r>
              <a:rPr lang="en-US"/>
              <a:t> B appears in the corpus</a:t>
            </a:r>
          </a:p>
        </p:txBody>
      </p:sp>
    </p:spTree>
    <p:extLst>
      <p:ext uri="{BB962C8B-B14F-4D97-AF65-F5344CB8AC3E}">
        <p14:creationId xmlns:p14="http://schemas.microsoft.com/office/powerpoint/2010/main" val="2598069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8F25371BF2364E9237A48B420CBFE6" ma:contentTypeVersion="14" ma:contentTypeDescription="Create a new document." ma:contentTypeScope="" ma:versionID="2a9e69bc7b9d3c4cf6a41faca233a91e">
  <xsd:schema xmlns:xsd="http://www.w3.org/2001/XMLSchema" xmlns:xs="http://www.w3.org/2001/XMLSchema" xmlns:p="http://schemas.microsoft.com/office/2006/metadata/properties" xmlns:ns3="acd04cee-d56a-427f-9d20-a2ddbaad1b8a" targetNamespace="http://schemas.microsoft.com/office/2006/metadata/properties" ma:root="true" ma:fieldsID="66afc55c35dc6a8b593a412c64b4fad1" ns3:_="">
    <xsd:import namespace="acd04cee-d56a-427f-9d20-a2ddbaad1b8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d04cee-d56a-427f-9d20-a2ddbaad1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cd04cee-d56a-427f-9d20-a2ddbaad1b8a" xsi:nil="true"/>
  </documentManagement>
</p:properties>
</file>

<file path=customXml/itemProps1.xml><?xml version="1.0" encoding="utf-8"?>
<ds:datastoreItem xmlns:ds="http://schemas.openxmlformats.org/officeDocument/2006/customXml" ds:itemID="{C2886125-2BC2-43E8-9A31-B945B4EB7552}">
  <ds:schemaRefs>
    <ds:schemaRef ds:uri="acd04cee-d56a-427f-9d20-a2ddbaad1b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5C2865A8-F2A9-4B2C-AEFE-15F1FAFA7041}">
  <ds:schemaRefs>
    <ds:schemaRef ds:uri="http://schemas.microsoft.com/sharepoint/v3/contenttype/forms"/>
  </ds:schemaRefs>
</ds:datastoreItem>
</file>

<file path=customXml/itemProps3.xml><?xml version="1.0" encoding="utf-8"?>
<ds:datastoreItem xmlns:ds="http://schemas.openxmlformats.org/officeDocument/2006/customXml" ds:itemID="{8E6DEB7B-CB6E-4C0E-AFC5-2B724F5798AF}">
  <ds:schemaRefs>
    <ds:schemaRef ds:uri="acd04cee-d56a-427f-9d20-a2ddbaad1b8a"/>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49</Slides>
  <Notes>8</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CSE495B (Natural Language Processing) Lecture 3</vt:lpstr>
      <vt:lpstr>NLP Applications</vt:lpstr>
      <vt:lpstr>NLP Applications</vt:lpstr>
      <vt:lpstr>NLP Applications</vt:lpstr>
      <vt:lpstr>NLP Pipeline</vt:lpstr>
      <vt:lpstr>Tokenization</vt:lpstr>
      <vt:lpstr>Tokenization</vt:lpstr>
      <vt:lpstr>Tokens in NLP are Features</vt:lpstr>
      <vt:lpstr>How do we use tokenization?</vt:lpstr>
      <vt:lpstr>Space-based tokenization</vt:lpstr>
      <vt:lpstr>Space-based Tokenization</vt:lpstr>
      <vt:lpstr>Simple Tokenization issues</vt:lpstr>
      <vt:lpstr>More Issues for Space-based Tokenization</vt:lpstr>
      <vt:lpstr>Different types of word tokenizers</vt:lpstr>
      <vt:lpstr>Regular expression-based tokenizers</vt:lpstr>
      <vt:lpstr>Treebank tokenizer</vt:lpstr>
      <vt:lpstr>Tweet Tokenizer</vt:lpstr>
      <vt:lpstr>Character level Tokenization</vt:lpstr>
      <vt:lpstr>Full Word Tokenization</vt:lpstr>
      <vt:lpstr>Sub Word Tokenization</vt:lpstr>
      <vt:lpstr>Subword Tokenizer: BPE</vt:lpstr>
      <vt:lpstr>BPE Algorithm</vt:lpstr>
      <vt:lpstr>BPE Algorithm</vt:lpstr>
      <vt:lpstr>BPE Algorithm (How)</vt:lpstr>
      <vt:lpstr>BPE</vt:lpstr>
      <vt:lpstr>BPE</vt:lpstr>
      <vt:lpstr>BPE token learner</vt:lpstr>
      <vt:lpstr>BPE</vt:lpstr>
      <vt:lpstr>BPE</vt:lpstr>
      <vt:lpstr>BPE</vt:lpstr>
      <vt:lpstr>BPE Conclusion</vt:lpstr>
      <vt:lpstr>Latest BPE: tiktoken</vt:lpstr>
      <vt:lpstr>Subword Tokenizer: WordPiece</vt:lpstr>
      <vt:lpstr>Wordpiece Tokenization</vt:lpstr>
      <vt:lpstr>Wordpiece Tokenization</vt:lpstr>
      <vt:lpstr>Unigram: Regularizing Tokens</vt:lpstr>
      <vt:lpstr>Calculating Unigram Probability</vt:lpstr>
      <vt:lpstr>Calculating Unigram Probability</vt:lpstr>
      <vt:lpstr>Calculating Unigram Probability</vt:lpstr>
      <vt:lpstr>From probability to Loss</vt:lpstr>
      <vt:lpstr>From probability to Loss</vt:lpstr>
      <vt:lpstr>Unigram Conclusion</vt:lpstr>
      <vt:lpstr>Sentencepiece Tokenizer</vt:lpstr>
      <vt:lpstr>Sentencepiece Tokenizer</vt:lpstr>
      <vt:lpstr>BLT (Byte Latent Transformer) Patches compared to Tokens</vt:lpstr>
      <vt:lpstr>Special Tokens</vt:lpstr>
      <vt:lpstr>Evaluation (Intrinsic)</vt:lpstr>
      <vt:lpstr>Evaluation (Extrinsic)</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 Lecture 2</dc:title>
  <dc:creator>Mohammad Khan</dc:creator>
  <cp:revision>114</cp:revision>
  <dcterms:created xsi:type="dcterms:W3CDTF">2018-11-03T12:07:21Z</dcterms:created>
  <dcterms:modified xsi:type="dcterms:W3CDTF">2025-10-06T20:50:29Z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0x010100688F25371BF2364E9237A48B420CBFE6</vt:lpwstr>
  </property>
</Properties>
</file>